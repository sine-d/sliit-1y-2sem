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47"/>
  </p:notesMasterIdLst>
  <p:sldIdLst>
    <p:sldId id="390" r:id="rId4"/>
    <p:sldId id="432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D66"/>
    <a:srgbClr val="FF3300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61728" autoAdjust="0"/>
  </p:normalViewPr>
  <p:slideViewPr>
    <p:cSldViewPr>
      <p:cViewPr varScale="1">
        <p:scale>
          <a:sx n="82" d="100"/>
          <a:sy n="82" d="100"/>
        </p:scale>
        <p:origin x="189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8/11/2024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D5136-5326-4EDC-84B0-531B5BE4744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5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D5136-5326-4EDC-84B0-531B5BE4744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31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D8CF46-AF2D-4D51-83DE-A617B2F38E61}" type="slidenum">
              <a:rPr lang="en-US" smtClean="0"/>
              <a:pPr>
                <a:spcBef>
                  <a:spcPct val="0"/>
                </a:spcBef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07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309733-2DBE-4DE4-A7B5-66854F40C3AC}" type="slidenum">
              <a:rPr lang="en-US" smtClean="0"/>
              <a:pPr>
                <a:spcBef>
                  <a:spcPct val="0"/>
                </a:spcBef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4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D1C02A-C9C1-4303-BEAB-4184A79BC995}" type="slidenum">
              <a:rPr lang="en-US" sz="1200" b="0" smtClean="0"/>
              <a:pPr/>
              <a:t>21</a:t>
            </a:fld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2868180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655585-DD58-43E4-BEF9-5F969371E2C0}" type="slidenum">
              <a:rPr lang="en-US" smtClean="0"/>
              <a:pPr>
                <a:spcBef>
                  <a:spcPct val="0"/>
                </a:spcBef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8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4650BF-0628-42B1-9EE6-45F054175E4B}" type="slidenum">
              <a:rPr lang="en-US" smtClean="0"/>
              <a:pPr>
                <a:spcBef>
                  <a:spcPct val="0"/>
                </a:spcBef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8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060700" y="547688"/>
            <a:ext cx="3659188" cy="2743200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42C830-4A20-47D6-8C0C-BD573E801E5B}" type="slidenum">
              <a:rPr lang="en-US" smtClean="0"/>
              <a:pPr>
                <a:spcBef>
                  <a:spcPct val="0"/>
                </a:spcBef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94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696873-85F3-4712-9B80-EF7BCCEDDBEE}" type="slidenum">
              <a:rPr lang="en-CA" altLang="en-US" sz="1200">
                <a:latin typeface="Tahoma" panose="020B0604030504040204" pitchFamily="34" charset="0"/>
              </a:rPr>
              <a:pPr/>
              <a:t>41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15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223AD1-539E-4A02-B00E-68227A20D315}" type="slidenum">
              <a:rPr lang="en-CA" altLang="en-US" sz="1200">
                <a:latin typeface="Tahoma" panose="020B0604030504040204" pitchFamily="34" charset="0"/>
              </a:rPr>
              <a:pPr/>
              <a:t>42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091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t>8/11/2024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85719"/>
            <a:ext cx="4572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FF06-CDBB-4575-A3CF-D3C40F356B44}" type="datetimeFigureOut">
              <a:rPr lang="en-US" dirty="0"/>
              <a:t>8/11/2024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2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8/11/2024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8/11/2024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8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5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0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27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40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4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90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0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2450123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8/11/2024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6690091" y="0"/>
            <a:ext cx="245390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0" y="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IT1090 - Information Systems and Data Modeling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248400" y="76200"/>
            <a:ext cx="27432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6248400" y="76200"/>
            <a:ext cx="2742857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0"/>
            <a:ext cx="9144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8/11/2024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7620000" y="0"/>
            <a:ext cx="1524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762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IT1090 - Information Systems and Data Modeling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28650" y="1447800"/>
            <a:ext cx="78867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16F8-EADD-4F1E-A66A-F9DE6D301F0B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sz="4900" b="1" dirty="0">
                <a:latin typeface="Corbel" panose="020B0503020204020204" pitchFamily="34" charset="0"/>
              </a:rPr>
              <a:t>Logical Database Design &amp; </a:t>
            </a:r>
            <a:br>
              <a:rPr lang="en-GB" sz="4900" b="1" dirty="0">
                <a:latin typeface="Corbel" panose="020B0503020204020204" pitchFamily="34" charset="0"/>
              </a:rPr>
            </a:br>
            <a:r>
              <a:rPr lang="en-GB" sz="4900" b="1" dirty="0">
                <a:latin typeface="Corbel" panose="020B0503020204020204" pitchFamily="34" charset="0"/>
              </a:rPr>
              <a:t>Relational Model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223457"/>
            <a:ext cx="6803136" cy="50292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915816" y="50038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s-UY" altLang="en-US" sz="2400" b="1" dirty="0"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55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2696"/>
            <a:ext cx="6687849" cy="1181858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Learning Outcome</a:t>
            </a:r>
            <a:endParaRPr lang="en-US" sz="4800" dirty="0">
              <a:latin typeface="Corbel" panose="020B05030202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39750" y="1700213"/>
            <a:ext cx="8064500" cy="43925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 data requirements using data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7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12646" y="914400"/>
            <a:ext cx="6967666" cy="11406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GB" sz="4400" dirty="0">
                <a:ln>
                  <a:noFill/>
                </a:ln>
                <a:latin typeface="Corbel" panose="020B0503020204020204" pitchFamily="34" charset="0"/>
              </a:rPr>
              <a:t>In this lecture you will learn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52778" y="2055028"/>
            <a:ext cx="8378575" cy="377427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800" dirty="0">
                <a:latin typeface="Corbel" panose="020B0503020204020204" pitchFamily="34" charset="0"/>
              </a:rPr>
              <a:t>What is logical database design?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sz="2800" dirty="0">
              <a:latin typeface="Corbel" panose="020B0503020204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latin typeface="Corbel" panose="020B0503020204020204" pitchFamily="34" charset="0"/>
              </a:rPr>
              <a:t>How to derive a logical model from the information represented in the ER model (Conceptual Model) </a:t>
            </a:r>
          </a:p>
          <a:p>
            <a:pPr lvl="1" eaLnBrk="1" hangingPunct="1">
              <a:lnSpc>
                <a:spcPct val="90000"/>
              </a:lnSpc>
            </a:pPr>
            <a:endParaRPr lang="en-GB" sz="2800" dirty="0">
              <a:latin typeface="Corbel" panose="020B0503020204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latin typeface="Corbel" panose="020B0503020204020204" pitchFamily="34" charset="0"/>
              </a:rPr>
              <a:t>We focus on one type of logical model which is </a:t>
            </a:r>
            <a:r>
              <a:rPr lang="en-GB" sz="2800" dirty="0">
                <a:solidFill>
                  <a:srgbClr val="FF0000"/>
                </a:solidFill>
                <a:latin typeface="Corbel" panose="020B0503020204020204" pitchFamily="34" charset="0"/>
              </a:rPr>
              <a:t>relational model</a:t>
            </a:r>
          </a:p>
          <a:p>
            <a:pPr eaLnBrk="1" hangingPunct="1">
              <a:lnSpc>
                <a:spcPct val="90000"/>
              </a:lnSpc>
            </a:pPr>
            <a:endParaRPr lang="en-GB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77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0824" y="457200"/>
            <a:ext cx="4448952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400" dirty="0">
                <a:ln>
                  <a:noFill/>
                </a:ln>
                <a:latin typeface="Corbel" panose="020B0503020204020204" pitchFamily="34" charset="0"/>
                <a:ea typeface="新細明體" panose="02020500000000000000" pitchFamily="18" charset="-120"/>
              </a:rPr>
              <a:t>Relational Model 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55697" y="1433984"/>
            <a:ext cx="8229600" cy="527161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Data model on which most  DBMS implementations are based. (</a:t>
            </a:r>
            <a:r>
              <a:rPr lang="en-US" altLang="zh-TW" sz="2400" b="1" dirty="0">
                <a:solidFill>
                  <a:srgbClr val="800080"/>
                </a:solidFill>
                <a:latin typeface="Corbel" panose="020B0503020204020204" pitchFamily="34" charset="0"/>
              </a:rPr>
              <a:t>CODD 1970)</a:t>
            </a: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endParaRPr lang="en-US" altLang="zh-TW" sz="2800" b="1" dirty="0">
              <a:solidFill>
                <a:srgbClr val="800080"/>
              </a:solidFill>
              <a:latin typeface="Corbel" panose="020B0503020204020204" pitchFamily="34" charset="0"/>
            </a:endParaRP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Simple &amp; Elegant model: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 Everything is a relation  (= Table)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Every relation is a table with rows &amp; columns</a:t>
            </a: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There are standard ways to convert from 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ER model          	(</a:t>
            </a:r>
            <a:r>
              <a:rPr lang="en-US" altLang="zh-TW" sz="2800" b="1" dirty="0">
                <a:solidFill>
                  <a:srgbClr val="FF6600"/>
                </a:solidFill>
                <a:latin typeface="Corbel" panose="020B0503020204020204" pitchFamily="34" charset="0"/>
              </a:rPr>
              <a:t>Conceptual Model</a:t>
            </a: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 )                        		                                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    Relational model      	 (</a:t>
            </a:r>
            <a:r>
              <a:rPr lang="en-US" altLang="zh-TW" sz="2800" b="1" dirty="0">
                <a:solidFill>
                  <a:srgbClr val="008000"/>
                </a:solidFill>
                <a:latin typeface="Corbel" panose="020B0503020204020204" pitchFamily="34" charset="0"/>
              </a:rPr>
              <a:t>Logical Model</a:t>
            </a: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 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286000" y="5076671"/>
            <a:ext cx="197912" cy="4572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5791200" y="5067105"/>
            <a:ext cx="197912" cy="4572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5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032610" y="762000"/>
            <a:ext cx="6377940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n>
                  <a:noFill/>
                </a:ln>
                <a:latin typeface="Corbel" panose="020B0503020204020204" pitchFamily="34" charset="0"/>
              </a:rPr>
              <a:t>Relational Model (contd.)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8617" y="1839913"/>
            <a:ext cx="7525926" cy="353406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3000" dirty="0">
                <a:latin typeface="Corbel" panose="020B0503020204020204" pitchFamily="34" charset="0"/>
              </a:rPr>
              <a:t>The relational model represents the database as a collection of </a:t>
            </a:r>
            <a:r>
              <a:rPr lang="en-US" sz="3000" b="1" dirty="0">
                <a:solidFill>
                  <a:srgbClr val="FF0066"/>
                </a:solidFill>
                <a:latin typeface="Corbel" panose="020B0503020204020204" pitchFamily="34" charset="0"/>
              </a:rPr>
              <a:t>relations.</a:t>
            </a:r>
          </a:p>
          <a:p>
            <a:pPr eaLnBrk="1" hangingPunct="1"/>
            <a:endParaRPr lang="en-US" sz="3000" b="1" dirty="0">
              <a:solidFill>
                <a:srgbClr val="FF0066"/>
              </a:solidFill>
              <a:latin typeface="Corbel" panose="020B0503020204020204" pitchFamily="34" charset="0"/>
            </a:endParaRPr>
          </a:p>
          <a:p>
            <a:pPr eaLnBrk="1" hangingPunct="1"/>
            <a:r>
              <a:rPr lang="en-US" sz="3000" dirty="0">
                <a:latin typeface="Corbel" panose="020B0503020204020204" pitchFamily="34" charset="0"/>
              </a:rPr>
              <a:t>Relation consists of </a:t>
            </a:r>
          </a:p>
          <a:p>
            <a:pPr lvl="1" eaLnBrk="1" hangingPunct="1"/>
            <a:r>
              <a:rPr lang="en-US" sz="3000" dirty="0">
                <a:latin typeface="Corbel" panose="020B0503020204020204" pitchFamily="34" charset="0"/>
              </a:rPr>
              <a:t>Relation Schema</a:t>
            </a:r>
          </a:p>
          <a:p>
            <a:pPr lvl="1" eaLnBrk="1" hangingPunct="1"/>
            <a:r>
              <a:rPr lang="en-US" sz="3000" dirty="0">
                <a:latin typeface="Corbel" panose="020B0503020204020204" pitchFamily="34" charset="0"/>
              </a:rPr>
              <a:t>Relation Instance  (Table)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6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772" y="684214"/>
            <a:ext cx="2583462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400" dirty="0">
                <a:ln>
                  <a:noFill/>
                </a:ln>
                <a:latin typeface="Corbel" panose="020B0503020204020204" pitchFamily="34" charset="0"/>
                <a:ea typeface="新細明體" panose="02020500000000000000" pitchFamily="18" charset="-120"/>
              </a:rPr>
              <a:t>Relation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52330" y="1545609"/>
            <a:ext cx="8491670" cy="426305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RELATION: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 Schema   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 Instance</a:t>
            </a:r>
          </a:p>
        </p:txBody>
      </p:sp>
      <p:pic>
        <p:nvPicPr>
          <p:cNvPr id="23557" name="Picture 4" descr="Figure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03" y="2925204"/>
            <a:ext cx="8077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1143000" y="4191000"/>
            <a:ext cx="7848600" cy="685800"/>
          </a:xfrm>
          <a:prstGeom prst="ellips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1736725" y="3962400"/>
            <a:ext cx="7315200" cy="2362200"/>
          </a:xfrm>
          <a:prstGeom prst="ellipse">
            <a:avLst/>
          </a:prstGeom>
          <a:noFill/>
          <a:ln w="38100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30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92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92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92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59715"/>
            <a:ext cx="4459804" cy="1293028"/>
          </a:xfrm>
        </p:spPr>
        <p:txBody>
          <a:bodyPr/>
          <a:lstStyle/>
          <a:p>
            <a:pPr eaLnBrk="1" hangingPunct="1"/>
            <a:r>
              <a:rPr lang="en-US" altLang="zh-TW" sz="4400" dirty="0">
                <a:ln>
                  <a:noFill/>
                </a:ln>
                <a:latin typeface="Corbel" panose="020B0503020204020204" pitchFamily="34" charset="0"/>
                <a:ea typeface="新細明體" panose="02020500000000000000" pitchFamily="18" charset="-120"/>
              </a:rPr>
              <a:t>Relation Schema</a:t>
            </a:r>
            <a:r>
              <a:rPr lang="en-US" altLang="zh-TW" dirty="0">
                <a:ln>
                  <a:noFill/>
                </a:ln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05654" y="1406229"/>
            <a:ext cx="7956550" cy="4692056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TW" sz="21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Describes  the </a:t>
            </a:r>
            <a:r>
              <a:rPr lang="en-US" altLang="zh-TW" sz="2800" dirty="0">
                <a:solidFill>
                  <a:srgbClr val="FF0000"/>
                </a:solidFill>
                <a:latin typeface="Corbel" panose="020B0503020204020204" pitchFamily="34" charset="0"/>
              </a:rPr>
              <a:t>column heads (Attributes) </a:t>
            </a:r>
            <a:r>
              <a:rPr lang="en-US" altLang="zh-TW" sz="2800" dirty="0">
                <a:latin typeface="Corbel" panose="020B0503020204020204" pitchFamily="34" charset="0"/>
              </a:rPr>
              <a:t>of the relation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latin typeface="Corbel" panose="020B0503020204020204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name of the relation,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name of each filed,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domain of each field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800" dirty="0">
              <a:latin typeface="Corbel" panose="020B0503020204020204" pitchFamily="34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>
                <a:latin typeface="Corbel" panose="020B0503020204020204" pitchFamily="34" charset="0"/>
              </a:rPr>
              <a:t>Domain : is described by domain name and set of associated values.</a:t>
            </a:r>
          </a:p>
        </p:txBody>
      </p:sp>
    </p:spTree>
    <p:extLst>
      <p:ext uri="{BB962C8B-B14F-4D97-AF65-F5344CB8AC3E}">
        <p14:creationId xmlns:p14="http://schemas.microsoft.com/office/powerpoint/2010/main" val="99366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515" y="966074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anose="020B0503020204020204" pitchFamily="34" charset="0"/>
              </a:rPr>
              <a:t>Relation Schema</a:t>
            </a:r>
            <a:r>
              <a:rPr lang="en-US" dirty="0">
                <a:ln>
                  <a:noFill/>
                </a:ln>
              </a:rPr>
              <a:t> 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9906" y="1405290"/>
            <a:ext cx="7956550" cy="4070350"/>
          </a:xfrm>
          <a:prstGeom prst="rect">
            <a:avLst/>
          </a:prstGeo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</a:t>
            </a: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Students 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	(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sid:</a:t>
            </a:r>
            <a:r>
              <a:rPr lang="en-US" sz="2800" i="1" dirty="0" err="1">
                <a:solidFill>
                  <a:srgbClr val="FF0000"/>
                </a:solidFill>
                <a:latin typeface="Corbel" panose="020B0503020204020204" pitchFamily="34" charset="0"/>
              </a:rPr>
              <a:t>string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, 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	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name:</a:t>
            </a:r>
            <a:r>
              <a:rPr lang="en-US" sz="2800" i="1" dirty="0" err="1">
                <a:solidFill>
                  <a:srgbClr val="FF0000"/>
                </a:solidFill>
                <a:latin typeface="Corbel" panose="020B0503020204020204" pitchFamily="34" charset="0"/>
              </a:rPr>
              <a:t>string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,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	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login:</a:t>
            </a:r>
            <a:r>
              <a:rPr lang="en-US" sz="2800" i="1" dirty="0" err="1">
                <a:solidFill>
                  <a:srgbClr val="FF0000"/>
                </a:solidFill>
                <a:latin typeface="Corbel" panose="020B0503020204020204" pitchFamily="34" charset="0"/>
              </a:rPr>
              <a:t>string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,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	 age :</a:t>
            </a:r>
            <a:r>
              <a:rPr lang="en-US" sz="2800" i="1" dirty="0">
                <a:solidFill>
                  <a:srgbClr val="FF0000"/>
                </a:solidFill>
                <a:latin typeface="Corbel" panose="020B0503020204020204" pitchFamily="34" charset="0"/>
              </a:rPr>
              <a:t>integer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,</a:t>
            </a:r>
          </a:p>
          <a:p>
            <a:pPr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			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gpa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 :</a:t>
            </a:r>
            <a:r>
              <a:rPr lang="en-US" sz="2800" i="1" dirty="0">
                <a:solidFill>
                  <a:srgbClr val="FF0000"/>
                </a:solidFill>
                <a:latin typeface="Corbel" panose="020B0503020204020204" pitchFamily="34" charset="0"/>
              </a:rPr>
              <a:t>real</a:t>
            </a:r>
            <a:r>
              <a:rPr lang="en-US" sz="2800" dirty="0">
                <a:solidFill>
                  <a:schemeClr val="accent2"/>
                </a:solidFill>
                <a:latin typeface="Corbel" panose="020B0503020204020204" pitchFamily="34" charset="0"/>
              </a:rPr>
              <a:t>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rPr>
              <a:t>)</a:t>
            </a:r>
          </a:p>
          <a:p>
            <a:pPr lvl="4"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4" eaLnBrk="1" fontAlgn="auto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2679781" y="1986846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008000"/>
                </a:solidFill>
              </a:rPr>
              <a:t>Schema Name(relation name)</a:t>
            </a:r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 flipH="1">
            <a:off x="2502291" y="2467865"/>
            <a:ext cx="381000" cy="228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8"/>
          <p:cNvSpPr>
            <a:spLocks noChangeShapeType="1"/>
          </p:cNvSpPr>
          <p:nvPr/>
        </p:nvSpPr>
        <p:spPr bwMode="auto">
          <a:xfrm flipH="1" flipV="1">
            <a:off x="4562807" y="3630509"/>
            <a:ext cx="914400" cy="4572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9"/>
          <p:cNvSpPr>
            <a:spLocks noChangeShapeType="1"/>
          </p:cNvSpPr>
          <p:nvPr/>
        </p:nvSpPr>
        <p:spPr bwMode="auto">
          <a:xfrm flipH="1">
            <a:off x="4568687" y="4206871"/>
            <a:ext cx="914400" cy="2286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Rectangle 10"/>
          <p:cNvSpPr>
            <a:spLocks noChangeArrowheads="1"/>
          </p:cNvSpPr>
          <p:nvPr/>
        </p:nvSpPr>
        <p:spPr bwMode="auto">
          <a:xfrm>
            <a:off x="4839885" y="38862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8000"/>
                </a:solidFill>
              </a:rPr>
              <a:t>domain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03857" y="3494281"/>
            <a:ext cx="2286000" cy="914400"/>
            <a:chOff x="0" y="2208"/>
            <a:chExt cx="1440" cy="576"/>
          </a:xfrm>
        </p:grpSpPr>
        <p:sp>
          <p:nvSpPr>
            <p:cNvPr id="26636" name="Rectangle 7"/>
            <p:cNvSpPr>
              <a:spLocks noChangeArrowheads="1"/>
            </p:cNvSpPr>
            <p:nvPr/>
          </p:nvSpPr>
          <p:spPr bwMode="auto">
            <a:xfrm>
              <a:off x="0" y="2496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rgbClr val="008000"/>
                  </a:solidFill>
                </a:rPr>
                <a:t>Field name</a:t>
              </a:r>
            </a:p>
          </p:txBody>
        </p:sp>
        <p:sp>
          <p:nvSpPr>
            <p:cNvPr id="26637" name="Line 11"/>
            <p:cNvSpPr>
              <a:spLocks noChangeShapeType="1"/>
            </p:cNvSpPr>
            <p:nvPr/>
          </p:nvSpPr>
          <p:spPr bwMode="auto">
            <a:xfrm flipV="1">
              <a:off x="960" y="2208"/>
              <a:ext cx="480" cy="43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2"/>
            <p:cNvSpPr>
              <a:spLocks noChangeShapeType="1"/>
            </p:cNvSpPr>
            <p:nvPr/>
          </p:nvSpPr>
          <p:spPr bwMode="auto">
            <a:xfrm flipV="1">
              <a:off x="960" y="2400"/>
              <a:ext cx="432" cy="288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6" name="Text Box 13"/>
          <p:cNvSpPr txBox="1">
            <a:spLocks noChangeArrowheads="1"/>
          </p:cNvSpPr>
          <p:nvPr/>
        </p:nvSpPr>
        <p:spPr bwMode="auto">
          <a:xfrm>
            <a:off x="953685" y="5322888"/>
            <a:ext cx="3859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800" b="0">
                <a:solidFill>
                  <a:srgbClr val="3333CC"/>
                </a:solidFill>
              </a:rPr>
              <a:t>  </a:t>
            </a:r>
            <a:r>
              <a:rPr lang="en-US" sz="2400" b="0">
                <a:solidFill>
                  <a:srgbClr val="3333CC"/>
                </a:solidFill>
              </a:rPr>
              <a:t>Domain GPA  : real (0-4)</a:t>
            </a:r>
          </a:p>
        </p:txBody>
      </p:sp>
    </p:spTree>
    <p:extLst>
      <p:ext uri="{BB962C8B-B14F-4D97-AF65-F5344CB8AC3E}">
        <p14:creationId xmlns:p14="http://schemas.microsoft.com/office/powerpoint/2010/main" val="201921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12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  <p:bldP spid="11269" grpId="1" animBg="1"/>
      <p:bldP spid="11271" grpId="0" animBg="1"/>
      <p:bldP spid="11272" grpId="0" animBg="1"/>
      <p:bldP spid="112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6377940" cy="1293028"/>
          </a:xfrm>
        </p:spPr>
        <p:txBody>
          <a:bodyPr/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anose="020B0503020204020204" pitchFamily="34" charset="0"/>
              </a:rPr>
              <a:t>Relation Instance</a:t>
            </a:r>
            <a:r>
              <a:rPr lang="en-US" dirty="0">
                <a:ln>
                  <a:noFill/>
                </a:ln>
              </a:rPr>
              <a:t> </a:t>
            </a:r>
          </a:p>
        </p:txBody>
      </p:sp>
      <p:sp>
        <p:nvSpPr>
          <p:cNvPr id="27652" name="Content Placeholder 2"/>
          <p:cNvSpPr>
            <a:spLocks noGrp="1"/>
          </p:cNvSpPr>
          <p:nvPr>
            <p:ph idx="4294967295"/>
          </p:nvPr>
        </p:nvSpPr>
        <p:spPr>
          <a:xfrm>
            <a:off x="458617" y="1744663"/>
            <a:ext cx="7956550" cy="40703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 dirty="0">
                <a:latin typeface="Corbel" panose="020B0503020204020204" pitchFamily="34" charset="0"/>
              </a:rPr>
              <a:t>Set of tuples or records  or rows.</a:t>
            </a:r>
          </a:p>
          <a:p>
            <a:pPr eaLnBrk="1" hangingPunct="1"/>
            <a:r>
              <a:rPr lang="en-US" sz="2800" dirty="0">
                <a:latin typeface="Corbel" panose="020B0503020204020204" pitchFamily="34" charset="0"/>
              </a:rPr>
              <a:t>Each tuple has the same number of fields as the relation schema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800" dirty="0">
                <a:latin typeface="Corbel" panose="020B0503020204020204" pitchFamily="34" charset="0"/>
              </a:rPr>
              <a:t>Example  : Relation Instance </a:t>
            </a:r>
            <a:endParaRPr lang="en-US" sz="2800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pic>
        <p:nvPicPr>
          <p:cNvPr id="27653" name="Picture 4" descr="Figure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49" y="3945902"/>
            <a:ext cx="8077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114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63996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anose="020B0503020204020204" pitchFamily="34" charset="0"/>
              </a:rPr>
              <a:t>Degree of a relation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46113" y="1844675"/>
            <a:ext cx="8497887" cy="40703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 dirty="0">
                <a:latin typeface="Corbel" panose="020B0503020204020204" pitchFamily="34" charset="0"/>
              </a:rPr>
              <a:t>The </a:t>
            </a:r>
            <a:r>
              <a:rPr lang="en-US" sz="2800" b="1" dirty="0">
                <a:solidFill>
                  <a:srgbClr val="FF0066"/>
                </a:solidFill>
                <a:latin typeface="Corbel" panose="020B0503020204020204" pitchFamily="34" charset="0"/>
              </a:rPr>
              <a:t>degree</a:t>
            </a:r>
            <a:r>
              <a:rPr lang="en-US" sz="2800" dirty="0">
                <a:latin typeface="Corbel" panose="020B0503020204020204" pitchFamily="34" charset="0"/>
              </a:rPr>
              <a:t> of R is the number of attributes in R </a:t>
            </a:r>
          </a:p>
          <a:p>
            <a:pPr eaLnBrk="1" hangingPunct="1"/>
            <a:r>
              <a:rPr lang="en-US" sz="2800" dirty="0">
                <a:latin typeface="Corbel" panose="020B0503020204020204" pitchFamily="34" charset="0"/>
              </a:rPr>
              <a:t>(ID,Name,Address,Phone) = 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/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graphicFrame>
        <p:nvGraphicFramePr>
          <p:cNvPr id="1334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42370"/>
              </p:ext>
            </p:extLst>
          </p:nvPr>
        </p:nvGraphicFramePr>
        <p:xfrm>
          <a:off x="825857" y="3567430"/>
          <a:ext cx="7556143" cy="1950720"/>
        </p:xfrm>
        <a:graphic>
          <a:graphicData uri="http://schemas.openxmlformats.org/drawingml/2006/table">
            <a:tbl>
              <a:tblPr/>
              <a:tblGrid>
                <a:gridCol w="1111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Sampath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Moratuwa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01992883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Amali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Colombo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01983733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Sanath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Negombo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838200" y="3979778"/>
            <a:ext cx="7556143" cy="516021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685800"/>
            <a:ext cx="6377940" cy="1293028"/>
          </a:xfrm>
        </p:spPr>
        <p:txBody>
          <a:bodyPr/>
          <a:lstStyle/>
          <a:p>
            <a:pPr algn="ctr" eaLnBrk="1" hangingPunct="1"/>
            <a:r>
              <a:rPr lang="en-US" sz="4400" dirty="0">
                <a:latin typeface="Corbel" panose="020B0503020204020204" pitchFamily="34" charset="0"/>
              </a:rPr>
              <a:t>Example</a:t>
            </a:r>
            <a:r>
              <a:rPr lang="en-US" dirty="0"/>
              <a:t> </a:t>
            </a:r>
            <a:endParaRPr lang="en-US" dirty="0">
              <a:ln>
                <a:noFill/>
              </a:ln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64452" y="1582738"/>
            <a:ext cx="7956550" cy="4070350"/>
          </a:xfrm>
          <a:prstGeom prst="rect">
            <a:avLst/>
          </a:prstGeo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latin typeface="Corbel" panose="020B0503020204020204" pitchFamily="34" charset="0"/>
              </a:rPr>
              <a:t>Make a list of students in the class, keeping their ID, name and phone number.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latin typeface="Corbel" panose="020B0503020204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latin typeface="Corbel" panose="020B0503020204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latin typeface="Corbel" panose="020B0503020204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latin typeface="Corbel" panose="020B0503020204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latin typeface="Corbel" panose="020B0503020204020204" pitchFamily="34" charset="0"/>
              </a:rPr>
              <a:t>This is the basic structure of the relation model, a table or relation.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088371"/>
              </p:ext>
            </p:extLst>
          </p:nvPr>
        </p:nvGraphicFramePr>
        <p:xfrm>
          <a:off x="1273294" y="2758855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Phone 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S01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Mike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011 2233445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Elisa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022 3344556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82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523660"/>
            <a:ext cx="7280850" cy="1293028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Corbel" panose="020B0503020204020204" pitchFamily="34" charset="0"/>
              </a:rPr>
              <a:t>Formalizing :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95400"/>
            <a:ext cx="8526874" cy="51816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orbel" panose="020B0503020204020204" pitchFamily="34" charset="0"/>
              </a:rPr>
              <a:t>A relation is a named table  of data.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orbel" panose="020B0503020204020204" pitchFamily="34" charset="0"/>
              </a:rPr>
              <a:t>Table is made up of rows (records or tuples), and columns (attributes or fields)</a:t>
            </a:r>
          </a:p>
          <a:p>
            <a:pPr algn="just"/>
            <a:r>
              <a:rPr lang="en-US" sz="2400" b="1" dirty="0">
                <a:latin typeface="Corbel" panose="020B0503020204020204" pitchFamily="34" charset="0"/>
              </a:rPr>
              <a:t>Not all tables qualify as relations. Requirements: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Every relation has a unique name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Every attribute value is atomic (not multivalued, not composite)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Every row is unique (can’t have two rows with exactly the same values for all their fields)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Attributes (columns) in tables have unique names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The order of the columns is irrelevant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Corbel" panose="020B0503020204020204" pitchFamily="34" charset="0"/>
              </a:rPr>
              <a:t>The order of the rows is irrelevant</a:t>
            </a:r>
          </a:p>
        </p:txBody>
      </p:sp>
    </p:spTree>
    <p:extLst>
      <p:ext uri="{BB962C8B-B14F-4D97-AF65-F5344CB8AC3E}">
        <p14:creationId xmlns:p14="http://schemas.microsoft.com/office/powerpoint/2010/main" val="293293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6377940" cy="1293028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sz="4900" dirty="0">
                <a:latin typeface="Corbel" panose="020B0503020204020204" pitchFamily="34" charset="0"/>
              </a:rPr>
              <a:t>Formalizing Key Fields</a:t>
            </a: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7779" y="1981200"/>
            <a:ext cx="8160925" cy="3537421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dirty="0">
                <a:latin typeface="Corbel" panose="020B0503020204020204" pitchFamily="34" charset="0"/>
              </a:rPr>
              <a:t> </a:t>
            </a:r>
            <a:r>
              <a:rPr lang="en-US" sz="4500" b="1" dirty="0">
                <a:latin typeface="Corbel" panose="020B0503020204020204" pitchFamily="34" charset="0"/>
              </a:rPr>
              <a:t>Primary key (PK) </a:t>
            </a:r>
          </a:p>
          <a:p>
            <a:pPr marL="0" indent="0">
              <a:buNone/>
            </a:pPr>
            <a:endParaRPr lang="en-US" sz="4500" b="1" dirty="0">
              <a:latin typeface="Corbel" panose="020B0503020204020204" pitchFamily="34" charset="0"/>
            </a:endParaRPr>
          </a:p>
          <a:p>
            <a:pPr algn="just"/>
            <a:r>
              <a:rPr lang="en-US" sz="4500" dirty="0">
                <a:latin typeface="Corbel" panose="020B0503020204020204" pitchFamily="34" charset="0"/>
              </a:rPr>
              <a:t> Minimal set of attributes that uniquely identifies a row </a:t>
            </a:r>
          </a:p>
          <a:p>
            <a:pPr algn="just"/>
            <a:r>
              <a:rPr lang="en-US" sz="4500" dirty="0">
                <a:latin typeface="Corbel" panose="020B0503020204020204" pitchFamily="34" charset="0"/>
              </a:rPr>
              <a:t>This is how we can guarantee that all rows are unique</a:t>
            </a:r>
          </a:p>
          <a:p>
            <a:pPr algn="just"/>
            <a:endParaRPr lang="en-US" sz="4500" dirty="0">
              <a:latin typeface="Corbel" panose="020B0503020204020204" pitchFamily="34" charset="0"/>
            </a:endParaRPr>
          </a:p>
          <a:p>
            <a:pPr marL="0" indent="0" algn="just">
              <a:buNone/>
            </a:pPr>
            <a:r>
              <a:rPr lang="en-US" sz="4500" b="1" dirty="0">
                <a:latin typeface="Corbel" panose="020B0503020204020204" pitchFamily="34" charset="0"/>
              </a:rPr>
              <a:t>Foreign key (FK)</a:t>
            </a:r>
          </a:p>
          <a:p>
            <a:pPr marL="0" indent="0" algn="just">
              <a:buNone/>
            </a:pPr>
            <a:endParaRPr lang="en-US" sz="4500" b="1" dirty="0">
              <a:latin typeface="Corbel" panose="020B0503020204020204" pitchFamily="34" charset="0"/>
            </a:endParaRPr>
          </a:p>
          <a:p>
            <a:pPr marL="0" indent="0" algn="just">
              <a:buNone/>
            </a:pPr>
            <a:r>
              <a:rPr lang="en-US" sz="4500" dirty="0">
                <a:latin typeface="Corbel" panose="020B0503020204020204" pitchFamily="34" charset="0"/>
              </a:rPr>
              <a:t>Set of attributes in a table that serves as a reference to the primary key of another table</a:t>
            </a:r>
          </a:p>
          <a:p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19927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-466409" y="514262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zh-TW" sz="4400" dirty="0">
                <a:ln>
                  <a:noFill/>
                </a:ln>
                <a:latin typeface="Corbel" pitchFamily="34" charset="0"/>
                <a:ea typeface="新細明體" panose="02020500000000000000" pitchFamily="18" charset="-120"/>
              </a:rPr>
              <a:t>Foreign Key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11560" y="1340769"/>
            <a:ext cx="8229600" cy="502828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A constraint involving </a:t>
            </a:r>
            <a:r>
              <a:rPr lang="en-US" altLang="zh-TW" sz="2800" i="1" dirty="0">
                <a:solidFill>
                  <a:srgbClr val="008000"/>
                </a:solidFill>
                <a:latin typeface="Corbel" pitchFamily="34" charset="0"/>
                <a:cs typeface="Times New Roman" panose="02020603050405020304" pitchFamily="18" charset="0"/>
              </a:rPr>
              <a:t>two</a:t>
            </a:r>
            <a:r>
              <a:rPr lang="en-US" altLang="zh-TW" sz="2800" i="1" dirty="0">
                <a:latin typeface="Corbel" pitchFamily="34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relations </a:t>
            </a:r>
          </a:p>
          <a:p>
            <a:pPr lvl="1" eaLnBrk="1" hangingPunct="1"/>
            <a:r>
              <a:rPr lang="en-US" altLang="zh-TW" sz="2800" b="1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referencing relation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US" altLang="zh-TW" sz="2800" b="1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referenced relation</a:t>
            </a:r>
            <a:r>
              <a:rPr lang="en-US" altLang="zh-TW" sz="2800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Tuples in the </a:t>
            </a:r>
            <a:r>
              <a:rPr lang="en-US" altLang="zh-TW" sz="2800" i="1" dirty="0">
                <a:solidFill>
                  <a:srgbClr val="008000"/>
                </a:solidFill>
                <a:latin typeface="Corbel" pitchFamily="34" charset="0"/>
                <a:cs typeface="Times New Roman" panose="02020603050405020304" pitchFamily="18" charset="0"/>
              </a:rPr>
              <a:t>referencing relation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 have attributes </a:t>
            </a:r>
            <a:r>
              <a:rPr lang="en-US" altLang="zh-TW" sz="2800" b="1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FK 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(called </a:t>
            </a:r>
            <a:r>
              <a:rPr lang="en-US" altLang="zh-TW" sz="2800" b="1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foreign key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attributes) that reference the primary key attributes </a:t>
            </a:r>
            <a:r>
              <a:rPr lang="en-US" altLang="zh-TW" sz="2800" b="1" dirty="0">
                <a:solidFill>
                  <a:srgbClr val="FF6600"/>
                </a:solidFill>
                <a:latin typeface="Corbel" pitchFamily="34" charset="0"/>
                <a:cs typeface="Times New Roman" panose="02020603050405020304" pitchFamily="18" charset="0"/>
              </a:rPr>
              <a:t>PK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of the </a:t>
            </a:r>
            <a:r>
              <a:rPr lang="en-US" altLang="zh-TW" sz="2800" i="1" dirty="0">
                <a:solidFill>
                  <a:srgbClr val="008000"/>
                </a:solidFill>
                <a:latin typeface="Corbel" pitchFamily="34" charset="0"/>
                <a:cs typeface="Times New Roman" panose="02020603050405020304" pitchFamily="18" charset="0"/>
              </a:rPr>
              <a:t>referenced relation</a:t>
            </a: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zh-TW" sz="2800" dirty="0">
                <a:latin typeface="Corbel" pitchFamily="34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Corbel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800" dirty="0">
                <a:latin typeface="Corbel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buNone/>
            </a:pPr>
            <a:endParaRPr lang="en-US" sz="2800" dirty="0">
              <a:latin typeface="Corbel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800" dirty="0">
                <a:latin typeface="Corbel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Display the foreign keys by drawing an arrow from the </a:t>
            </a:r>
            <a:r>
              <a:rPr lang="en-US" sz="2800" b="1" dirty="0">
                <a:latin typeface="Corbel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foreign key</a:t>
            </a:r>
            <a:r>
              <a:rPr lang="en-US" sz="2800" dirty="0">
                <a:latin typeface="Corbel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to the </a:t>
            </a:r>
            <a:r>
              <a:rPr lang="en-US" sz="2800" b="1" dirty="0">
                <a:latin typeface="Corbel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primary key</a:t>
            </a:r>
          </a:p>
          <a:p>
            <a:pPr eaLnBrk="1" hangingPunct="1"/>
            <a:endParaRPr lang="en-US" altLang="zh-TW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zh-TW" dirty="0">
              <a:cs typeface="Times New Roman" panose="02020603050405020304" pitchFamily="18" charset="0"/>
            </a:endParaRPr>
          </a:p>
        </p:txBody>
      </p:sp>
      <p:sp>
        <p:nvSpPr>
          <p:cNvPr id="356358" name="Text Box 6"/>
          <p:cNvSpPr txBox="1">
            <a:spLocks noChangeArrowheads="1"/>
          </p:cNvSpPr>
          <p:nvPr/>
        </p:nvSpPr>
        <p:spPr bwMode="auto">
          <a:xfrm>
            <a:off x="2935288" y="4149080"/>
            <a:ext cx="3389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chemeClr val="accent2"/>
                </a:solidFill>
              </a:rPr>
              <a:t>Enrolled  (</a:t>
            </a:r>
            <a:r>
              <a:rPr lang="en-US" altLang="zh-TW" b="0" dirty="0" err="1">
                <a:solidFill>
                  <a:schemeClr val="accent2"/>
                </a:solidFill>
              </a:rPr>
              <a:t>cid</a:t>
            </a:r>
            <a:r>
              <a:rPr lang="en-US" altLang="zh-TW" b="0" dirty="0">
                <a:solidFill>
                  <a:schemeClr val="accent2"/>
                </a:solidFill>
              </a:rPr>
              <a:t> ,grade, </a:t>
            </a:r>
            <a:r>
              <a:rPr lang="en-US" altLang="zh-TW" b="0" dirty="0" err="1">
                <a:solidFill>
                  <a:schemeClr val="accent2"/>
                </a:solidFill>
              </a:rPr>
              <a:t>studid</a:t>
            </a:r>
            <a:r>
              <a:rPr lang="en-US" altLang="zh-TW" b="0" dirty="0">
                <a:solidFill>
                  <a:schemeClr val="accent2"/>
                </a:solidFill>
              </a:rPr>
              <a:t>)</a:t>
            </a:r>
            <a:endParaRPr lang="en-US" b="0" dirty="0">
              <a:solidFill>
                <a:schemeClr val="accent2"/>
              </a:solidFill>
            </a:endParaRPr>
          </a:p>
        </p:txBody>
      </p:sp>
      <p:sp>
        <p:nvSpPr>
          <p:cNvPr id="356360" name="Text Box 8"/>
          <p:cNvSpPr txBox="1">
            <a:spLocks noChangeArrowheads="1"/>
          </p:cNvSpPr>
          <p:nvPr/>
        </p:nvSpPr>
        <p:spPr bwMode="auto">
          <a:xfrm>
            <a:off x="3453606" y="4451127"/>
            <a:ext cx="4370387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zh-TW" b="0" dirty="0">
              <a:solidFill>
                <a:srgbClr val="3333CC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TW" b="0" dirty="0">
                <a:solidFill>
                  <a:srgbClr val="6600CC"/>
                </a:solidFill>
              </a:rPr>
              <a:t>Students (</a:t>
            </a:r>
            <a:r>
              <a:rPr lang="en-US" altLang="zh-TW" b="0" dirty="0" err="1">
                <a:solidFill>
                  <a:srgbClr val="6600CC"/>
                </a:solidFill>
              </a:rPr>
              <a:t>sid</a:t>
            </a:r>
            <a:r>
              <a:rPr lang="en-US" altLang="zh-TW" b="0" dirty="0">
                <a:solidFill>
                  <a:srgbClr val="6600CC"/>
                </a:solidFill>
              </a:rPr>
              <a:t>, name ,login, age, </a:t>
            </a:r>
            <a:r>
              <a:rPr lang="en-US" altLang="zh-TW" b="0" dirty="0" err="1">
                <a:solidFill>
                  <a:srgbClr val="6600CC"/>
                </a:solidFill>
              </a:rPr>
              <a:t>gpa</a:t>
            </a:r>
            <a:r>
              <a:rPr lang="en-US" altLang="zh-TW" b="0" dirty="0">
                <a:solidFill>
                  <a:srgbClr val="6600CC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TW" b="0" dirty="0">
                <a:solidFill>
                  <a:srgbClr val="3333CC"/>
                </a:solidFill>
              </a:rPr>
              <a:t> </a:t>
            </a:r>
          </a:p>
          <a:p>
            <a:pPr eaLnBrk="1" hangingPunct="1"/>
            <a:endParaRPr lang="en-US" dirty="0"/>
          </a:p>
        </p:txBody>
      </p:sp>
      <p:sp>
        <p:nvSpPr>
          <p:cNvPr id="356362" name="Text Box 10"/>
          <p:cNvSpPr txBox="1">
            <a:spLocks noChangeArrowheads="1"/>
          </p:cNvSpPr>
          <p:nvPr/>
        </p:nvSpPr>
        <p:spPr bwMode="auto">
          <a:xfrm>
            <a:off x="1981199" y="4731321"/>
            <a:ext cx="1482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</a:rPr>
              <a:t>referenced</a:t>
            </a:r>
          </a:p>
        </p:txBody>
      </p:sp>
      <p:sp>
        <p:nvSpPr>
          <p:cNvPr id="356363" name="Text Box 11"/>
          <p:cNvSpPr txBox="1">
            <a:spLocks noChangeArrowheads="1"/>
          </p:cNvSpPr>
          <p:nvPr/>
        </p:nvSpPr>
        <p:spPr bwMode="auto">
          <a:xfrm>
            <a:off x="1250156" y="4112245"/>
            <a:ext cx="156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accent2"/>
                </a:solidFill>
              </a:rPr>
              <a:t>referencing</a:t>
            </a:r>
          </a:p>
        </p:txBody>
      </p:sp>
      <p:sp>
        <p:nvSpPr>
          <p:cNvPr id="23564" name="Oval 12"/>
          <p:cNvSpPr>
            <a:spLocks noChangeArrowheads="1"/>
          </p:cNvSpPr>
          <p:nvPr/>
        </p:nvSpPr>
        <p:spPr bwMode="auto">
          <a:xfrm>
            <a:off x="5372100" y="4252409"/>
            <a:ext cx="838200" cy="304800"/>
          </a:xfrm>
          <a:prstGeom prst="ellips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3565" name="Oval 13"/>
          <p:cNvSpPr>
            <a:spLocks noChangeArrowheads="1"/>
          </p:cNvSpPr>
          <p:nvPr/>
        </p:nvSpPr>
        <p:spPr bwMode="auto">
          <a:xfrm>
            <a:off x="4629149" y="4780384"/>
            <a:ext cx="533400" cy="304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cxnSp>
        <p:nvCxnSpPr>
          <p:cNvPr id="23566" name="AutoShape 14"/>
          <p:cNvCxnSpPr>
            <a:cxnSpLocks noChangeShapeType="1"/>
          </p:cNvCxnSpPr>
          <p:nvPr/>
        </p:nvCxnSpPr>
        <p:spPr bwMode="auto">
          <a:xfrm rot="10800000" flipV="1">
            <a:off x="4895850" y="4607668"/>
            <a:ext cx="914400" cy="117475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6342062" y="418169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CC6600"/>
                </a:solidFill>
              </a:rPr>
              <a:t>FK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5353049" y="5048349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b="0" dirty="0">
                <a:solidFill>
                  <a:srgbClr val="FF6600"/>
                </a:solidFill>
              </a:rPr>
              <a:t>PK</a:t>
            </a:r>
            <a:endParaRPr lang="en-US" b="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61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56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56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6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6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6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6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6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6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235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35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 tmFilter="0, 0; .2, .5; .8, .5; 1, 0"/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250" autoRev="1" fill="hold"/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235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235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235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4" grpId="0" animBg="1"/>
      <p:bldP spid="23564" grpId="1" animBg="1"/>
      <p:bldP spid="23565" grpId="0" animBg="1"/>
      <p:bldP spid="23565" grpId="1" animBg="1"/>
      <p:bldP spid="23567" grpId="0" build="allAtOnce"/>
      <p:bldP spid="23568" grpId="0"/>
      <p:bldP spid="23568" grpId="1"/>
      <p:bldP spid="23568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Integrity Constraints - IC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47700" y="1844674"/>
            <a:ext cx="8100764" cy="4392637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sz="3000" dirty="0">
                <a:solidFill>
                  <a:srgbClr val="CC3399"/>
                </a:solidFill>
                <a:latin typeface="Corbel" pitchFamily="34" charset="0"/>
              </a:rPr>
              <a:t>DBMS must prevent entry of incorrect information.</a:t>
            </a:r>
          </a:p>
          <a:p>
            <a:pPr algn="just" eaLnBrk="1" hangingPunct="1"/>
            <a:r>
              <a:rPr lang="en-US" sz="3000" dirty="0">
                <a:solidFill>
                  <a:srgbClr val="00B050"/>
                </a:solidFill>
                <a:latin typeface="Corbel" pitchFamily="34" charset="0"/>
              </a:rPr>
              <a:t>To prevent : Constraints / conditions  are specified on a relational schema  = ICs </a:t>
            </a:r>
          </a:p>
          <a:p>
            <a:pPr algn="just" eaLnBrk="1" hangingPunct="1"/>
            <a:r>
              <a:rPr lang="en-US" sz="3000" dirty="0">
                <a:latin typeface="Corbel" pitchFamily="34" charset="0"/>
              </a:rPr>
              <a:t>Database which satisfies all  constraints  specified on a database schema is a </a:t>
            </a:r>
            <a:r>
              <a:rPr lang="en-US" sz="3000" dirty="0">
                <a:solidFill>
                  <a:srgbClr val="FF0000"/>
                </a:solidFill>
                <a:latin typeface="Corbel" pitchFamily="34" charset="0"/>
              </a:rPr>
              <a:t>legal instance.</a:t>
            </a:r>
          </a:p>
          <a:p>
            <a:pPr algn="just" eaLnBrk="1" hangingPunct="1"/>
            <a:r>
              <a:rPr lang="en-US" sz="3000" dirty="0">
                <a:solidFill>
                  <a:srgbClr val="CC3399"/>
                </a:solidFill>
                <a:latin typeface="Corbel" pitchFamily="34" charset="0"/>
              </a:rPr>
              <a:t>DBMS enforces constraints  - permits only legal instances to be stored.</a:t>
            </a:r>
          </a:p>
          <a:p>
            <a:pPr algn="just" eaLnBrk="1" hangingPunct="1"/>
            <a:r>
              <a:rPr lang="en-US" sz="3000" dirty="0">
                <a:solidFill>
                  <a:srgbClr val="CC3399"/>
                </a:solidFill>
                <a:latin typeface="Corbel" pitchFamily="34" charset="0"/>
              </a:rPr>
              <a:t>When the application is run the DBMS checks for the violation and disallows the changes to the data that violates the specified IC.</a:t>
            </a:r>
          </a:p>
          <a:p>
            <a:pPr algn="just" eaLnBrk="1" hangingPunct="1"/>
            <a:endParaRPr lang="en-US" b="1" dirty="0">
              <a:solidFill>
                <a:srgbClr val="CC33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47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6377940" cy="1293028"/>
          </a:xfrm>
        </p:spPr>
        <p:txBody>
          <a:bodyPr/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Integrity Constraints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67544" y="1811338"/>
            <a:ext cx="7489006" cy="377790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3000" dirty="0">
                <a:solidFill>
                  <a:schemeClr val="accent2"/>
                </a:solidFill>
                <a:latin typeface="Corbel" pitchFamily="34" charset="0"/>
              </a:rPr>
              <a:t>Specified</a:t>
            </a:r>
            <a:r>
              <a:rPr lang="en-US" sz="3000" dirty="0">
                <a:latin typeface="Corbel" pitchFamily="34" charset="0"/>
              </a:rPr>
              <a:t> and </a:t>
            </a:r>
            <a:r>
              <a:rPr lang="en-US" sz="3000" dirty="0">
                <a:solidFill>
                  <a:srgbClr val="3333CC"/>
                </a:solidFill>
                <a:latin typeface="Corbel" pitchFamily="34" charset="0"/>
              </a:rPr>
              <a:t>enforced</a:t>
            </a:r>
            <a:r>
              <a:rPr lang="en-US" sz="3000" dirty="0">
                <a:latin typeface="Corbel" pitchFamily="34" charset="0"/>
              </a:rPr>
              <a:t> at different times.</a:t>
            </a:r>
          </a:p>
          <a:p>
            <a:pPr eaLnBrk="1" hangingPunct="1"/>
            <a:endParaRPr lang="en-US" sz="3000" dirty="0">
              <a:latin typeface="Corbel" pitchFamily="34" charset="0"/>
            </a:endParaRPr>
          </a:p>
          <a:p>
            <a:pPr lvl="1" eaLnBrk="1" hangingPunct="1"/>
            <a:r>
              <a:rPr lang="en-US" sz="3000" b="1" dirty="0">
                <a:solidFill>
                  <a:srgbClr val="FF0000"/>
                </a:solidFill>
                <a:latin typeface="Corbel" pitchFamily="34" charset="0"/>
              </a:rPr>
              <a:t>Specified : </a:t>
            </a:r>
            <a:r>
              <a:rPr lang="en-US" sz="3000" dirty="0">
                <a:latin typeface="Corbel" pitchFamily="34" charset="0"/>
              </a:rPr>
              <a:t>When the DBA /end user defines the data base schema </a:t>
            </a:r>
          </a:p>
          <a:p>
            <a:pPr lvl="1" eaLnBrk="1" hangingPunct="1"/>
            <a:endParaRPr lang="en-US" sz="3000" dirty="0">
              <a:latin typeface="Corbel" pitchFamily="34" charset="0"/>
            </a:endParaRPr>
          </a:p>
          <a:p>
            <a:pPr lvl="1" eaLnBrk="1" hangingPunct="1"/>
            <a:r>
              <a:rPr lang="en-US" sz="3000" b="1" dirty="0">
                <a:solidFill>
                  <a:srgbClr val="3333CC"/>
                </a:solidFill>
                <a:latin typeface="Corbel" pitchFamily="34" charset="0"/>
              </a:rPr>
              <a:t>Enforced : </a:t>
            </a:r>
            <a:r>
              <a:rPr lang="en-US" sz="3000" dirty="0">
                <a:latin typeface="Corbel" pitchFamily="34" charset="0"/>
              </a:rPr>
              <a:t>When database application is run</a:t>
            </a:r>
          </a:p>
          <a:p>
            <a:pPr lvl="2" eaLnBrk="1" hangingPunct="1"/>
            <a:r>
              <a:rPr lang="en-US" sz="3000" dirty="0">
                <a:latin typeface="Corbel" pitchFamily="34" charset="0"/>
              </a:rPr>
              <a:t>DBMS checks for violations</a:t>
            </a:r>
          </a:p>
          <a:p>
            <a:pPr lvl="2" eaLnBrk="1" hangingPunct="1"/>
            <a:r>
              <a:rPr lang="en-US" sz="3000" dirty="0">
                <a:latin typeface="Corbel" pitchFamily="34" charset="0"/>
              </a:rPr>
              <a:t>Disallow violating entries</a:t>
            </a:r>
            <a:r>
              <a:rPr lang="en-US" sz="3600" dirty="0">
                <a:latin typeface="Corbel" pitchFamily="34" charset="0"/>
              </a:rPr>
              <a:t>  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8586" y="8382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Integrity Constraints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11560" y="1752599"/>
            <a:ext cx="7344990" cy="3946525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	</a:t>
            </a:r>
            <a:r>
              <a:rPr lang="en-US" sz="2800" dirty="0">
                <a:latin typeface="Corbel" pitchFamily="34" charset="0"/>
              </a:rPr>
              <a:t>Many kinds of ICs: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800" dirty="0">
              <a:latin typeface="Corbel" pitchFamily="34" charset="0"/>
            </a:endParaRPr>
          </a:p>
          <a:p>
            <a:pPr lvl="1" eaLnBrk="1" hangingPunct="1"/>
            <a:r>
              <a:rPr lang="en-US" sz="2800" dirty="0">
                <a:latin typeface="Corbel" pitchFamily="34" charset="0"/>
              </a:rPr>
              <a:t>Domain constraints</a:t>
            </a:r>
          </a:p>
          <a:p>
            <a:pPr lvl="1" eaLnBrk="1" hangingPunct="1"/>
            <a:r>
              <a:rPr lang="en-US" sz="2800" dirty="0">
                <a:latin typeface="Corbel" pitchFamily="34" charset="0"/>
              </a:rPr>
              <a:t>Key constraints</a:t>
            </a:r>
          </a:p>
          <a:p>
            <a:pPr lvl="1" eaLnBrk="1" hangingPunct="1"/>
            <a:r>
              <a:rPr lang="en-US" sz="2800" dirty="0">
                <a:latin typeface="Corbel" pitchFamily="34" charset="0"/>
              </a:rPr>
              <a:t>Entity integrity constraints </a:t>
            </a:r>
          </a:p>
          <a:p>
            <a:pPr lvl="1" eaLnBrk="1" hangingPunct="1"/>
            <a:r>
              <a:rPr lang="en-US" sz="2800" dirty="0">
                <a:latin typeface="Corbel" pitchFamily="34" charset="0"/>
              </a:rPr>
              <a:t>Referential integrity constraints</a:t>
            </a:r>
            <a:r>
              <a:rPr lang="en-US" sz="2800" dirty="0"/>
              <a:t> 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63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9" y="6096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Domain Constraints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3600" y="1447800"/>
            <a:ext cx="7668840" cy="5105399"/>
          </a:xfrm>
          <a:prstGeom prst="rect">
            <a:avLst/>
          </a:prstGeom>
          <a:ln>
            <a:solidFill>
              <a:srgbClr val="CC3399"/>
            </a:solidFill>
            <a:miter lim="800000"/>
            <a:headEnd/>
            <a:tailEnd/>
          </a:ln>
        </p:spPr>
        <p:txBody>
          <a:bodyPr rtlCol="0">
            <a:noAutofit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sz="2800" b="1" dirty="0">
                <a:solidFill>
                  <a:srgbClr val="FF0066"/>
                </a:solidFill>
                <a:latin typeface="Corbel" pitchFamily="34" charset="0"/>
              </a:rPr>
              <a:t>Domain constraints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: value in the Column must be drawn from the domain associated with that column</a:t>
            </a:r>
          </a:p>
          <a:p>
            <a:pPr eaLnBrk="1" fontAlgn="auto" hangingPunct="1">
              <a:buFont typeface="Arial"/>
              <a:buChar char="•"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sz="2800" b="1" dirty="0">
                <a:solidFill>
                  <a:srgbClr val="800080"/>
                </a:solidFill>
                <a:latin typeface="Corbel" pitchFamily="34" charset="0"/>
              </a:rPr>
              <a:t>Restricts the :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rgbClr val="800080"/>
                </a:solidFill>
                <a:latin typeface="Corbel" pitchFamily="34" charset="0"/>
              </a:rPr>
              <a:t>Type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rgbClr val="800080"/>
                </a:solidFill>
                <a:latin typeface="Corbel" pitchFamily="34" charset="0"/>
              </a:rPr>
              <a:t>Values that can appear in the field</a:t>
            </a:r>
            <a:r>
              <a:rPr lang="en-US" sz="2800" dirty="0">
                <a:solidFill>
                  <a:srgbClr val="92D050"/>
                </a:solidFill>
                <a:latin typeface="Corbel" pitchFamily="34" charset="0"/>
              </a:rPr>
              <a:t> </a:t>
            </a:r>
          </a:p>
          <a:p>
            <a:pPr eaLnBrk="1" fontAlgn="auto" hangingPunct="1">
              <a:buFont typeface="Wingdings" panose="05000000000000000000" pitchFamily="2" charset="2"/>
              <a:buNone/>
              <a:defRPr/>
            </a:pP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Eg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.</a:t>
            </a:r>
          </a:p>
          <a:p>
            <a:pPr lvl="2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 Name   Char (25)</a:t>
            </a:r>
          </a:p>
          <a:p>
            <a:pPr lvl="2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GPA    (real &gt;=0, =&lt;4)</a:t>
            </a:r>
          </a:p>
        </p:txBody>
      </p:sp>
    </p:spTree>
    <p:extLst>
      <p:ext uri="{BB962C8B-B14F-4D97-AF65-F5344CB8AC3E}">
        <p14:creationId xmlns:p14="http://schemas.microsoft.com/office/powerpoint/2010/main" val="3621717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-685800" y="8382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solidFill>
                  <a:schemeClr val="tx1"/>
                </a:solidFill>
                <a:latin typeface="Corbel" pitchFamily="34" charset="0"/>
              </a:rPr>
              <a:t>Key constraints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46113" y="1981199"/>
            <a:ext cx="8102351" cy="378936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6600CC"/>
                </a:solidFill>
                <a:latin typeface="Corbel" pitchFamily="34" charset="0"/>
              </a:rPr>
              <a:t>Is a statement that;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latin typeface="Corbel" pitchFamily="34" charset="0"/>
              </a:rPr>
              <a:t>A certain minimal subset of the fields of a relation is a unique identifier for a tuple.</a:t>
            </a:r>
          </a:p>
          <a:p>
            <a:pPr lvl="1" eaLnBrk="1" hangingPunct="1">
              <a:lnSpc>
                <a:spcPct val="90000"/>
              </a:lnSpc>
            </a:pPr>
            <a:endParaRPr lang="en-US" sz="2800" dirty="0">
              <a:latin typeface="Corbel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00B050"/>
                </a:solidFill>
                <a:latin typeface="Corbel" pitchFamily="34" charset="0"/>
              </a:rPr>
              <a:t>Which Means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latin typeface="Corbel" pitchFamily="34" charset="0"/>
              </a:rPr>
              <a:t>Two  tuples in a legal instance cannot have identical values in all the fields of a key.</a:t>
            </a:r>
          </a:p>
        </p:txBody>
      </p:sp>
    </p:spTree>
    <p:extLst>
      <p:ext uri="{BB962C8B-B14F-4D97-AF65-F5344CB8AC3E}">
        <p14:creationId xmlns:p14="http://schemas.microsoft.com/office/powerpoint/2010/main" val="3436449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34420" y="191731"/>
            <a:ext cx="6377940" cy="788997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Constraints…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51520" y="870818"/>
            <a:ext cx="8892480" cy="3278262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sz="2800" b="1" dirty="0">
                <a:solidFill>
                  <a:schemeClr val="tx1"/>
                </a:solidFill>
                <a:latin typeface="Corbel" pitchFamily="34" charset="0"/>
              </a:rPr>
              <a:t>Entity Integrity Constraints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: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states that </a:t>
            </a:r>
            <a:r>
              <a:rPr lang="en-US" sz="2800" b="1" dirty="0">
                <a:solidFill>
                  <a:srgbClr val="008000"/>
                </a:solidFill>
                <a:latin typeface="Corbel" pitchFamily="34" charset="0"/>
              </a:rPr>
              <a:t>primary key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 values cannot be null.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zh-TW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  <a:cs typeface="Times New Roman" panose="02020603050405020304" pitchFamily="18" charset="0"/>
              </a:rPr>
              <a:t>This is because primary key values are used to identify  the individual tuples.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sz="2800" b="1" dirty="0">
                <a:solidFill>
                  <a:schemeClr val="tx1"/>
                </a:solidFill>
                <a:latin typeface="Corbel" pitchFamily="34" charset="0"/>
              </a:rPr>
              <a:t>Referential Integrity Constraints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Sometimes information stored in one relation is linked to information stored in another relation.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If one is modified the other must be modified to keep the data consistent.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An IC involving both relations must be specified.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IC involving 2 relations is a  </a:t>
            </a:r>
            <a:r>
              <a:rPr lang="en-US" sz="2800" b="1" dirty="0">
                <a:solidFill>
                  <a:srgbClr val="008000"/>
                </a:solidFill>
                <a:latin typeface="Corbel" pitchFamily="34" charset="0"/>
              </a:rPr>
              <a:t>foreign key constraint.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Foreign keys enforce referential integrity constraints.</a:t>
            </a:r>
          </a:p>
        </p:txBody>
      </p:sp>
    </p:spTree>
    <p:extLst>
      <p:ext uri="{BB962C8B-B14F-4D97-AF65-F5344CB8AC3E}">
        <p14:creationId xmlns:p14="http://schemas.microsoft.com/office/powerpoint/2010/main" val="304449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6516" y="633796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Referential Integrity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39713" y="1698625"/>
            <a:ext cx="9742487" cy="40703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TW" sz="2800" dirty="0">
                <a:latin typeface="Corbel" pitchFamily="34" charset="0"/>
              </a:rPr>
              <a:t>The value in the </a:t>
            </a:r>
            <a:r>
              <a:rPr lang="en-US" altLang="zh-TW" sz="2800" dirty="0">
                <a:solidFill>
                  <a:srgbClr val="00B050"/>
                </a:solidFill>
                <a:latin typeface="Corbel" pitchFamily="34" charset="0"/>
              </a:rPr>
              <a:t>foreign key </a:t>
            </a:r>
            <a:r>
              <a:rPr lang="en-US" altLang="zh-TW" sz="2800" dirty="0">
                <a:latin typeface="Corbel" pitchFamily="34" charset="0"/>
              </a:rPr>
              <a:t>column ( can be </a:t>
            </a:r>
            <a:r>
              <a:rPr lang="en-US" altLang="zh-TW" sz="2800" u="sng" dirty="0">
                <a:latin typeface="Corbel" pitchFamily="34" charset="0"/>
              </a:rPr>
              <a:t>either</a:t>
            </a:r>
            <a:r>
              <a:rPr lang="en-US" altLang="zh-TW" sz="2800" dirty="0">
                <a:latin typeface="Corbel" pitchFamily="34" charset="0"/>
              </a:rPr>
              <a:t>:</a:t>
            </a:r>
          </a:p>
          <a:p>
            <a:pPr lvl="1" eaLnBrk="1" hangingPunct="1"/>
            <a:r>
              <a:rPr lang="en-US" altLang="zh-TW" sz="2800" dirty="0">
                <a:latin typeface="Corbel" pitchFamily="34" charset="0"/>
              </a:rPr>
              <a:t>a value of an existing primary key  in the </a:t>
            </a:r>
            <a:r>
              <a:rPr lang="en-US" altLang="zh-TW" sz="2800" b="1" dirty="0">
                <a:solidFill>
                  <a:srgbClr val="FF0066"/>
                </a:solidFill>
                <a:latin typeface="Corbel" pitchFamily="34" charset="0"/>
              </a:rPr>
              <a:t>referenced relation</a:t>
            </a:r>
            <a:r>
              <a:rPr lang="en-US" altLang="zh-TW" sz="2800" b="1" dirty="0">
                <a:latin typeface="Corbel" pitchFamily="34" charset="0"/>
              </a:rPr>
              <a:t> </a:t>
            </a:r>
            <a:r>
              <a:rPr lang="en-US" altLang="zh-TW" sz="2800" dirty="0">
                <a:latin typeface="Corbel" pitchFamily="34" charset="0"/>
              </a:rPr>
              <a:t>or a </a:t>
            </a:r>
            <a:r>
              <a:rPr lang="en-US" altLang="zh-TW" sz="2800" b="1" dirty="0">
                <a:solidFill>
                  <a:srgbClr val="00B050"/>
                </a:solidFill>
                <a:latin typeface="Corbel" pitchFamily="34" charset="0"/>
              </a:rPr>
              <a:t>null.</a:t>
            </a:r>
          </a:p>
          <a:p>
            <a:pPr eaLnBrk="1" hangingPunct="1"/>
            <a:endParaRPr lang="en-US" dirty="0"/>
          </a:p>
        </p:txBody>
      </p:sp>
      <p:graphicFrame>
        <p:nvGraphicFramePr>
          <p:cNvPr id="39941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4373563" y="4191000"/>
          <a:ext cx="42164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532313" imgH="1706563" progId="Word.Document.8">
                  <p:embed/>
                </p:oleObj>
              </mc:Choice>
              <mc:Fallback>
                <p:oleObj name="Document" r:id="rId3" imgW="4532313" imgH="1706563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191000"/>
                        <a:ext cx="4216400" cy="17065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20"/>
          <p:cNvSpPr>
            <a:spLocks noChangeArrowheads="1"/>
          </p:cNvSpPr>
          <p:nvPr/>
        </p:nvSpPr>
        <p:spPr bwMode="auto">
          <a:xfrm>
            <a:off x="1101725" y="3505200"/>
            <a:ext cx="6350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5" name="Rectangle 22"/>
          <p:cNvSpPr>
            <a:spLocks noChangeArrowheads="1"/>
          </p:cNvSpPr>
          <p:nvPr/>
        </p:nvSpPr>
        <p:spPr bwMode="auto">
          <a:xfrm>
            <a:off x="2730500" y="3505200"/>
            <a:ext cx="6350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7" name="Rectangle 24"/>
          <p:cNvSpPr>
            <a:spLocks noChangeArrowheads="1"/>
          </p:cNvSpPr>
          <p:nvPr/>
        </p:nvSpPr>
        <p:spPr bwMode="auto">
          <a:xfrm>
            <a:off x="3481388" y="3505200"/>
            <a:ext cx="14287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8" name="Rectangle 38"/>
          <p:cNvSpPr>
            <a:spLocks noChangeArrowheads="1"/>
          </p:cNvSpPr>
          <p:nvPr/>
        </p:nvSpPr>
        <p:spPr bwMode="auto">
          <a:xfrm>
            <a:off x="239713" y="3843338"/>
            <a:ext cx="12700" cy="7937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49" name="Rectangle 42"/>
          <p:cNvSpPr>
            <a:spLocks noChangeArrowheads="1"/>
          </p:cNvSpPr>
          <p:nvPr/>
        </p:nvSpPr>
        <p:spPr bwMode="auto">
          <a:xfrm>
            <a:off x="2730500" y="3843338"/>
            <a:ext cx="6350" cy="7937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0" name="Rectangle 44"/>
          <p:cNvSpPr>
            <a:spLocks noChangeArrowheads="1"/>
          </p:cNvSpPr>
          <p:nvPr/>
        </p:nvSpPr>
        <p:spPr bwMode="auto">
          <a:xfrm>
            <a:off x="3481388" y="3843338"/>
            <a:ext cx="14287" cy="7937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1" name="Rectangle 67"/>
          <p:cNvSpPr>
            <a:spLocks noChangeArrowheads="1"/>
          </p:cNvSpPr>
          <p:nvPr/>
        </p:nvSpPr>
        <p:spPr bwMode="auto">
          <a:xfrm>
            <a:off x="239713" y="5159375"/>
            <a:ext cx="862012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2" name="Rectangle 69"/>
          <p:cNvSpPr>
            <a:spLocks noChangeArrowheads="1"/>
          </p:cNvSpPr>
          <p:nvPr/>
        </p:nvSpPr>
        <p:spPr bwMode="auto">
          <a:xfrm>
            <a:off x="1101725" y="5159375"/>
            <a:ext cx="6350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3" name="Rectangle 70"/>
          <p:cNvSpPr>
            <a:spLocks noChangeArrowheads="1"/>
          </p:cNvSpPr>
          <p:nvPr/>
        </p:nvSpPr>
        <p:spPr bwMode="auto">
          <a:xfrm>
            <a:off x="1108075" y="5159375"/>
            <a:ext cx="1622425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4" name="Rectangle 72"/>
          <p:cNvSpPr>
            <a:spLocks noChangeArrowheads="1"/>
          </p:cNvSpPr>
          <p:nvPr/>
        </p:nvSpPr>
        <p:spPr bwMode="auto">
          <a:xfrm>
            <a:off x="2730500" y="5159375"/>
            <a:ext cx="6350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5" name="Rectangle 73"/>
          <p:cNvSpPr>
            <a:spLocks noChangeArrowheads="1"/>
          </p:cNvSpPr>
          <p:nvPr/>
        </p:nvSpPr>
        <p:spPr bwMode="auto">
          <a:xfrm>
            <a:off x="2736850" y="5159375"/>
            <a:ext cx="744538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6" name="Rectangle 75"/>
          <p:cNvSpPr>
            <a:spLocks noChangeArrowheads="1"/>
          </p:cNvSpPr>
          <p:nvPr/>
        </p:nvSpPr>
        <p:spPr bwMode="auto">
          <a:xfrm>
            <a:off x="3481388" y="5159375"/>
            <a:ext cx="14287" cy="6350"/>
          </a:xfrm>
          <a:prstGeom prst="rect">
            <a:avLst/>
          </a:prstGeom>
          <a:solidFill>
            <a:srgbClr val="BC37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9957" name="Line 75"/>
          <p:cNvSpPr>
            <a:spLocks noChangeShapeType="1"/>
          </p:cNvSpPr>
          <p:nvPr/>
        </p:nvSpPr>
        <p:spPr bwMode="auto">
          <a:xfrm>
            <a:off x="3480112" y="4419199"/>
            <a:ext cx="849001" cy="1686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8" name="Line 76"/>
          <p:cNvSpPr>
            <a:spLocks noChangeShapeType="1"/>
          </p:cNvSpPr>
          <p:nvPr/>
        </p:nvSpPr>
        <p:spPr bwMode="auto">
          <a:xfrm flipV="1">
            <a:off x="3505200" y="4670022"/>
            <a:ext cx="823913" cy="1686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9" name="Line 77"/>
          <p:cNvSpPr>
            <a:spLocks noChangeShapeType="1"/>
          </p:cNvSpPr>
          <p:nvPr/>
        </p:nvSpPr>
        <p:spPr bwMode="auto">
          <a:xfrm>
            <a:off x="3546476" y="5189538"/>
            <a:ext cx="776286" cy="1686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0" name="Line 78"/>
          <p:cNvSpPr>
            <a:spLocks noChangeShapeType="1"/>
          </p:cNvSpPr>
          <p:nvPr/>
        </p:nvSpPr>
        <p:spPr bwMode="auto">
          <a:xfrm flipV="1">
            <a:off x="3467100" y="4758924"/>
            <a:ext cx="855662" cy="8235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1" name="Text Box 79"/>
          <p:cNvSpPr txBox="1">
            <a:spLocks noChangeArrowheads="1"/>
          </p:cNvSpPr>
          <p:nvPr/>
        </p:nvSpPr>
        <p:spPr bwMode="auto">
          <a:xfrm>
            <a:off x="3757613" y="3509963"/>
            <a:ext cx="585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62" name="Text Box 80"/>
          <p:cNvSpPr txBox="1">
            <a:spLocks noChangeArrowheads="1"/>
          </p:cNvSpPr>
          <p:nvPr/>
        </p:nvSpPr>
        <p:spPr bwMode="auto">
          <a:xfrm>
            <a:off x="2881313" y="3557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FK</a:t>
            </a:r>
          </a:p>
        </p:txBody>
      </p:sp>
      <p:sp>
        <p:nvSpPr>
          <p:cNvPr id="39963" name="Text Box 81"/>
          <p:cNvSpPr txBox="1">
            <a:spLocks noChangeArrowheads="1"/>
          </p:cNvSpPr>
          <p:nvPr/>
        </p:nvSpPr>
        <p:spPr bwMode="auto">
          <a:xfrm>
            <a:off x="4576763" y="3819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PK</a:t>
            </a:r>
          </a:p>
        </p:txBody>
      </p:sp>
      <p:sp>
        <p:nvSpPr>
          <p:cNvPr id="39964" name="Rectangle 82"/>
          <p:cNvSpPr>
            <a:spLocks noChangeArrowheads="1"/>
          </p:cNvSpPr>
          <p:nvPr/>
        </p:nvSpPr>
        <p:spPr bwMode="auto">
          <a:xfrm>
            <a:off x="1360487" y="5980368"/>
            <a:ext cx="111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chemeClr val="accent2"/>
                </a:solidFill>
              </a:rPr>
              <a:t>Enrolled</a:t>
            </a:r>
            <a:endParaRPr lang="en-US" b="0" dirty="0">
              <a:solidFill>
                <a:schemeClr val="accent2"/>
              </a:solidFill>
            </a:endParaRPr>
          </a:p>
        </p:txBody>
      </p:sp>
      <p:sp>
        <p:nvSpPr>
          <p:cNvPr id="39965" name="Rectangle 83"/>
          <p:cNvSpPr>
            <a:spLocks noChangeArrowheads="1"/>
          </p:cNvSpPr>
          <p:nvPr/>
        </p:nvSpPr>
        <p:spPr bwMode="auto">
          <a:xfrm>
            <a:off x="6248400" y="3733800"/>
            <a:ext cx="1185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b="0">
                <a:solidFill>
                  <a:srgbClr val="6600CC"/>
                </a:solidFill>
              </a:rPr>
              <a:t>Students</a:t>
            </a:r>
            <a:endParaRPr lang="en-US" b="0">
              <a:solidFill>
                <a:srgbClr val="6600CC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239000" y="4189413"/>
            <a:ext cx="0" cy="1357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cxnSpLocks/>
          </p:cNvCxnSpPr>
          <p:nvPr/>
        </p:nvCxnSpPr>
        <p:spPr>
          <a:xfrm>
            <a:off x="5029200" y="4200525"/>
            <a:ext cx="0" cy="1366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56100" y="4525963"/>
            <a:ext cx="4260850" cy="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373563" y="4838700"/>
            <a:ext cx="4202112" cy="30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V="1">
            <a:off x="4391025" y="5159375"/>
            <a:ext cx="4202113" cy="30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4343400" y="5567363"/>
            <a:ext cx="4202113" cy="30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09875" y="3906838"/>
          <a:ext cx="317023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cid</a:t>
                      </a:r>
                      <a:endParaRPr lang="en-US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stuid</a:t>
                      </a:r>
                      <a:endParaRPr lang="en-US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1" hangingPunct="1"/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Carnatic101</a:t>
                      </a:r>
                      <a:endParaRPr lang="en-US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53666</a:t>
                      </a:r>
                      <a:endParaRPr lang="en-US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Reggae203</a:t>
                      </a:r>
                      <a:endParaRPr lang="en-US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53666</a:t>
                      </a:r>
                      <a:endParaRPr lang="en-US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Topology112</a:t>
                      </a:r>
                      <a:endParaRPr lang="en-US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53650</a:t>
                      </a:r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History105</a:t>
                      </a:r>
                      <a:endParaRPr lang="en-US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5400"/>
                          </a:solidFill>
                          <a:latin typeface="Times New Roman" panose="02020603050405020304" pitchFamily="18" charset="0"/>
                        </a:rPr>
                        <a:t>53666</a:t>
                      </a:r>
                      <a:endParaRPr lang="en-US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567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607696" cy="1293028"/>
          </a:xfrm>
        </p:spPr>
        <p:txBody>
          <a:bodyPr/>
          <a:lstStyle/>
          <a:p>
            <a:pPr algn="ctr" eaLnBrk="1" hangingPunct="1"/>
            <a:r>
              <a:rPr lang="en-US" sz="3400" dirty="0">
                <a:ln>
                  <a:noFill/>
                </a:ln>
              </a:rPr>
              <a:t>    </a:t>
            </a:r>
            <a:r>
              <a:rPr lang="en-US" sz="4400" dirty="0">
                <a:ln>
                  <a:noFill/>
                </a:ln>
                <a:latin typeface="Corbel" pitchFamily="34" charset="0"/>
              </a:rPr>
              <a:t>DB operations &amp; Constraints  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74675" y="1862138"/>
            <a:ext cx="8340725" cy="3943126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eaLnBrk="1" hangingPunct="1"/>
            <a:r>
              <a:rPr lang="en-US" sz="5100" dirty="0">
                <a:latin typeface="Corbel" pitchFamily="34" charset="0"/>
              </a:rPr>
              <a:t>IC are specified when a relation is created and enforced (checked) when a relation is modified.</a:t>
            </a:r>
          </a:p>
          <a:p>
            <a:pPr eaLnBrk="1" hangingPunct="1"/>
            <a:endParaRPr lang="en-US" sz="5100" dirty="0">
              <a:latin typeface="Corbel" pitchFamily="34" charset="0"/>
            </a:endParaRPr>
          </a:p>
          <a:p>
            <a:pPr eaLnBrk="1" hangingPunct="1"/>
            <a:r>
              <a:rPr lang="en-US" sz="5100" dirty="0">
                <a:latin typeface="Corbel" pitchFamily="34" charset="0"/>
              </a:rPr>
              <a:t>3 types of modifications to the relation :</a:t>
            </a:r>
          </a:p>
          <a:p>
            <a:pPr lvl="1" eaLnBrk="1" hangingPunct="1"/>
            <a:r>
              <a:rPr lang="en-US" sz="5100" dirty="0">
                <a:solidFill>
                  <a:srgbClr val="FF0066"/>
                </a:solidFill>
                <a:latin typeface="Corbel" pitchFamily="34" charset="0"/>
              </a:rPr>
              <a:t>Insert        </a:t>
            </a:r>
            <a:r>
              <a:rPr lang="en-US" sz="5100" dirty="0">
                <a:latin typeface="Corbel" pitchFamily="34" charset="0"/>
              </a:rPr>
              <a:t>: inserts a new tuple(s) into a relation.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sz="5100" dirty="0">
              <a:latin typeface="Corbel" pitchFamily="34" charset="0"/>
            </a:endParaRPr>
          </a:p>
          <a:p>
            <a:pPr lvl="1" eaLnBrk="1" hangingPunct="1"/>
            <a:r>
              <a:rPr lang="en-US" sz="5100" dirty="0">
                <a:solidFill>
                  <a:srgbClr val="FF0066"/>
                </a:solidFill>
                <a:latin typeface="Corbel" pitchFamily="34" charset="0"/>
              </a:rPr>
              <a:t>Delete      </a:t>
            </a:r>
            <a:r>
              <a:rPr lang="en-US" sz="5100" dirty="0">
                <a:latin typeface="Corbel" pitchFamily="34" charset="0"/>
              </a:rPr>
              <a:t>: delete tuple(s) in a relation.</a:t>
            </a:r>
          </a:p>
          <a:p>
            <a:pPr lvl="1" eaLnBrk="1" hangingPunct="1"/>
            <a:endParaRPr lang="en-US" sz="5100" dirty="0">
              <a:latin typeface="Corbel" pitchFamily="34" charset="0"/>
            </a:endParaRPr>
          </a:p>
          <a:p>
            <a:pPr lvl="1" eaLnBrk="1" hangingPunct="1"/>
            <a:r>
              <a:rPr lang="en-US" sz="5100" dirty="0">
                <a:solidFill>
                  <a:srgbClr val="FF0066"/>
                </a:solidFill>
                <a:latin typeface="Corbel" pitchFamily="34" charset="0"/>
              </a:rPr>
              <a:t>Update     </a:t>
            </a:r>
            <a:r>
              <a:rPr lang="en-US" sz="5100" dirty="0">
                <a:latin typeface="Corbel" pitchFamily="34" charset="0"/>
              </a:rPr>
              <a:t>: changes the values of some attributes in existing tuples 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159870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-609600" y="7620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Insert Operation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03238" y="1773238"/>
            <a:ext cx="8101210" cy="407035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800" dirty="0">
                <a:latin typeface="Corbel" pitchFamily="34" charset="0"/>
              </a:rPr>
              <a:t>The insert operation can violate the following constraints:</a:t>
            </a:r>
          </a:p>
          <a:p>
            <a:pPr lvl="1" eaLnBrk="1" hangingPunct="1"/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Domain constraints</a:t>
            </a:r>
            <a:r>
              <a:rPr lang="en-US" sz="2800" dirty="0">
                <a:latin typeface="Corbel" pitchFamily="34" charset="0"/>
              </a:rPr>
              <a:t> (invalid value)</a:t>
            </a:r>
          </a:p>
          <a:p>
            <a:pPr lvl="1" eaLnBrk="1" hangingPunct="1"/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Key constraints</a:t>
            </a:r>
            <a:r>
              <a:rPr lang="en-US" sz="2800" dirty="0">
                <a:latin typeface="Corbel" pitchFamily="34" charset="0"/>
              </a:rPr>
              <a:t> (duplicate key values)</a:t>
            </a:r>
          </a:p>
          <a:p>
            <a:pPr lvl="1" eaLnBrk="1" hangingPunct="1"/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Entity integrity constraints</a:t>
            </a:r>
            <a:r>
              <a:rPr lang="en-US" sz="2800" dirty="0">
                <a:latin typeface="Corbel" pitchFamily="34" charset="0"/>
              </a:rPr>
              <a:t> (null primary key value)</a:t>
            </a:r>
          </a:p>
          <a:p>
            <a:pPr lvl="1" eaLnBrk="1" hangingPunct="1"/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Referential integrity constraint</a:t>
            </a:r>
            <a:r>
              <a:rPr lang="en-US" sz="2800" dirty="0">
                <a:latin typeface="Corbel" pitchFamily="34" charset="0"/>
              </a:rPr>
              <a:t> (non-existing primary key value)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553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40527"/>
            <a:ext cx="2861639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orbel" pitchFamily="34" charset="0"/>
              </a:rPr>
              <a:t>E</a:t>
            </a:r>
            <a:r>
              <a:rPr lang="en-US" sz="4400" dirty="0">
                <a:ln>
                  <a:noFill/>
                </a:ln>
                <a:latin typeface="Corbel" pitchFamily="34" charset="0"/>
              </a:rPr>
              <a:t>xamples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7903" y="2796675"/>
            <a:ext cx="8640960" cy="3136858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Domain constraints</a:t>
            </a:r>
            <a:r>
              <a:rPr lang="en-US" sz="2800" dirty="0">
                <a:latin typeface="Corbel" pitchFamily="34" charset="0"/>
              </a:rPr>
              <a:t> (invalid value)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dirty="0">
                <a:latin typeface="Corbel" pitchFamily="34" charset="0"/>
              </a:rPr>
              <a:t>Insert &lt;‘</a:t>
            </a:r>
            <a:r>
              <a:rPr lang="en-US" sz="2800" b="1" dirty="0">
                <a:solidFill>
                  <a:schemeClr val="accent2"/>
                </a:solidFill>
                <a:latin typeface="Corbel" pitchFamily="34" charset="0"/>
              </a:rPr>
              <a:t>abc</a:t>
            </a:r>
            <a:r>
              <a:rPr lang="en-US" sz="2800" b="1" dirty="0">
                <a:latin typeface="Corbel" pitchFamily="34" charset="0"/>
              </a:rPr>
              <a:t>’,’Tom’,’tom@lk’,’17’,3.2&gt;into Students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800" dirty="0" err="1">
                <a:latin typeface="Corbel" pitchFamily="34" charset="0"/>
              </a:rPr>
              <a:t>sid</a:t>
            </a:r>
            <a:r>
              <a:rPr lang="en-US" sz="2800" dirty="0">
                <a:latin typeface="Corbel" pitchFamily="34" charset="0"/>
              </a:rPr>
              <a:t> value is not in the domain</a:t>
            </a:r>
          </a:p>
          <a:p>
            <a:pPr marL="274320" lvl="1" indent="0" eaLnBrk="1" hangingPunct="1">
              <a:lnSpc>
                <a:spcPct val="80000"/>
              </a:lnSpc>
              <a:buNone/>
            </a:pPr>
            <a:endParaRPr lang="en-US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/>
              <a:t>	</a:t>
            </a:r>
          </a:p>
        </p:txBody>
      </p:sp>
      <p:graphicFrame>
        <p:nvGraphicFramePr>
          <p:cNvPr id="44037" name="Object 5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942505"/>
              </p:ext>
            </p:extLst>
          </p:nvPr>
        </p:nvGraphicFramePr>
        <p:xfrm>
          <a:off x="2619322" y="1026307"/>
          <a:ext cx="4452937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52159" imgH="2494811" progId="Word.Document.8">
                  <p:embed/>
                </p:oleObj>
              </mc:Choice>
              <mc:Fallback>
                <p:oleObj name="Document" r:id="rId2" imgW="6552159" imgH="249481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22" y="1026307"/>
                        <a:ext cx="4452937" cy="17065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714711" y="1064305"/>
            <a:ext cx="1441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b="0" dirty="0">
                <a:latin typeface="Arial Black" panose="020B0A04020102020204" pitchFamily="34" charset="0"/>
              </a:rPr>
              <a:t>Students</a:t>
            </a:r>
          </a:p>
        </p:txBody>
      </p:sp>
      <p:graphicFrame>
        <p:nvGraphicFramePr>
          <p:cNvPr id="44039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68130" y="4365104"/>
          <a:ext cx="43243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87800" imgH="2544386" progId="Word.Document.8">
                  <p:embed/>
                </p:oleObj>
              </mc:Choice>
              <mc:Fallback>
                <p:oleObj name="Document" r:id="rId4" imgW="5087800" imgH="2544386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130" y="4365104"/>
                        <a:ext cx="4324350" cy="1981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Box 6"/>
          <p:cNvSpPr txBox="1">
            <a:spLocks noChangeArrowheads="1"/>
          </p:cNvSpPr>
          <p:nvPr/>
        </p:nvSpPr>
        <p:spPr bwMode="auto">
          <a:xfrm>
            <a:off x="3203848" y="4365104"/>
            <a:ext cx="1344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latin typeface="Arial Black" panose="020B0A04020102020204" pitchFamily="34" charset="0"/>
              </a:rPr>
              <a:t>Enrolled</a:t>
            </a:r>
          </a:p>
        </p:txBody>
      </p:sp>
    </p:spTree>
    <p:extLst>
      <p:ext uri="{BB962C8B-B14F-4D97-AF65-F5344CB8AC3E}">
        <p14:creationId xmlns:p14="http://schemas.microsoft.com/office/powerpoint/2010/main" val="77369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3784"/>
            <a:ext cx="2938463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orbel" pitchFamily="34" charset="0"/>
              </a:rPr>
              <a:t>E</a:t>
            </a:r>
            <a:r>
              <a:rPr lang="en-US" sz="4400" dirty="0">
                <a:ln>
                  <a:noFill/>
                </a:ln>
                <a:latin typeface="Corbel" pitchFamily="34" charset="0"/>
              </a:rPr>
              <a:t>xamples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0179" y="3010645"/>
            <a:ext cx="8622744" cy="134490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Key constraints</a:t>
            </a:r>
            <a:r>
              <a:rPr lang="en-US" sz="3000" dirty="0">
                <a:latin typeface="Corbel" pitchFamily="34" charset="0"/>
              </a:rPr>
              <a:t> (duplicate key values)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dirty="0">
                <a:latin typeface="Corbel" pitchFamily="34" charset="0"/>
              </a:rPr>
              <a:t>Insert &lt;‘53666’,’Tom’,’tom@lk’,’17’,3.2&gt;into Students</a:t>
            </a:r>
          </a:p>
          <a:p>
            <a:pPr lvl="1" eaLnBrk="1" hangingPunct="1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/>
              <a:t>	</a:t>
            </a:r>
          </a:p>
        </p:txBody>
      </p:sp>
      <p:graphicFrame>
        <p:nvGraphicFramePr>
          <p:cNvPr id="8" name="Object 5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8700979"/>
              </p:ext>
            </p:extLst>
          </p:nvPr>
        </p:nvGraphicFramePr>
        <p:xfrm>
          <a:off x="2819400" y="1308397"/>
          <a:ext cx="4452937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52159" imgH="2494811" progId="Word.Document.8">
                  <p:embed/>
                </p:oleObj>
              </mc:Choice>
              <mc:Fallback>
                <p:oleObj name="Document" r:id="rId2" imgW="6552159" imgH="249481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08397"/>
                        <a:ext cx="4452937" cy="17065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066800" y="1283712"/>
            <a:ext cx="1441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b="0" dirty="0">
                <a:latin typeface="Arial Black" panose="020B0A04020102020204" pitchFamily="34" charset="0"/>
              </a:rPr>
              <a:t>Students</a:t>
            </a:r>
          </a:p>
        </p:txBody>
      </p:sp>
      <p:graphicFrame>
        <p:nvGraphicFramePr>
          <p:cNvPr id="10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68130" y="4365104"/>
          <a:ext cx="43243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87800" imgH="2544386" progId="Word.Document.8">
                  <p:embed/>
                </p:oleObj>
              </mc:Choice>
              <mc:Fallback>
                <p:oleObj name="Document" r:id="rId4" imgW="5087800" imgH="2544386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130" y="4365104"/>
                        <a:ext cx="4324350" cy="1981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3203848" y="4365104"/>
            <a:ext cx="1344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latin typeface="Arial Black" panose="020B0A04020102020204" pitchFamily="34" charset="0"/>
              </a:rPr>
              <a:t>Enrolled</a:t>
            </a:r>
          </a:p>
        </p:txBody>
      </p:sp>
    </p:spTree>
    <p:extLst>
      <p:ext uri="{BB962C8B-B14F-4D97-AF65-F5344CB8AC3E}">
        <p14:creationId xmlns:p14="http://schemas.microsoft.com/office/powerpoint/2010/main" val="408328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16174"/>
            <a:ext cx="2895600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orbel" pitchFamily="34" charset="0"/>
              </a:rPr>
              <a:t>E</a:t>
            </a:r>
            <a:r>
              <a:rPr lang="en-US" sz="4400" dirty="0">
                <a:ln>
                  <a:noFill/>
                </a:ln>
                <a:latin typeface="Corbel" pitchFamily="34" charset="0"/>
              </a:rPr>
              <a:t>xamples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11646" y="3031058"/>
            <a:ext cx="8712968" cy="133404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66"/>
                </a:solidFill>
                <a:latin typeface="Corbel" pitchFamily="34" charset="0"/>
              </a:rPr>
              <a:t>Entity integrity constraints</a:t>
            </a:r>
            <a:r>
              <a:rPr lang="en-US" sz="2800" dirty="0">
                <a:latin typeface="Corbel" pitchFamily="34" charset="0"/>
              </a:rPr>
              <a:t> (null primary key value)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b="1" dirty="0">
                <a:latin typeface="Corbel" pitchFamily="34" charset="0"/>
              </a:rPr>
              <a:t>Insert &lt;null,’Tom’,’tom@lk’,’17’,3.2&gt;into Students</a:t>
            </a:r>
          </a:p>
          <a:p>
            <a:pPr lvl="1" eaLnBrk="1" hangingPunct="1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/>
              <a:t>	</a:t>
            </a:r>
          </a:p>
        </p:txBody>
      </p:sp>
      <p:graphicFrame>
        <p:nvGraphicFramePr>
          <p:cNvPr id="8" name="Object 5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196994"/>
              </p:ext>
            </p:extLst>
          </p:nvPr>
        </p:nvGraphicFramePr>
        <p:xfrm>
          <a:off x="2667000" y="1143592"/>
          <a:ext cx="4452937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52159" imgH="2494811" progId="Word.Document.8">
                  <p:embed/>
                </p:oleObj>
              </mc:Choice>
              <mc:Fallback>
                <p:oleObj name="Document" r:id="rId2" imgW="6552159" imgH="249481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143592"/>
                        <a:ext cx="4452937" cy="17065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887366" y="1311513"/>
            <a:ext cx="1441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b="0" dirty="0">
                <a:latin typeface="Arial Black" panose="020B0A04020102020204" pitchFamily="34" charset="0"/>
              </a:rPr>
              <a:t>Students</a:t>
            </a:r>
          </a:p>
        </p:txBody>
      </p:sp>
      <p:graphicFrame>
        <p:nvGraphicFramePr>
          <p:cNvPr id="10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68130" y="4365104"/>
          <a:ext cx="43243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87800" imgH="2544386" progId="Word.Document.8">
                  <p:embed/>
                </p:oleObj>
              </mc:Choice>
              <mc:Fallback>
                <p:oleObj name="Document" r:id="rId4" imgW="5087800" imgH="2544386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130" y="4365104"/>
                        <a:ext cx="4324350" cy="1981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3203848" y="4365104"/>
            <a:ext cx="1344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latin typeface="Arial Black" panose="020B0A04020102020204" pitchFamily="34" charset="0"/>
              </a:rPr>
              <a:t>Enrolled</a:t>
            </a:r>
          </a:p>
        </p:txBody>
      </p:sp>
    </p:spTree>
    <p:extLst>
      <p:ext uri="{BB962C8B-B14F-4D97-AF65-F5344CB8AC3E}">
        <p14:creationId xmlns:p14="http://schemas.microsoft.com/office/powerpoint/2010/main" val="372548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-9940" y="418595"/>
            <a:ext cx="2676939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orbel" pitchFamily="34" charset="0"/>
              </a:rPr>
              <a:t>E</a:t>
            </a:r>
            <a:r>
              <a:rPr lang="en-US" sz="4400" dirty="0">
                <a:ln>
                  <a:noFill/>
                </a:ln>
                <a:latin typeface="Corbel" pitchFamily="34" charset="0"/>
              </a:rPr>
              <a:t>xamples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51520" y="2746008"/>
            <a:ext cx="8712968" cy="1365984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Referential integrity constraint</a:t>
            </a:r>
            <a:r>
              <a:rPr lang="en-US" sz="3000" dirty="0">
                <a:latin typeface="Corbel" pitchFamily="34" charset="0"/>
              </a:rPr>
              <a:t> (non-existing primary key value)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000" b="1" dirty="0">
                <a:latin typeface="Corbel" pitchFamily="34" charset="0"/>
              </a:rPr>
              <a:t>Insert &lt;‘IT’,’A’,’53900’&gt;into Enrolled</a:t>
            </a:r>
          </a:p>
          <a:p>
            <a:pPr lvl="1" eaLnBrk="1" hangingPunct="1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/>
              <a:t>	</a:t>
            </a:r>
          </a:p>
        </p:txBody>
      </p:sp>
      <p:graphicFrame>
        <p:nvGraphicFramePr>
          <p:cNvPr id="8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11551" y="858342"/>
          <a:ext cx="4452937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52159" imgH="2494811" progId="Word.Document.8">
                  <p:embed/>
                </p:oleObj>
              </mc:Choice>
              <mc:Fallback>
                <p:oleObj name="Document" r:id="rId2" imgW="6552159" imgH="249481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551" y="858342"/>
                        <a:ext cx="4452937" cy="17065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987824" y="868650"/>
            <a:ext cx="1441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b="0" dirty="0">
                <a:latin typeface="Arial Black" panose="020B0A04020102020204" pitchFamily="34" charset="0"/>
              </a:rPr>
              <a:t>Students</a:t>
            </a:r>
          </a:p>
        </p:txBody>
      </p:sp>
      <p:graphicFrame>
        <p:nvGraphicFramePr>
          <p:cNvPr id="10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68130" y="4365104"/>
          <a:ext cx="43243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87800" imgH="2544386" progId="Word.Document.8">
                  <p:embed/>
                </p:oleObj>
              </mc:Choice>
              <mc:Fallback>
                <p:oleObj name="Document" r:id="rId4" imgW="5087800" imgH="2544386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130" y="4365104"/>
                        <a:ext cx="4324350" cy="19812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3203848" y="4365104"/>
            <a:ext cx="13445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latin typeface="Arial Black" panose="020B0A04020102020204" pitchFamily="34" charset="0"/>
              </a:rPr>
              <a:t>Enrolled</a:t>
            </a:r>
          </a:p>
        </p:txBody>
      </p:sp>
    </p:spTree>
    <p:extLst>
      <p:ext uri="{BB962C8B-B14F-4D97-AF65-F5344CB8AC3E}">
        <p14:creationId xmlns:p14="http://schemas.microsoft.com/office/powerpoint/2010/main" val="210503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-457200" y="502434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Delete Operation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06400" y="1525588"/>
            <a:ext cx="8737600" cy="479425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Delete operation can violate referential integrity.</a:t>
            </a:r>
          </a:p>
          <a:p>
            <a:pPr eaLnBrk="1" fontAlgn="auto" hangingPunct="1"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Wingdings" panose="05000000000000000000" pitchFamily="2" charset="2"/>
              <a:buNone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Arial"/>
              <a:buChar char="•"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rbel" pitchFamily="34" charset="0"/>
            </a:endParaRP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Two options: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Reject the deletion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rbel" pitchFamily="34" charset="0"/>
              </a:rPr>
              <a:t>Cascade the delete</a:t>
            </a:r>
          </a:p>
        </p:txBody>
      </p:sp>
      <p:graphicFrame>
        <p:nvGraphicFramePr>
          <p:cNvPr id="45061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246563" y="2889250"/>
          <a:ext cx="4532312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532313" imgH="1706563" progId="Word.Document.8">
                  <p:embed/>
                </p:oleObj>
              </mc:Choice>
              <mc:Fallback>
                <p:oleObj name="Document" r:id="rId2" imgW="4532313" imgH="1706563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2889250"/>
                        <a:ext cx="4532312" cy="17065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Rectangle 10"/>
          <p:cNvSpPr>
            <a:spLocks noChangeArrowheads="1"/>
          </p:cNvSpPr>
          <p:nvPr/>
        </p:nvSpPr>
        <p:spPr bwMode="auto">
          <a:xfrm>
            <a:off x="1274763" y="2165350"/>
            <a:ext cx="13414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0">
                <a:solidFill>
                  <a:srgbClr val="CF0E30"/>
                </a:solidFill>
                <a:latin typeface="Book Antiqua" panose="02040602050305030304" pitchFamily="18" charset="0"/>
              </a:rPr>
              <a:t>Enrolled</a:t>
            </a:r>
          </a:p>
        </p:txBody>
      </p:sp>
      <p:sp>
        <p:nvSpPr>
          <p:cNvPr id="45063" name="Rectangle 11"/>
          <p:cNvSpPr>
            <a:spLocks noChangeArrowheads="1"/>
          </p:cNvSpPr>
          <p:nvPr/>
        </p:nvSpPr>
        <p:spPr bwMode="auto">
          <a:xfrm>
            <a:off x="6180138" y="2190750"/>
            <a:ext cx="1363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0">
                <a:solidFill>
                  <a:srgbClr val="CF0E30"/>
                </a:solidFill>
                <a:latin typeface="Book Antiqua" panose="02040602050305030304" pitchFamily="18" charset="0"/>
              </a:rPr>
              <a:t>Students</a:t>
            </a:r>
          </a:p>
        </p:txBody>
      </p:sp>
      <p:grpSp>
        <p:nvGrpSpPr>
          <p:cNvPr id="45064" name="Group 13"/>
          <p:cNvGrpSpPr>
            <a:grpSpLocks/>
          </p:cNvGrpSpPr>
          <p:nvPr/>
        </p:nvGrpSpPr>
        <p:grpSpPr bwMode="auto">
          <a:xfrm>
            <a:off x="685800" y="2817813"/>
            <a:ext cx="3249613" cy="1849437"/>
            <a:chOff x="144" y="2448"/>
            <a:chExt cx="2208" cy="1165"/>
          </a:xfrm>
        </p:grpSpPr>
        <p:sp>
          <p:nvSpPr>
            <p:cNvPr id="45071" name="AutoShape 17"/>
            <p:cNvSpPr>
              <a:spLocks noChangeAspect="1" noChangeArrowheads="1" noTextEdit="1"/>
            </p:cNvSpPr>
            <p:nvPr/>
          </p:nvSpPr>
          <p:spPr bwMode="auto">
            <a:xfrm>
              <a:off x="144" y="2448"/>
              <a:ext cx="2206" cy="1165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Rectangle 33"/>
            <p:cNvSpPr>
              <a:spLocks noChangeArrowheads="1"/>
            </p:cNvSpPr>
            <p:nvPr/>
          </p:nvSpPr>
          <p:spPr bwMode="auto">
            <a:xfrm>
              <a:off x="432" y="2448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cid</a:t>
              </a:r>
              <a:endParaRPr lang="en-US"/>
            </a:p>
          </p:txBody>
        </p:sp>
        <p:sp>
          <p:nvSpPr>
            <p:cNvPr id="45073" name="Rectangle 35"/>
            <p:cNvSpPr>
              <a:spLocks noChangeArrowheads="1"/>
            </p:cNvSpPr>
            <p:nvPr/>
          </p:nvSpPr>
          <p:spPr bwMode="auto">
            <a:xfrm>
              <a:off x="1724" y="2452"/>
              <a:ext cx="469" cy="191"/>
            </a:xfrm>
            <a:prstGeom prst="rect">
              <a:avLst/>
            </a:prstGeom>
            <a:solidFill>
              <a:srgbClr val="ECECEC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stuid</a:t>
              </a:r>
            </a:p>
          </p:txBody>
        </p:sp>
        <p:sp>
          <p:nvSpPr>
            <p:cNvPr id="45074" name="Rectangle 36"/>
            <p:cNvSpPr>
              <a:spLocks noChangeArrowheads="1"/>
            </p:cNvSpPr>
            <p:nvPr/>
          </p:nvSpPr>
          <p:spPr bwMode="auto">
            <a:xfrm>
              <a:off x="1094" y="2457"/>
              <a:ext cx="35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grade</a:t>
              </a:r>
              <a:endParaRPr lang="en-US"/>
            </a:p>
          </p:txBody>
        </p:sp>
        <p:sp>
          <p:nvSpPr>
            <p:cNvPr id="45075" name="Rectangle 49"/>
            <p:cNvSpPr>
              <a:spLocks noChangeArrowheads="1"/>
            </p:cNvSpPr>
            <p:nvPr/>
          </p:nvSpPr>
          <p:spPr bwMode="auto">
            <a:xfrm>
              <a:off x="1776" y="2652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53666</a:t>
              </a:r>
              <a:endParaRPr lang="en-US"/>
            </a:p>
          </p:txBody>
        </p:sp>
        <p:sp>
          <p:nvSpPr>
            <p:cNvPr id="45076" name="Rectangle 50"/>
            <p:cNvSpPr>
              <a:spLocks noChangeArrowheads="1"/>
            </p:cNvSpPr>
            <p:nvPr/>
          </p:nvSpPr>
          <p:spPr bwMode="auto">
            <a:xfrm>
              <a:off x="144" y="2640"/>
              <a:ext cx="7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Carnatic101</a:t>
              </a:r>
              <a:endParaRPr lang="en-US"/>
            </a:p>
          </p:txBody>
        </p:sp>
        <p:sp>
          <p:nvSpPr>
            <p:cNvPr id="45077" name="Rectangle 51"/>
            <p:cNvSpPr>
              <a:spLocks noChangeArrowheads="1"/>
            </p:cNvSpPr>
            <p:nvPr/>
          </p:nvSpPr>
          <p:spPr bwMode="auto">
            <a:xfrm>
              <a:off x="1200" y="2671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C</a:t>
              </a:r>
              <a:endParaRPr lang="en-US"/>
            </a:p>
          </p:txBody>
        </p:sp>
        <p:sp>
          <p:nvSpPr>
            <p:cNvPr id="45078" name="Rectangle 56"/>
            <p:cNvSpPr>
              <a:spLocks noChangeArrowheads="1"/>
            </p:cNvSpPr>
            <p:nvPr/>
          </p:nvSpPr>
          <p:spPr bwMode="auto">
            <a:xfrm>
              <a:off x="1776" y="2856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53666</a:t>
              </a:r>
              <a:endParaRPr lang="en-US"/>
            </a:p>
          </p:txBody>
        </p:sp>
        <p:sp>
          <p:nvSpPr>
            <p:cNvPr id="45079" name="Rectangle 57"/>
            <p:cNvSpPr>
              <a:spLocks noChangeArrowheads="1"/>
            </p:cNvSpPr>
            <p:nvPr/>
          </p:nvSpPr>
          <p:spPr bwMode="auto">
            <a:xfrm>
              <a:off x="144" y="2832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Reggae203</a:t>
              </a:r>
              <a:endParaRPr lang="en-US"/>
            </a:p>
          </p:txBody>
        </p:sp>
        <p:sp>
          <p:nvSpPr>
            <p:cNvPr id="45080" name="Rectangle 58"/>
            <p:cNvSpPr>
              <a:spLocks noChangeArrowheads="1"/>
            </p:cNvSpPr>
            <p:nvPr/>
          </p:nvSpPr>
          <p:spPr bwMode="auto">
            <a:xfrm>
              <a:off x="1200" y="2844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B</a:t>
              </a:r>
              <a:endParaRPr lang="en-US"/>
            </a:p>
          </p:txBody>
        </p:sp>
        <p:sp>
          <p:nvSpPr>
            <p:cNvPr id="45081" name="Rectangle 63"/>
            <p:cNvSpPr>
              <a:spLocks noChangeArrowheads="1"/>
            </p:cNvSpPr>
            <p:nvPr/>
          </p:nvSpPr>
          <p:spPr bwMode="auto">
            <a:xfrm>
              <a:off x="1776" y="3048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53650</a:t>
              </a:r>
              <a:endParaRPr lang="en-US"/>
            </a:p>
          </p:txBody>
        </p:sp>
        <p:sp>
          <p:nvSpPr>
            <p:cNvPr id="45082" name="Rectangle 64"/>
            <p:cNvSpPr>
              <a:spLocks noChangeArrowheads="1"/>
            </p:cNvSpPr>
            <p:nvPr/>
          </p:nvSpPr>
          <p:spPr bwMode="auto">
            <a:xfrm>
              <a:off x="144" y="3024"/>
              <a:ext cx="8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Topology112</a:t>
              </a:r>
              <a:endParaRPr lang="en-US"/>
            </a:p>
          </p:txBody>
        </p:sp>
        <p:sp>
          <p:nvSpPr>
            <p:cNvPr id="45083" name="Rectangle 65"/>
            <p:cNvSpPr>
              <a:spLocks noChangeArrowheads="1"/>
            </p:cNvSpPr>
            <p:nvPr/>
          </p:nvSpPr>
          <p:spPr bwMode="auto">
            <a:xfrm>
              <a:off x="1200" y="3035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A</a:t>
              </a:r>
              <a:endParaRPr lang="en-US"/>
            </a:p>
          </p:txBody>
        </p:sp>
        <p:sp>
          <p:nvSpPr>
            <p:cNvPr id="45084" name="Rectangle 76"/>
            <p:cNvSpPr>
              <a:spLocks noChangeArrowheads="1"/>
            </p:cNvSpPr>
            <p:nvPr/>
          </p:nvSpPr>
          <p:spPr bwMode="auto">
            <a:xfrm>
              <a:off x="1776" y="3312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53666</a:t>
              </a:r>
              <a:endParaRPr lang="en-US"/>
            </a:p>
          </p:txBody>
        </p:sp>
        <p:sp>
          <p:nvSpPr>
            <p:cNvPr id="45085" name="Rectangle 77"/>
            <p:cNvSpPr>
              <a:spLocks noChangeArrowheads="1"/>
            </p:cNvSpPr>
            <p:nvPr/>
          </p:nvSpPr>
          <p:spPr bwMode="auto">
            <a:xfrm>
              <a:off x="144" y="3264"/>
              <a:ext cx="7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History105</a:t>
              </a:r>
              <a:endParaRPr lang="en-US"/>
            </a:p>
          </p:txBody>
        </p:sp>
        <p:sp>
          <p:nvSpPr>
            <p:cNvPr id="45086" name="Rectangle 78"/>
            <p:cNvSpPr>
              <a:spLocks noChangeArrowheads="1"/>
            </p:cNvSpPr>
            <p:nvPr/>
          </p:nvSpPr>
          <p:spPr bwMode="auto">
            <a:xfrm>
              <a:off x="1200" y="3280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b="0">
                  <a:solidFill>
                    <a:srgbClr val="005400"/>
                  </a:solidFill>
                  <a:latin typeface="Times New Roman" panose="02020603050405020304" pitchFamily="18" charset="0"/>
                </a:rPr>
                <a:t>B</a:t>
              </a:r>
              <a:endParaRPr lang="en-US"/>
            </a:p>
          </p:txBody>
        </p:sp>
        <p:sp>
          <p:nvSpPr>
            <p:cNvPr id="45087" name="Line 30"/>
            <p:cNvSpPr>
              <a:spLocks noChangeShapeType="1"/>
            </p:cNvSpPr>
            <p:nvPr/>
          </p:nvSpPr>
          <p:spPr bwMode="auto">
            <a:xfrm>
              <a:off x="1056" y="244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8" name="Line 31"/>
            <p:cNvSpPr>
              <a:spLocks noChangeShapeType="1"/>
            </p:cNvSpPr>
            <p:nvPr/>
          </p:nvSpPr>
          <p:spPr bwMode="auto">
            <a:xfrm>
              <a:off x="1728" y="244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9" name="Line 32"/>
            <p:cNvSpPr>
              <a:spLocks noChangeShapeType="1"/>
            </p:cNvSpPr>
            <p:nvPr/>
          </p:nvSpPr>
          <p:spPr bwMode="auto">
            <a:xfrm>
              <a:off x="144" y="3024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5" name="Line 33"/>
          <p:cNvSpPr>
            <a:spLocks noChangeShapeType="1"/>
          </p:cNvSpPr>
          <p:nvPr/>
        </p:nvSpPr>
        <p:spPr bwMode="auto">
          <a:xfrm flipV="1">
            <a:off x="506413" y="31369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2" name="Oval 34"/>
          <p:cNvSpPr>
            <a:spLocks noChangeArrowheads="1"/>
          </p:cNvSpPr>
          <p:nvPr/>
        </p:nvSpPr>
        <p:spPr bwMode="auto">
          <a:xfrm>
            <a:off x="334963" y="3413125"/>
            <a:ext cx="3810000" cy="381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5067" name="Text Box 35"/>
          <p:cNvSpPr txBox="1">
            <a:spLocks noChangeArrowheads="1"/>
          </p:cNvSpPr>
          <p:nvPr/>
        </p:nvSpPr>
        <p:spPr bwMode="auto">
          <a:xfrm>
            <a:off x="3657600" y="3048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086" name="Oval 38"/>
          <p:cNvSpPr>
            <a:spLocks noChangeArrowheads="1"/>
          </p:cNvSpPr>
          <p:nvPr/>
        </p:nvSpPr>
        <p:spPr bwMode="auto">
          <a:xfrm>
            <a:off x="4195763" y="3170238"/>
            <a:ext cx="4876800" cy="4572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1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208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0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2" grpId="0" animBg="1"/>
      <p:bldP spid="2086" grpId="0" animBg="1"/>
      <p:bldP spid="208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-381000" y="6858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Update Operation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9552" y="1700808"/>
            <a:ext cx="8071048" cy="439519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3000" dirty="0">
                <a:latin typeface="Corbel" pitchFamily="34" charset="0"/>
              </a:rPr>
              <a:t>Update operation can be considered as a deleting a tuple and re-inserting the tuple with new values.</a:t>
            </a:r>
          </a:p>
          <a:p>
            <a:pPr eaLnBrk="1" hangingPunct="1"/>
            <a:r>
              <a:rPr lang="en-US" sz="3000" dirty="0">
                <a:latin typeface="Corbel" pitchFamily="34" charset="0"/>
              </a:rPr>
              <a:t>All constraints discussed in Insert &amp; Delete need to be considered.</a:t>
            </a:r>
          </a:p>
          <a:p>
            <a:pPr lvl="1" eaLnBrk="1" hangingPunct="1"/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Domain constraints</a:t>
            </a:r>
            <a:r>
              <a:rPr lang="en-US" sz="3000" dirty="0">
                <a:latin typeface="Corbel" pitchFamily="34" charset="0"/>
              </a:rPr>
              <a:t> (invalid value)</a:t>
            </a:r>
          </a:p>
          <a:p>
            <a:pPr lvl="1" eaLnBrk="1" hangingPunct="1"/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Key constraints</a:t>
            </a:r>
            <a:r>
              <a:rPr lang="en-US" sz="3000" dirty="0">
                <a:latin typeface="Corbel" pitchFamily="34" charset="0"/>
              </a:rPr>
              <a:t> (duplicate key values)</a:t>
            </a:r>
          </a:p>
          <a:p>
            <a:pPr lvl="1" eaLnBrk="1" hangingPunct="1"/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Entity integrity constraints</a:t>
            </a:r>
            <a:r>
              <a:rPr lang="en-US" sz="3000" dirty="0">
                <a:latin typeface="Corbel" pitchFamily="34" charset="0"/>
              </a:rPr>
              <a:t> (null primary key value)</a:t>
            </a:r>
          </a:p>
          <a:p>
            <a:pPr lvl="1" eaLnBrk="1" hangingPunct="1"/>
            <a:r>
              <a:rPr lang="en-US" sz="3000" dirty="0">
                <a:solidFill>
                  <a:srgbClr val="FF0066"/>
                </a:solidFill>
                <a:latin typeface="Corbel" pitchFamily="34" charset="0"/>
              </a:rPr>
              <a:t>Referential integrity constraint</a:t>
            </a:r>
            <a:r>
              <a:rPr lang="en-US" sz="3000" dirty="0">
                <a:latin typeface="Corbel" pitchFamily="34" charset="0"/>
              </a:rPr>
              <a:t> (non-existing primary key value)</a:t>
            </a:r>
          </a:p>
          <a:p>
            <a:pPr eaLnBrk="1" hangingPunct="1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15816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-457200" y="838200"/>
            <a:ext cx="8048188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ER to Relational Mapping…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19422" y="1268413"/>
            <a:ext cx="8401050" cy="48577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/>
            <a:endParaRPr lang="en-US" sz="2600" dirty="0"/>
          </a:p>
          <a:p>
            <a:pPr algn="just" eaLnBrk="1" hangingPunct="1"/>
            <a:r>
              <a:rPr lang="en-US" sz="2800" dirty="0">
                <a:latin typeface="Corbel" pitchFamily="34" charset="0"/>
              </a:rPr>
              <a:t>In the Database Design process, we firstly derive a </a:t>
            </a:r>
            <a:r>
              <a:rPr lang="en-US" sz="2800" b="1" dirty="0">
                <a:solidFill>
                  <a:srgbClr val="FF0066"/>
                </a:solidFill>
                <a:latin typeface="Corbel" pitchFamily="34" charset="0"/>
              </a:rPr>
              <a:t>conceptual model</a:t>
            </a:r>
            <a:r>
              <a:rPr lang="en-US" sz="2800" b="1" dirty="0">
                <a:latin typeface="Corbel" pitchFamily="34" charset="0"/>
              </a:rPr>
              <a:t> </a:t>
            </a:r>
            <a:r>
              <a:rPr lang="en-US" sz="2800" dirty="0">
                <a:latin typeface="Corbel" pitchFamily="34" charset="0"/>
              </a:rPr>
              <a:t>(ER Diagram)</a:t>
            </a:r>
          </a:p>
          <a:p>
            <a:pPr algn="just" eaLnBrk="1" hangingPunct="1"/>
            <a:r>
              <a:rPr lang="en-US" sz="2800" dirty="0">
                <a:latin typeface="Corbel" pitchFamily="34" charset="0"/>
              </a:rPr>
              <a:t>This model needs to be mapped to the </a:t>
            </a:r>
            <a:r>
              <a:rPr lang="en-US" sz="2800" b="1" dirty="0">
                <a:solidFill>
                  <a:srgbClr val="008000"/>
                </a:solidFill>
                <a:latin typeface="Corbel" pitchFamily="34" charset="0"/>
              </a:rPr>
              <a:t>relational model</a:t>
            </a:r>
            <a:r>
              <a:rPr lang="en-US" sz="2800" b="1" dirty="0">
                <a:latin typeface="Corbel" pitchFamily="34" charset="0"/>
              </a:rPr>
              <a:t> </a:t>
            </a:r>
            <a:r>
              <a:rPr lang="en-US" sz="2800" dirty="0">
                <a:latin typeface="Corbel" pitchFamily="34" charset="0"/>
              </a:rPr>
              <a:t>in order to be implemented using a relational DBMS (RDBMS). </a:t>
            </a:r>
            <a:r>
              <a:rPr lang="en-US" altLang="zh-TW" sz="2800" dirty="0">
                <a:latin typeface="Corbel" pitchFamily="34" charset="0"/>
              </a:rPr>
              <a:t>Moving from </a:t>
            </a:r>
            <a:r>
              <a:rPr lang="en-US" altLang="zh-TW" sz="2800" dirty="0">
                <a:solidFill>
                  <a:srgbClr val="CC0000"/>
                </a:solidFill>
                <a:latin typeface="Corbel" pitchFamily="34" charset="0"/>
              </a:rPr>
              <a:t>Conceptual (ER)</a:t>
            </a:r>
            <a:r>
              <a:rPr lang="en-US" altLang="zh-TW" sz="2800" dirty="0">
                <a:latin typeface="Corbel" pitchFamily="34" charset="0"/>
              </a:rPr>
              <a:t> to lower-level </a:t>
            </a:r>
            <a:r>
              <a:rPr lang="en-US" altLang="zh-TW" sz="2800" dirty="0">
                <a:solidFill>
                  <a:srgbClr val="CC0000"/>
                </a:solidFill>
                <a:latin typeface="Corbel" pitchFamily="34" charset="0"/>
              </a:rPr>
              <a:t>Logical Model (Relational)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800" dirty="0">
                <a:latin typeface="Corbel" pitchFamily="34" charset="0"/>
              </a:rPr>
              <a:t>ER is independent of the details of the implementation (relational, network or OO)_</a:t>
            </a:r>
          </a:p>
          <a:p>
            <a:pPr algn="just" eaLnBrk="1" hangingPunct="1"/>
            <a:r>
              <a:rPr lang="en-US" sz="2800" dirty="0">
                <a:latin typeface="Corbel" pitchFamily="34" charset="0"/>
              </a:rPr>
              <a:t>This section discusses the rules that can be used for this process</a:t>
            </a:r>
          </a:p>
        </p:txBody>
      </p:sp>
    </p:spTree>
    <p:extLst>
      <p:ext uri="{BB962C8B-B14F-4D97-AF65-F5344CB8AC3E}">
        <p14:creationId xmlns:p14="http://schemas.microsoft.com/office/powerpoint/2010/main" val="727354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-231182" y="724902"/>
            <a:ext cx="6377940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>
                <a:ln>
                  <a:noFill/>
                </a:ln>
                <a:latin typeface="Corbel" pitchFamily="34" charset="0"/>
              </a:rPr>
              <a:t>Mapping: Regular Entity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31874" y="1660525"/>
            <a:ext cx="7956550" cy="407035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z="26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600" b="1" dirty="0"/>
              <a:t>	</a:t>
            </a:r>
            <a:r>
              <a:rPr lang="en-US" sz="2800" b="1" dirty="0">
                <a:latin typeface="Corbel" pitchFamily="34" charset="0"/>
              </a:rPr>
              <a:t>ER Model			Relational Model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800" b="1" dirty="0">
              <a:latin typeface="Corbel" pitchFamily="34" charset="0"/>
            </a:endParaRPr>
          </a:p>
          <a:p>
            <a:pPr lvl="1" eaLnBrk="1" hangingPunct="1"/>
            <a:r>
              <a:rPr lang="en-US" sz="2800" dirty="0">
                <a:latin typeface="Corbel" pitchFamily="34" charset="0"/>
              </a:rPr>
              <a:t>Entity	(strong)	</a:t>
            </a:r>
            <a:r>
              <a:rPr lang="en-US" sz="2800" dirty="0">
                <a:latin typeface="Corbel" pitchFamily="34" charset="0"/>
                <a:sym typeface="Wingdings" panose="05000000000000000000" pitchFamily="2" charset="2"/>
              </a:rPr>
              <a:t>		Relation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sz="2800" dirty="0">
              <a:latin typeface="Corbel" pitchFamily="34" charset="0"/>
              <a:sym typeface="Wingdings" panose="05000000000000000000" pitchFamily="2" charset="2"/>
            </a:endParaRPr>
          </a:p>
          <a:p>
            <a:pPr lvl="1" eaLnBrk="1" hangingPunct="1"/>
            <a:r>
              <a:rPr lang="en-US" sz="2800" dirty="0">
                <a:latin typeface="Corbel" pitchFamily="34" charset="0"/>
                <a:sym typeface="Wingdings" panose="05000000000000000000" pitchFamily="2" charset="2"/>
              </a:rPr>
              <a:t>For example, </a:t>
            </a:r>
            <a:endParaRPr lang="en-US" sz="2800" dirty="0">
              <a:latin typeface="Corbel" pitchFamily="34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545208" y="5105400"/>
            <a:ext cx="9906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0">
                <a:latin typeface="Times New Roman" panose="02020603050405020304" pitchFamily="18" charset="0"/>
              </a:rPr>
              <a:t>Artist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076056" y="5068885"/>
            <a:ext cx="3914775" cy="584200"/>
            <a:chOff x="2976" y="3072"/>
            <a:chExt cx="2514" cy="368"/>
          </a:xfrm>
        </p:grpSpPr>
        <p:sp>
          <p:nvSpPr>
            <p:cNvPr id="49187" name="Text Box 7"/>
            <p:cNvSpPr txBox="1">
              <a:spLocks noChangeArrowheads="1"/>
            </p:cNvSpPr>
            <p:nvPr/>
          </p:nvSpPr>
          <p:spPr bwMode="auto">
            <a:xfrm>
              <a:off x="3302" y="3146"/>
              <a:ext cx="116" cy="28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9188" name="Rectangle 8"/>
            <p:cNvSpPr>
              <a:spLocks noChangeArrowheads="1"/>
            </p:cNvSpPr>
            <p:nvPr/>
          </p:nvSpPr>
          <p:spPr bwMode="auto">
            <a:xfrm>
              <a:off x="4992" y="3072"/>
              <a:ext cx="498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89" name="Rectangle 9"/>
            <p:cNvSpPr>
              <a:spLocks noChangeArrowheads="1"/>
            </p:cNvSpPr>
            <p:nvPr/>
          </p:nvSpPr>
          <p:spPr bwMode="auto">
            <a:xfrm>
              <a:off x="4656" y="3072"/>
              <a:ext cx="336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90" name="Rectangle 10"/>
            <p:cNvSpPr>
              <a:spLocks noChangeArrowheads="1"/>
            </p:cNvSpPr>
            <p:nvPr/>
          </p:nvSpPr>
          <p:spPr bwMode="auto">
            <a:xfrm>
              <a:off x="4128" y="3072"/>
              <a:ext cx="528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91" name="Rectangle 11"/>
            <p:cNvSpPr>
              <a:spLocks noChangeArrowheads="1"/>
            </p:cNvSpPr>
            <p:nvPr/>
          </p:nvSpPr>
          <p:spPr bwMode="auto">
            <a:xfrm>
              <a:off x="3600" y="3072"/>
              <a:ext cx="528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92" name="Rectangle 12"/>
            <p:cNvSpPr>
              <a:spLocks noChangeArrowheads="1"/>
            </p:cNvSpPr>
            <p:nvPr/>
          </p:nvSpPr>
          <p:spPr bwMode="auto">
            <a:xfrm>
              <a:off x="2976" y="3072"/>
              <a:ext cx="624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/>
            </a:p>
          </p:txBody>
        </p:sp>
        <p:sp>
          <p:nvSpPr>
            <p:cNvPr id="49193" name="Line 13"/>
            <p:cNvSpPr>
              <a:spLocks noChangeShapeType="1"/>
            </p:cNvSpPr>
            <p:nvPr/>
          </p:nvSpPr>
          <p:spPr bwMode="auto">
            <a:xfrm>
              <a:off x="2976" y="3072"/>
              <a:ext cx="251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4" name="Line 14"/>
            <p:cNvSpPr>
              <a:spLocks noChangeShapeType="1"/>
            </p:cNvSpPr>
            <p:nvPr/>
          </p:nvSpPr>
          <p:spPr bwMode="auto">
            <a:xfrm>
              <a:off x="2976" y="3440"/>
              <a:ext cx="251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5" name="Line 15"/>
            <p:cNvSpPr>
              <a:spLocks noChangeShapeType="1"/>
            </p:cNvSpPr>
            <p:nvPr/>
          </p:nvSpPr>
          <p:spPr bwMode="auto">
            <a:xfrm>
              <a:off x="2976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6" name="Line 16"/>
            <p:cNvSpPr>
              <a:spLocks noChangeShapeType="1"/>
            </p:cNvSpPr>
            <p:nvPr/>
          </p:nvSpPr>
          <p:spPr bwMode="auto">
            <a:xfrm>
              <a:off x="3600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7" name="Line 17"/>
            <p:cNvSpPr>
              <a:spLocks noChangeShapeType="1"/>
            </p:cNvSpPr>
            <p:nvPr/>
          </p:nvSpPr>
          <p:spPr bwMode="auto">
            <a:xfrm>
              <a:off x="4128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8" name="Line 18"/>
            <p:cNvSpPr>
              <a:spLocks noChangeShapeType="1"/>
            </p:cNvSpPr>
            <p:nvPr/>
          </p:nvSpPr>
          <p:spPr bwMode="auto">
            <a:xfrm>
              <a:off x="4656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9" name="Line 19"/>
            <p:cNvSpPr>
              <a:spLocks noChangeShapeType="1"/>
            </p:cNvSpPr>
            <p:nvPr/>
          </p:nvSpPr>
          <p:spPr bwMode="auto">
            <a:xfrm>
              <a:off x="499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00" name="Line 20"/>
            <p:cNvSpPr>
              <a:spLocks noChangeShapeType="1"/>
            </p:cNvSpPr>
            <p:nvPr/>
          </p:nvSpPr>
          <p:spPr bwMode="auto">
            <a:xfrm>
              <a:off x="5490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40" name="Line 8"/>
          <p:cNvSpPr>
            <a:spLocks noChangeShapeType="1"/>
          </p:cNvSpPr>
          <p:nvPr/>
        </p:nvSpPr>
        <p:spPr bwMode="auto">
          <a:xfrm>
            <a:off x="3002408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2392808" y="5821369"/>
            <a:ext cx="1143000" cy="461963"/>
            <a:chOff x="1344" y="3667"/>
            <a:chExt cx="720" cy="291"/>
          </a:xfrm>
        </p:grpSpPr>
        <p:sp>
          <p:nvSpPr>
            <p:cNvPr id="49185" name="Oval 7"/>
            <p:cNvSpPr>
              <a:spLocks noChangeArrowheads="1"/>
            </p:cNvSpPr>
            <p:nvPr/>
          </p:nvSpPr>
          <p:spPr bwMode="auto">
            <a:xfrm>
              <a:off x="1344" y="3696"/>
              <a:ext cx="720" cy="240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1800" b="0"/>
            </a:p>
          </p:txBody>
        </p:sp>
        <p:sp>
          <p:nvSpPr>
            <p:cNvPr id="49186" name="Text Box 6"/>
            <p:cNvSpPr txBox="1">
              <a:spLocks noChangeArrowheads="1"/>
            </p:cNvSpPr>
            <p:nvPr/>
          </p:nvSpPr>
          <p:spPr bwMode="auto">
            <a:xfrm>
              <a:off x="1551" y="3667"/>
              <a:ext cx="3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b="0" dirty="0">
                  <a:latin typeface="Times New Roman" panose="02020603050405020304" pitchFamily="18" charset="0"/>
                </a:rPr>
                <a:t>ID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996182" y="4530728"/>
            <a:ext cx="4040314" cy="1096963"/>
            <a:chOff x="3115" y="2749"/>
            <a:chExt cx="2375" cy="691"/>
          </a:xfrm>
        </p:grpSpPr>
        <p:sp>
          <p:nvSpPr>
            <p:cNvPr id="49171" name="Rectangle 11"/>
            <p:cNvSpPr>
              <a:spLocks noChangeArrowheads="1"/>
            </p:cNvSpPr>
            <p:nvPr/>
          </p:nvSpPr>
          <p:spPr bwMode="auto">
            <a:xfrm>
              <a:off x="5232" y="3072"/>
              <a:ext cx="258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72" name="Rectangle 12"/>
            <p:cNvSpPr>
              <a:spLocks noChangeArrowheads="1"/>
            </p:cNvSpPr>
            <p:nvPr/>
          </p:nvSpPr>
          <p:spPr bwMode="auto">
            <a:xfrm>
              <a:off x="4992" y="3072"/>
              <a:ext cx="240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73" name="Rectangle 13"/>
            <p:cNvSpPr>
              <a:spLocks noChangeArrowheads="1"/>
            </p:cNvSpPr>
            <p:nvPr/>
          </p:nvSpPr>
          <p:spPr bwMode="auto">
            <a:xfrm>
              <a:off x="4704" y="3072"/>
              <a:ext cx="288" cy="368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74" name="Rectangle 14"/>
            <p:cNvSpPr>
              <a:spLocks noChangeArrowheads="1"/>
            </p:cNvSpPr>
            <p:nvPr/>
          </p:nvSpPr>
          <p:spPr bwMode="auto">
            <a:xfrm>
              <a:off x="4032" y="3072"/>
              <a:ext cx="672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 b="0"/>
            </a:p>
          </p:txBody>
        </p:sp>
        <p:sp>
          <p:nvSpPr>
            <p:cNvPr id="49175" name="Rectangle 15"/>
            <p:cNvSpPr>
              <a:spLocks noChangeArrowheads="1"/>
            </p:cNvSpPr>
            <p:nvPr/>
          </p:nvSpPr>
          <p:spPr bwMode="auto">
            <a:xfrm>
              <a:off x="3168" y="3072"/>
              <a:ext cx="1056" cy="368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dirty="0"/>
                <a:t>ID</a:t>
              </a:r>
            </a:p>
          </p:txBody>
        </p:sp>
        <p:sp>
          <p:nvSpPr>
            <p:cNvPr id="49176" name="Line 16"/>
            <p:cNvSpPr>
              <a:spLocks noChangeShapeType="1"/>
            </p:cNvSpPr>
            <p:nvPr/>
          </p:nvSpPr>
          <p:spPr bwMode="auto">
            <a:xfrm>
              <a:off x="3168" y="3072"/>
              <a:ext cx="23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7" name="Line 17"/>
            <p:cNvSpPr>
              <a:spLocks noChangeShapeType="1"/>
            </p:cNvSpPr>
            <p:nvPr/>
          </p:nvSpPr>
          <p:spPr bwMode="auto">
            <a:xfrm flipV="1">
              <a:off x="3158" y="3428"/>
              <a:ext cx="2324" cy="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Line 18"/>
            <p:cNvSpPr>
              <a:spLocks noChangeShapeType="1"/>
            </p:cNvSpPr>
            <p:nvPr/>
          </p:nvSpPr>
          <p:spPr bwMode="auto">
            <a:xfrm>
              <a:off x="3168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9" name="Line 19"/>
            <p:cNvSpPr>
              <a:spLocks noChangeShapeType="1"/>
            </p:cNvSpPr>
            <p:nvPr/>
          </p:nvSpPr>
          <p:spPr bwMode="auto">
            <a:xfrm>
              <a:off x="3719" y="3065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0" name="Line 20"/>
            <p:cNvSpPr>
              <a:spLocks noChangeShapeType="1"/>
            </p:cNvSpPr>
            <p:nvPr/>
          </p:nvSpPr>
          <p:spPr bwMode="auto">
            <a:xfrm>
              <a:off x="4368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1" name="Line 21"/>
            <p:cNvSpPr>
              <a:spLocks noChangeShapeType="1"/>
            </p:cNvSpPr>
            <p:nvPr/>
          </p:nvSpPr>
          <p:spPr bwMode="auto">
            <a:xfrm>
              <a:off x="499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2" name="Line 22"/>
            <p:cNvSpPr>
              <a:spLocks noChangeShapeType="1"/>
            </p:cNvSpPr>
            <p:nvPr/>
          </p:nvSpPr>
          <p:spPr bwMode="auto">
            <a:xfrm>
              <a:off x="5232" y="3072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3" name="Line 23"/>
            <p:cNvSpPr>
              <a:spLocks noChangeShapeType="1"/>
            </p:cNvSpPr>
            <p:nvPr/>
          </p:nvSpPr>
          <p:spPr bwMode="auto">
            <a:xfrm>
              <a:off x="5490" y="3072"/>
              <a:ext cx="0" cy="36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4" name="Text Box 24"/>
            <p:cNvSpPr txBox="1">
              <a:spLocks noChangeArrowheads="1"/>
            </p:cNvSpPr>
            <p:nvPr/>
          </p:nvSpPr>
          <p:spPr bwMode="auto">
            <a:xfrm>
              <a:off x="3115" y="2749"/>
              <a:ext cx="9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800" dirty="0">
                  <a:solidFill>
                    <a:srgbClr val="3333CC"/>
                  </a:solidFill>
                </a:rPr>
                <a:t>ARTIST</a:t>
              </a:r>
            </a:p>
          </p:txBody>
        </p:sp>
      </p:grpSp>
      <p:sp>
        <p:nvSpPr>
          <p:cNvPr id="34858" name="Line 42"/>
          <p:cNvSpPr>
            <a:spLocks noChangeShapeType="1"/>
          </p:cNvSpPr>
          <p:nvPr/>
        </p:nvSpPr>
        <p:spPr bwMode="auto">
          <a:xfrm>
            <a:off x="2621408" y="6172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>
            <a:off x="5188066" y="5462591"/>
            <a:ext cx="393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11608" y="5181600"/>
            <a:ext cx="2133600" cy="762000"/>
            <a:chOff x="96" y="3264"/>
            <a:chExt cx="1344" cy="480"/>
          </a:xfrm>
        </p:grpSpPr>
        <p:sp>
          <p:nvSpPr>
            <p:cNvPr id="49169" name="Text Box 44"/>
            <p:cNvSpPr txBox="1">
              <a:spLocks noChangeArrowheads="1"/>
            </p:cNvSpPr>
            <p:nvPr/>
          </p:nvSpPr>
          <p:spPr bwMode="auto">
            <a:xfrm>
              <a:off x="96" y="3264"/>
              <a:ext cx="1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Primary key</a:t>
              </a:r>
            </a:p>
          </p:txBody>
        </p:sp>
        <p:sp>
          <p:nvSpPr>
            <p:cNvPr id="49170" name="Line 46"/>
            <p:cNvSpPr>
              <a:spLocks noChangeShapeType="1"/>
            </p:cNvSpPr>
            <p:nvPr/>
          </p:nvSpPr>
          <p:spPr bwMode="auto">
            <a:xfrm>
              <a:off x="1056" y="345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5658297" y="5737225"/>
            <a:ext cx="1804988" cy="841375"/>
            <a:chOff x="3401" y="3614"/>
            <a:chExt cx="1137" cy="530"/>
          </a:xfrm>
        </p:grpSpPr>
        <p:sp>
          <p:nvSpPr>
            <p:cNvPr id="49167" name="Text Box 45"/>
            <p:cNvSpPr txBox="1">
              <a:spLocks noChangeArrowheads="1"/>
            </p:cNvSpPr>
            <p:nvPr/>
          </p:nvSpPr>
          <p:spPr bwMode="auto">
            <a:xfrm>
              <a:off x="3434" y="3894"/>
              <a:ext cx="1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Primary key</a:t>
              </a:r>
            </a:p>
          </p:txBody>
        </p:sp>
        <p:sp>
          <p:nvSpPr>
            <p:cNvPr id="49168" name="Line 47"/>
            <p:cNvSpPr>
              <a:spLocks noChangeShapeType="1"/>
            </p:cNvSpPr>
            <p:nvPr/>
          </p:nvSpPr>
          <p:spPr bwMode="auto">
            <a:xfrm flipH="1" flipV="1">
              <a:off x="3401" y="3614"/>
              <a:ext cx="420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41"/>
          <p:cNvGrpSpPr>
            <a:grpSpLocks/>
          </p:cNvGrpSpPr>
          <p:nvPr/>
        </p:nvGrpSpPr>
        <p:grpSpPr bwMode="auto">
          <a:xfrm>
            <a:off x="3370156" y="4320170"/>
            <a:ext cx="1143000" cy="457200"/>
            <a:chOff x="1344" y="3648"/>
            <a:chExt cx="720" cy="288"/>
          </a:xfrm>
        </p:grpSpPr>
        <p:sp>
          <p:nvSpPr>
            <p:cNvPr id="52" name="Oval 7"/>
            <p:cNvSpPr>
              <a:spLocks noChangeArrowheads="1"/>
            </p:cNvSpPr>
            <p:nvPr/>
          </p:nvSpPr>
          <p:spPr bwMode="auto">
            <a:xfrm>
              <a:off x="1344" y="3696"/>
              <a:ext cx="720" cy="240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1800" b="0"/>
            </a:p>
          </p:txBody>
        </p:sp>
        <p:sp>
          <p:nvSpPr>
            <p:cNvPr id="53" name="Text Box 6"/>
            <p:cNvSpPr txBox="1">
              <a:spLocks noChangeArrowheads="1"/>
            </p:cNvSpPr>
            <p:nvPr/>
          </p:nvSpPr>
          <p:spPr bwMode="auto">
            <a:xfrm>
              <a:off x="1440" y="3648"/>
              <a:ext cx="5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b="0" dirty="0">
                  <a:latin typeface="Times New Roman" panose="02020603050405020304" pitchFamily="18" charset="0"/>
                </a:rPr>
                <a:t>name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6145471" y="5086645"/>
            <a:ext cx="8499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</a:rPr>
              <a:t>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23E216-5C48-E85E-2ADD-348871081B5A}"/>
              </a:ext>
            </a:extLst>
          </p:cNvPr>
          <p:cNvCxnSpPr/>
          <p:nvPr/>
        </p:nvCxnSpPr>
        <p:spPr>
          <a:xfrm flipV="1">
            <a:off x="3407446" y="4769243"/>
            <a:ext cx="335408" cy="312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189C7-8A20-B7D9-0686-63A91A57AF95}"/>
              </a:ext>
            </a:extLst>
          </p:cNvPr>
          <p:cNvCxnSpPr/>
          <p:nvPr/>
        </p:nvCxnSpPr>
        <p:spPr>
          <a:xfrm>
            <a:off x="3886200" y="5334000"/>
            <a:ext cx="8382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33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4840" grpId="0" animBg="1"/>
      <p:bldP spid="34858" grpId="0" animBg="1"/>
      <p:bldP spid="3485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25086"/>
            <a:ext cx="6553200" cy="1293028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latin typeface="Corbel" pitchFamily="34" charset="0"/>
              </a:rPr>
              <a:t>Mapping: Composite Attribute</a:t>
            </a:r>
            <a:br>
              <a:rPr lang="en-US" dirty="0"/>
            </a:br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59866" y="1988840"/>
            <a:ext cx="7956550" cy="407035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/>
              <a:t>	</a:t>
            </a:r>
            <a:r>
              <a:rPr lang="en-US" sz="2800" b="1" dirty="0">
                <a:latin typeface="Corbel" pitchFamily="34" charset="0"/>
              </a:rPr>
              <a:t>ER Model				Relational Model</a:t>
            </a:r>
          </a:p>
          <a:p>
            <a:pPr eaLnBrk="1" hangingPunct="1"/>
            <a:r>
              <a:rPr lang="en-US" sz="2800" dirty="0">
                <a:latin typeface="Corbel" pitchFamily="34" charset="0"/>
              </a:rPr>
              <a:t>Composite attributes </a:t>
            </a:r>
            <a:r>
              <a:rPr lang="en-US" sz="2800" dirty="0">
                <a:latin typeface="Corbel" pitchFamily="34" charset="0"/>
                <a:sym typeface="Wingdings" panose="05000000000000000000" pitchFamily="2" charset="2"/>
              </a:rPr>
              <a:t>	Set of simple atomic 					attributes</a:t>
            </a:r>
          </a:p>
          <a:p>
            <a:pPr lvl="1" eaLnBrk="1" hangingPunct="1"/>
            <a:endParaRPr lang="en-US" sz="22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sz="2200" dirty="0"/>
          </a:p>
        </p:txBody>
      </p:sp>
      <p:grpSp>
        <p:nvGrpSpPr>
          <p:cNvPr id="50180" name="Group 30"/>
          <p:cNvGrpSpPr>
            <a:grpSpLocks/>
          </p:cNvGrpSpPr>
          <p:nvPr/>
        </p:nvGrpSpPr>
        <p:grpSpPr bwMode="auto">
          <a:xfrm>
            <a:off x="891480" y="4191001"/>
            <a:ext cx="3657600" cy="2443163"/>
            <a:chOff x="384" y="2640"/>
            <a:chExt cx="2304" cy="1539"/>
          </a:xfrm>
        </p:grpSpPr>
        <p:sp>
          <p:nvSpPr>
            <p:cNvPr id="50194" name="Text Box 5"/>
            <p:cNvSpPr txBox="1">
              <a:spLocks noChangeArrowheads="1"/>
            </p:cNvSpPr>
            <p:nvPr/>
          </p:nvSpPr>
          <p:spPr bwMode="auto">
            <a:xfrm>
              <a:off x="432" y="2640"/>
              <a:ext cx="1200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b="0" dirty="0">
                  <a:latin typeface="Times New Roman" panose="02020603050405020304" pitchFamily="18" charset="0"/>
                </a:rPr>
                <a:t>Employee</a:t>
              </a:r>
            </a:p>
          </p:txBody>
        </p:sp>
        <p:grpSp>
          <p:nvGrpSpPr>
            <p:cNvPr id="50195" name="Group 28"/>
            <p:cNvGrpSpPr>
              <a:grpSpLocks/>
            </p:cNvGrpSpPr>
            <p:nvPr/>
          </p:nvGrpSpPr>
          <p:grpSpPr bwMode="auto">
            <a:xfrm>
              <a:off x="425" y="3222"/>
              <a:ext cx="1056" cy="308"/>
              <a:chOff x="425" y="3222"/>
              <a:chExt cx="1056" cy="308"/>
            </a:xfrm>
          </p:grpSpPr>
          <p:sp>
            <p:nvSpPr>
              <p:cNvPr id="50205" name="Oval 7"/>
              <p:cNvSpPr>
                <a:spLocks noChangeArrowheads="1"/>
              </p:cNvSpPr>
              <p:nvPr/>
            </p:nvSpPr>
            <p:spPr bwMode="auto">
              <a:xfrm>
                <a:off x="425" y="3222"/>
                <a:ext cx="1056" cy="288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sz="1800" b="0"/>
              </a:p>
            </p:txBody>
          </p:sp>
          <p:sp>
            <p:nvSpPr>
              <p:cNvPr id="50206" name="Text Box 6"/>
              <p:cNvSpPr txBox="1">
                <a:spLocks noChangeArrowheads="1"/>
              </p:cNvSpPr>
              <p:nvPr/>
            </p:nvSpPr>
            <p:spPr bwMode="auto">
              <a:xfrm>
                <a:off x="575" y="3239"/>
                <a:ext cx="8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400" b="0" dirty="0" err="1">
                    <a:latin typeface="Times New Roman" panose="02020603050405020304" pitchFamily="18" charset="0"/>
                  </a:rPr>
                  <a:t>Fullname</a:t>
                </a:r>
                <a:endParaRPr 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196" name="Line 8"/>
            <p:cNvSpPr>
              <a:spLocks noChangeShapeType="1"/>
            </p:cNvSpPr>
            <p:nvPr/>
          </p:nvSpPr>
          <p:spPr bwMode="auto">
            <a:xfrm flipH="1">
              <a:off x="960" y="3527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197" name="Group 29"/>
            <p:cNvGrpSpPr>
              <a:grpSpLocks/>
            </p:cNvGrpSpPr>
            <p:nvPr/>
          </p:nvGrpSpPr>
          <p:grpSpPr bwMode="auto">
            <a:xfrm>
              <a:off x="384" y="3888"/>
              <a:ext cx="1056" cy="291"/>
              <a:chOff x="1728" y="2496"/>
              <a:chExt cx="1056" cy="291"/>
            </a:xfrm>
          </p:grpSpPr>
          <p:sp>
            <p:nvSpPr>
              <p:cNvPr id="50203" name="Oval 10"/>
              <p:cNvSpPr>
                <a:spLocks noChangeArrowheads="1"/>
              </p:cNvSpPr>
              <p:nvPr/>
            </p:nvSpPr>
            <p:spPr bwMode="auto">
              <a:xfrm>
                <a:off x="1728" y="2496"/>
                <a:ext cx="1056" cy="288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sz="1800" b="0"/>
              </a:p>
            </p:txBody>
          </p:sp>
          <p:sp>
            <p:nvSpPr>
              <p:cNvPr id="50204" name="Text Box 9"/>
              <p:cNvSpPr txBox="1">
                <a:spLocks noChangeArrowheads="1"/>
              </p:cNvSpPr>
              <p:nvPr/>
            </p:nvSpPr>
            <p:spPr bwMode="auto">
              <a:xfrm>
                <a:off x="1824" y="2496"/>
                <a:ext cx="80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400" b="0" dirty="0">
                    <a:latin typeface="Times New Roman" panose="02020603050405020304" pitchFamily="18" charset="0"/>
                  </a:rPr>
                  <a:t>Surname</a:t>
                </a:r>
              </a:p>
            </p:txBody>
          </p:sp>
        </p:grpSp>
        <p:sp>
          <p:nvSpPr>
            <p:cNvPr id="50198" name="Line 13"/>
            <p:cNvSpPr>
              <a:spLocks noChangeShapeType="1"/>
            </p:cNvSpPr>
            <p:nvPr/>
          </p:nvSpPr>
          <p:spPr bwMode="auto">
            <a:xfrm flipH="1" flipV="1">
              <a:off x="960" y="2946"/>
              <a:ext cx="14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199" name="Group 27"/>
            <p:cNvGrpSpPr>
              <a:grpSpLocks/>
            </p:cNvGrpSpPr>
            <p:nvPr/>
          </p:nvGrpSpPr>
          <p:grpSpPr bwMode="auto">
            <a:xfrm>
              <a:off x="1428" y="3408"/>
              <a:ext cx="1260" cy="312"/>
              <a:chOff x="1572" y="2976"/>
              <a:chExt cx="1260" cy="312"/>
            </a:xfrm>
          </p:grpSpPr>
          <p:sp>
            <p:nvSpPr>
              <p:cNvPr id="50200" name="Oval 12"/>
              <p:cNvSpPr>
                <a:spLocks noChangeArrowheads="1"/>
              </p:cNvSpPr>
              <p:nvPr/>
            </p:nvSpPr>
            <p:spPr bwMode="auto">
              <a:xfrm>
                <a:off x="1776" y="2976"/>
                <a:ext cx="1056" cy="288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sz="1800" b="0"/>
              </a:p>
            </p:txBody>
          </p:sp>
          <p:sp>
            <p:nvSpPr>
              <p:cNvPr id="50201" name="Text Box 11"/>
              <p:cNvSpPr txBox="1">
                <a:spLocks noChangeArrowheads="1"/>
              </p:cNvSpPr>
              <p:nvPr/>
            </p:nvSpPr>
            <p:spPr bwMode="auto">
              <a:xfrm>
                <a:off x="1920" y="2997"/>
                <a:ext cx="8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400" b="0" dirty="0" err="1">
                    <a:latin typeface="Times New Roman" panose="02020603050405020304" pitchFamily="18" charset="0"/>
                  </a:rPr>
                  <a:t>Firstname</a:t>
                </a:r>
                <a:endParaRPr lang="en-US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02" name="Line 14"/>
              <p:cNvSpPr>
                <a:spLocks noChangeShapeType="1"/>
              </p:cNvSpPr>
              <p:nvPr/>
            </p:nvSpPr>
            <p:spPr bwMode="auto">
              <a:xfrm>
                <a:off x="1572" y="2997"/>
                <a:ext cx="157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7919" name="Oval 31"/>
          <p:cNvSpPr>
            <a:spLocks noChangeArrowheads="1"/>
          </p:cNvSpPr>
          <p:nvPr/>
        </p:nvSpPr>
        <p:spPr bwMode="auto">
          <a:xfrm>
            <a:off x="757808" y="6096000"/>
            <a:ext cx="1981200" cy="609600"/>
          </a:xfrm>
          <a:prstGeom prst="ellips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7920" name="Oval 32"/>
          <p:cNvSpPr>
            <a:spLocks noChangeArrowheads="1"/>
          </p:cNvSpPr>
          <p:nvPr/>
        </p:nvSpPr>
        <p:spPr bwMode="auto">
          <a:xfrm>
            <a:off x="2815208" y="5334000"/>
            <a:ext cx="1828800" cy="609600"/>
          </a:xfrm>
          <a:prstGeom prst="ellips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4289" name="Rectangle 2"/>
          <p:cNvSpPr>
            <a:spLocks noChangeArrowheads="1"/>
          </p:cNvSpPr>
          <p:nvPr/>
        </p:nvSpPr>
        <p:spPr bwMode="auto">
          <a:xfrm>
            <a:off x="1400335" y="79374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4000" b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1200E830-8D4C-210E-EC52-B577BABDE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758493"/>
            <a:ext cx="16123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3333CC"/>
                </a:solidFill>
              </a:rPr>
              <a:t>EMPLOYEE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4806C2-A245-97CE-36D3-2182DA7D6B58}"/>
              </a:ext>
            </a:extLst>
          </p:cNvPr>
          <p:cNvCxnSpPr/>
          <p:nvPr/>
        </p:nvCxnSpPr>
        <p:spPr>
          <a:xfrm>
            <a:off x="3352800" y="4419600"/>
            <a:ext cx="10819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9F3286-2955-EA40-04EF-9552F3FBE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52802"/>
              </p:ext>
            </p:extLst>
          </p:nvPr>
        </p:nvGraphicFramePr>
        <p:xfrm>
          <a:off x="4805505" y="4223709"/>
          <a:ext cx="357802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89010">
                  <a:extLst>
                    <a:ext uri="{9D8B030D-6E8A-4147-A177-3AD203B41FA5}">
                      <a16:colId xmlns:a16="http://schemas.microsoft.com/office/drawing/2014/main" val="3166567834"/>
                    </a:ext>
                  </a:extLst>
                </a:gridCol>
                <a:gridCol w="1789010">
                  <a:extLst>
                    <a:ext uri="{9D8B030D-6E8A-4147-A177-3AD203B41FA5}">
                      <a16:colId xmlns:a16="http://schemas.microsoft.com/office/drawing/2014/main" val="4133713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latin typeface="Times New Roman" panose="02020603050405020304" pitchFamily="18" charset="0"/>
                        </a:rPr>
                        <a:t>Firstname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</a:rPr>
                        <a:t>Surname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5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35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9" grpId="0" animBg="1"/>
      <p:bldP spid="379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326707" y="827078"/>
            <a:ext cx="8415814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Corbel" pitchFamily="34" charset="0"/>
              </a:rPr>
              <a:t>Mapping: Multivalued Attributes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1981202"/>
            <a:ext cx="8415812" cy="4016373"/>
          </a:xfrm>
          <a:prstGeom prst="rect">
            <a:avLst/>
          </a:prstGeo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sz="2800" b="1" dirty="0">
                <a:latin typeface="Corbel" pitchFamily="34" charset="0"/>
              </a:rPr>
              <a:t>ER Model			Relational   Model</a:t>
            </a:r>
          </a:p>
          <a:p>
            <a:pPr eaLnBrk="1" hangingPunct="1"/>
            <a:r>
              <a:rPr lang="en-US" sz="2800" dirty="0">
                <a:latin typeface="Corbel" pitchFamily="34" charset="0"/>
              </a:rPr>
              <a:t>Multivalued attribute </a:t>
            </a:r>
            <a:r>
              <a:rPr lang="en-US" sz="2800" dirty="0">
                <a:latin typeface="Corbel" pitchFamily="34" charset="0"/>
                <a:sym typeface="Wingdings" panose="05000000000000000000" pitchFamily="2" charset="2"/>
              </a:rPr>
              <a:t>   Relation &amp; Foreign Key</a:t>
            </a:r>
          </a:p>
          <a:p>
            <a:pPr lvl="1" eaLnBrk="1" hangingPunct="1"/>
            <a:endParaRPr lang="en-US" sz="2100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endParaRPr lang="en-US" dirty="0"/>
          </a:p>
        </p:txBody>
      </p:sp>
      <p:sp>
        <p:nvSpPr>
          <p:cNvPr id="85003" name="Line 12"/>
          <p:cNvSpPr>
            <a:spLocks noChangeShapeType="1"/>
          </p:cNvSpPr>
          <p:nvPr/>
        </p:nvSpPr>
        <p:spPr bwMode="auto">
          <a:xfrm flipV="1">
            <a:off x="5792007" y="4619624"/>
            <a:ext cx="11900" cy="82808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7" name="Text Box 23"/>
          <p:cNvSpPr txBox="1">
            <a:spLocks noChangeArrowheads="1"/>
          </p:cNvSpPr>
          <p:nvPr/>
        </p:nvSpPr>
        <p:spPr bwMode="auto">
          <a:xfrm>
            <a:off x="4724406" y="3620452"/>
            <a:ext cx="1274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3333CC"/>
                </a:solidFill>
              </a:rPr>
              <a:t>Employee</a:t>
            </a:r>
          </a:p>
          <a:p>
            <a:pPr eaLnBrk="1" hangingPunct="1"/>
            <a:endParaRPr lang="en-US" sz="1800" b="0" dirty="0">
              <a:solidFill>
                <a:srgbClr val="3333CC"/>
              </a:solidFill>
            </a:endParaRPr>
          </a:p>
        </p:txBody>
      </p:sp>
      <p:sp>
        <p:nvSpPr>
          <p:cNvPr id="51237" name="Text Box 32"/>
          <p:cNvSpPr txBox="1">
            <a:spLocks noChangeArrowheads="1"/>
          </p:cNvSpPr>
          <p:nvPr/>
        </p:nvSpPr>
        <p:spPr bwMode="auto">
          <a:xfrm>
            <a:off x="4724406" y="5420689"/>
            <a:ext cx="289450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800" dirty="0" err="1">
                <a:solidFill>
                  <a:srgbClr val="3333CC"/>
                </a:solidFill>
              </a:rPr>
              <a:t>Employee_contact</a:t>
            </a:r>
            <a:endParaRPr lang="en-US" sz="1800" dirty="0">
              <a:solidFill>
                <a:srgbClr val="3333CC"/>
              </a:solidFill>
            </a:endParaRPr>
          </a:p>
        </p:txBody>
      </p:sp>
      <p:sp>
        <p:nvSpPr>
          <p:cNvPr id="55303" name="Rectangle 2"/>
          <p:cNvSpPr>
            <a:spLocks noChangeArrowheads="1"/>
          </p:cNvSpPr>
          <p:nvPr/>
        </p:nvSpPr>
        <p:spPr bwMode="auto">
          <a:xfrm>
            <a:off x="609600" y="79375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4000" b="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609600" y="3886200"/>
            <a:ext cx="3657600" cy="1524000"/>
            <a:chOff x="384" y="2448"/>
            <a:chExt cx="2304" cy="960"/>
          </a:xfrm>
        </p:grpSpPr>
        <p:grpSp>
          <p:nvGrpSpPr>
            <p:cNvPr id="51214" name="Group 38"/>
            <p:cNvGrpSpPr>
              <a:grpSpLocks/>
            </p:cNvGrpSpPr>
            <p:nvPr/>
          </p:nvGrpSpPr>
          <p:grpSpPr bwMode="auto">
            <a:xfrm>
              <a:off x="384" y="2448"/>
              <a:ext cx="1688" cy="960"/>
              <a:chOff x="144" y="2256"/>
              <a:chExt cx="1688" cy="960"/>
            </a:xfrm>
          </p:grpSpPr>
          <p:grpSp>
            <p:nvGrpSpPr>
              <p:cNvPr id="51218" name="Group 37"/>
              <p:cNvGrpSpPr>
                <a:grpSpLocks/>
              </p:cNvGrpSpPr>
              <p:nvPr/>
            </p:nvGrpSpPr>
            <p:grpSpPr bwMode="auto">
              <a:xfrm>
                <a:off x="912" y="2544"/>
                <a:ext cx="920" cy="672"/>
                <a:chOff x="912" y="2544"/>
                <a:chExt cx="920" cy="672"/>
              </a:xfrm>
            </p:grpSpPr>
            <p:grpSp>
              <p:nvGrpSpPr>
                <p:cNvPr id="51226" name="Group 36"/>
                <p:cNvGrpSpPr>
                  <a:grpSpLocks/>
                </p:cNvGrpSpPr>
                <p:nvPr/>
              </p:nvGrpSpPr>
              <p:grpSpPr bwMode="auto">
                <a:xfrm>
                  <a:off x="912" y="2832"/>
                  <a:ext cx="920" cy="384"/>
                  <a:chOff x="912" y="2880"/>
                  <a:chExt cx="920" cy="384"/>
                </a:xfrm>
              </p:grpSpPr>
              <p:sp>
                <p:nvSpPr>
                  <p:cNvPr id="51228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880"/>
                    <a:ext cx="864" cy="384"/>
                  </a:xfrm>
                  <a:prstGeom prst="ellipse">
                    <a:avLst/>
                  </a:prstGeom>
                  <a:solidFill>
                    <a:srgbClr val="9999FF"/>
                  </a:solidFill>
                  <a:ln w="38100" cmpd="dbl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sz="1800" b="0"/>
                  </a:p>
                </p:txBody>
              </p:sp>
              <p:sp>
                <p:nvSpPr>
                  <p:cNvPr id="51229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2928"/>
                    <a:ext cx="7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n-US" sz="2400" b="0" dirty="0">
                        <a:latin typeface="Times New Roman" panose="02020603050405020304" pitchFamily="18" charset="0"/>
                      </a:rPr>
                      <a:t>Phone</a:t>
                    </a:r>
                  </a:p>
                </p:txBody>
              </p:sp>
            </p:grpSp>
            <p:sp>
              <p:nvSpPr>
                <p:cNvPr id="51227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200" y="2544"/>
                  <a:ext cx="96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19" name="Group 35"/>
              <p:cNvGrpSpPr>
                <a:grpSpLocks/>
              </p:cNvGrpSpPr>
              <p:nvPr/>
            </p:nvGrpSpPr>
            <p:grpSpPr bwMode="auto">
              <a:xfrm>
                <a:off x="144" y="2256"/>
                <a:ext cx="1141" cy="864"/>
                <a:chOff x="144" y="2256"/>
                <a:chExt cx="1141" cy="864"/>
              </a:xfrm>
            </p:grpSpPr>
            <p:sp>
              <p:nvSpPr>
                <p:cNvPr id="51220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84" y="2256"/>
                  <a:ext cx="901" cy="291"/>
                </a:xfrm>
                <a:prstGeom prst="rect">
                  <a:avLst/>
                </a:prstGeom>
                <a:solidFill>
                  <a:srgbClr val="99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en-US" sz="2400" b="0" dirty="0">
                      <a:latin typeface="Times New Roman" panose="02020603050405020304" pitchFamily="18" charset="0"/>
                    </a:rPr>
                    <a:t>Employee</a:t>
                  </a:r>
                </a:p>
              </p:txBody>
            </p:sp>
            <p:grpSp>
              <p:nvGrpSpPr>
                <p:cNvPr id="51221" name="Group 34"/>
                <p:cNvGrpSpPr>
                  <a:grpSpLocks/>
                </p:cNvGrpSpPr>
                <p:nvPr/>
              </p:nvGrpSpPr>
              <p:grpSpPr bwMode="auto">
                <a:xfrm>
                  <a:off x="144" y="2544"/>
                  <a:ext cx="576" cy="576"/>
                  <a:chOff x="144" y="2544"/>
                  <a:chExt cx="576" cy="576"/>
                </a:xfrm>
              </p:grpSpPr>
              <p:grpSp>
                <p:nvGrpSpPr>
                  <p:cNvPr id="51222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144" y="2784"/>
                    <a:ext cx="576" cy="336"/>
                    <a:chOff x="96" y="2976"/>
                    <a:chExt cx="576" cy="336"/>
                  </a:xfrm>
                </p:grpSpPr>
                <p:sp>
                  <p:nvSpPr>
                    <p:cNvPr id="51224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" y="2976"/>
                      <a:ext cx="576" cy="336"/>
                    </a:xfrm>
                    <a:prstGeom prst="ellipse">
                      <a:avLst/>
                    </a:prstGeom>
                    <a:solidFill>
                      <a:srgbClr val="9999FF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en-US" sz="1800" b="0"/>
                    </a:p>
                  </p:txBody>
                </p:sp>
                <p:sp>
                  <p:nvSpPr>
                    <p:cNvPr id="51225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63" y="3006"/>
                      <a:ext cx="321" cy="2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en-US" sz="2400" b="0" u="sng" dirty="0">
                          <a:latin typeface="Times New Roman" panose="02020603050405020304" pitchFamily="18" charset="0"/>
                        </a:rPr>
                        <a:t>ID</a:t>
                      </a:r>
                    </a:p>
                  </p:txBody>
                </p:sp>
              </p:grpSp>
              <p:sp>
                <p:nvSpPr>
                  <p:cNvPr id="51223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4" y="2544"/>
                    <a:ext cx="144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51215" name="Group 41"/>
            <p:cNvGrpSpPr>
              <a:grpSpLocks/>
            </p:cNvGrpSpPr>
            <p:nvPr/>
          </p:nvGrpSpPr>
          <p:grpSpPr bwMode="auto">
            <a:xfrm>
              <a:off x="1536" y="2544"/>
              <a:ext cx="1152" cy="336"/>
              <a:chOff x="1536" y="2544"/>
              <a:chExt cx="1152" cy="336"/>
            </a:xfrm>
          </p:grpSpPr>
          <p:sp>
            <p:nvSpPr>
              <p:cNvPr id="51216" name="Oval 39"/>
              <p:cNvSpPr>
                <a:spLocks noChangeArrowheads="1"/>
              </p:cNvSpPr>
              <p:nvPr/>
            </p:nvSpPr>
            <p:spPr bwMode="auto">
              <a:xfrm>
                <a:off x="1920" y="2544"/>
                <a:ext cx="768" cy="336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b="0" dirty="0"/>
                  <a:t>Name</a:t>
                </a:r>
              </a:p>
            </p:txBody>
          </p:sp>
          <p:sp>
            <p:nvSpPr>
              <p:cNvPr id="51217" name="Line 40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38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5037" name="Oval 45"/>
          <p:cNvSpPr>
            <a:spLocks noChangeArrowheads="1"/>
          </p:cNvSpPr>
          <p:nvPr/>
        </p:nvSpPr>
        <p:spPr bwMode="auto">
          <a:xfrm>
            <a:off x="581406" y="4619625"/>
            <a:ext cx="990600" cy="762000"/>
          </a:xfrm>
          <a:prstGeom prst="ellips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5038" name="Oval 46"/>
          <p:cNvSpPr>
            <a:spLocks noChangeArrowheads="1"/>
          </p:cNvSpPr>
          <p:nvPr/>
        </p:nvSpPr>
        <p:spPr bwMode="auto">
          <a:xfrm>
            <a:off x="2971799" y="3962400"/>
            <a:ext cx="1371599" cy="741527"/>
          </a:xfrm>
          <a:prstGeom prst="ellips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4C55E8-9EC7-BED8-4069-780DBDD8F9CF}"/>
              </a:ext>
            </a:extLst>
          </p:cNvPr>
          <p:cNvCxnSpPr>
            <a:cxnSpLocks/>
          </p:cNvCxnSpPr>
          <p:nvPr/>
        </p:nvCxnSpPr>
        <p:spPr>
          <a:xfrm flipV="1">
            <a:off x="3416303" y="5117302"/>
            <a:ext cx="1138708" cy="295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81296-B9D2-89B2-9993-00B2F216A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51613"/>
              </p:ext>
            </p:extLst>
          </p:nvPr>
        </p:nvGraphicFramePr>
        <p:xfrm>
          <a:off x="4800604" y="4065747"/>
          <a:ext cx="357802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89010">
                  <a:extLst>
                    <a:ext uri="{9D8B030D-6E8A-4147-A177-3AD203B41FA5}">
                      <a16:colId xmlns:a16="http://schemas.microsoft.com/office/drawing/2014/main" val="3166567834"/>
                    </a:ext>
                  </a:extLst>
                </a:gridCol>
                <a:gridCol w="1789010">
                  <a:extLst>
                    <a:ext uri="{9D8B030D-6E8A-4147-A177-3AD203B41FA5}">
                      <a16:colId xmlns:a16="http://schemas.microsoft.com/office/drawing/2014/main" val="4133713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u="sng" dirty="0">
                          <a:latin typeface="Times New Roman" panose="02020603050405020304" pitchFamily="18" charset="0"/>
                        </a:rPr>
                        <a:t>ID</a:t>
                      </a:r>
                      <a:endParaRPr lang="en-US" sz="2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</a:rPr>
                        <a:t>Name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543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46B9B6-B0BE-F11E-46D1-EF5AD92E9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00106"/>
              </p:ext>
            </p:extLst>
          </p:nvPr>
        </p:nvGraphicFramePr>
        <p:xfrm>
          <a:off x="4724406" y="5897166"/>
          <a:ext cx="357802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89010">
                  <a:extLst>
                    <a:ext uri="{9D8B030D-6E8A-4147-A177-3AD203B41FA5}">
                      <a16:colId xmlns:a16="http://schemas.microsoft.com/office/drawing/2014/main" val="3166567834"/>
                    </a:ext>
                  </a:extLst>
                </a:gridCol>
                <a:gridCol w="1789010">
                  <a:extLst>
                    <a:ext uri="{9D8B030D-6E8A-4147-A177-3AD203B41FA5}">
                      <a16:colId xmlns:a16="http://schemas.microsoft.com/office/drawing/2014/main" val="4133713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u="sng" dirty="0">
                          <a:latin typeface="Times New Roman" panose="02020603050405020304" pitchFamily="18" charset="0"/>
                        </a:rPr>
                        <a:t>ID</a:t>
                      </a:r>
                      <a:endParaRPr lang="en-US" sz="2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u="sng" dirty="0">
                          <a:latin typeface="Times New Roman" panose="02020603050405020304" pitchFamily="18" charset="0"/>
                        </a:rPr>
                        <a:t>Phone</a:t>
                      </a:r>
                      <a:endParaRPr lang="en-US" sz="24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5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09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850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850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850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850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5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5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3" grpId="0" animBg="1"/>
      <p:bldP spid="85037" grpId="0" animBg="1"/>
      <p:bldP spid="85037" grpId="1" animBg="1"/>
      <p:bldP spid="85037" grpId="2" animBg="1"/>
      <p:bldP spid="85038" grpId="0" animBg="1"/>
      <p:bldP spid="8503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084" y="535136"/>
            <a:ext cx="5988167" cy="129302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4000" dirty="0">
                <a:ln>
                  <a:noFill/>
                </a:ln>
                <a:latin typeface="Corbel" pitchFamily="34" charset="0"/>
              </a:rPr>
              <a:t>Mapping:1:1 with Total &amp; Partial participation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1516" y="2286000"/>
            <a:ext cx="7499350" cy="381446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 dirty="0">
                <a:latin typeface="Corbel" pitchFamily="34" charset="0"/>
              </a:rPr>
              <a:t>If there is a 1:1 relationship R from entity A to B and if B is in </a:t>
            </a:r>
            <a:r>
              <a:rPr lang="en-US" sz="2800" dirty="0">
                <a:solidFill>
                  <a:srgbClr val="FF0000"/>
                </a:solidFill>
                <a:latin typeface="Corbel" pitchFamily="34" charset="0"/>
              </a:rPr>
              <a:t>total participation</a:t>
            </a:r>
            <a:r>
              <a:rPr lang="en-US" sz="2800" dirty="0">
                <a:latin typeface="Corbel" pitchFamily="34" charset="0"/>
              </a:rPr>
              <a:t> with A on R then the foreign key is placed in B.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  </a:t>
            </a:r>
          </a:p>
          <a:p>
            <a:pPr eaLnBrk="1" hangingPunct="1"/>
            <a:endParaRPr lang="en-US" dirty="0"/>
          </a:p>
        </p:txBody>
      </p:sp>
      <p:sp>
        <p:nvSpPr>
          <p:cNvPr id="52229" name="Text Box 14"/>
          <p:cNvSpPr txBox="1">
            <a:spLocks noChangeArrowheads="1"/>
          </p:cNvSpPr>
          <p:nvPr/>
        </p:nvSpPr>
        <p:spPr bwMode="auto">
          <a:xfrm>
            <a:off x="5318125" y="51419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2230" name="Text Box 14"/>
          <p:cNvSpPr txBox="1">
            <a:spLocks noChangeArrowheads="1"/>
          </p:cNvSpPr>
          <p:nvPr/>
        </p:nvSpPr>
        <p:spPr bwMode="auto">
          <a:xfrm>
            <a:off x="526587" y="5037370"/>
            <a:ext cx="577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u="sng" dirty="0" err="1">
                <a:latin typeface="Times New Roman" panose="02020603050405020304" pitchFamily="18" charset="0"/>
              </a:rPr>
              <a:t>eid</a:t>
            </a:r>
            <a:endParaRPr lang="en-US" sz="2400" u="sng" dirty="0">
              <a:latin typeface="Times New Roman" panose="02020603050405020304" pitchFamily="18" charset="0"/>
            </a:endParaRPr>
          </a:p>
        </p:txBody>
      </p:sp>
      <p:sp>
        <p:nvSpPr>
          <p:cNvPr id="52231" name="Text Box 17"/>
          <p:cNvSpPr txBox="1">
            <a:spLocks noChangeArrowheads="1"/>
          </p:cNvSpPr>
          <p:nvPr/>
        </p:nvSpPr>
        <p:spPr bwMode="auto">
          <a:xfrm>
            <a:off x="4362846" y="5304059"/>
            <a:ext cx="681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u="sng" dirty="0" err="1">
                <a:latin typeface="Times New Roman" panose="02020603050405020304" pitchFamily="18" charset="0"/>
              </a:rPr>
              <a:t>dno</a:t>
            </a:r>
            <a:endParaRPr lang="en-US" sz="2400" u="sng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5389086" y="3257546"/>
            <a:ext cx="3666255" cy="2632230"/>
            <a:chOff x="4087813" y="3341691"/>
            <a:chExt cx="4706937" cy="3109909"/>
          </a:xfrm>
        </p:grpSpPr>
        <p:sp>
          <p:nvSpPr>
            <p:cNvPr id="52245" name="Line 4"/>
            <p:cNvSpPr>
              <a:spLocks noChangeShapeType="1"/>
            </p:cNvSpPr>
            <p:nvPr/>
          </p:nvSpPr>
          <p:spPr bwMode="auto">
            <a:xfrm flipH="1" flipV="1">
              <a:off x="4800600" y="4572000"/>
              <a:ext cx="1828800" cy="1219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246" name="Group 20"/>
            <p:cNvGrpSpPr>
              <a:grpSpLocks/>
            </p:cNvGrpSpPr>
            <p:nvPr/>
          </p:nvGrpSpPr>
          <p:grpSpPr bwMode="auto">
            <a:xfrm>
              <a:off x="4087813" y="3341691"/>
              <a:ext cx="3989388" cy="1204913"/>
              <a:chOff x="2575" y="2105"/>
              <a:chExt cx="2513" cy="759"/>
            </a:xfrm>
          </p:grpSpPr>
          <p:sp>
            <p:nvSpPr>
              <p:cNvPr id="52263" name="Rectangle 21"/>
              <p:cNvSpPr>
                <a:spLocks noChangeArrowheads="1"/>
              </p:cNvSpPr>
              <p:nvPr/>
            </p:nvSpPr>
            <p:spPr bwMode="auto">
              <a:xfrm>
                <a:off x="4608" y="2448"/>
                <a:ext cx="480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64" name="Rectangle 22"/>
              <p:cNvSpPr>
                <a:spLocks noChangeArrowheads="1"/>
              </p:cNvSpPr>
              <p:nvPr/>
            </p:nvSpPr>
            <p:spPr bwMode="auto">
              <a:xfrm>
                <a:off x="3936" y="2448"/>
                <a:ext cx="672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65" name="Rectangle 23"/>
              <p:cNvSpPr>
                <a:spLocks noChangeArrowheads="1"/>
              </p:cNvSpPr>
              <p:nvPr/>
            </p:nvSpPr>
            <p:spPr bwMode="auto">
              <a:xfrm>
                <a:off x="3360" y="2448"/>
                <a:ext cx="57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66" name="Rectangle 24"/>
              <p:cNvSpPr>
                <a:spLocks noChangeArrowheads="1"/>
              </p:cNvSpPr>
              <p:nvPr/>
            </p:nvSpPr>
            <p:spPr bwMode="auto">
              <a:xfrm>
                <a:off x="2688" y="2448"/>
                <a:ext cx="672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sz="2400" u="sng" dirty="0" err="1"/>
                  <a:t>eid</a:t>
                </a:r>
                <a:endParaRPr lang="en-US" sz="2400" u="sng" dirty="0"/>
              </a:p>
            </p:txBody>
          </p:sp>
          <p:sp>
            <p:nvSpPr>
              <p:cNvPr id="52267" name="Line 25"/>
              <p:cNvSpPr>
                <a:spLocks noChangeShapeType="1"/>
              </p:cNvSpPr>
              <p:nvPr/>
            </p:nvSpPr>
            <p:spPr bwMode="auto">
              <a:xfrm>
                <a:off x="2688" y="2448"/>
                <a:ext cx="240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8" name="Line 26"/>
              <p:cNvSpPr>
                <a:spLocks noChangeShapeType="1"/>
              </p:cNvSpPr>
              <p:nvPr/>
            </p:nvSpPr>
            <p:spPr bwMode="auto">
              <a:xfrm>
                <a:off x="2688" y="2864"/>
                <a:ext cx="240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9" name="Line 27"/>
              <p:cNvSpPr>
                <a:spLocks noChangeShapeType="1"/>
              </p:cNvSpPr>
              <p:nvPr/>
            </p:nvSpPr>
            <p:spPr bwMode="auto">
              <a:xfrm>
                <a:off x="2688" y="2448"/>
                <a:ext cx="0" cy="4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0" name="Line 28"/>
              <p:cNvSpPr>
                <a:spLocks noChangeShapeType="1"/>
              </p:cNvSpPr>
              <p:nvPr/>
            </p:nvSpPr>
            <p:spPr bwMode="auto">
              <a:xfrm>
                <a:off x="3360" y="24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1" name="Line 29"/>
              <p:cNvSpPr>
                <a:spLocks noChangeShapeType="1"/>
              </p:cNvSpPr>
              <p:nvPr/>
            </p:nvSpPr>
            <p:spPr bwMode="auto">
              <a:xfrm>
                <a:off x="3936" y="24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2" name="Line 30"/>
              <p:cNvSpPr>
                <a:spLocks noChangeShapeType="1"/>
              </p:cNvSpPr>
              <p:nvPr/>
            </p:nvSpPr>
            <p:spPr bwMode="auto">
              <a:xfrm>
                <a:off x="4608" y="24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3" name="Line 31"/>
              <p:cNvSpPr>
                <a:spLocks noChangeShapeType="1"/>
              </p:cNvSpPr>
              <p:nvPr/>
            </p:nvSpPr>
            <p:spPr bwMode="auto">
              <a:xfrm>
                <a:off x="5088" y="2448"/>
                <a:ext cx="0" cy="4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74" name="Text Box 32"/>
              <p:cNvSpPr txBox="1">
                <a:spLocks noChangeArrowheads="1"/>
              </p:cNvSpPr>
              <p:nvPr/>
            </p:nvSpPr>
            <p:spPr bwMode="auto">
              <a:xfrm>
                <a:off x="2575" y="2105"/>
                <a:ext cx="1129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dirty="0"/>
                  <a:t>Employee</a:t>
                </a:r>
              </a:p>
            </p:txBody>
          </p:sp>
        </p:grpSp>
        <p:grpSp>
          <p:nvGrpSpPr>
            <p:cNvPr id="52247" name="Group 33"/>
            <p:cNvGrpSpPr>
              <a:grpSpLocks/>
            </p:cNvGrpSpPr>
            <p:nvPr/>
          </p:nvGrpSpPr>
          <p:grpSpPr bwMode="auto">
            <a:xfrm>
              <a:off x="4800600" y="5791200"/>
              <a:ext cx="3994150" cy="660400"/>
              <a:chOff x="3024" y="3648"/>
              <a:chExt cx="2516" cy="416"/>
            </a:xfrm>
          </p:grpSpPr>
          <p:sp>
            <p:nvSpPr>
              <p:cNvPr id="52249" name="Rectangle 34"/>
              <p:cNvSpPr>
                <a:spLocks noChangeArrowheads="1"/>
              </p:cNvSpPr>
              <p:nvPr/>
            </p:nvSpPr>
            <p:spPr bwMode="auto">
              <a:xfrm>
                <a:off x="5232" y="3648"/>
                <a:ext cx="308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50" name="Rectangle 35"/>
              <p:cNvSpPr>
                <a:spLocks noChangeArrowheads="1"/>
              </p:cNvSpPr>
              <p:nvPr/>
            </p:nvSpPr>
            <p:spPr bwMode="auto">
              <a:xfrm>
                <a:off x="4848" y="3648"/>
                <a:ext cx="384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51" name="Rectangle 36"/>
              <p:cNvSpPr>
                <a:spLocks noChangeArrowheads="1"/>
              </p:cNvSpPr>
              <p:nvPr/>
            </p:nvSpPr>
            <p:spPr bwMode="auto">
              <a:xfrm>
                <a:off x="4416" y="3648"/>
                <a:ext cx="432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52" name="Rectangle 37"/>
              <p:cNvSpPr>
                <a:spLocks noChangeArrowheads="1"/>
              </p:cNvSpPr>
              <p:nvPr/>
            </p:nvSpPr>
            <p:spPr bwMode="auto">
              <a:xfrm>
                <a:off x="3936" y="3648"/>
                <a:ext cx="480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endParaRPr lang="en-US" sz="2400"/>
              </a:p>
            </p:txBody>
          </p:sp>
          <p:sp>
            <p:nvSpPr>
              <p:cNvPr id="52253" name="Rectangle 38"/>
              <p:cNvSpPr>
                <a:spLocks noChangeArrowheads="1"/>
              </p:cNvSpPr>
              <p:nvPr/>
            </p:nvSpPr>
            <p:spPr bwMode="auto">
              <a:xfrm>
                <a:off x="3024" y="3696"/>
                <a:ext cx="91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sz="2400" u="sng" dirty="0" err="1"/>
                  <a:t>dno</a:t>
                </a:r>
                <a:endParaRPr lang="en-US" sz="2400" u="sng" dirty="0"/>
              </a:p>
            </p:txBody>
          </p:sp>
          <p:sp>
            <p:nvSpPr>
              <p:cNvPr id="52254" name="Line 39"/>
              <p:cNvSpPr>
                <a:spLocks noChangeShapeType="1"/>
              </p:cNvSpPr>
              <p:nvPr/>
            </p:nvSpPr>
            <p:spPr bwMode="auto">
              <a:xfrm>
                <a:off x="3024" y="3648"/>
                <a:ext cx="25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55" name="Line 40"/>
              <p:cNvSpPr>
                <a:spLocks noChangeShapeType="1"/>
              </p:cNvSpPr>
              <p:nvPr/>
            </p:nvSpPr>
            <p:spPr bwMode="auto">
              <a:xfrm>
                <a:off x="3024" y="4064"/>
                <a:ext cx="251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56" name="Line 41"/>
              <p:cNvSpPr>
                <a:spLocks noChangeShapeType="1"/>
              </p:cNvSpPr>
              <p:nvPr/>
            </p:nvSpPr>
            <p:spPr bwMode="auto">
              <a:xfrm>
                <a:off x="3024" y="3648"/>
                <a:ext cx="0" cy="4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57" name="Line 42"/>
              <p:cNvSpPr>
                <a:spLocks noChangeShapeType="1"/>
              </p:cNvSpPr>
              <p:nvPr/>
            </p:nvSpPr>
            <p:spPr bwMode="auto">
              <a:xfrm>
                <a:off x="3936" y="36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59" name="Line 44"/>
              <p:cNvSpPr>
                <a:spLocks noChangeShapeType="1"/>
              </p:cNvSpPr>
              <p:nvPr/>
            </p:nvSpPr>
            <p:spPr bwMode="auto">
              <a:xfrm>
                <a:off x="4848" y="36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0" name="Line 45"/>
              <p:cNvSpPr>
                <a:spLocks noChangeShapeType="1"/>
              </p:cNvSpPr>
              <p:nvPr/>
            </p:nvSpPr>
            <p:spPr bwMode="auto">
              <a:xfrm>
                <a:off x="5232" y="3648"/>
                <a:ext cx="0" cy="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1" name="Line 46"/>
              <p:cNvSpPr>
                <a:spLocks noChangeShapeType="1"/>
              </p:cNvSpPr>
              <p:nvPr/>
            </p:nvSpPr>
            <p:spPr bwMode="auto">
              <a:xfrm>
                <a:off x="5540" y="3648"/>
                <a:ext cx="0" cy="4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2248" name="Text Box 14"/>
            <p:cNvSpPr txBox="1">
              <a:spLocks noChangeArrowheads="1"/>
            </p:cNvSpPr>
            <p:nvPr/>
          </p:nvSpPr>
          <p:spPr bwMode="auto">
            <a:xfrm>
              <a:off x="6189951" y="5875953"/>
              <a:ext cx="1524418" cy="545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dirty="0" err="1">
                  <a:latin typeface="Times New Roman" panose="02020603050405020304" pitchFamily="18" charset="0"/>
                </a:rPr>
                <a:t>mgreno</a:t>
              </a:r>
              <a:endParaRPr 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2233" name="Line 50"/>
          <p:cNvSpPr>
            <a:spLocks noChangeShapeType="1"/>
          </p:cNvSpPr>
          <p:nvPr/>
        </p:nvSpPr>
        <p:spPr bwMode="auto">
          <a:xfrm>
            <a:off x="1966273" y="4518892"/>
            <a:ext cx="321494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4" name="Group 52"/>
          <p:cNvGrpSpPr>
            <a:grpSpLocks/>
          </p:cNvGrpSpPr>
          <p:nvPr/>
        </p:nvGrpSpPr>
        <p:grpSpPr bwMode="auto">
          <a:xfrm>
            <a:off x="260233" y="4216473"/>
            <a:ext cx="5281612" cy="1565275"/>
            <a:chOff x="81" y="3021"/>
            <a:chExt cx="3327" cy="986"/>
          </a:xfrm>
        </p:grpSpPr>
        <p:sp>
          <p:nvSpPr>
            <p:cNvPr id="52235" name="Text Box 6"/>
            <p:cNvSpPr txBox="1">
              <a:spLocks noChangeArrowheads="1"/>
            </p:cNvSpPr>
            <p:nvPr/>
          </p:nvSpPr>
          <p:spPr bwMode="auto">
            <a:xfrm>
              <a:off x="81" y="3021"/>
              <a:ext cx="1063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dirty="0">
                  <a:latin typeface="Times New Roman" panose="02020603050405020304" pitchFamily="18" charset="0"/>
                </a:rPr>
                <a:t>Employee</a:t>
              </a:r>
            </a:p>
          </p:txBody>
        </p:sp>
        <p:sp>
          <p:nvSpPr>
            <p:cNvPr id="52236" name="AutoShape 7"/>
            <p:cNvSpPr>
              <a:spLocks noChangeArrowheads="1"/>
            </p:cNvSpPr>
            <p:nvPr/>
          </p:nvSpPr>
          <p:spPr bwMode="auto">
            <a:xfrm>
              <a:off x="1335" y="3024"/>
              <a:ext cx="864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37" name="Text Box 8"/>
            <p:cNvSpPr txBox="1">
              <a:spLocks noChangeArrowheads="1"/>
            </p:cNvSpPr>
            <p:nvPr/>
          </p:nvSpPr>
          <p:spPr bwMode="auto">
            <a:xfrm>
              <a:off x="2688" y="3120"/>
              <a:ext cx="72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dirty="0">
                  <a:latin typeface="Times New Roman" panose="02020603050405020304" pitchFamily="18" charset="0"/>
                </a:rPr>
                <a:t>Dept</a:t>
              </a:r>
            </a:p>
          </p:txBody>
        </p:sp>
        <p:sp>
          <p:nvSpPr>
            <p:cNvPr id="52238" name="Text Box 9"/>
            <p:cNvSpPr txBox="1">
              <a:spLocks noChangeArrowheads="1"/>
            </p:cNvSpPr>
            <p:nvPr/>
          </p:nvSpPr>
          <p:spPr bwMode="auto">
            <a:xfrm>
              <a:off x="1455" y="3053"/>
              <a:ext cx="7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dirty="0">
                  <a:latin typeface="Times New Roman" panose="02020603050405020304" pitchFamily="18" charset="0"/>
                </a:rPr>
                <a:t>manage</a:t>
              </a:r>
              <a:endParaRPr 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39" name="Oval 15"/>
            <p:cNvSpPr>
              <a:spLocks noChangeArrowheads="1"/>
            </p:cNvSpPr>
            <p:nvPr/>
          </p:nvSpPr>
          <p:spPr bwMode="auto">
            <a:xfrm>
              <a:off x="144" y="3567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40" name="Line 16"/>
            <p:cNvSpPr>
              <a:spLocks noChangeShapeType="1"/>
            </p:cNvSpPr>
            <p:nvPr/>
          </p:nvSpPr>
          <p:spPr bwMode="auto">
            <a:xfrm flipH="1">
              <a:off x="432" y="3312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1" name="Oval 18"/>
            <p:cNvSpPr>
              <a:spLocks noChangeArrowheads="1"/>
            </p:cNvSpPr>
            <p:nvPr/>
          </p:nvSpPr>
          <p:spPr bwMode="auto">
            <a:xfrm>
              <a:off x="2544" y="3696"/>
              <a:ext cx="672" cy="3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2242" name="Line 19"/>
            <p:cNvSpPr>
              <a:spLocks noChangeShapeType="1"/>
            </p:cNvSpPr>
            <p:nvPr/>
          </p:nvSpPr>
          <p:spPr bwMode="auto">
            <a:xfrm flipH="1" flipV="1">
              <a:off x="2880" y="34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2243" name="Straight Arrow Connector 56"/>
            <p:cNvCxnSpPr>
              <a:cxnSpLocks noChangeShapeType="1"/>
            </p:cNvCxnSpPr>
            <p:nvPr/>
          </p:nvCxnSpPr>
          <p:spPr bwMode="auto">
            <a:xfrm flipH="1" flipV="1">
              <a:off x="2199" y="3198"/>
              <a:ext cx="498" cy="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4" name="Line 51"/>
            <p:cNvSpPr>
              <a:spLocks noChangeShapeType="1"/>
            </p:cNvSpPr>
            <p:nvPr/>
          </p:nvSpPr>
          <p:spPr bwMode="auto">
            <a:xfrm>
              <a:off x="2160" y="324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 Box 32">
            <a:extLst>
              <a:ext uri="{FF2B5EF4-FFF2-40B4-BE49-F238E27FC236}">
                <a16:creationId xmlns:a16="http://schemas.microsoft.com/office/drawing/2014/main" id="{342A3403-8021-DAA2-9A3E-D4C53A08A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584" y="4903949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Dept</a:t>
            </a:r>
          </a:p>
        </p:txBody>
      </p:sp>
    </p:spTree>
    <p:extLst>
      <p:ext uri="{BB962C8B-B14F-4D97-AF65-F5344CB8AC3E}">
        <p14:creationId xmlns:p14="http://schemas.microsoft.com/office/powerpoint/2010/main" val="15649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80" y="526727"/>
            <a:ext cx="6135020" cy="1293028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Corbel" pitchFamily="34" charset="0"/>
              </a:rPr>
              <a:t>Mapping:1:1 with total participation </a:t>
            </a:r>
            <a:br>
              <a:rPr lang="en-US" dirty="0"/>
            </a:br>
            <a:endParaRPr lang="en-US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193925"/>
            <a:ext cx="7956550" cy="407035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53252" name="Text Box 6"/>
          <p:cNvSpPr txBox="1">
            <a:spLocks noChangeArrowheads="1"/>
          </p:cNvSpPr>
          <p:nvPr/>
        </p:nvSpPr>
        <p:spPr bwMode="auto">
          <a:xfrm>
            <a:off x="351310" y="4242737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400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3253" name="AutoShape 7"/>
          <p:cNvSpPr>
            <a:spLocks noChangeArrowheads="1"/>
          </p:cNvSpPr>
          <p:nvPr/>
        </p:nvSpPr>
        <p:spPr bwMode="auto">
          <a:xfrm>
            <a:off x="2294786" y="4056941"/>
            <a:ext cx="1355725" cy="835025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3254" name="Text Box 8"/>
          <p:cNvSpPr txBox="1">
            <a:spLocks noChangeArrowheads="1"/>
          </p:cNvSpPr>
          <p:nvPr/>
        </p:nvSpPr>
        <p:spPr bwMode="auto">
          <a:xfrm>
            <a:off x="4484482" y="4230688"/>
            <a:ext cx="914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55" name="Text Box 9"/>
          <p:cNvSpPr txBox="1">
            <a:spLocks noChangeArrowheads="1"/>
          </p:cNvSpPr>
          <p:nvPr/>
        </p:nvSpPr>
        <p:spPr bwMode="auto">
          <a:xfrm>
            <a:off x="2651078" y="42291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anose="02020603050405020304" pitchFamily="18" charset="0"/>
              </a:rPr>
              <a:t>has</a:t>
            </a:r>
          </a:p>
        </p:txBody>
      </p:sp>
      <p:graphicFrame>
        <p:nvGraphicFramePr>
          <p:cNvPr id="56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85048"/>
              </p:ext>
            </p:extLst>
          </p:nvPr>
        </p:nvGraphicFramePr>
        <p:xfrm>
          <a:off x="6909176" y="4235182"/>
          <a:ext cx="2000250" cy="487532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981" name="TextBox 56"/>
          <p:cNvSpPr txBox="1">
            <a:spLocks noChangeArrowheads="1"/>
          </p:cNvSpPr>
          <p:nvPr/>
        </p:nvSpPr>
        <p:spPr bwMode="auto">
          <a:xfrm>
            <a:off x="6378764" y="4252643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AB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351310" y="1997903"/>
            <a:ext cx="8363271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800" b="0" dirty="0">
                <a:latin typeface="Corbel" pitchFamily="34" charset="0"/>
              </a:rPr>
              <a:t>If there is a 1:1 relationship R from entity A to B and if </a:t>
            </a:r>
            <a:r>
              <a:rPr lang="en-US" sz="2800" b="0" dirty="0">
                <a:solidFill>
                  <a:srgbClr val="FF0000"/>
                </a:solidFill>
                <a:latin typeface="Corbel" pitchFamily="34" charset="0"/>
              </a:rPr>
              <a:t>A and B are both in total participation</a:t>
            </a:r>
            <a:r>
              <a:rPr lang="en-US" sz="2800" b="0" dirty="0">
                <a:latin typeface="Corbel" pitchFamily="34" charset="0"/>
              </a:rPr>
              <a:t> with R then A &amp; B can be </a:t>
            </a:r>
            <a:r>
              <a:rPr lang="en-US" sz="2800" b="0" dirty="0">
                <a:solidFill>
                  <a:srgbClr val="FF0000"/>
                </a:solidFill>
                <a:latin typeface="Corbel" pitchFamily="34" charset="0"/>
              </a:rPr>
              <a:t>collapsed as 1 table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/>
            </a:pPr>
            <a:endParaRPr lang="en-US" sz="3000" b="0" dirty="0">
              <a:latin typeface="Verdana" panose="020B0604030504040204" pitchFamily="34" charset="0"/>
            </a:endParaRPr>
          </a:p>
        </p:txBody>
      </p:sp>
      <p:grpSp>
        <p:nvGrpSpPr>
          <p:cNvPr id="53273" name="Group 31"/>
          <p:cNvGrpSpPr>
            <a:grpSpLocks/>
          </p:cNvGrpSpPr>
          <p:nvPr/>
        </p:nvGrpSpPr>
        <p:grpSpPr bwMode="auto">
          <a:xfrm rot="276639">
            <a:off x="1346307" y="4401486"/>
            <a:ext cx="989012" cy="149225"/>
            <a:chOff x="480" y="3428"/>
            <a:chExt cx="776" cy="56"/>
          </a:xfrm>
        </p:grpSpPr>
        <p:cxnSp>
          <p:nvCxnSpPr>
            <p:cNvPr id="53278" name="Straight Arrow Connector 54"/>
            <p:cNvCxnSpPr>
              <a:cxnSpLocks noChangeShapeType="1"/>
            </p:cNvCxnSpPr>
            <p:nvPr/>
          </p:nvCxnSpPr>
          <p:spPr bwMode="auto">
            <a:xfrm flipV="1">
              <a:off x="485" y="3427"/>
              <a:ext cx="761" cy="2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9" name="Straight Arrow Connector 54"/>
            <p:cNvCxnSpPr>
              <a:cxnSpLocks noChangeShapeType="1"/>
            </p:cNvCxnSpPr>
            <p:nvPr/>
          </p:nvCxnSpPr>
          <p:spPr bwMode="auto">
            <a:xfrm flipV="1">
              <a:off x="480" y="3456"/>
              <a:ext cx="761" cy="2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3274" name="Group 32"/>
          <p:cNvGrpSpPr>
            <a:grpSpLocks/>
          </p:cNvGrpSpPr>
          <p:nvPr/>
        </p:nvGrpSpPr>
        <p:grpSpPr bwMode="auto">
          <a:xfrm rot="276639">
            <a:off x="3585106" y="4409102"/>
            <a:ext cx="927100" cy="152400"/>
            <a:chOff x="480" y="3428"/>
            <a:chExt cx="776" cy="56"/>
          </a:xfrm>
        </p:grpSpPr>
        <p:cxnSp>
          <p:nvCxnSpPr>
            <p:cNvPr id="53276" name="Straight Arrow Connector 54"/>
            <p:cNvCxnSpPr>
              <a:cxnSpLocks noChangeShapeType="1"/>
            </p:cNvCxnSpPr>
            <p:nvPr/>
          </p:nvCxnSpPr>
          <p:spPr bwMode="auto">
            <a:xfrm flipV="1">
              <a:off x="485" y="3426"/>
              <a:ext cx="760" cy="2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7" name="Straight Arrow Connector 54"/>
            <p:cNvCxnSpPr>
              <a:cxnSpLocks noChangeShapeType="1"/>
            </p:cNvCxnSpPr>
            <p:nvPr/>
          </p:nvCxnSpPr>
          <p:spPr bwMode="auto">
            <a:xfrm flipV="1">
              <a:off x="480" y="3456"/>
              <a:ext cx="761" cy="2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866" name="Rectangle 2"/>
          <p:cNvSpPr>
            <a:spLocks noChangeArrowheads="1"/>
          </p:cNvSpPr>
          <p:nvPr/>
        </p:nvSpPr>
        <p:spPr bwMode="auto">
          <a:xfrm>
            <a:off x="323529" y="-97838"/>
            <a:ext cx="8418834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3600" b="0" dirty="0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EFF3BFF-7CAB-9970-9F1B-EBCB7E6A3391}"/>
              </a:ext>
            </a:extLst>
          </p:cNvPr>
          <p:cNvCxnSpPr>
            <a:cxnSpLocks/>
          </p:cNvCxnSpPr>
          <p:nvPr/>
        </p:nvCxnSpPr>
        <p:spPr>
          <a:xfrm>
            <a:off x="5574949" y="4464051"/>
            <a:ext cx="697118" cy="104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64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 autoUpdateAnimBg="0"/>
      <p:bldP spid="40981" grpId="0"/>
      <p:bldP spid="123907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56890"/>
            <a:ext cx="5867400" cy="129302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Mapping :1:N Conversion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114744" y="1752600"/>
            <a:ext cx="8724456" cy="482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accent2"/>
              </a:buClr>
            </a:pPr>
            <a:r>
              <a:rPr lang="en-US" sz="2400" b="0" dirty="0">
                <a:latin typeface="Corbel" pitchFamily="34" charset="0"/>
              </a:rPr>
              <a:t>1:N relationships, post the identifier (Primary Key) from the ‘one’ side as an attribute into the ‘many’ side.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14744" y="2873375"/>
            <a:ext cx="3664694" cy="3886200"/>
            <a:chOff x="-403" y="1776"/>
            <a:chExt cx="2782" cy="2448"/>
          </a:xfrm>
        </p:grpSpPr>
        <p:grpSp>
          <p:nvGrpSpPr>
            <p:cNvPr id="55306" name="Group 14"/>
            <p:cNvGrpSpPr>
              <a:grpSpLocks/>
            </p:cNvGrpSpPr>
            <p:nvPr/>
          </p:nvGrpSpPr>
          <p:grpSpPr bwMode="auto">
            <a:xfrm>
              <a:off x="-72" y="2160"/>
              <a:ext cx="1680" cy="1680"/>
              <a:chOff x="-72" y="2160"/>
              <a:chExt cx="1680" cy="1680"/>
            </a:xfrm>
          </p:grpSpPr>
          <p:sp>
            <p:nvSpPr>
              <p:cNvPr id="55327" name="Rectangle 8"/>
              <p:cNvSpPr>
                <a:spLocks noChangeArrowheads="1"/>
              </p:cNvSpPr>
              <p:nvPr/>
            </p:nvSpPr>
            <p:spPr bwMode="auto">
              <a:xfrm>
                <a:off x="432" y="2160"/>
                <a:ext cx="81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/>
                  <a:t>Course</a:t>
                </a:r>
              </a:p>
            </p:txBody>
          </p:sp>
          <p:sp>
            <p:nvSpPr>
              <p:cNvPr id="55328" name="Rectangle 9"/>
              <p:cNvSpPr>
                <a:spLocks noChangeArrowheads="1"/>
              </p:cNvSpPr>
              <p:nvPr/>
            </p:nvSpPr>
            <p:spPr bwMode="auto">
              <a:xfrm>
                <a:off x="384" y="3600"/>
                <a:ext cx="81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/>
                  <a:t>Student</a:t>
                </a:r>
              </a:p>
            </p:txBody>
          </p:sp>
          <p:sp>
            <p:nvSpPr>
              <p:cNvPr id="55329" name="AutoShape 11"/>
              <p:cNvSpPr>
                <a:spLocks noChangeArrowheads="1"/>
              </p:cNvSpPr>
              <p:nvPr/>
            </p:nvSpPr>
            <p:spPr bwMode="auto">
              <a:xfrm>
                <a:off x="-72" y="2840"/>
                <a:ext cx="1680" cy="432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b="0" dirty="0"/>
                  <a:t>Is registered</a:t>
                </a:r>
              </a:p>
            </p:txBody>
          </p:sp>
          <p:sp>
            <p:nvSpPr>
              <p:cNvPr id="55330" name="Line 12"/>
              <p:cNvSpPr>
                <a:spLocks noChangeShapeType="1"/>
              </p:cNvSpPr>
              <p:nvPr/>
            </p:nvSpPr>
            <p:spPr bwMode="auto">
              <a:xfrm>
                <a:off x="768" y="240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1" name="Line 13"/>
              <p:cNvSpPr>
                <a:spLocks noChangeShapeType="1"/>
              </p:cNvSpPr>
              <p:nvPr/>
            </p:nvSpPr>
            <p:spPr bwMode="auto">
              <a:xfrm>
                <a:off x="768" y="3280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307" name="Oval 15"/>
            <p:cNvSpPr>
              <a:spLocks noChangeArrowheads="1"/>
            </p:cNvSpPr>
            <p:nvPr/>
          </p:nvSpPr>
          <p:spPr bwMode="auto">
            <a:xfrm>
              <a:off x="-403" y="2454"/>
              <a:ext cx="720" cy="19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TEL</a:t>
              </a:r>
            </a:p>
          </p:txBody>
        </p:sp>
        <p:sp>
          <p:nvSpPr>
            <p:cNvPr id="55308" name="Oval 16"/>
            <p:cNvSpPr>
              <a:spLocks noChangeArrowheads="1"/>
            </p:cNvSpPr>
            <p:nvPr/>
          </p:nvSpPr>
          <p:spPr bwMode="auto">
            <a:xfrm>
              <a:off x="864" y="2544"/>
              <a:ext cx="98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 dirty="0"/>
                <a:t>DIRECTOR</a:t>
              </a:r>
            </a:p>
          </p:txBody>
        </p:sp>
        <p:sp>
          <p:nvSpPr>
            <p:cNvPr id="55309" name="Oval 17"/>
            <p:cNvSpPr>
              <a:spLocks noChangeArrowheads="1"/>
            </p:cNvSpPr>
            <p:nvPr/>
          </p:nvSpPr>
          <p:spPr bwMode="auto">
            <a:xfrm>
              <a:off x="-243" y="1855"/>
              <a:ext cx="57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 dirty="0"/>
                <a:t>C-MAX</a:t>
              </a:r>
            </a:p>
          </p:txBody>
        </p:sp>
        <p:sp>
          <p:nvSpPr>
            <p:cNvPr id="55310" name="Oval 18"/>
            <p:cNvSpPr>
              <a:spLocks noChangeArrowheads="1"/>
            </p:cNvSpPr>
            <p:nvPr/>
          </p:nvSpPr>
          <p:spPr bwMode="auto">
            <a:xfrm>
              <a:off x="1707" y="3720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S-DOB</a:t>
              </a:r>
            </a:p>
          </p:txBody>
        </p:sp>
        <p:sp>
          <p:nvSpPr>
            <p:cNvPr id="55311" name="Oval 19"/>
            <p:cNvSpPr>
              <a:spLocks noChangeArrowheads="1"/>
            </p:cNvSpPr>
            <p:nvPr/>
          </p:nvSpPr>
          <p:spPr bwMode="auto">
            <a:xfrm>
              <a:off x="1433" y="1864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 dirty="0"/>
                <a:t>C-NAME</a:t>
              </a:r>
            </a:p>
          </p:txBody>
        </p:sp>
        <p:sp>
          <p:nvSpPr>
            <p:cNvPr id="55312" name="Line 20"/>
            <p:cNvSpPr>
              <a:spLocks noChangeShapeType="1"/>
            </p:cNvSpPr>
            <p:nvPr/>
          </p:nvSpPr>
          <p:spPr bwMode="auto">
            <a:xfrm>
              <a:off x="317" y="2024"/>
              <a:ext cx="307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3" name="Line 21"/>
            <p:cNvSpPr>
              <a:spLocks noChangeShapeType="1"/>
            </p:cNvSpPr>
            <p:nvPr/>
          </p:nvSpPr>
          <p:spPr bwMode="auto">
            <a:xfrm flipV="1">
              <a:off x="0" y="2310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Line 22"/>
            <p:cNvSpPr>
              <a:spLocks noChangeShapeType="1"/>
            </p:cNvSpPr>
            <p:nvPr/>
          </p:nvSpPr>
          <p:spPr bwMode="auto">
            <a:xfrm flipH="1" flipV="1">
              <a:off x="1152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5" name="Line 23"/>
            <p:cNvSpPr>
              <a:spLocks noChangeShapeType="1"/>
            </p:cNvSpPr>
            <p:nvPr/>
          </p:nvSpPr>
          <p:spPr bwMode="auto">
            <a:xfrm flipH="1">
              <a:off x="1248" y="2295"/>
              <a:ext cx="336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24"/>
            <p:cNvSpPr>
              <a:spLocks noChangeShapeType="1"/>
            </p:cNvSpPr>
            <p:nvPr/>
          </p:nvSpPr>
          <p:spPr bwMode="auto">
            <a:xfrm flipH="1">
              <a:off x="1248" y="2072"/>
              <a:ext cx="26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Oval 26"/>
            <p:cNvSpPr>
              <a:spLocks noChangeArrowheads="1"/>
            </p:cNvSpPr>
            <p:nvPr/>
          </p:nvSpPr>
          <p:spPr bwMode="auto">
            <a:xfrm>
              <a:off x="1440" y="3312"/>
              <a:ext cx="8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S-DEGREE</a:t>
              </a:r>
            </a:p>
          </p:txBody>
        </p:sp>
        <p:sp>
          <p:nvSpPr>
            <p:cNvPr id="55318" name="Oval 27"/>
            <p:cNvSpPr>
              <a:spLocks noChangeArrowheads="1"/>
            </p:cNvSpPr>
            <p:nvPr/>
          </p:nvSpPr>
          <p:spPr bwMode="auto">
            <a:xfrm>
              <a:off x="912" y="3936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S-NAME</a:t>
              </a:r>
            </a:p>
          </p:txBody>
        </p:sp>
        <p:sp>
          <p:nvSpPr>
            <p:cNvPr id="55319" name="Oval 28"/>
            <p:cNvSpPr>
              <a:spLocks noChangeArrowheads="1"/>
            </p:cNvSpPr>
            <p:nvPr/>
          </p:nvSpPr>
          <p:spPr bwMode="auto">
            <a:xfrm>
              <a:off x="96" y="3984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S-ID</a:t>
              </a:r>
            </a:p>
          </p:txBody>
        </p:sp>
        <p:sp>
          <p:nvSpPr>
            <p:cNvPr id="55320" name="Line 29"/>
            <p:cNvSpPr>
              <a:spLocks noChangeShapeType="1"/>
            </p:cNvSpPr>
            <p:nvPr/>
          </p:nvSpPr>
          <p:spPr bwMode="auto">
            <a:xfrm flipV="1">
              <a:off x="384" y="3840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30"/>
            <p:cNvSpPr>
              <a:spLocks noChangeShapeType="1"/>
            </p:cNvSpPr>
            <p:nvPr/>
          </p:nvSpPr>
          <p:spPr bwMode="auto">
            <a:xfrm flipH="1" flipV="1">
              <a:off x="1200" y="3840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31"/>
            <p:cNvSpPr>
              <a:spLocks noChangeShapeType="1"/>
            </p:cNvSpPr>
            <p:nvPr/>
          </p:nvSpPr>
          <p:spPr bwMode="auto">
            <a:xfrm flipH="1" flipV="1">
              <a:off x="1200" y="3744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32"/>
            <p:cNvSpPr>
              <a:spLocks noChangeShapeType="1"/>
            </p:cNvSpPr>
            <p:nvPr/>
          </p:nvSpPr>
          <p:spPr bwMode="auto">
            <a:xfrm flipH="1">
              <a:off x="1200" y="345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Oval 50"/>
            <p:cNvSpPr>
              <a:spLocks noChangeArrowheads="1"/>
            </p:cNvSpPr>
            <p:nvPr/>
          </p:nvSpPr>
          <p:spPr bwMode="auto">
            <a:xfrm>
              <a:off x="1594" y="2214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C-ID</a:t>
              </a:r>
            </a:p>
          </p:txBody>
        </p:sp>
        <p:sp>
          <p:nvSpPr>
            <p:cNvPr id="55325" name="Oval 51"/>
            <p:cNvSpPr>
              <a:spLocks noChangeArrowheads="1"/>
            </p:cNvSpPr>
            <p:nvPr/>
          </p:nvSpPr>
          <p:spPr bwMode="auto">
            <a:xfrm>
              <a:off x="624" y="1776"/>
              <a:ext cx="67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 b="0"/>
                <a:t>C-TYPE</a:t>
              </a:r>
            </a:p>
          </p:txBody>
        </p:sp>
        <p:sp>
          <p:nvSpPr>
            <p:cNvPr id="55326" name="Line 52"/>
            <p:cNvSpPr>
              <a:spLocks noChangeShapeType="1"/>
            </p:cNvSpPr>
            <p:nvPr/>
          </p:nvSpPr>
          <p:spPr bwMode="auto">
            <a:xfrm>
              <a:off x="960" y="201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3062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3024188"/>
            <a:ext cx="4776787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63" name="Text Box 55"/>
          <p:cNvSpPr txBox="1">
            <a:spLocks noChangeArrowheads="1"/>
          </p:cNvSpPr>
          <p:nvPr/>
        </p:nvSpPr>
        <p:spPr bwMode="auto">
          <a:xfrm>
            <a:off x="1331376" y="5322225"/>
            <a:ext cx="349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dirty="0"/>
              <a:t>N</a:t>
            </a:r>
          </a:p>
        </p:txBody>
      </p:sp>
      <p:sp>
        <p:nvSpPr>
          <p:cNvPr id="43064" name="Line 56"/>
          <p:cNvSpPr>
            <a:spLocks noChangeShapeType="1"/>
          </p:cNvSpPr>
          <p:nvPr/>
        </p:nvSpPr>
        <p:spPr bwMode="auto">
          <a:xfrm flipH="1" flipV="1">
            <a:off x="4191000" y="4114800"/>
            <a:ext cx="40386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65" name="Text Box 57"/>
          <p:cNvSpPr txBox="1">
            <a:spLocks noChangeArrowheads="1"/>
          </p:cNvSpPr>
          <p:nvPr/>
        </p:nvSpPr>
        <p:spPr bwMode="auto">
          <a:xfrm>
            <a:off x="8229600" y="4419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FK</a:t>
            </a:r>
          </a:p>
        </p:txBody>
      </p:sp>
      <p:sp>
        <p:nvSpPr>
          <p:cNvPr id="4" name="Text Box 55">
            <a:extLst>
              <a:ext uri="{FF2B5EF4-FFF2-40B4-BE49-F238E27FC236}">
                <a16:creationId xmlns:a16="http://schemas.microsoft.com/office/drawing/2014/main" id="{9ABDD0E7-DEB3-6766-7279-94104AB6A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788" y="4053386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8519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4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4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  <p:bldP spid="43063" grpId="0"/>
      <p:bldP spid="43064" grpId="0" animBg="1"/>
      <p:bldP spid="43065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0" descr="lec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9837"/>
            <a:ext cx="8754204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38276" y="514624"/>
            <a:ext cx="6033924" cy="129302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Mapping : M:N Conversion</a:t>
            </a:r>
          </a:p>
        </p:txBody>
      </p:sp>
      <p:sp>
        <p:nvSpPr>
          <p:cNvPr id="369671" name="AutoShape 7"/>
          <p:cNvSpPr>
            <a:spLocks noChangeArrowheads="1"/>
          </p:cNvSpPr>
          <p:nvPr/>
        </p:nvSpPr>
        <p:spPr bwMode="auto">
          <a:xfrm>
            <a:off x="1219200" y="2514600"/>
            <a:ext cx="3048000" cy="914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0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FF6600"/>
          </a:solidFill>
          <a:ln w="349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9672" name="Line 8"/>
          <p:cNvSpPr>
            <a:spLocks noChangeShapeType="1"/>
          </p:cNvSpPr>
          <p:nvPr/>
        </p:nvSpPr>
        <p:spPr bwMode="auto">
          <a:xfrm flipH="1">
            <a:off x="1524000" y="3733800"/>
            <a:ext cx="3733800" cy="914400"/>
          </a:xfrm>
          <a:prstGeom prst="line">
            <a:avLst/>
          </a:prstGeom>
          <a:noFill/>
          <a:ln w="317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73" name="Text Box 9"/>
          <p:cNvSpPr txBox="1">
            <a:spLocks noChangeArrowheads="1"/>
          </p:cNvSpPr>
          <p:nvPr/>
        </p:nvSpPr>
        <p:spPr bwMode="auto">
          <a:xfrm>
            <a:off x="5105400" y="3886200"/>
            <a:ext cx="523875" cy="396875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FK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4038600" y="2438400"/>
            <a:ext cx="523875" cy="396875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FK</a:t>
            </a: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962400" y="2667000"/>
            <a:ext cx="1676400" cy="762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6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40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1" grpId="0" animBg="1"/>
      <p:bldP spid="369672" grpId="0" animBg="1"/>
      <p:bldP spid="369673" grpId="0" animBg="1"/>
      <p:bldP spid="369674" grpId="0" animBg="1"/>
      <p:bldP spid="4404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6244" y="823913"/>
            <a:ext cx="7193756" cy="708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Corbel" pitchFamily="34" charset="0"/>
              </a:rPr>
              <a:t>Mapping </a:t>
            </a:r>
            <a:r>
              <a:rPr lang="en-US" dirty="0">
                <a:latin typeface="Corbel" pitchFamily="34" charset="0"/>
              </a:rPr>
              <a:t>: </a:t>
            </a:r>
            <a:r>
              <a:rPr lang="en-US" sz="4400" dirty="0">
                <a:latin typeface="Corbel" pitchFamily="34" charset="0"/>
              </a:rPr>
              <a:t>N-array Relationships</a:t>
            </a:r>
            <a:br>
              <a:rPr lang="en-US" dirty="0"/>
            </a:br>
            <a:endParaRPr lang="en-US" dirty="0"/>
          </a:p>
        </p:txBody>
      </p:sp>
      <p:sp>
        <p:nvSpPr>
          <p:cNvPr id="59395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914400" y="1828801"/>
            <a:ext cx="7803355" cy="4281487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>
                <a:latin typeface="Corbel" pitchFamily="34" charset="0"/>
              </a:rPr>
              <a:t>ER Model				Relational Model</a:t>
            </a:r>
          </a:p>
          <a:p>
            <a:pPr lvl="1" eaLnBrk="1" hangingPunct="1"/>
            <a:r>
              <a:rPr lang="en-US" sz="2400" dirty="0">
                <a:latin typeface="Corbel" pitchFamily="34" charset="0"/>
              </a:rPr>
              <a:t>N-</a:t>
            </a:r>
            <a:r>
              <a:rPr lang="en-US" sz="2400" dirty="0" err="1">
                <a:latin typeface="Corbel" pitchFamily="34" charset="0"/>
              </a:rPr>
              <a:t>arry</a:t>
            </a:r>
            <a:r>
              <a:rPr lang="en-US" sz="2400" dirty="0">
                <a:latin typeface="Corbel" pitchFamily="34" charset="0"/>
              </a:rPr>
              <a:t> relationship		“Relationship” 	relation and n 						foreign keys</a:t>
            </a:r>
          </a:p>
          <a:p>
            <a:pPr lvl="1" eaLnBrk="1" hangingPunct="1"/>
            <a:endParaRPr lang="en-US" sz="2200" dirty="0"/>
          </a:p>
        </p:txBody>
      </p:sp>
      <p:sp>
        <p:nvSpPr>
          <p:cNvPr id="59445" name="Text Box 14"/>
          <p:cNvSpPr txBox="1">
            <a:spLocks noChangeArrowheads="1"/>
          </p:cNvSpPr>
          <p:nvPr/>
        </p:nvSpPr>
        <p:spPr bwMode="auto">
          <a:xfrm>
            <a:off x="6324600" y="2362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63542" name="Rectangle 15"/>
          <p:cNvSpPr>
            <a:spLocks noChangeArrowheads="1"/>
          </p:cNvSpPr>
          <p:nvPr/>
        </p:nvSpPr>
        <p:spPr bwMode="auto">
          <a:xfrm>
            <a:off x="945356" y="1254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4000" b="0" dirty="0">
              <a:latin typeface="+mj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47700" y="3163188"/>
            <a:ext cx="7848600" cy="2957512"/>
            <a:chOff x="457200" y="3656013"/>
            <a:chExt cx="7848600" cy="2957512"/>
          </a:xfrm>
        </p:grpSpPr>
        <p:sp>
          <p:nvSpPr>
            <p:cNvPr id="59396" name="Rectangle 17"/>
            <p:cNvSpPr>
              <a:spLocks noChangeArrowheads="1"/>
            </p:cNvSpPr>
            <p:nvPr/>
          </p:nvSpPr>
          <p:spPr bwMode="auto">
            <a:xfrm>
              <a:off x="4329113" y="6096000"/>
              <a:ext cx="1004887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C</a:t>
              </a:r>
            </a:p>
          </p:txBody>
        </p:sp>
        <p:sp>
          <p:nvSpPr>
            <p:cNvPr id="59397" name="Rectangle 18"/>
            <p:cNvSpPr>
              <a:spLocks noChangeArrowheads="1"/>
            </p:cNvSpPr>
            <p:nvPr/>
          </p:nvSpPr>
          <p:spPr bwMode="auto">
            <a:xfrm>
              <a:off x="3886200" y="6096000"/>
              <a:ext cx="442913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/>
            </a:p>
          </p:txBody>
        </p:sp>
        <p:sp>
          <p:nvSpPr>
            <p:cNvPr id="59398" name="Line 19"/>
            <p:cNvSpPr>
              <a:spLocks noChangeShapeType="1"/>
            </p:cNvSpPr>
            <p:nvPr/>
          </p:nvSpPr>
          <p:spPr bwMode="auto">
            <a:xfrm>
              <a:off x="3895939" y="6057900"/>
              <a:ext cx="14478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99" name="Line 20"/>
            <p:cNvSpPr>
              <a:spLocks noChangeShapeType="1"/>
            </p:cNvSpPr>
            <p:nvPr/>
          </p:nvSpPr>
          <p:spPr bwMode="auto">
            <a:xfrm>
              <a:off x="3886200" y="6613525"/>
              <a:ext cx="14478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0" name="Line 21"/>
            <p:cNvSpPr>
              <a:spLocks noChangeShapeType="1"/>
            </p:cNvSpPr>
            <p:nvPr/>
          </p:nvSpPr>
          <p:spPr bwMode="auto">
            <a:xfrm>
              <a:off x="3886200" y="60960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1" name="Line 22"/>
            <p:cNvSpPr>
              <a:spLocks noChangeShapeType="1"/>
            </p:cNvSpPr>
            <p:nvPr/>
          </p:nvSpPr>
          <p:spPr bwMode="auto">
            <a:xfrm>
              <a:off x="4329113" y="60960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2" name="Line 23"/>
            <p:cNvSpPr>
              <a:spLocks noChangeShapeType="1"/>
            </p:cNvSpPr>
            <p:nvPr/>
          </p:nvSpPr>
          <p:spPr bwMode="auto">
            <a:xfrm>
              <a:off x="5334000" y="60960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3" name="Rectangle 24"/>
            <p:cNvSpPr>
              <a:spLocks noChangeArrowheads="1"/>
            </p:cNvSpPr>
            <p:nvPr/>
          </p:nvSpPr>
          <p:spPr bwMode="auto">
            <a:xfrm>
              <a:off x="4281488" y="4114800"/>
              <a:ext cx="900112" cy="584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 dirty="0" err="1"/>
                <a:t>pk</a:t>
              </a:r>
              <a:r>
                <a:rPr lang="en-US" sz="2400" b="0" u="sng" baseline="-25000" dirty="0" err="1"/>
                <a:t>A</a:t>
              </a:r>
              <a:endParaRPr lang="en-US" sz="2400" b="0" u="sng" baseline="-25000" dirty="0"/>
            </a:p>
          </p:txBody>
        </p:sp>
        <p:sp>
          <p:nvSpPr>
            <p:cNvPr id="59404" name="Line 25"/>
            <p:cNvSpPr>
              <a:spLocks noChangeShapeType="1"/>
            </p:cNvSpPr>
            <p:nvPr/>
          </p:nvSpPr>
          <p:spPr bwMode="auto">
            <a:xfrm>
              <a:off x="3870325" y="4114800"/>
              <a:ext cx="1295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5" name="Line 26"/>
            <p:cNvSpPr>
              <a:spLocks noChangeShapeType="1"/>
            </p:cNvSpPr>
            <p:nvPr/>
          </p:nvSpPr>
          <p:spPr bwMode="auto">
            <a:xfrm>
              <a:off x="3886200" y="4699000"/>
              <a:ext cx="1295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6" name="Line 27"/>
            <p:cNvSpPr>
              <a:spLocks noChangeShapeType="1"/>
            </p:cNvSpPr>
            <p:nvPr/>
          </p:nvSpPr>
          <p:spPr bwMode="auto">
            <a:xfrm>
              <a:off x="3886200" y="4114800"/>
              <a:ext cx="0" cy="5842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Line 28"/>
            <p:cNvSpPr>
              <a:spLocks noChangeShapeType="1"/>
            </p:cNvSpPr>
            <p:nvPr/>
          </p:nvSpPr>
          <p:spPr bwMode="auto">
            <a:xfrm>
              <a:off x="4281488" y="4114800"/>
              <a:ext cx="0" cy="584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8" name="Line 29"/>
            <p:cNvSpPr>
              <a:spLocks noChangeShapeType="1"/>
            </p:cNvSpPr>
            <p:nvPr/>
          </p:nvSpPr>
          <p:spPr bwMode="auto">
            <a:xfrm>
              <a:off x="5181600" y="4114800"/>
              <a:ext cx="0" cy="5842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9" name="Rectangle 30"/>
            <p:cNvSpPr>
              <a:spLocks noChangeArrowheads="1"/>
            </p:cNvSpPr>
            <p:nvPr/>
          </p:nvSpPr>
          <p:spPr bwMode="auto">
            <a:xfrm>
              <a:off x="7315200" y="3962400"/>
              <a:ext cx="900113" cy="569913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B</a:t>
              </a:r>
            </a:p>
          </p:txBody>
        </p:sp>
        <p:sp>
          <p:nvSpPr>
            <p:cNvPr id="59410" name="Rectangle 31"/>
            <p:cNvSpPr>
              <a:spLocks noChangeArrowheads="1"/>
            </p:cNvSpPr>
            <p:nvPr/>
          </p:nvSpPr>
          <p:spPr bwMode="auto">
            <a:xfrm>
              <a:off x="6919913" y="3962400"/>
              <a:ext cx="395287" cy="569913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/>
            </a:p>
          </p:txBody>
        </p:sp>
        <p:sp>
          <p:nvSpPr>
            <p:cNvPr id="59411" name="Line 32"/>
            <p:cNvSpPr>
              <a:spLocks noChangeShapeType="1"/>
            </p:cNvSpPr>
            <p:nvPr/>
          </p:nvSpPr>
          <p:spPr bwMode="auto">
            <a:xfrm>
              <a:off x="6919913" y="3962400"/>
              <a:ext cx="1295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2" name="Line 33"/>
            <p:cNvSpPr>
              <a:spLocks noChangeShapeType="1"/>
            </p:cNvSpPr>
            <p:nvPr/>
          </p:nvSpPr>
          <p:spPr bwMode="auto">
            <a:xfrm>
              <a:off x="6919913" y="4532313"/>
              <a:ext cx="12954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Line 34"/>
            <p:cNvSpPr>
              <a:spLocks noChangeShapeType="1"/>
            </p:cNvSpPr>
            <p:nvPr/>
          </p:nvSpPr>
          <p:spPr bwMode="auto">
            <a:xfrm>
              <a:off x="6919913" y="3962400"/>
              <a:ext cx="0" cy="56991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Line 35"/>
            <p:cNvSpPr>
              <a:spLocks noChangeShapeType="1"/>
            </p:cNvSpPr>
            <p:nvPr/>
          </p:nvSpPr>
          <p:spPr bwMode="auto">
            <a:xfrm>
              <a:off x="7315200" y="3962400"/>
              <a:ext cx="0" cy="5699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Line 36"/>
            <p:cNvSpPr>
              <a:spLocks noChangeShapeType="1"/>
            </p:cNvSpPr>
            <p:nvPr/>
          </p:nvSpPr>
          <p:spPr bwMode="auto">
            <a:xfrm>
              <a:off x="8215313" y="3962400"/>
              <a:ext cx="0" cy="56991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Rectangle 37"/>
            <p:cNvSpPr>
              <a:spLocks noChangeArrowheads="1"/>
            </p:cNvSpPr>
            <p:nvPr/>
          </p:nvSpPr>
          <p:spPr bwMode="auto">
            <a:xfrm>
              <a:off x="7307263" y="6096000"/>
              <a:ext cx="846137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D</a:t>
              </a:r>
            </a:p>
          </p:txBody>
        </p:sp>
        <p:sp>
          <p:nvSpPr>
            <p:cNvPr id="59417" name="Rectangle 38"/>
            <p:cNvSpPr>
              <a:spLocks noChangeArrowheads="1"/>
            </p:cNvSpPr>
            <p:nvPr/>
          </p:nvSpPr>
          <p:spPr bwMode="auto">
            <a:xfrm>
              <a:off x="6934200" y="6096000"/>
              <a:ext cx="373063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/>
            </a:p>
          </p:txBody>
        </p:sp>
        <p:sp>
          <p:nvSpPr>
            <p:cNvPr id="59418" name="Line 39"/>
            <p:cNvSpPr>
              <a:spLocks noChangeShapeType="1"/>
            </p:cNvSpPr>
            <p:nvPr/>
          </p:nvSpPr>
          <p:spPr bwMode="auto">
            <a:xfrm>
              <a:off x="6934200" y="6096000"/>
              <a:ext cx="12192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40"/>
            <p:cNvSpPr>
              <a:spLocks noChangeShapeType="1"/>
            </p:cNvSpPr>
            <p:nvPr/>
          </p:nvSpPr>
          <p:spPr bwMode="auto">
            <a:xfrm>
              <a:off x="6934200" y="6613525"/>
              <a:ext cx="12192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41"/>
            <p:cNvSpPr>
              <a:spLocks noChangeShapeType="1"/>
            </p:cNvSpPr>
            <p:nvPr/>
          </p:nvSpPr>
          <p:spPr bwMode="auto">
            <a:xfrm>
              <a:off x="6934200" y="60960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42"/>
            <p:cNvSpPr>
              <a:spLocks noChangeShapeType="1"/>
            </p:cNvSpPr>
            <p:nvPr/>
          </p:nvSpPr>
          <p:spPr bwMode="auto">
            <a:xfrm>
              <a:off x="7307263" y="60960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43"/>
            <p:cNvSpPr>
              <a:spLocks noChangeShapeType="1"/>
            </p:cNvSpPr>
            <p:nvPr/>
          </p:nvSpPr>
          <p:spPr bwMode="auto">
            <a:xfrm>
              <a:off x="8153400" y="60960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Rectangle 44"/>
            <p:cNvSpPr>
              <a:spLocks noChangeArrowheads="1"/>
            </p:cNvSpPr>
            <p:nvPr/>
          </p:nvSpPr>
          <p:spPr bwMode="auto">
            <a:xfrm>
              <a:off x="7570788" y="5105400"/>
              <a:ext cx="735012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D</a:t>
              </a:r>
            </a:p>
          </p:txBody>
        </p:sp>
        <p:sp>
          <p:nvSpPr>
            <p:cNvPr id="59424" name="Rectangle 45"/>
            <p:cNvSpPr>
              <a:spLocks noChangeArrowheads="1"/>
            </p:cNvSpPr>
            <p:nvPr/>
          </p:nvSpPr>
          <p:spPr bwMode="auto">
            <a:xfrm>
              <a:off x="6840538" y="5105400"/>
              <a:ext cx="730250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C</a:t>
              </a:r>
            </a:p>
          </p:txBody>
        </p:sp>
        <p:sp>
          <p:nvSpPr>
            <p:cNvPr id="59425" name="Rectangle 46"/>
            <p:cNvSpPr>
              <a:spLocks noChangeArrowheads="1"/>
            </p:cNvSpPr>
            <p:nvPr/>
          </p:nvSpPr>
          <p:spPr bwMode="auto">
            <a:xfrm>
              <a:off x="6037263" y="5105400"/>
              <a:ext cx="803275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B</a:t>
              </a:r>
            </a:p>
          </p:txBody>
        </p:sp>
        <p:sp>
          <p:nvSpPr>
            <p:cNvPr id="59426" name="Rectangle 47"/>
            <p:cNvSpPr>
              <a:spLocks noChangeArrowheads="1"/>
            </p:cNvSpPr>
            <p:nvPr/>
          </p:nvSpPr>
          <p:spPr bwMode="auto">
            <a:xfrm>
              <a:off x="5305425" y="5105400"/>
              <a:ext cx="731838" cy="517525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2400" b="0" u="sng"/>
                <a:t>pk</a:t>
              </a:r>
              <a:r>
                <a:rPr lang="en-US" sz="2400" b="0" u="sng" baseline="-25000"/>
                <a:t>A</a:t>
              </a:r>
            </a:p>
          </p:txBody>
        </p:sp>
        <p:sp>
          <p:nvSpPr>
            <p:cNvPr id="59427" name="Line 48"/>
            <p:cNvSpPr>
              <a:spLocks noChangeShapeType="1"/>
            </p:cNvSpPr>
            <p:nvPr/>
          </p:nvSpPr>
          <p:spPr bwMode="auto">
            <a:xfrm>
              <a:off x="5257800" y="5105400"/>
              <a:ext cx="304800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8" name="Line 49"/>
            <p:cNvSpPr>
              <a:spLocks noChangeShapeType="1"/>
            </p:cNvSpPr>
            <p:nvPr/>
          </p:nvSpPr>
          <p:spPr bwMode="auto">
            <a:xfrm flipV="1">
              <a:off x="5334000" y="5622925"/>
              <a:ext cx="2971800" cy="158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9" name="Line 50"/>
            <p:cNvSpPr>
              <a:spLocks noChangeShapeType="1"/>
            </p:cNvSpPr>
            <p:nvPr/>
          </p:nvSpPr>
          <p:spPr bwMode="auto">
            <a:xfrm>
              <a:off x="5318125" y="51054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0" name="Line 51"/>
            <p:cNvSpPr>
              <a:spLocks noChangeShapeType="1"/>
            </p:cNvSpPr>
            <p:nvPr/>
          </p:nvSpPr>
          <p:spPr bwMode="auto">
            <a:xfrm>
              <a:off x="5305425" y="51054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1" name="Line 52"/>
            <p:cNvSpPr>
              <a:spLocks noChangeShapeType="1"/>
            </p:cNvSpPr>
            <p:nvPr/>
          </p:nvSpPr>
          <p:spPr bwMode="auto">
            <a:xfrm>
              <a:off x="6037263" y="51054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2" name="Line 53"/>
            <p:cNvSpPr>
              <a:spLocks noChangeShapeType="1"/>
            </p:cNvSpPr>
            <p:nvPr/>
          </p:nvSpPr>
          <p:spPr bwMode="auto">
            <a:xfrm>
              <a:off x="6840538" y="51054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3" name="Line 54"/>
            <p:cNvSpPr>
              <a:spLocks noChangeShapeType="1"/>
            </p:cNvSpPr>
            <p:nvPr/>
          </p:nvSpPr>
          <p:spPr bwMode="auto">
            <a:xfrm>
              <a:off x="7570788" y="5105400"/>
              <a:ext cx="0" cy="517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4" name="Line 55"/>
            <p:cNvSpPr>
              <a:spLocks noChangeShapeType="1"/>
            </p:cNvSpPr>
            <p:nvPr/>
          </p:nvSpPr>
          <p:spPr bwMode="auto">
            <a:xfrm>
              <a:off x="8305800" y="5105400"/>
              <a:ext cx="0" cy="517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5" name="Line 56"/>
            <p:cNvSpPr>
              <a:spLocks noChangeShapeType="1"/>
            </p:cNvSpPr>
            <p:nvPr/>
          </p:nvSpPr>
          <p:spPr bwMode="auto">
            <a:xfrm flipH="1" flipV="1">
              <a:off x="4800600" y="4724400"/>
              <a:ext cx="8382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6" name="Line 57"/>
            <p:cNvSpPr>
              <a:spLocks noChangeShapeType="1"/>
            </p:cNvSpPr>
            <p:nvPr/>
          </p:nvSpPr>
          <p:spPr bwMode="auto">
            <a:xfrm flipV="1">
              <a:off x="6477000" y="4572000"/>
              <a:ext cx="11430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7" name="Line 58"/>
            <p:cNvSpPr>
              <a:spLocks noChangeShapeType="1"/>
            </p:cNvSpPr>
            <p:nvPr/>
          </p:nvSpPr>
          <p:spPr bwMode="auto">
            <a:xfrm flipH="1">
              <a:off x="4800600" y="5638800"/>
              <a:ext cx="22860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8" name="Line 59"/>
            <p:cNvSpPr>
              <a:spLocks noChangeShapeType="1"/>
            </p:cNvSpPr>
            <p:nvPr/>
          </p:nvSpPr>
          <p:spPr bwMode="auto">
            <a:xfrm>
              <a:off x="7772400" y="56388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39" name="Text Box 60"/>
            <p:cNvSpPr txBox="1">
              <a:spLocks noChangeArrowheads="1"/>
            </p:cNvSpPr>
            <p:nvPr/>
          </p:nvSpPr>
          <p:spPr bwMode="auto">
            <a:xfrm>
              <a:off x="3886200" y="3787775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59440" name="Text Box 61"/>
            <p:cNvSpPr txBox="1">
              <a:spLocks noChangeArrowheads="1"/>
            </p:cNvSpPr>
            <p:nvPr/>
          </p:nvSpPr>
          <p:spPr bwMode="auto">
            <a:xfrm>
              <a:off x="6996113" y="3656013"/>
              <a:ext cx="349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59441" name="Text Box 62"/>
            <p:cNvSpPr txBox="1">
              <a:spLocks noChangeArrowheads="1"/>
            </p:cNvSpPr>
            <p:nvPr/>
          </p:nvSpPr>
          <p:spPr bwMode="auto">
            <a:xfrm>
              <a:off x="4876800" y="5105400"/>
              <a:ext cx="3492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sz="1800"/>
                <a:t>R</a:t>
              </a:r>
            </a:p>
            <a:p>
              <a:pPr eaLnBrk="1" hangingPunct="1"/>
              <a:endParaRPr lang="en-US" sz="1800" b="0"/>
            </a:p>
          </p:txBody>
        </p:sp>
        <p:sp>
          <p:nvSpPr>
            <p:cNvPr id="59442" name="Text Box 63"/>
            <p:cNvSpPr txBox="1">
              <a:spLocks noChangeArrowheads="1"/>
            </p:cNvSpPr>
            <p:nvPr/>
          </p:nvSpPr>
          <p:spPr bwMode="auto">
            <a:xfrm>
              <a:off x="3870325" y="5653088"/>
              <a:ext cx="349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3333CC"/>
                  </a:solidFill>
                </a:rPr>
                <a:t>C</a:t>
              </a:r>
            </a:p>
          </p:txBody>
        </p:sp>
        <p:sp>
          <p:nvSpPr>
            <p:cNvPr id="59443" name="Text Box 64"/>
            <p:cNvSpPr txBox="1">
              <a:spLocks noChangeArrowheads="1"/>
            </p:cNvSpPr>
            <p:nvPr/>
          </p:nvSpPr>
          <p:spPr bwMode="auto">
            <a:xfrm>
              <a:off x="6918325" y="5729288"/>
              <a:ext cx="349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3333CC"/>
                  </a:solidFill>
                </a:rPr>
                <a:t>D</a:t>
              </a:r>
            </a:p>
          </p:txBody>
        </p:sp>
        <p:grpSp>
          <p:nvGrpSpPr>
            <p:cNvPr id="59444" name="Group 3"/>
            <p:cNvGrpSpPr>
              <a:grpSpLocks/>
            </p:cNvGrpSpPr>
            <p:nvPr/>
          </p:nvGrpSpPr>
          <p:grpSpPr bwMode="auto">
            <a:xfrm>
              <a:off x="457200" y="4765675"/>
              <a:ext cx="3005138" cy="1644650"/>
              <a:chOff x="288" y="3002"/>
              <a:chExt cx="1893" cy="1036"/>
            </a:xfrm>
          </p:grpSpPr>
          <p:sp>
            <p:nvSpPr>
              <p:cNvPr id="59448" name="Text Box 4"/>
              <p:cNvSpPr txBox="1">
                <a:spLocks noChangeArrowheads="1"/>
              </p:cNvSpPr>
              <p:nvPr/>
            </p:nvSpPr>
            <p:spPr bwMode="auto">
              <a:xfrm>
                <a:off x="374" y="3002"/>
                <a:ext cx="453" cy="294"/>
              </a:xfrm>
              <a:prstGeom prst="rect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0">
                    <a:latin typeface="Times New Roman" panose="02020603050405020304" pitchFamily="18" charset="0"/>
                  </a:rPr>
                  <a:t>  A  </a:t>
                </a:r>
              </a:p>
            </p:txBody>
          </p:sp>
          <p:sp>
            <p:nvSpPr>
              <p:cNvPr id="59449" name="Text Box 5"/>
              <p:cNvSpPr txBox="1">
                <a:spLocks noChangeArrowheads="1"/>
              </p:cNvSpPr>
              <p:nvPr/>
            </p:nvSpPr>
            <p:spPr bwMode="auto">
              <a:xfrm>
                <a:off x="288" y="3744"/>
                <a:ext cx="442" cy="294"/>
              </a:xfrm>
              <a:prstGeom prst="rect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0">
                    <a:latin typeface="Times New Roman" panose="02020603050405020304" pitchFamily="18" charset="0"/>
                  </a:rPr>
                  <a:t>  C  </a:t>
                </a:r>
              </a:p>
            </p:txBody>
          </p:sp>
          <p:sp>
            <p:nvSpPr>
              <p:cNvPr id="59450" name="Text Box 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442" cy="294"/>
              </a:xfrm>
              <a:prstGeom prst="rect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0">
                    <a:latin typeface="Times New Roman" panose="02020603050405020304" pitchFamily="18" charset="0"/>
                  </a:rPr>
                  <a:t>  B  </a:t>
                </a:r>
              </a:p>
            </p:txBody>
          </p:sp>
          <p:sp>
            <p:nvSpPr>
              <p:cNvPr id="59451" name="Text Box 7"/>
              <p:cNvSpPr txBox="1">
                <a:spLocks noChangeArrowheads="1"/>
              </p:cNvSpPr>
              <p:nvPr/>
            </p:nvSpPr>
            <p:spPr bwMode="auto">
              <a:xfrm>
                <a:off x="1728" y="3744"/>
                <a:ext cx="453" cy="294"/>
              </a:xfrm>
              <a:prstGeom prst="rect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 b="0">
                    <a:latin typeface="Times New Roman" panose="02020603050405020304" pitchFamily="18" charset="0"/>
                  </a:rPr>
                  <a:t>  D  </a:t>
                </a:r>
              </a:p>
            </p:txBody>
          </p:sp>
          <p:sp>
            <p:nvSpPr>
              <p:cNvPr id="59452" name="AutoShape 8"/>
              <p:cNvSpPr>
                <a:spLocks noChangeArrowheads="1"/>
              </p:cNvSpPr>
              <p:nvPr/>
            </p:nvSpPr>
            <p:spPr bwMode="auto">
              <a:xfrm>
                <a:off x="960" y="3312"/>
                <a:ext cx="528" cy="528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sz="1800" b="0"/>
              </a:p>
            </p:txBody>
          </p:sp>
          <p:sp>
            <p:nvSpPr>
              <p:cNvPr id="59453" name="Text Box 9"/>
              <p:cNvSpPr txBox="1">
                <a:spLocks noChangeArrowheads="1"/>
              </p:cNvSpPr>
              <p:nvPr/>
            </p:nvSpPr>
            <p:spPr bwMode="auto">
              <a:xfrm>
                <a:off x="1104" y="3408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400" b="0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59454" name="Line 10"/>
              <p:cNvSpPr>
                <a:spLocks noChangeShapeType="1"/>
              </p:cNvSpPr>
              <p:nvPr/>
            </p:nvSpPr>
            <p:spPr bwMode="auto">
              <a:xfrm>
                <a:off x="816" y="3168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55" name="Line 11"/>
              <p:cNvSpPr>
                <a:spLocks noChangeShapeType="1"/>
              </p:cNvSpPr>
              <p:nvPr/>
            </p:nvSpPr>
            <p:spPr bwMode="auto">
              <a:xfrm flipV="1">
                <a:off x="720" y="3696"/>
                <a:ext cx="3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56" name="Line 12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33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57" name="Line 13"/>
              <p:cNvSpPr>
                <a:spLocks noChangeShapeType="1"/>
              </p:cNvSpPr>
              <p:nvPr/>
            </p:nvSpPr>
            <p:spPr bwMode="auto">
              <a:xfrm>
                <a:off x="1344" y="3696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47" name="Rectangle 31"/>
            <p:cNvSpPr>
              <a:spLocks noChangeArrowheads="1"/>
            </p:cNvSpPr>
            <p:nvPr/>
          </p:nvSpPr>
          <p:spPr bwMode="auto">
            <a:xfrm>
              <a:off x="3886200" y="4114800"/>
              <a:ext cx="381000" cy="569913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50628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24"/>
          <p:cNvSpPr>
            <a:spLocks noChangeArrowheads="1"/>
          </p:cNvSpPr>
          <p:nvPr/>
        </p:nvSpPr>
        <p:spPr bwMode="auto">
          <a:xfrm>
            <a:off x="2362200" y="3505200"/>
            <a:ext cx="1371600" cy="1295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0419" name="Oval 15"/>
          <p:cNvSpPr>
            <a:spLocks noChangeArrowheads="1"/>
          </p:cNvSpPr>
          <p:nvPr/>
        </p:nvSpPr>
        <p:spPr bwMode="auto">
          <a:xfrm>
            <a:off x="2513569" y="6081668"/>
            <a:ext cx="1195388" cy="644525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800" b="0"/>
          </a:p>
        </p:txBody>
      </p:sp>
      <p:sp>
        <p:nvSpPr>
          <p:cNvPr id="60420" name="Oval 14"/>
          <p:cNvSpPr>
            <a:spLocks noChangeArrowheads="1"/>
          </p:cNvSpPr>
          <p:nvPr/>
        </p:nvSpPr>
        <p:spPr bwMode="auto">
          <a:xfrm>
            <a:off x="645319" y="5273675"/>
            <a:ext cx="1195388" cy="646112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800" b="0"/>
          </a:p>
        </p:txBody>
      </p:sp>
      <p:sp>
        <p:nvSpPr>
          <p:cNvPr id="60421" name="Oval 20"/>
          <p:cNvSpPr>
            <a:spLocks noChangeArrowheads="1"/>
          </p:cNvSpPr>
          <p:nvPr/>
        </p:nvSpPr>
        <p:spPr bwMode="auto">
          <a:xfrm>
            <a:off x="714892" y="4320382"/>
            <a:ext cx="822325" cy="646113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800" b="0"/>
          </a:p>
        </p:txBody>
      </p:sp>
      <p:sp>
        <p:nvSpPr>
          <p:cNvPr id="604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599" y="602750"/>
            <a:ext cx="5791201" cy="76061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Mapping : Weak Entities</a:t>
            </a:r>
          </a:p>
        </p:txBody>
      </p:sp>
      <p:sp>
        <p:nvSpPr>
          <p:cNvPr id="6042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1649363"/>
            <a:ext cx="8534400" cy="44641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>
                <a:latin typeface="Corbel" pitchFamily="34" charset="0"/>
              </a:rPr>
              <a:t>ER Model			Relational Model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dirty="0">
                <a:latin typeface="Corbel" pitchFamily="34" charset="0"/>
              </a:rPr>
              <a:t>Weak Entity		             Relations and combination of 				                             partial and primary keys</a:t>
            </a:r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2667000" y="3902075"/>
            <a:ext cx="9620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400" b="0" dirty="0">
                <a:latin typeface="Times New Roman" panose="02020603050405020304" pitchFamily="18" charset="0"/>
              </a:rPr>
              <a:t>Policy</a:t>
            </a:r>
          </a:p>
          <a:p>
            <a:pPr algn="ctr" eaLnBrk="1" hangingPunct="1"/>
            <a:endParaRPr 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452438" y="3276600"/>
            <a:ext cx="1436687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0" dirty="0">
                <a:latin typeface="Times New Roman" panose="02020603050405020304" pitchFamily="18" charset="0"/>
              </a:rPr>
              <a:t>Employee</a:t>
            </a:r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1905000" y="3505200"/>
            <a:ext cx="1120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754857" y="5322267"/>
            <a:ext cx="9188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0" dirty="0">
                <a:latin typeface="Times New Roman" panose="02020603050405020304" pitchFamily="18" charset="0"/>
              </a:rPr>
              <a:t>Name</a:t>
            </a: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2757976" y="6150731"/>
            <a:ext cx="6976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0" dirty="0">
                <a:latin typeface="Times New Roman" panose="02020603050405020304" pitchFamily="18" charset="0"/>
              </a:rPr>
              <a:t>Age</a:t>
            </a:r>
          </a:p>
        </p:txBody>
      </p:sp>
      <p:sp>
        <p:nvSpPr>
          <p:cNvPr id="60430" name="Line 16"/>
          <p:cNvSpPr>
            <a:spLocks noChangeShapeType="1"/>
          </p:cNvSpPr>
          <p:nvPr/>
        </p:nvSpPr>
        <p:spPr bwMode="auto">
          <a:xfrm>
            <a:off x="901700" y="5734169"/>
            <a:ext cx="5984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1" name="Line 17"/>
          <p:cNvSpPr>
            <a:spLocks noChangeShapeType="1"/>
          </p:cNvSpPr>
          <p:nvPr/>
        </p:nvSpPr>
        <p:spPr bwMode="auto">
          <a:xfrm>
            <a:off x="1839984" y="5610449"/>
            <a:ext cx="325002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Line 18"/>
          <p:cNvSpPr>
            <a:spLocks noChangeShapeType="1"/>
          </p:cNvSpPr>
          <p:nvPr/>
        </p:nvSpPr>
        <p:spPr bwMode="auto">
          <a:xfrm flipV="1">
            <a:off x="3044029" y="5778500"/>
            <a:ext cx="1" cy="303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3" name="Text Box 19"/>
          <p:cNvSpPr txBox="1">
            <a:spLocks noChangeArrowheads="1"/>
          </p:cNvSpPr>
          <p:nvPr/>
        </p:nvSpPr>
        <p:spPr bwMode="auto">
          <a:xfrm>
            <a:off x="901700" y="4386470"/>
            <a:ext cx="5100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0" u="sng" dirty="0"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60434" name="Line 21"/>
          <p:cNvSpPr>
            <a:spLocks noChangeShapeType="1"/>
          </p:cNvSpPr>
          <p:nvPr/>
        </p:nvSpPr>
        <p:spPr bwMode="auto">
          <a:xfrm flipH="1" flipV="1">
            <a:off x="1139687" y="3737919"/>
            <a:ext cx="3313" cy="5753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5" name="Text Box 23"/>
          <p:cNvSpPr txBox="1">
            <a:spLocks noChangeArrowheads="1"/>
          </p:cNvSpPr>
          <p:nvPr/>
        </p:nvSpPr>
        <p:spPr bwMode="auto">
          <a:xfrm>
            <a:off x="2209801" y="5334000"/>
            <a:ext cx="1881964" cy="461665"/>
          </a:xfrm>
          <a:prstGeom prst="rect">
            <a:avLst/>
          </a:prstGeom>
          <a:solidFill>
            <a:srgbClr val="9999FF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2400" b="0">
                <a:latin typeface="Times New Roman" panose="02020603050405020304" pitchFamily="18" charset="0"/>
              </a:rPr>
              <a:t>Dependents</a:t>
            </a:r>
          </a:p>
        </p:txBody>
      </p:sp>
      <p:sp>
        <p:nvSpPr>
          <p:cNvPr id="60436" name="Line 25"/>
          <p:cNvSpPr>
            <a:spLocks noChangeShapeType="1"/>
          </p:cNvSpPr>
          <p:nvPr/>
        </p:nvSpPr>
        <p:spPr bwMode="auto">
          <a:xfrm>
            <a:off x="3048000" y="4724400"/>
            <a:ext cx="0" cy="609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7" name="Text Box 26"/>
          <p:cNvSpPr txBox="1">
            <a:spLocks noChangeArrowheads="1"/>
          </p:cNvSpPr>
          <p:nvPr/>
        </p:nvSpPr>
        <p:spPr bwMode="auto">
          <a:xfrm>
            <a:off x="2362200" y="31242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60438" name="Text Box 27"/>
          <p:cNvSpPr txBox="1">
            <a:spLocks noChangeArrowheads="1"/>
          </p:cNvSpPr>
          <p:nvPr/>
        </p:nvSpPr>
        <p:spPr bwMode="auto">
          <a:xfrm>
            <a:off x="3124200" y="48768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/>
              <a:t>N</a:t>
            </a:r>
          </a:p>
        </p:txBody>
      </p:sp>
      <p:sp>
        <p:nvSpPr>
          <p:cNvPr id="60461" name="Text Box 13"/>
          <p:cNvSpPr txBox="1">
            <a:spLocks noChangeArrowheads="1"/>
          </p:cNvSpPr>
          <p:nvPr/>
        </p:nvSpPr>
        <p:spPr bwMode="auto">
          <a:xfrm>
            <a:off x="4394200" y="3192159"/>
            <a:ext cx="145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chemeClr val="accent2"/>
                </a:solidFill>
              </a:rPr>
              <a:t>EMPLOYEE</a:t>
            </a:r>
          </a:p>
        </p:txBody>
      </p:sp>
      <p:sp>
        <p:nvSpPr>
          <p:cNvPr id="46104" name="Line 14"/>
          <p:cNvSpPr>
            <a:spLocks noChangeShapeType="1"/>
          </p:cNvSpPr>
          <p:nvPr/>
        </p:nvSpPr>
        <p:spPr bwMode="auto">
          <a:xfrm flipH="1" flipV="1">
            <a:off x="5160769" y="4131700"/>
            <a:ext cx="17869" cy="126006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82C12923-4DAF-CACE-EF6C-26896E90C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631" y="5094270"/>
            <a:ext cx="17620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chemeClr val="accent2"/>
                </a:solidFill>
              </a:rPr>
              <a:t>DEPENDENTS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EE4F3C-14CF-DEFF-8ABC-F8B8F3F9C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88724"/>
              </p:ext>
            </p:extLst>
          </p:nvPr>
        </p:nvGraphicFramePr>
        <p:xfrm>
          <a:off x="4511675" y="3678369"/>
          <a:ext cx="3990976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5488">
                  <a:extLst>
                    <a:ext uri="{9D8B030D-6E8A-4147-A177-3AD203B41FA5}">
                      <a16:colId xmlns:a16="http://schemas.microsoft.com/office/drawing/2014/main" val="1172487002"/>
                    </a:ext>
                  </a:extLst>
                </a:gridCol>
                <a:gridCol w="1995488">
                  <a:extLst>
                    <a:ext uri="{9D8B030D-6E8A-4147-A177-3AD203B41FA5}">
                      <a16:colId xmlns:a16="http://schemas.microsoft.com/office/drawing/2014/main" val="3760180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5864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996516-572E-A632-8C32-EC76092A9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17933"/>
              </p:ext>
            </p:extLst>
          </p:nvPr>
        </p:nvGraphicFramePr>
        <p:xfrm>
          <a:off x="4512147" y="5682888"/>
          <a:ext cx="3990975" cy="370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30325">
                  <a:extLst>
                    <a:ext uri="{9D8B030D-6E8A-4147-A177-3AD203B41FA5}">
                      <a16:colId xmlns:a16="http://schemas.microsoft.com/office/drawing/2014/main" val="1172487002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3760180789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326817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586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89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914400"/>
            <a:ext cx="9144000" cy="129302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4400" dirty="0">
                <a:ln>
                  <a:noFill/>
                </a:ln>
                <a:latin typeface="Corbel" pitchFamily="34" charset="0"/>
              </a:rPr>
              <a:t>Your Turn – Map to a Relational Schema</a:t>
            </a:r>
          </a:p>
        </p:txBody>
      </p:sp>
      <p:pic>
        <p:nvPicPr>
          <p:cNvPr id="73731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7" y="2362200"/>
            <a:ext cx="7019925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068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-228600" y="838200"/>
            <a:ext cx="6377940" cy="129302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>
                <a:latin typeface="Corbel" pitchFamily="34" charset="0"/>
              </a:rPr>
              <a:t>Lecture Outline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828800"/>
            <a:ext cx="8136904" cy="449579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800" b="1" dirty="0">
                <a:latin typeface="Corbel" pitchFamily="34" charset="0"/>
              </a:rPr>
              <a:t>ER-to-Relational Mapping Algorithm 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800" b="1" dirty="0">
              <a:latin typeface="Corbel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1: Mapping of Regular Entity Types</a:t>
            </a:r>
          </a:p>
          <a:p>
            <a:pPr lvl="6" algn="just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Multivalued attributes.</a:t>
            </a:r>
          </a:p>
          <a:p>
            <a:pPr lvl="6" algn="just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Composite  attributes</a:t>
            </a:r>
          </a:p>
          <a:p>
            <a:pPr lvl="6" algn="just">
              <a:lnSpc>
                <a:spcPct val="80000"/>
              </a:lnSpc>
            </a:pPr>
            <a:endParaRPr lang="en-US" altLang="en-US" sz="2800" dirty="0">
              <a:latin typeface="Corbel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2: Mapping of Weak Entity Types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3: Mapping of Binary 1:1 Relation Types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4: Mapping of Binary 1:N Relationship Types.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5: Mapping of Binary M:N Relationship Types.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800" dirty="0">
                <a:latin typeface="Corbel" pitchFamily="34" charset="0"/>
              </a:rPr>
              <a:t>Step 6: Mapping of N-array Relationship Types.</a:t>
            </a:r>
          </a:p>
          <a:p>
            <a:pPr marL="457200" lvl="1" indent="0" algn="just" eaLnBrk="1" hangingPunct="1">
              <a:lnSpc>
                <a:spcPct val="80000"/>
              </a:lnSpc>
              <a:buNone/>
            </a:pPr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909641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190"/>
            <a:ext cx="8394164" cy="1293028"/>
          </a:xfrm>
        </p:spPr>
        <p:txBody>
          <a:bodyPr>
            <a:normAutofit fontScale="90000"/>
          </a:bodyPr>
          <a:lstStyle/>
          <a:p>
            <a:pPr algn="ctr" eaLnBrk="1" hangingPunct="1"/>
            <a:br>
              <a:rPr lang="en-US" altLang="en-US" sz="2800" b="1" dirty="0"/>
            </a:br>
            <a:r>
              <a:rPr lang="en-US" altLang="en-US" sz="4900" dirty="0">
                <a:latin typeface="Corbel" pitchFamily="34" charset="0"/>
              </a:rPr>
              <a:t>Summary of Mapping constructs and constraints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752600"/>
            <a:ext cx="8991600" cy="4876799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9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                        </a:t>
            </a:r>
            <a:endParaRPr lang="en-US" altLang="en-US" sz="2000" b="1">
              <a:solidFill>
                <a:srgbClr val="FF0066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74EBE4-F2C6-6564-5E51-1A150E499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29731"/>
              </p:ext>
            </p:extLst>
          </p:nvPr>
        </p:nvGraphicFramePr>
        <p:xfrm>
          <a:off x="1543050" y="2619733"/>
          <a:ext cx="7219950" cy="372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260">
                  <a:extLst>
                    <a:ext uri="{9D8B030D-6E8A-4147-A177-3AD203B41FA5}">
                      <a16:colId xmlns:a16="http://schemas.microsoft.com/office/drawing/2014/main" val="857539882"/>
                    </a:ext>
                  </a:extLst>
                </a:gridCol>
                <a:gridCol w="4419690">
                  <a:extLst>
                    <a:ext uri="{9D8B030D-6E8A-4147-A177-3AD203B41FA5}">
                      <a16:colId xmlns:a16="http://schemas.microsoft.com/office/drawing/2014/main" val="1490402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1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ER Model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1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Relational Model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4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Entity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“Entity” relation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331449"/>
                  </a:ext>
                </a:extLst>
              </a:tr>
              <a:tr h="230147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1:1 or 1:N relationship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Foreign key (or “relationship” relation)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7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M:N relationship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“Relationship” relation and two foreign keys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82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i="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N-array relationship type</a:t>
                      </a:r>
                      <a:endParaRPr 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“Relationship” relation and n foreign keys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014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Simple 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Attribute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4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Composite 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Set of simple component attributes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68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Multivalued 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Relation and foreign key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92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Value set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Domain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10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Key attribute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olidFill>
                            <a:schemeClr val="tx2"/>
                          </a:solidFill>
                          <a:latin typeface="Corbel" pitchFamily="34" charset="0"/>
                        </a:rPr>
                        <a:t>Primary (or secondary) key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34848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B15D79-6C9A-D908-4F9B-3C6F09945CD4}"/>
              </a:ext>
            </a:extLst>
          </p:cNvPr>
          <p:cNvSpPr txBox="1"/>
          <p:nvPr/>
        </p:nvSpPr>
        <p:spPr>
          <a:xfrm>
            <a:off x="962025" y="1987377"/>
            <a:ext cx="7219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b="1" i="1" dirty="0">
                <a:solidFill>
                  <a:schemeClr val="tx2"/>
                </a:solidFill>
                <a:latin typeface="Corbel" pitchFamily="34" charset="0"/>
              </a:rPr>
              <a:t>Correspondence between ER and Relational Models</a:t>
            </a:r>
            <a:endParaRPr lang="en-US" altLang="en-US" sz="2400" dirty="0">
              <a:solidFill>
                <a:schemeClr val="tx2"/>
              </a:solidFill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77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End of Lecture 06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43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3246438"/>
            <a:ext cx="7765321" cy="132632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84065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494</TotalTime>
  <Words>1924</Words>
  <Application>Microsoft Office PowerPoint</Application>
  <PresentationFormat>On-screen Show (4:3)</PresentationFormat>
  <Paragraphs>452</Paragraphs>
  <Slides>43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新細明體</vt:lpstr>
      <vt:lpstr>Arial</vt:lpstr>
      <vt:lpstr>Arial Black</vt:lpstr>
      <vt:lpstr>Book Antiqua</vt:lpstr>
      <vt:lpstr>Calibri</vt:lpstr>
      <vt:lpstr>Calibri Light</vt:lpstr>
      <vt:lpstr>Corbel</vt:lpstr>
      <vt:lpstr>Tahoma</vt:lpstr>
      <vt:lpstr>Times New Roman</vt:lpstr>
      <vt:lpstr>Verdana</vt:lpstr>
      <vt:lpstr>Wingdings</vt:lpstr>
      <vt:lpstr>Office Theme</vt:lpstr>
      <vt:lpstr>Custom Design</vt:lpstr>
      <vt:lpstr>1_Custom Design</vt:lpstr>
      <vt:lpstr>Document</vt:lpstr>
      <vt:lpstr>Logical Database Design &amp;  Relational Model </vt:lpstr>
      <vt:lpstr>Learning Outcome</vt:lpstr>
      <vt:lpstr>In this lecture you will learn</vt:lpstr>
      <vt:lpstr>Relational Model </vt:lpstr>
      <vt:lpstr>Relational Model (contd.)</vt:lpstr>
      <vt:lpstr>Relation</vt:lpstr>
      <vt:lpstr>Relation Schema </vt:lpstr>
      <vt:lpstr>Relation Schema </vt:lpstr>
      <vt:lpstr>Relation Instance </vt:lpstr>
      <vt:lpstr>Degree of a relation</vt:lpstr>
      <vt:lpstr>Example </vt:lpstr>
      <vt:lpstr>Formalizing : Relations</vt:lpstr>
      <vt:lpstr> Formalizing Key Fields  </vt:lpstr>
      <vt:lpstr>Foreign Key</vt:lpstr>
      <vt:lpstr>Integrity Constraints - IC</vt:lpstr>
      <vt:lpstr>Integrity Constraints</vt:lpstr>
      <vt:lpstr>Integrity Constraints</vt:lpstr>
      <vt:lpstr>Domain Constraints </vt:lpstr>
      <vt:lpstr>Key constraints</vt:lpstr>
      <vt:lpstr>Constraints…</vt:lpstr>
      <vt:lpstr>Referential Integrity</vt:lpstr>
      <vt:lpstr>    DB operations &amp; Constraints  </vt:lpstr>
      <vt:lpstr>Insert Operation</vt:lpstr>
      <vt:lpstr>Examples</vt:lpstr>
      <vt:lpstr>Examples</vt:lpstr>
      <vt:lpstr>Examples</vt:lpstr>
      <vt:lpstr>Examples</vt:lpstr>
      <vt:lpstr>Delete Operation</vt:lpstr>
      <vt:lpstr>Update Operation</vt:lpstr>
      <vt:lpstr>ER to Relational Mapping…</vt:lpstr>
      <vt:lpstr>Mapping: Regular Entity</vt:lpstr>
      <vt:lpstr>Mapping: Composite Attribute </vt:lpstr>
      <vt:lpstr>Mapping: Multivalued Attributes </vt:lpstr>
      <vt:lpstr>Mapping:1:1 with Total &amp; Partial participation</vt:lpstr>
      <vt:lpstr>Mapping:1:1 with total participation  </vt:lpstr>
      <vt:lpstr>Mapping :1:N Conversion</vt:lpstr>
      <vt:lpstr>Mapping : M:N Conversion</vt:lpstr>
      <vt:lpstr>Mapping : N-array Relationships </vt:lpstr>
      <vt:lpstr>Mapping : Weak Entities</vt:lpstr>
      <vt:lpstr>Your Turn – Map to a Relational Schema</vt:lpstr>
      <vt:lpstr>Lecture Outline</vt:lpstr>
      <vt:lpstr> Summary of Mapping constructs and constraints</vt:lpstr>
      <vt:lpstr> End of Lecture 06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Tharushi Rubasinghe</cp:lastModifiedBy>
  <cp:revision>43</cp:revision>
  <dcterms:created xsi:type="dcterms:W3CDTF">2017-06-04T15:05:52Z</dcterms:created>
  <dcterms:modified xsi:type="dcterms:W3CDTF">2024-08-11T17:59:40Z</dcterms:modified>
</cp:coreProperties>
</file>