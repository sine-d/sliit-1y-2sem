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79"/>
  </p:notesMasterIdLst>
  <p:sldIdLst>
    <p:sldId id="390" r:id="rId4"/>
    <p:sldId id="391" r:id="rId5"/>
    <p:sldId id="392" r:id="rId6"/>
    <p:sldId id="393" r:id="rId7"/>
    <p:sldId id="394" r:id="rId8"/>
    <p:sldId id="395" r:id="rId9"/>
    <p:sldId id="396" r:id="rId10"/>
    <p:sldId id="397" r:id="rId11"/>
    <p:sldId id="398" r:id="rId12"/>
    <p:sldId id="399" r:id="rId13"/>
    <p:sldId id="400" r:id="rId14"/>
    <p:sldId id="401" r:id="rId15"/>
    <p:sldId id="402" r:id="rId16"/>
    <p:sldId id="403" r:id="rId17"/>
    <p:sldId id="404" r:id="rId18"/>
    <p:sldId id="405" r:id="rId19"/>
    <p:sldId id="406" r:id="rId20"/>
    <p:sldId id="407" r:id="rId21"/>
    <p:sldId id="408" r:id="rId22"/>
    <p:sldId id="409" r:id="rId23"/>
    <p:sldId id="410" r:id="rId24"/>
    <p:sldId id="411" r:id="rId25"/>
    <p:sldId id="412" r:id="rId26"/>
    <p:sldId id="413" r:id="rId27"/>
    <p:sldId id="414" r:id="rId28"/>
    <p:sldId id="415" r:id="rId29"/>
    <p:sldId id="416" r:id="rId30"/>
    <p:sldId id="417" r:id="rId31"/>
    <p:sldId id="418" r:id="rId32"/>
    <p:sldId id="419" r:id="rId33"/>
    <p:sldId id="420" r:id="rId34"/>
    <p:sldId id="421" r:id="rId35"/>
    <p:sldId id="422" r:id="rId36"/>
    <p:sldId id="423" r:id="rId37"/>
    <p:sldId id="424" r:id="rId38"/>
    <p:sldId id="425" r:id="rId39"/>
    <p:sldId id="426" r:id="rId40"/>
    <p:sldId id="427" r:id="rId41"/>
    <p:sldId id="428" r:id="rId42"/>
    <p:sldId id="429" r:id="rId43"/>
    <p:sldId id="430" r:id="rId44"/>
    <p:sldId id="431" r:id="rId45"/>
    <p:sldId id="432" r:id="rId46"/>
    <p:sldId id="433" r:id="rId47"/>
    <p:sldId id="434" r:id="rId48"/>
    <p:sldId id="435" r:id="rId49"/>
    <p:sldId id="436" r:id="rId50"/>
    <p:sldId id="437" r:id="rId51"/>
    <p:sldId id="438" r:id="rId52"/>
    <p:sldId id="439" r:id="rId53"/>
    <p:sldId id="440" r:id="rId54"/>
    <p:sldId id="441" r:id="rId55"/>
    <p:sldId id="442" r:id="rId56"/>
    <p:sldId id="443" r:id="rId57"/>
    <p:sldId id="444" r:id="rId58"/>
    <p:sldId id="445" r:id="rId59"/>
    <p:sldId id="446" r:id="rId60"/>
    <p:sldId id="447" r:id="rId61"/>
    <p:sldId id="448" r:id="rId62"/>
    <p:sldId id="449" r:id="rId63"/>
    <p:sldId id="450" r:id="rId64"/>
    <p:sldId id="451" r:id="rId65"/>
    <p:sldId id="452" r:id="rId66"/>
    <p:sldId id="453" r:id="rId67"/>
    <p:sldId id="454" r:id="rId68"/>
    <p:sldId id="455" r:id="rId69"/>
    <p:sldId id="456" r:id="rId70"/>
    <p:sldId id="457" r:id="rId71"/>
    <p:sldId id="458" r:id="rId72"/>
    <p:sldId id="459" r:id="rId73"/>
    <p:sldId id="460" r:id="rId74"/>
    <p:sldId id="461" r:id="rId75"/>
    <p:sldId id="462" r:id="rId76"/>
    <p:sldId id="463" r:id="rId77"/>
    <p:sldId id="464" r:id="rId7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F3300"/>
    <a:srgbClr val="242D66"/>
    <a:srgbClr val="F2F2F2"/>
    <a:srgbClr val="E87A23"/>
    <a:srgbClr val="ED7D31"/>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autoAdjust="0"/>
    <p:restoredTop sz="61728" autoAdjust="0"/>
  </p:normalViewPr>
  <p:slideViewPr>
    <p:cSldViewPr>
      <p:cViewPr varScale="1">
        <p:scale>
          <a:sx n="85" d="100"/>
          <a:sy n="85" d="100"/>
        </p:scale>
        <p:origin x="1795" y="38"/>
      </p:cViewPr>
      <p:guideLst>
        <p:guide orient="horz" pos="2160"/>
        <p:guide pos="2880"/>
      </p:guideLst>
    </p:cSldViewPr>
  </p:slideViewPr>
  <p:outlineViewPr>
    <p:cViewPr>
      <p:scale>
        <a:sx n="33" d="100"/>
        <a:sy n="33" d="100"/>
      </p:scale>
      <p:origin x="0" y="-2520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2:55.604"/>
    </inkml:context>
    <inkml:brush xml:id="br0">
      <inkml:brushProperty name="width" value="0.035" units="cm"/>
      <inkml:brushProperty name="height" value="0.035" units="cm"/>
      <inkml:brushProperty name="color" value="#E71224"/>
    </inkml:brush>
  </inkml:definitions>
  <inkml:trace contextRef="#ctx0" brushRef="#br0">23 0 24575,'0'450'0,"-1"-437"13,0 0 0,-1 0 0,-6 19 0,1 1-1430,4-15-5409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2:56.697"/>
    </inkml:context>
    <inkml:brush xml:id="br0">
      <inkml:brushProperty name="width" value="0.035" units="cm"/>
      <inkml:brushProperty name="height" value="0.035" units="cm"/>
      <inkml:brushProperty name="color" value="#E71224"/>
    </inkml:brush>
  </inkml:definitions>
  <inkml:trace contextRef="#ctx0" brushRef="#br0">1 66 24575,'4'0'0,"2"-4"0,3-2 0,5 1 0,5 0 0,2 2 0,3 1 0,1 1 0,0 1 0,-3-4 0,-2-2 0,0 1 0,1 1 0,1 1 0,-3-3 0,0 0 0,-4 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2:58.720"/>
    </inkml:context>
    <inkml:brush xml:id="br0">
      <inkml:brushProperty name="width" value="0.035" units="cm"/>
      <inkml:brushProperty name="height" value="0.035" units="cm"/>
      <inkml:brushProperty name="color" value="#E71224"/>
    </inkml:brush>
  </inkml:definitions>
  <inkml:trace contextRef="#ctx0" brushRef="#br0">0 1 24575,'10'28'0,"-1"-4"0,55 223 0,-57-218 0,-1 0 0,3 38 0,2 8 0,-9-52 0,5 22 0,-6-43 0,-1 0 0,1 0 0,-1 0 0,1 0 0,0 0 0,0-1 0,-1 1 0,1 0 0,0 0 0,1-1 0,-1 1 0,0-1 0,0 1 0,1-1 0,-1 0 0,1 1 0,1 0 0,-2-1 0,0-1 0,0 0 0,1 1 0,-1-1 0,0 0 0,0 0 0,0 0 0,0 0 0,0 0 0,1 0 0,-1 0 0,0 0 0,0-1 0,0 1 0,0 0 0,0 0 0,0-1 0,0 1 0,0-1 0,0 1 0,0-1 0,0 0 0,0 1 0,0-1 0,0 0 0,0 0 0,-1 0 0,1 1 0,0-1 0,0 0 0,-1 0 0,1 0 0,0-2 0,19-40 0,-16 32 0,-4 9 0,11-23 0,25-46 0,-29 58 0,1 0 0,0 1 0,1-1 0,1 2 0,-1-1 0,2 1 0,0 1 0,0 0 0,1 0 0,0 2 0,1-1 0,23-11 0,-3 4 0,-21 9 0,1 1 0,0 0 0,0 1 0,1 1 0,-1 0 0,1 0 0,26-2 0,-1-1 0,-33 5 0,0 1 0,0-1 0,0 1 0,1 0 0,-1 1 0,0 0 0,1 0 0,6 0 0,-12 1 0,1 0 0,0 0 0,-1 0 0,1 0 0,-1 0 0,1 1 0,-1-1 0,0 0 0,1 0 0,-1 1 0,0-1 0,0 1 0,0 0 0,0-1 0,0 1 0,0 0 0,0-1 0,-1 1 0,1 0 0,-1 0 0,1 0 0,-1-1 0,0 1 0,1 4 0,0 52 0,-2-45 0,0 21 0,2-1 0,1 1 0,8 44 0,0-4-1365,-9-52-5461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3:00.919"/>
    </inkml:context>
    <inkml:brush xml:id="br0">
      <inkml:brushProperty name="width" value="0.035" units="cm"/>
      <inkml:brushProperty name="height" value="0.035" units="cm"/>
      <inkml:brushProperty name="color" value="#E71224"/>
    </inkml:brush>
  </inkml:definitions>
  <inkml:trace contextRef="#ctx0" brushRef="#br0">16 1 24575,'0'549'0,"0"-540"-227,-1-1-1,0 1 1,0 0-1,-1 0 1,-3 11-1,-1-4-6598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3:03.204"/>
    </inkml:context>
    <inkml:brush xml:id="br0">
      <inkml:brushProperty name="width" value="0.035" units="cm"/>
      <inkml:brushProperty name="height" value="0.035" units="cm"/>
      <inkml:brushProperty name="color" value="#E71224"/>
    </inkml:brush>
  </inkml:definitions>
  <inkml:trace contextRef="#ctx0" brushRef="#br0">0 1 24575,'399'0'-1365,"-377"0"-5461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3:10.131"/>
    </inkml:context>
    <inkml:brush xml:id="br0">
      <inkml:brushProperty name="width" value="0.035" units="cm"/>
      <inkml:brushProperty name="height" value="0.035" units="cm"/>
      <inkml:brushProperty name="color" value="#E71224"/>
    </inkml:brush>
  </inkml:definitions>
  <inkml:trace contextRef="#ctx0" brushRef="#br0">1 147 24575,'19'10'0,"-16"-7"0,0 0 0,0 0 0,-1 1 0,1-1 0,-1 0 0,0 1 0,0-1 0,0 1 0,0 0 0,0 0 0,-1 0 0,0 0 0,0 0 0,0 0 0,0 6 0,1 10 0,-1 0 0,-1 19 0,-1-19 0,-1 407 0,2-1152-1365,0 703-5461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3:39.202"/>
    </inkml:context>
    <inkml:brush xml:id="br0">
      <inkml:brushProperty name="width" value="0.035" units="cm"/>
      <inkml:brushProperty name="height" value="0.035" units="cm"/>
      <inkml:brushProperty name="color" value="#E71224"/>
    </inkml:brush>
  </inkml:definitions>
  <inkml:trace contextRef="#ctx0" brushRef="#br0">1 0 24575,'0'599'-1365,"0"-578"-5461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3:39.934"/>
    </inkml:context>
    <inkml:brush xml:id="br0">
      <inkml:brushProperty name="width" value="0.035" units="cm"/>
      <inkml:brushProperty name="height" value="0.035" units="cm"/>
      <inkml:brushProperty name="color" value="#E71224"/>
    </inkml:brush>
  </inkml:definitions>
  <inkml:trace contextRef="#ctx0" brushRef="#br0">1 27 24575,'15'-1'0,"1"-1"0,-1 0 0,19-5 0,35-5 0,252 9 63,-167 5-1491,-133-2-5398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3:41.319"/>
    </inkml:context>
    <inkml:brush xml:id="br0">
      <inkml:brushProperty name="width" value="0.035" units="cm"/>
      <inkml:brushProperty name="height" value="0.035" units="cm"/>
      <inkml:brushProperty name="color" value="#E71224"/>
    </inkml:brush>
  </inkml:definitions>
  <inkml:trace contextRef="#ctx0" brushRef="#br0">1 0 24575,'0'474'0,"0"-468"0,0-1 0,0 0 0,1 0 0,0 0 0,0 0 0,0 0 0,1 0 0,1 5 0,-2-9 0,-1 0 0,1 0 0,0 0 0,-1 0 0,1 0 0,0 0 0,0 0 0,-1-1 0,1 1 0,0 0 0,0 0 0,0-1 0,0 1 0,0-1 0,0 1 0,0-1 0,0 1 0,0-1 0,0 0 0,0 1 0,0-1 0,0 0 0,1 0 0,-1 0 0,0 0 0,0 0 0,0 0 0,0 0 0,0 0 0,0 0 0,1 0 0,-1-1 0,0 1 0,0 0 0,0-1 0,0 1 0,0-1 0,0 0 0,0 1 0,0-1 0,0 0 0,1-1 0,5-4 0,1 0 0,-1-1 0,-1 0 0,1 0 0,-1 0 0,0-1 0,-1 0 0,0 0 0,0-1 0,4-10 0,-5 9 0,2 0 0,-1 0 0,2 0 0,-1 1 0,1 0 0,1 0 0,11-11 0,162-104 0,-172 119 0,84-51 0,-86 52 0,0 1 0,0 0 0,0 1 0,0-1 0,1 1 0,-1 1 0,1-1 0,12 0 0,67 3 0,-47 1 0,-34-2 0,1 0 0,0 0 0,-1 1 0,1 0 0,-1 1 0,1-1 0,6 4 0,-10-4 0,0 1 0,-1-1 0,1 1 0,0 0 0,-1 0 0,1 0 0,-1 0 0,0 0 0,0 0 0,0 1 0,0-1 0,0 1 0,0 0 0,-1 0 0,1-1 0,1 6 0,8 20 0,-2 0 0,0 1 0,-2 0 0,-2 1 0,0-1 0,-2 1 0,-1 40 0,-3 5-1365,1-54-5461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3:46.101"/>
    </inkml:context>
    <inkml:brush xml:id="br0">
      <inkml:brushProperty name="width" value="0.035" units="cm"/>
      <inkml:brushProperty name="height" value="0.035" units="cm"/>
      <inkml:brushProperty name="color" value="#E71224"/>
    </inkml:brush>
  </inkml:definitions>
  <inkml:trace contextRef="#ctx0" brushRef="#br0">36 1 24575,'0'548'0,"-1"-529"0,-1 0 0,-7 33 0,4-32 0,2 0 0,-2 24 0,0 1-1365,0-29-5461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3:46.663"/>
    </inkml:context>
    <inkml:brush xml:id="br0">
      <inkml:brushProperty name="width" value="0.035" units="cm"/>
      <inkml:brushProperty name="height" value="0.035" units="cm"/>
      <inkml:brushProperty name="color" value="#E71224"/>
    </inkml:brush>
  </inkml:definitions>
  <inkml:trace contextRef="#ctx0" brushRef="#br0">0 1 24575,'848'0'-1365,"-827"0"-5461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3:47.503"/>
    </inkml:context>
    <inkml:brush xml:id="br0">
      <inkml:brushProperty name="width" value="0.035" units="cm"/>
      <inkml:brushProperty name="height" value="0.035" units="cm"/>
      <inkml:brushProperty name="color" value="#E71224"/>
    </inkml:brush>
  </inkml:definitions>
  <inkml:trace contextRef="#ctx0" brushRef="#br0">116 1 24575,'0'375'0,"-2"-345"0,-1 0 0,-1-1 0,-12 40 0,8-36 0,1 0 0,-2 42 0,7-59-16,-1-1 0,0 1-1,-2 0 1,1-1-1,-2 0 1,-12 26 0,0 0-1235,10-22-5575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4:06.416"/>
    </inkml:context>
    <inkml:brush xml:id="br0">
      <inkml:brushProperty name="width" value="0.035" units="cm"/>
      <inkml:brushProperty name="height" value="0.035" units="cm"/>
      <inkml:brushProperty name="color" value="#E71224"/>
    </inkml:brush>
  </inkml:definitions>
  <inkml:trace contextRef="#ctx0" brushRef="#br0">21 1 24575,'-1'54'0,"3"64"0,-1-112 0,0-1 0,0 1 0,1-1 0,0 0 0,0 0 0,0 0 0,1 0 0,6 9 0,-6-9 0,1 1 0,-1-1 0,0 1 0,-1 0 0,1 0 0,1 10 0,-3-3 0,-1 1 0,0-1 0,-1 1 0,0-1 0,-1 1 0,-8 24 0,4-13 0,1-2 0,-1 0 0,-1 0 0,-12 24 0,11-36 0,6-19 0,6-20 0,6-14 0,-6 26 0,0 0 0,0 1 0,10-21 0,0 5 0,-9 19 0,1-1 0,0 1 0,1 0 0,14-19 0,51-49 0,-54 59 0,-15 17 0,0 0 0,0 0 0,1 0 0,-1 0 0,1 1 0,0 0 0,0-1 0,0 2 0,0-1 0,0 0 0,1 1 0,-1-1 0,1 1 0,0 1 0,-1-1 0,1 1 0,8-2 0,-7 2 0,0 0 0,0 1 0,1 0 0,-1 0 0,0 0 0,0 1 0,0 0 0,7 2 0,-11-2 0,0-1 0,1 1 0,-1 1 0,0-1 0,0 0 0,0 1 0,0-1 0,0 1 0,-1-1 0,1 1 0,0 0 0,-1 0 0,1-1 0,-1 1 0,0 0 0,1 1 0,-1-1 0,0 0 0,0 0 0,0 0 0,-1 1 0,1-1 0,0 4 0,10 62 0,-4 1 0,-1 119 0,-6-186 0,0-1 0,-1 0 0,1 1 0,0-1 0,0 1 0,0-1 0,1 0 0,-1 1 0,0-1 0,0 0 0,1 1 0,-1-1 0,1 0 0,-1 0 0,2 3 0,-1-4 0,-1-1 0,1 1 0,-1 0 0,1 0 0,-1 0 0,1-1 0,-1 1 0,1 0 0,-1 0 0,1-1 0,-1 1 0,1-1 0,-1 1 0,0 0 0,1-1 0,-1 1 0,0-1 0,1 1 0,-1-1 0,0 1 0,0-1 0,1 1 0,-1-1 0,0 0 0,20-45 0,-20 45 0,16-59 0,-13 45 0,0 1 0,1 0 0,11-26 0,-2 15 0,-6 8 0,2 1 0,11-17 0,-16 27 0,1 1 0,-1 0 0,1 0 0,0 0 0,0 1 0,0 0 0,1 0 0,-1 0 0,9-4 0,22-11 0,-24 12 0,-1 0 0,2 1 0,-1 1 0,22-7 0,-5 4 0,-20 5 0,0 0 0,0 0 0,0 1 0,1 1 0,18-2 0,-26 3 0,0 1 0,0-1 0,0 0 0,0 1 0,0-1 0,0 1 0,0 0 0,0 0 0,0 0 0,0 0 0,-1 0 0,1 0 0,0 0 0,0 0 0,-1 1 0,1-1 0,-1 1 0,1-1 0,-1 1 0,0 0 0,0-1 0,0 1 0,0 0 0,0 0 0,0 0 0,0 0 0,0 0 0,-1 0 0,1 0 0,-1 0 0,0 0 0,1 2 0,2 27 0,-1 0 0,-1 0 0,-5 45 0,1 7 0,3 116-1365,0-178-5461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4:08.151"/>
    </inkml:context>
    <inkml:brush xml:id="br0">
      <inkml:brushProperty name="width" value="0.035" units="cm"/>
      <inkml:brushProperty name="height" value="0.035" units="cm"/>
      <inkml:brushProperty name="color" value="#E71224"/>
    </inkml:brush>
  </inkml:definitions>
  <inkml:trace contextRef="#ctx0" brushRef="#br0">0 122 24575,'30'0'0,"57"-7"0,-74 4 0,0 0 0,0-1 0,0 0 0,-1 0 0,0-2 0,21-11 0,-18 8 0,5-4 0,1 1 0,43-17 0,-60 27 0,1 0 0,0 0 0,0 1 0,1 0 0,-1 0 0,0 0 0,0 1 0,1-1 0,-1 1 0,0 1 0,0-1 0,1 1 0,-1 0 0,0 0 0,0 0 0,0 1 0,0 0 0,0 0 0,5 3 0,-2 0-273,0-1 0,0 1 0,0-1 0,11 3 0,-2-2-6553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1T09:04:10.217"/>
    </inkml:context>
    <inkml:brush xml:id="br0">
      <inkml:brushProperty name="width" value="0.035" units="cm"/>
      <inkml:brushProperty name="height" value="0.035" units="cm"/>
      <inkml:brushProperty name="color" value="#E71224"/>
    </inkml:brush>
  </inkml:definitions>
  <inkml:trace contextRef="#ctx0" brushRef="#br0">0 47 24575,'0'524'0,"5"-488"0,-5-35 0,1-1 0,-1 1 0,0-1 0,0 1 0,0-1 0,1 1 0,-1-1 0,0 1 0,1-1 0,-1 1 0,0-1 0,1 1 0,-1-1 0,1 0 0,-1 1 0,0-1 0,1 0 0,-1 1 0,1-1 0,-1 0 0,2 1 0,-1-1 0,0 0 0,0 0 0,-1-1 0,1 1 0,0 0 0,0 0 0,0-1 0,-1 1 0,1-1 0,0 1 0,-1-1 0,1 1 0,0-1 0,-1 1 0,1-1 0,0 1 0,-1-1 0,1 0 0,-1 1 0,1-3 0,6-7 0,-1 0 0,-1-1 0,1 0 0,4-17 0,8-16 0,24-48 0,-28 56 0,3 2 0,0 0 0,27-38 0,-20 36 0,-17 25 0,-1 1 0,1 0 0,0 1 0,1 0 0,0 0 0,1 1 0,0 0 0,15-11 0,-8 9 0,-9 5 0,0 0 0,0 1 0,0 0 0,0 0 0,1 1 0,-1 0 0,1 0 0,0 1 0,11-2 0,46-8 0,-44 7 0,42-5 0,-10 1 0,16-2 0,-66 10 0,1 1 0,-1 0 0,1 0 0,-1 1 0,1-1 0,-1 1 0,1-1 0,-1 1 0,0 0 0,1 0 0,-1 1 0,0-1 0,0 1 0,0-1 0,4 4 0,-3-1 0,0 1 0,-1-1 0,0 0 0,0 1 0,0 0 0,-1 0 0,1 0 0,-1 0 0,0 0 0,2 10 0,-1 1 0,0 0 0,2 22 0,-3-17 0,2-1 0,0 0 0,11 28 0,-9-29 0,0 1 0,-2 0 0,5 35 0,-8 126 84,-3-88-1533,2-71-5377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725425D0-3ECE-420E-9130-D13D915528F8}" type="datetimeFigureOut">
              <a:rPr lang="en-US" smtClean="0"/>
              <a:pPr/>
              <a:t>8/11/2024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D2F2318-E25A-4C0A-9D76-B30B703A9430}" type="slidenum">
              <a:rPr lang="en-US" smtClean="0"/>
              <a:pPr/>
              <a:t>‹#›</a:t>
            </a:fld>
            <a:endParaRPr lang="en-US"/>
          </a:p>
        </p:txBody>
      </p:sp>
    </p:spTree>
    <p:extLst>
      <p:ext uri="{BB962C8B-B14F-4D97-AF65-F5344CB8AC3E}">
        <p14:creationId xmlns:p14="http://schemas.microsoft.com/office/powerpoint/2010/main" val="1261693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sz="2000" b="1">
                <a:solidFill>
                  <a:schemeClr val="tx1"/>
                </a:solidFill>
                <a:latin typeface="Arial" panose="020B0604020202020204" pitchFamily="34" charset="0"/>
              </a:defRPr>
            </a:lvl1pPr>
            <a:lvl2pPr marL="734852" indent="-282635" defTabSz="913854">
              <a:defRPr sz="2000" b="1">
                <a:solidFill>
                  <a:schemeClr val="tx1"/>
                </a:solidFill>
                <a:latin typeface="Arial" panose="020B0604020202020204" pitchFamily="34" charset="0"/>
              </a:defRPr>
            </a:lvl2pPr>
            <a:lvl3pPr marL="1130541" indent="-226108" defTabSz="913854">
              <a:defRPr sz="2000" b="1">
                <a:solidFill>
                  <a:schemeClr val="tx1"/>
                </a:solidFill>
                <a:latin typeface="Arial" panose="020B0604020202020204" pitchFamily="34" charset="0"/>
              </a:defRPr>
            </a:lvl3pPr>
            <a:lvl4pPr marL="1582758" indent="-226108" defTabSz="913854">
              <a:defRPr sz="2000" b="1">
                <a:solidFill>
                  <a:schemeClr val="tx1"/>
                </a:solidFill>
                <a:latin typeface="Arial" panose="020B0604020202020204" pitchFamily="34" charset="0"/>
              </a:defRPr>
            </a:lvl4pPr>
            <a:lvl5pPr marL="2034974" indent="-226108" defTabSz="913854">
              <a:defRPr sz="2000" b="1">
                <a:solidFill>
                  <a:schemeClr val="tx1"/>
                </a:solidFill>
                <a:latin typeface="Arial" panose="020B0604020202020204" pitchFamily="34" charset="0"/>
              </a:defRPr>
            </a:lvl5pPr>
            <a:lvl6pPr marL="2487191" indent="-226108" defTabSz="913854" eaLnBrk="0" fontAlgn="base" hangingPunct="0">
              <a:spcBef>
                <a:spcPct val="0"/>
              </a:spcBef>
              <a:spcAft>
                <a:spcPct val="0"/>
              </a:spcAft>
              <a:defRPr sz="2000" b="1">
                <a:solidFill>
                  <a:schemeClr val="tx1"/>
                </a:solidFill>
                <a:latin typeface="Arial" panose="020B0604020202020204" pitchFamily="34" charset="0"/>
              </a:defRPr>
            </a:lvl6pPr>
            <a:lvl7pPr marL="2939407" indent="-226108" defTabSz="913854" eaLnBrk="0" fontAlgn="base" hangingPunct="0">
              <a:spcBef>
                <a:spcPct val="0"/>
              </a:spcBef>
              <a:spcAft>
                <a:spcPct val="0"/>
              </a:spcAft>
              <a:defRPr sz="2000" b="1">
                <a:solidFill>
                  <a:schemeClr val="tx1"/>
                </a:solidFill>
                <a:latin typeface="Arial" panose="020B0604020202020204" pitchFamily="34" charset="0"/>
              </a:defRPr>
            </a:lvl7pPr>
            <a:lvl8pPr marL="3391624" indent="-226108" defTabSz="913854" eaLnBrk="0" fontAlgn="base" hangingPunct="0">
              <a:spcBef>
                <a:spcPct val="0"/>
              </a:spcBef>
              <a:spcAft>
                <a:spcPct val="0"/>
              </a:spcAft>
              <a:defRPr sz="2000" b="1">
                <a:solidFill>
                  <a:schemeClr val="tx1"/>
                </a:solidFill>
                <a:latin typeface="Arial" panose="020B0604020202020204" pitchFamily="34" charset="0"/>
              </a:defRPr>
            </a:lvl8pPr>
            <a:lvl9pPr marL="3843840" indent="-226108" defTabSz="913854" eaLnBrk="0" fontAlgn="base" hangingPunct="0">
              <a:spcBef>
                <a:spcPct val="0"/>
              </a:spcBef>
              <a:spcAft>
                <a:spcPct val="0"/>
              </a:spcAft>
              <a:defRPr sz="2000" b="1">
                <a:solidFill>
                  <a:schemeClr val="tx1"/>
                </a:solidFill>
                <a:latin typeface="Arial" panose="020B0604020202020204" pitchFamily="34" charset="0"/>
              </a:defRPr>
            </a:lvl9pPr>
          </a:lstStyle>
          <a:p>
            <a:fld id="{0C4F1636-DE09-4FF6-9E5C-B54D37BB6A57}" type="slidenum">
              <a:rPr lang="en-US" sz="1200" b="0" smtClean="0"/>
              <a:pPr/>
              <a:t>17</a:t>
            </a:fld>
            <a:endParaRPr lang="en-US" sz="1200" b="0" dirty="0"/>
          </a:p>
        </p:txBody>
      </p:sp>
    </p:spTree>
    <p:extLst>
      <p:ext uri="{BB962C8B-B14F-4D97-AF65-F5344CB8AC3E}">
        <p14:creationId xmlns:p14="http://schemas.microsoft.com/office/powerpoint/2010/main" val="260480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88620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638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r"/>
            <a:r>
              <a:rPr lang="es-ES_tradnl" altLang="en-US" sz="1000" i="1"/>
              <a:t>6</a:t>
            </a:r>
          </a:p>
        </p:txBody>
      </p:sp>
      <p:sp>
        <p:nvSpPr>
          <p:cNvPr id="1638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6389" name="Rectangle 5"/>
          <p:cNvSpPr>
            <a:spLocks noChangeArrowheads="1"/>
          </p:cNvSpPr>
          <p:nvPr/>
        </p:nvSpPr>
        <p:spPr bwMode="auto">
          <a:xfrm>
            <a:off x="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6390" name="Rectangle 6"/>
          <p:cNvSpPr>
            <a:spLocks noGrp="1" noRot="1" noChangeAspect="1" noChangeArrowheads="1" noTextEdit="1"/>
          </p:cNvSpPr>
          <p:nvPr>
            <p:ph type="sldImg"/>
          </p:nvPr>
        </p:nvSpPr>
        <p:spPr>
          <a:xfrm>
            <a:off x="1150938" y="692150"/>
            <a:ext cx="4556125" cy="3416300"/>
          </a:xfrm>
          <a:ln cap="flat"/>
        </p:spPr>
      </p:sp>
      <p:sp>
        <p:nvSpPr>
          <p:cNvPr id="16391" name="Rectangle 7"/>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7664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388620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2048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r"/>
            <a:r>
              <a:rPr lang="es-ES_tradnl" altLang="en-US" sz="1000" i="1"/>
              <a:t>10</a:t>
            </a:r>
          </a:p>
        </p:txBody>
      </p:sp>
      <p:sp>
        <p:nvSpPr>
          <p:cNvPr id="2048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20485" name="Rectangle 5"/>
          <p:cNvSpPr>
            <a:spLocks noChangeArrowheads="1"/>
          </p:cNvSpPr>
          <p:nvPr/>
        </p:nvSpPr>
        <p:spPr bwMode="auto">
          <a:xfrm>
            <a:off x="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20486" name="Rectangle 6"/>
          <p:cNvSpPr>
            <a:spLocks noGrp="1" noRot="1" noChangeAspect="1" noChangeArrowheads="1" noTextEdit="1"/>
          </p:cNvSpPr>
          <p:nvPr>
            <p:ph type="sldImg"/>
          </p:nvPr>
        </p:nvSpPr>
        <p:spPr>
          <a:xfrm>
            <a:off x="1150938" y="692150"/>
            <a:ext cx="4556125" cy="3416300"/>
          </a:xfrm>
          <a:ln cap="flat"/>
        </p:spPr>
      </p:sp>
      <p:sp>
        <p:nvSpPr>
          <p:cNvPr id="20487" name="Rectangle 7"/>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217698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D2BDE25-0E3B-014D-AB08-0AD4741190BF}" type="datetime1">
              <a:rPr lang="en-US" smtClean="0"/>
              <a:t>8/11/2024</a:t>
            </a:fld>
            <a:endParaRPr lang="en-US"/>
          </a:p>
        </p:txBody>
      </p:sp>
      <p:sp>
        <p:nvSpPr>
          <p:cNvPr id="6" name="Slide Number Placeholder 5"/>
          <p:cNvSpPr>
            <a:spLocks noGrp="1"/>
          </p:cNvSpPr>
          <p:nvPr>
            <p:ph type="sldNum" sz="quarter" idx="12"/>
          </p:nvPr>
        </p:nvSpPr>
        <p:spPr>
          <a:xfrm>
            <a:off x="8610600" y="6385719"/>
            <a:ext cx="457200" cy="365125"/>
          </a:xfrm>
          <a:prstGeom prst="rect">
            <a:avLst/>
          </a:prstGeom>
        </p:spPr>
        <p:txBody>
          <a:bodyPr/>
          <a:lstStyle/>
          <a:p>
            <a:fld id="{82811DF7-A42A-4107-A9E6-6C3947535C5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128D78-157E-6441-A2E9-690CAD17061D}" type="datetime1">
              <a:rPr lang="en-US" smtClean="0"/>
              <a:t>8/11/2024</a:t>
            </a:fld>
            <a:endParaRPr lang="en-US"/>
          </a:p>
        </p:txBody>
      </p:sp>
      <p:sp>
        <p:nvSpPr>
          <p:cNvPr id="4" name="Footer Placeholder 3"/>
          <p:cNvSpPr>
            <a:spLocks noGrp="1"/>
          </p:cNvSpPr>
          <p:nvPr>
            <p:ph type="ftr" sz="quarter" idx="11"/>
          </p:nvPr>
        </p:nvSpPr>
        <p:spPr>
          <a:xfrm>
            <a:off x="685346" y="5883276"/>
            <a:ext cx="5004649"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7885509" y="5883276"/>
            <a:ext cx="565159" cy="365125"/>
          </a:xfrm>
          <a:prstGeom prst="rect">
            <a:avLst/>
          </a:prstGeom>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56127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838200" y="419100"/>
            <a:ext cx="7772400" cy="11049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838200" y="1981200"/>
            <a:ext cx="3810000" cy="4076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Online Image Placeholder 3"/>
          <p:cNvSpPr>
            <a:spLocks noGrp="1"/>
          </p:cNvSpPr>
          <p:nvPr>
            <p:ph type="clipArt" sz="half" idx="2"/>
          </p:nvPr>
        </p:nvSpPr>
        <p:spPr>
          <a:xfrm>
            <a:off x="4800600" y="1981200"/>
            <a:ext cx="3810000" cy="4076700"/>
          </a:xfrm>
          <a:prstGeom prst="rect">
            <a:avLst/>
          </a:prstGeom>
        </p:spPr>
        <p:txBody>
          <a:bodyPr/>
          <a:lstStyle/>
          <a:p>
            <a:pPr lvl="0"/>
            <a:endParaRPr lang="en-US" noProof="0"/>
          </a:p>
        </p:txBody>
      </p:sp>
    </p:spTree>
    <p:extLst>
      <p:ext uri="{BB962C8B-B14F-4D97-AF65-F5344CB8AC3E}">
        <p14:creationId xmlns:p14="http://schemas.microsoft.com/office/powerpoint/2010/main" val="3779064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699622F-DC27-6E4D-80EB-5A6117330FAE}" type="datetime1">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62273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9E6A6B0-E07D-7A4E-9C17-34F6E529FF07}" type="datetime1">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022859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943CC3-6E6E-6643-828B-49F62B8D27E7}" type="datetime1">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8632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8AE71E-C708-8048-B873-9764252AFD88}" type="datetime1">
              <a:rPr lang="en-US" smtClean="0"/>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63655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E2E0B2-8F0E-E541-A881-26952164E626}" type="datetime1">
              <a:rPr lang="en-US" smtClean="0"/>
              <a:t>8/11/2024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225649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128D78-157E-6441-A2E9-690CAD17061D}" type="datetime1">
              <a:rPr lang="en-US" smtClean="0"/>
              <a:t>8/11/2024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756025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DEEC-6BE6-484F-BFF5-6191A744CE89}" type="datetime1">
              <a:rPr lang="en-US" smtClean="0"/>
              <a:t>8/11/2024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016193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E479F4-DB7F-AD41-A0BB-29D2BAB33E6B}" type="datetime1">
              <a:rPr lang="en-US" smtClean="0"/>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310967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76C5C7-3D40-D147-8474-4CAF78E28128}" type="datetime1">
              <a:rPr lang="en-US" smtClean="0"/>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02322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DCC7-F5A3-F54A-8412-78F07FF2601F}" type="datetime1">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974303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BFF6D2-335C-6748-BEAD-B38E52C128C7}" type="datetime1">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694397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07516F8-EADD-4F1E-A66A-F9DE6D301F0B}"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13422981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7516F8-EADD-4F1E-A66A-F9DE6D301F0B}"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7061959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7516F8-EADD-4F1E-A66A-F9DE6D301F0B}"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223154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7516F8-EADD-4F1E-A66A-F9DE6D301F0B}" type="datetimeFigureOut">
              <a:rPr lang="en-US" smtClean="0"/>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3921060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7516F8-EADD-4F1E-A66A-F9DE6D301F0B}" type="datetimeFigureOut">
              <a:rPr lang="en-US" smtClean="0"/>
              <a:t>8/11/2024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34830274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7516F8-EADD-4F1E-A66A-F9DE6D301F0B}" type="datetimeFigureOut">
              <a:rPr lang="en-US" smtClean="0"/>
              <a:t>8/11/2024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23342402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7516F8-EADD-4F1E-A66A-F9DE6D301F0B}" type="datetimeFigureOut">
              <a:rPr lang="en-US" smtClean="0"/>
              <a:t>8/11/2024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12512345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7516F8-EADD-4F1E-A66A-F9DE6D301F0B}" type="datetimeFigureOut">
              <a:rPr lang="en-US" smtClean="0"/>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2694671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7516F8-EADD-4F1E-A66A-F9DE6D301F0B}" type="datetimeFigureOut">
              <a:rPr lang="en-US" smtClean="0"/>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852590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7516F8-EADD-4F1E-A66A-F9DE6D301F0B}"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26615000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7516F8-EADD-4F1E-A66A-F9DE6D301F0B}"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37696598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image" Target="../media/image4.png"/><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5" cstate="print">
            <a:extLst>
              <a:ext uri="{28A0092B-C50C-407E-A947-70E740481C1C}">
                <a14:useLocalDpi xmlns:a14="http://schemas.microsoft.com/office/drawing/2010/main" val="0"/>
              </a:ext>
            </a:extLst>
          </a:blip>
          <a:srcRect t="78333" r="73809"/>
          <a:stretch/>
        </p:blipFill>
        <p:spPr>
          <a:xfrm>
            <a:off x="0" y="5410200"/>
            <a:ext cx="2450123" cy="1447800"/>
          </a:xfrm>
          <a:prstGeom prst="rect">
            <a:avLst/>
          </a:prstGeom>
        </p:spPr>
      </p:pic>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E56384-A506-C646-ACE4-0A747B69E112}" type="datetime1">
              <a:rPr lang="en-US" smtClean="0"/>
              <a:t>8/11/2024</a:t>
            </a:fld>
            <a:endParaRPr lang="en-US"/>
          </a:p>
        </p:txBody>
      </p:sp>
      <p:pic>
        <p:nvPicPr>
          <p:cNvPr id="6" name="Picture 5"/>
          <p:cNvPicPr>
            <a:picLocks noChangeAspect="1"/>
          </p:cNvPicPr>
          <p:nvPr userDrawn="1"/>
        </p:nvPicPr>
        <p:blipFill rotWithShape="1">
          <a:blip r:embed="rId6" cstate="print">
            <a:extLst>
              <a:ext uri="{28A0092B-C50C-407E-A947-70E740481C1C}">
                <a14:useLocalDpi xmlns:a14="http://schemas.microsoft.com/office/drawing/2010/main" val="0"/>
              </a:ext>
            </a:extLst>
          </a:blip>
          <a:srcRect l="73810" b="76667"/>
          <a:stretch/>
        </p:blipFill>
        <p:spPr>
          <a:xfrm>
            <a:off x="6690091" y="0"/>
            <a:ext cx="2453909" cy="1561578"/>
          </a:xfrm>
          <a:prstGeom prst="rect">
            <a:avLst/>
          </a:prstGeom>
        </p:spPr>
      </p:pic>
      <p:sp>
        <p:nvSpPr>
          <p:cNvPr id="3" name="TextBox 2"/>
          <p:cNvSpPr txBox="1"/>
          <p:nvPr userDrawn="1"/>
        </p:nvSpPr>
        <p:spPr>
          <a:xfrm>
            <a:off x="0" y="0"/>
            <a:ext cx="9144000" cy="338554"/>
          </a:xfrm>
          <a:prstGeom prst="rect">
            <a:avLst/>
          </a:prstGeom>
          <a:noFill/>
        </p:spPr>
        <p:txBody>
          <a:bodyPr wrap="square" rtlCol="0">
            <a:spAutoFit/>
          </a:bodyPr>
          <a:lstStyle/>
          <a:p>
            <a:r>
              <a:rPr lang="en-US" sz="1600" b="1" dirty="0">
                <a:solidFill>
                  <a:schemeClr val="tx1"/>
                </a:solidFill>
              </a:rPr>
              <a:t>IT1090 - Information Systems and Data Modeling</a:t>
            </a:r>
          </a:p>
        </p:txBody>
      </p:sp>
      <p:sp>
        <p:nvSpPr>
          <p:cNvPr id="7" name="TextBox 6"/>
          <p:cNvSpPr txBox="1"/>
          <p:nvPr userDrawn="1"/>
        </p:nvSpPr>
        <p:spPr>
          <a:xfrm>
            <a:off x="0" y="6519446"/>
            <a:ext cx="9144000" cy="338554"/>
          </a:xfrm>
          <a:prstGeom prst="rect">
            <a:avLst/>
          </a:prstGeom>
          <a:noFill/>
        </p:spPr>
        <p:txBody>
          <a:bodyPr wrap="square" rtlCol="0">
            <a:spAutoFit/>
          </a:bodyPr>
          <a:lstStyle/>
          <a:p>
            <a:pPr algn="r"/>
            <a:r>
              <a:rPr lang="en-US" sz="1600" b="1" dirty="0">
                <a:solidFill>
                  <a:schemeClr val="tx1"/>
                </a:solidFill>
              </a:rPr>
              <a:t>SLIIT </a:t>
            </a:r>
            <a:r>
              <a:rPr lang="en-US" sz="1600" b="1" baseline="0" dirty="0">
                <a:solidFill>
                  <a:schemeClr val="tx1"/>
                </a:solidFill>
              </a:rPr>
              <a:t> - Faculty of Computing</a:t>
            </a:r>
            <a:endParaRPr lang="en-US" sz="1600" b="1" dirty="0">
              <a:solidFill>
                <a:schemeClr val="tx1"/>
              </a:solidFill>
            </a:endParaRPr>
          </a:p>
        </p:txBody>
      </p:sp>
      <p:sp>
        <p:nvSpPr>
          <p:cNvPr id="5" name="Rectangle 4"/>
          <p:cNvSpPr/>
          <p:nvPr userDrawn="1"/>
        </p:nvSpPr>
        <p:spPr>
          <a:xfrm>
            <a:off x="6248400" y="76200"/>
            <a:ext cx="2743200" cy="914400"/>
          </a:xfrm>
          <a:prstGeom prst="rect">
            <a:avLst/>
          </a:prstGeom>
          <a:solidFill>
            <a:srgbClr val="F2F2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rotWithShape="1">
          <a:blip r:embed="rId7">
            <a:extLst>
              <a:ext uri="{28A0092B-C50C-407E-A947-70E740481C1C}">
                <a14:useLocalDpi xmlns:a14="http://schemas.microsoft.com/office/drawing/2010/main" val="0"/>
              </a:ext>
            </a:extLst>
          </a:blip>
          <a:srcRect t="29997" b="23330"/>
          <a:stretch/>
        </p:blipFill>
        <p:spPr>
          <a:xfrm>
            <a:off x="6248400" y="76200"/>
            <a:ext cx="2742857" cy="9144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84" r:id="rId2"/>
    <p:sldLayoutId id="2147483685"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13" cstate="print">
            <a:extLst>
              <a:ext uri="{28A0092B-C50C-407E-A947-70E740481C1C}">
                <a14:useLocalDpi xmlns:a14="http://schemas.microsoft.com/office/drawing/2010/main" val="0"/>
              </a:ext>
            </a:extLst>
          </a:blip>
          <a:srcRect t="93000"/>
          <a:stretch/>
        </p:blipFill>
        <p:spPr>
          <a:xfrm>
            <a:off x="0" y="6400800"/>
            <a:ext cx="9144000" cy="457201"/>
          </a:xfrm>
          <a:prstGeom prst="rect">
            <a:avLst/>
          </a:prstGeom>
        </p:spPr>
      </p:pic>
      <p:sp>
        <p:nvSpPr>
          <p:cNvPr id="2" name="Title Placeholder 1"/>
          <p:cNvSpPr>
            <a:spLocks noGrp="1"/>
          </p:cNvSpPr>
          <p:nvPr>
            <p:ph type="title"/>
          </p:nvPr>
        </p:nvSpPr>
        <p:spPr>
          <a:xfrm>
            <a:off x="628650" y="365125"/>
            <a:ext cx="7886700" cy="10826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EC29E6-4FCB-2845-BF22-D83D87980FEA}" type="datetime1">
              <a:rPr lang="en-US" smtClean="0"/>
              <a:t>8/11/2024</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2EAAFE79-0F59-BC47-A038-EDA78F95D43E}" type="slidenum">
              <a:rPr lang="en-US" smtClean="0"/>
              <a:pPr/>
              <a:t>‹#›</a:t>
            </a:fld>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71D3D-F011-47C0-9290-685F7D9F6412}" type="slidenum">
              <a:rPr lang="en-US" smtClean="0"/>
              <a:t>‹#›</a:t>
            </a:fld>
            <a:endParaRPr lang="en-US" dirty="0"/>
          </a:p>
        </p:txBody>
      </p:sp>
      <p:pic>
        <p:nvPicPr>
          <p:cNvPr id="7" name="Picture 6"/>
          <p:cNvPicPr>
            <a:picLocks noChangeAspect="1"/>
          </p:cNvPicPr>
          <p:nvPr userDrawn="1"/>
        </p:nvPicPr>
        <p:blipFill rotWithShape="1">
          <a:blip r:embed="rId14" cstate="print">
            <a:extLst>
              <a:ext uri="{28A0092B-C50C-407E-A947-70E740481C1C}">
                <a14:useLocalDpi xmlns:a14="http://schemas.microsoft.com/office/drawing/2010/main" val="0"/>
              </a:ext>
            </a:extLst>
          </a:blip>
          <a:srcRect t="29997" b="23330"/>
          <a:stretch/>
        </p:blipFill>
        <p:spPr>
          <a:xfrm>
            <a:off x="7620000" y="0"/>
            <a:ext cx="1524000" cy="508064"/>
          </a:xfrm>
          <a:prstGeom prst="rect">
            <a:avLst/>
          </a:prstGeom>
        </p:spPr>
      </p:pic>
      <p:sp>
        <p:nvSpPr>
          <p:cNvPr id="11" name="TextBox 10"/>
          <p:cNvSpPr txBox="1"/>
          <p:nvPr userDrawn="1"/>
        </p:nvSpPr>
        <p:spPr>
          <a:xfrm>
            <a:off x="0" y="6553200"/>
            <a:ext cx="9144000" cy="338554"/>
          </a:xfrm>
          <a:prstGeom prst="rect">
            <a:avLst/>
          </a:prstGeom>
          <a:noFill/>
        </p:spPr>
        <p:txBody>
          <a:bodyPr wrap="square" rtlCol="0">
            <a:spAutoFit/>
          </a:bodyPr>
          <a:lstStyle/>
          <a:p>
            <a:pPr algn="r"/>
            <a:r>
              <a:rPr lang="en-US" sz="1600" b="1" dirty="0">
                <a:solidFill>
                  <a:srgbClr val="E87A23"/>
                </a:solidFill>
              </a:rPr>
              <a:t>SLIIT </a:t>
            </a:r>
            <a:r>
              <a:rPr lang="en-US" sz="1600" b="1" baseline="0" dirty="0">
                <a:solidFill>
                  <a:srgbClr val="E87A23"/>
                </a:solidFill>
              </a:rPr>
              <a:t> - Faculty of Computing</a:t>
            </a:r>
            <a:endParaRPr lang="en-US" sz="1600" b="1" dirty="0">
              <a:solidFill>
                <a:srgbClr val="E87A23"/>
              </a:solidFill>
            </a:endParaRPr>
          </a:p>
        </p:txBody>
      </p:sp>
      <p:pic>
        <p:nvPicPr>
          <p:cNvPr id="12" name="Picture 11"/>
          <p:cNvPicPr>
            <a:picLocks noChangeAspect="1"/>
          </p:cNvPicPr>
          <p:nvPr userDrawn="1"/>
        </p:nvPicPr>
        <p:blipFill rotWithShape="1">
          <a:blip r:embed="rId13" cstate="print">
            <a:extLst>
              <a:ext uri="{28A0092B-C50C-407E-A947-70E740481C1C}">
                <a14:useLocalDpi xmlns:a14="http://schemas.microsoft.com/office/drawing/2010/main" val="0"/>
              </a:ext>
            </a:extLst>
          </a:blip>
          <a:srcRect t="93000"/>
          <a:stretch/>
        </p:blipFill>
        <p:spPr>
          <a:xfrm rot="10800000">
            <a:off x="0" y="-2"/>
            <a:ext cx="7620000" cy="457201"/>
          </a:xfrm>
          <a:prstGeom prst="rect">
            <a:avLst/>
          </a:prstGeom>
        </p:spPr>
      </p:pic>
      <p:sp>
        <p:nvSpPr>
          <p:cNvPr id="10" name="TextBox 9"/>
          <p:cNvSpPr txBox="1"/>
          <p:nvPr userDrawn="1"/>
        </p:nvSpPr>
        <p:spPr>
          <a:xfrm>
            <a:off x="0" y="-76200"/>
            <a:ext cx="4419600" cy="338554"/>
          </a:xfrm>
          <a:prstGeom prst="rect">
            <a:avLst/>
          </a:prstGeom>
          <a:noFill/>
        </p:spPr>
        <p:txBody>
          <a:bodyPr wrap="square" rtlCol="0">
            <a:spAutoFit/>
          </a:bodyPr>
          <a:lstStyle/>
          <a:p>
            <a:r>
              <a:rPr lang="en-US" sz="1600" b="1" dirty="0">
                <a:solidFill>
                  <a:schemeClr val="bg1"/>
                </a:solidFill>
              </a:rPr>
              <a:t>IT1090 - Information Systems and Data Modeling</a:t>
            </a:r>
          </a:p>
        </p:txBody>
      </p:sp>
      <p:cxnSp>
        <p:nvCxnSpPr>
          <p:cNvPr id="17" name="Straight Connector 16"/>
          <p:cNvCxnSpPr/>
          <p:nvPr userDrawn="1"/>
        </p:nvCxnSpPr>
        <p:spPr>
          <a:xfrm>
            <a:off x="628650" y="1447800"/>
            <a:ext cx="78867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23770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7516F8-EADD-4F1E-A66A-F9DE6D301F0B}" type="datetimeFigureOut">
              <a:rPr lang="en-US" smtClean="0"/>
              <a:t>8/11/2024</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0A883A-E27C-4CE2-8BE2-5A6B27F0492F}" type="slidenum">
              <a:rPr lang="en-US" smtClean="0"/>
              <a:t>‹#›</a:t>
            </a:fld>
            <a:endParaRPr lang="en-US"/>
          </a:p>
        </p:txBody>
      </p:sp>
    </p:spTree>
    <p:extLst>
      <p:ext uri="{BB962C8B-B14F-4D97-AF65-F5344CB8AC3E}">
        <p14:creationId xmlns:p14="http://schemas.microsoft.com/office/powerpoint/2010/main" val="22347080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5.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10.png"/><Relationship Id="rId21" Type="http://schemas.openxmlformats.org/officeDocument/2006/relationships/image" Target="../media/image19.png"/><Relationship Id="rId7" Type="http://schemas.openxmlformats.org/officeDocument/2006/relationships/image" Target="../media/image12.png"/><Relationship Id="rId12" Type="http://schemas.openxmlformats.org/officeDocument/2006/relationships/customXml" Target="../ink/ink6.xml"/><Relationship Id="rId17" Type="http://schemas.openxmlformats.org/officeDocument/2006/relationships/image" Target="../media/image17.png"/><Relationship Id="rId25" Type="http://schemas.openxmlformats.org/officeDocument/2006/relationships/image" Target="../media/image21.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4.png"/><Relationship Id="rId24" Type="http://schemas.openxmlformats.org/officeDocument/2006/relationships/customXml" Target="../ink/ink12.xml"/><Relationship Id="rId5" Type="http://schemas.openxmlformats.org/officeDocument/2006/relationships/image" Target="../media/image11.png"/><Relationship Id="rId15" Type="http://schemas.openxmlformats.org/officeDocument/2006/relationships/image" Target="../media/image16.png"/><Relationship Id="rId23" Type="http://schemas.openxmlformats.org/officeDocument/2006/relationships/image" Target="../media/image20.png"/><Relationship Id="rId28" Type="http://schemas.openxmlformats.org/officeDocument/2006/relationships/customXml" Target="../ink/ink14.xml"/><Relationship Id="rId10" Type="http://schemas.openxmlformats.org/officeDocument/2006/relationships/customXml" Target="../ink/ink5.xml"/><Relationship Id="rId19" Type="http://schemas.openxmlformats.org/officeDocument/2006/relationships/image" Target="../media/image18.png"/><Relationship Id="rId31" Type="http://schemas.openxmlformats.org/officeDocument/2006/relationships/image" Target="../media/image24.png"/><Relationship Id="rId4" Type="http://schemas.openxmlformats.org/officeDocument/2006/relationships/customXml" Target="../ink/ink2.xml"/><Relationship Id="rId9" Type="http://schemas.openxmlformats.org/officeDocument/2006/relationships/image" Target="../media/image13.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2.png"/><Relationship Id="rId30" Type="http://schemas.openxmlformats.org/officeDocument/2006/relationships/customXml" Target="../ink/ink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latin typeface="Corbel" panose="020B0503020204020204" pitchFamily="34" charset="0"/>
              </a:rPr>
              <a:t>Data Modelling using ER diagrams</a:t>
            </a:r>
          </a:p>
        </p:txBody>
      </p:sp>
      <p:sp>
        <p:nvSpPr>
          <p:cNvPr id="3" name="Subtitle 2"/>
          <p:cNvSpPr>
            <a:spLocks noGrp="1"/>
          </p:cNvSpPr>
          <p:nvPr>
            <p:ph type="subTitle" idx="1"/>
          </p:nvPr>
        </p:nvSpPr>
        <p:spPr/>
        <p:txBody>
          <a:bodyPr>
            <a:normAutofit/>
          </a:bodyPr>
          <a:lstStyle/>
          <a:p>
            <a:r>
              <a:rPr lang="en-US" sz="3600" dirty="0">
                <a:latin typeface="Times New Roman" panose="02020603050405020304" pitchFamily="18" charset="0"/>
                <a:cs typeface="Times New Roman" panose="02020603050405020304" pitchFamily="18" charset="0"/>
              </a:rPr>
              <a:t>Lecture  - 05</a:t>
            </a:r>
          </a:p>
        </p:txBody>
      </p:sp>
    </p:spTree>
    <p:extLst>
      <p:ext uri="{BB962C8B-B14F-4D97-AF65-F5344CB8AC3E}">
        <p14:creationId xmlns:p14="http://schemas.microsoft.com/office/powerpoint/2010/main" val="2551726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92696"/>
            <a:ext cx="6687849" cy="1181858"/>
          </a:xfrm>
        </p:spPr>
        <p:txBody>
          <a:bodyPr>
            <a:normAutofit/>
          </a:bodyPr>
          <a:lstStyle/>
          <a:p>
            <a:pPr algn="l"/>
            <a:r>
              <a:rPr lang="en-US" sz="4800" dirty="0"/>
              <a:t>Learning Outcome</a:t>
            </a:r>
            <a:endParaRPr lang="en-US" sz="4800" dirty="0">
              <a:latin typeface="Corbel" panose="020B0503020204020204" pitchFamily="34" charset="0"/>
            </a:endParaRPr>
          </a:p>
        </p:txBody>
      </p:sp>
      <p:sp>
        <p:nvSpPr>
          <p:cNvPr id="3" name="Content Placeholder 2"/>
          <p:cNvSpPr>
            <a:spLocks noGrp="1"/>
          </p:cNvSpPr>
          <p:nvPr>
            <p:ph sz="half" idx="4294967295"/>
          </p:nvPr>
        </p:nvSpPr>
        <p:spPr>
          <a:xfrm>
            <a:off x="539750" y="1700213"/>
            <a:ext cx="8064500" cy="4392588"/>
          </a:xfrm>
          <a:prstGeom prst="rect">
            <a:avLst/>
          </a:prstGeom>
        </p:spPr>
        <p:txBody>
          <a:bodyPr>
            <a:normAutofit/>
          </a:bodyPr>
          <a:lstStyle/>
          <a:p>
            <a:r>
              <a:rPr lang="en-US" sz="2800" b="1" dirty="0">
                <a:latin typeface="Times New Roman" panose="02020603050405020304" pitchFamily="18" charset="0"/>
                <a:cs typeface="Times New Roman" panose="02020603050405020304" pitchFamily="18" charset="0"/>
              </a:rPr>
              <a:t>LO3</a:t>
            </a:r>
            <a:r>
              <a:rPr lang="en-US" sz="2800" dirty="0">
                <a:latin typeface="Times New Roman" panose="02020603050405020304" pitchFamily="18" charset="0"/>
                <a:cs typeface="Times New Roman" panose="02020603050405020304" pitchFamily="18" charset="0"/>
              </a:rPr>
              <a:t>: Model data requirements using data models</a:t>
            </a:r>
          </a:p>
          <a:p>
            <a:endParaRPr lang="en-US" dirty="0"/>
          </a:p>
        </p:txBody>
      </p:sp>
    </p:spTree>
    <p:extLst>
      <p:ext uri="{BB962C8B-B14F-4D97-AF65-F5344CB8AC3E}">
        <p14:creationId xmlns:p14="http://schemas.microsoft.com/office/powerpoint/2010/main" val="2291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60142" y="762000"/>
            <a:ext cx="7488634" cy="1293028"/>
          </a:xfrm>
        </p:spPr>
        <p:txBody>
          <a:bodyPr>
            <a:noAutofit/>
          </a:bodyPr>
          <a:lstStyle/>
          <a:p>
            <a:r>
              <a:rPr lang="en-US" sz="4400" b="1" dirty="0">
                <a:ln>
                  <a:noFill/>
                </a:ln>
                <a:solidFill>
                  <a:schemeClr val="tx1"/>
                </a:solidFill>
                <a:latin typeface="Corbel" panose="020B0503020204020204" pitchFamily="34" charset="0"/>
              </a:rPr>
              <a:t>Conceptual Modeling </a:t>
            </a:r>
            <a:br>
              <a:rPr lang="en-US" sz="4400" b="1" dirty="0">
                <a:ln>
                  <a:noFill/>
                </a:ln>
                <a:solidFill>
                  <a:schemeClr val="tx1"/>
                </a:solidFill>
                <a:latin typeface="Corbel" panose="020B0503020204020204" pitchFamily="34" charset="0"/>
              </a:rPr>
            </a:br>
            <a:r>
              <a:rPr lang="en-US" sz="4400" b="1" dirty="0">
                <a:ln>
                  <a:noFill/>
                </a:ln>
                <a:solidFill>
                  <a:schemeClr val="tx1"/>
                </a:solidFill>
                <a:latin typeface="Corbel" panose="020B0503020204020204" pitchFamily="34" charset="0"/>
              </a:rPr>
              <a:t>ER Diagrams</a:t>
            </a:r>
          </a:p>
        </p:txBody>
      </p:sp>
      <p:sp>
        <p:nvSpPr>
          <p:cNvPr id="23555" name="Rectangle 3"/>
          <p:cNvSpPr>
            <a:spLocks noGrp="1" noChangeArrowheads="1"/>
          </p:cNvSpPr>
          <p:nvPr>
            <p:ph idx="4294967295"/>
          </p:nvPr>
        </p:nvSpPr>
        <p:spPr>
          <a:xfrm>
            <a:off x="560142" y="2249339"/>
            <a:ext cx="8064698" cy="4608661"/>
          </a:xfrm>
          <a:prstGeom prst="rect">
            <a:avLst/>
          </a:prstGeom>
        </p:spPr>
        <p:txBody>
          <a:bodyPr rtlCol="0">
            <a:normAutofit/>
          </a:bodyPr>
          <a:lstStyle/>
          <a:p>
            <a:pPr algn="just" fontAlgn="auto">
              <a:lnSpc>
                <a:spcPct val="90000"/>
              </a:lnSpc>
              <a:buFont typeface="Arial"/>
              <a:buChar char="•"/>
              <a:defRPr/>
            </a:pPr>
            <a:endParaRPr lang="en-US" sz="2800" dirty="0">
              <a:latin typeface="Corbel" panose="020B0503020204020204" pitchFamily="34" charset="0"/>
            </a:endParaRPr>
          </a:p>
          <a:p>
            <a:pPr algn="just" fontAlgn="auto">
              <a:lnSpc>
                <a:spcPct val="90000"/>
              </a:lnSpc>
              <a:buFont typeface="Arial"/>
              <a:buChar char="•"/>
              <a:defRPr/>
            </a:pPr>
            <a:r>
              <a:rPr lang="en-US" sz="2800" dirty="0">
                <a:latin typeface="Corbel" panose="020B0503020204020204" pitchFamily="34" charset="0"/>
              </a:rPr>
              <a:t>Many versions of ER-diagrams;  differ both in their appearance and in their meaning</a:t>
            </a:r>
          </a:p>
          <a:p>
            <a:pPr algn="just" fontAlgn="auto">
              <a:lnSpc>
                <a:spcPct val="90000"/>
              </a:lnSpc>
              <a:buFont typeface="Arial"/>
              <a:buChar char="•"/>
              <a:defRPr/>
            </a:pPr>
            <a:r>
              <a:rPr lang="en-US" sz="2800" dirty="0">
                <a:latin typeface="Corbel" panose="020B0503020204020204" pitchFamily="34" charset="0"/>
              </a:rPr>
              <a:t>We will use the version appearing in the  book (Database Management Systems by </a:t>
            </a:r>
            <a:r>
              <a:rPr lang="en-US" sz="2800" dirty="0" err="1">
                <a:latin typeface="Corbel" panose="020B0503020204020204" pitchFamily="34" charset="0"/>
              </a:rPr>
              <a:t>Elmasri</a:t>
            </a:r>
            <a:r>
              <a:rPr lang="en-US" sz="2800" dirty="0">
                <a:latin typeface="Corbel" panose="020B0503020204020204" pitchFamily="34" charset="0"/>
              </a:rPr>
              <a:t> </a:t>
            </a:r>
            <a:r>
              <a:rPr lang="en-US" sz="2800" dirty="0" err="1">
                <a:latin typeface="Corbel" panose="020B0503020204020204" pitchFamily="34" charset="0"/>
              </a:rPr>
              <a:t>Navathe</a:t>
            </a:r>
            <a:r>
              <a:rPr lang="en-US" sz="2800" dirty="0">
                <a:latin typeface="Corbel" panose="020B0503020204020204" pitchFamily="34" charset="0"/>
              </a:rPr>
              <a:t>)</a:t>
            </a:r>
          </a:p>
          <a:p>
            <a:pPr algn="just" fontAlgn="auto">
              <a:lnSpc>
                <a:spcPct val="90000"/>
              </a:lnSpc>
              <a:buFont typeface="Arial"/>
              <a:buChar char="•"/>
              <a:defRPr/>
            </a:pPr>
            <a:r>
              <a:rPr lang="en-US" sz="2800" dirty="0">
                <a:latin typeface="Corbel" panose="020B0503020204020204" pitchFamily="34" charset="0"/>
              </a:rPr>
              <a:t>Have a formal semantics (meaning) that must be thoroughly understood, in order to create correct diagrams</a:t>
            </a:r>
          </a:p>
          <a:p>
            <a:pPr fontAlgn="auto">
              <a:lnSpc>
                <a:spcPct val="90000"/>
              </a:lnSpc>
              <a:buFont typeface="Arial"/>
              <a:buChar char="•"/>
              <a:defRPr/>
            </a:pPr>
            <a:endParaRPr lang="en-US" dirty="0"/>
          </a:p>
        </p:txBody>
      </p:sp>
    </p:spTree>
    <p:extLst>
      <p:ext uri="{BB962C8B-B14F-4D97-AF65-F5344CB8AC3E}">
        <p14:creationId xmlns:p14="http://schemas.microsoft.com/office/powerpoint/2010/main" val="689595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 y="548716"/>
            <a:ext cx="8839200" cy="913214"/>
          </a:xfrm>
        </p:spPr>
        <p:txBody>
          <a:bodyPr>
            <a:noAutofit/>
          </a:bodyPr>
          <a:lstStyle/>
          <a:p>
            <a:pPr algn="l"/>
            <a:r>
              <a:rPr lang="en-US" sz="4400" dirty="0">
                <a:ln>
                  <a:noFill/>
                </a:ln>
                <a:latin typeface="Corbel" panose="020B0503020204020204" pitchFamily="34" charset="0"/>
              </a:rPr>
              <a:t>Entity-Relationship (ER) Model </a:t>
            </a:r>
          </a:p>
        </p:txBody>
      </p:sp>
      <p:sp>
        <p:nvSpPr>
          <p:cNvPr id="18435" name="Rectangle 3"/>
          <p:cNvSpPr>
            <a:spLocks noGrp="1" noChangeArrowheads="1"/>
          </p:cNvSpPr>
          <p:nvPr>
            <p:ph idx="4294967295"/>
          </p:nvPr>
        </p:nvSpPr>
        <p:spPr>
          <a:xfrm>
            <a:off x="762000" y="1676400"/>
            <a:ext cx="7772400" cy="4753123"/>
          </a:xfrm>
          <a:prstGeom prst="rect">
            <a:avLst/>
          </a:prstGeom>
        </p:spPr>
        <p:txBody>
          <a:bodyPr rtlCol="0">
            <a:normAutofit fontScale="92500" lnSpcReduction="10000"/>
          </a:bodyPr>
          <a:lstStyle/>
          <a:p>
            <a:pPr algn="ctr" fontAlgn="auto">
              <a:buFont typeface="Wingdings" panose="05000000000000000000" pitchFamily="2" charset="2"/>
              <a:buNone/>
              <a:defRPr/>
            </a:pPr>
            <a:r>
              <a:rPr lang="en-US" sz="2800" dirty="0">
                <a:solidFill>
                  <a:schemeClr val="tx1">
                    <a:lumMod val="85000"/>
                    <a:lumOff val="15000"/>
                  </a:schemeClr>
                </a:solidFill>
                <a:latin typeface="Corbel" panose="020B0503020204020204" pitchFamily="34" charset="0"/>
              </a:rPr>
              <a:t>Requirements gathering </a:t>
            </a:r>
          </a:p>
          <a:p>
            <a:pPr fontAlgn="auto">
              <a:buFont typeface="Wingdings" panose="05000000000000000000" pitchFamily="2" charset="2"/>
              <a:buNone/>
              <a:defRPr/>
            </a:pPr>
            <a:r>
              <a:rPr lang="en-US" sz="2800" dirty="0">
                <a:solidFill>
                  <a:schemeClr val="tx1">
                    <a:lumMod val="85000"/>
                    <a:lumOff val="15000"/>
                  </a:schemeClr>
                </a:solidFill>
                <a:latin typeface="Corbel" panose="020B0503020204020204" pitchFamily="34" charset="0"/>
              </a:rPr>
              <a:t>	</a:t>
            </a:r>
          </a:p>
          <a:p>
            <a:pPr algn="ctr" fontAlgn="auto">
              <a:buFont typeface="Wingdings" panose="05000000000000000000" pitchFamily="2" charset="2"/>
              <a:buNone/>
              <a:defRPr/>
            </a:pPr>
            <a:r>
              <a:rPr lang="en-US" sz="2800" dirty="0">
                <a:solidFill>
                  <a:srgbClr val="FF6600"/>
                </a:solidFill>
                <a:latin typeface="Corbel" panose="020B0503020204020204" pitchFamily="34" charset="0"/>
              </a:rPr>
              <a:t>Conceptual database design       </a:t>
            </a:r>
          </a:p>
          <a:p>
            <a:pPr fontAlgn="auto">
              <a:buFont typeface="Wingdings" panose="05000000000000000000" pitchFamily="2" charset="2"/>
              <a:buNone/>
              <a:defRPr/>
            </a:pPr>
            <a:r>
              <a:rPr lang="en-US" sz="2800" dirty="0">
                <a:solidFill>
                  <a:schemeClr val="tx1">
                    <a:lumMod val="85000"/>
                    <a:lumOff val="15000"/>
                  </a:schemeClr>
                </a:solidFill>
                <a:latin typeface="Corbel" panose="020B0503020204020204" pitchFamily="34" charset="0"/>
              </a:rPr>
              <a:t>			</a:t>
            </a:r>
          </a:p>
          <a:p>
            <a:pPr algn="ctr" fontAlgn="auto">
              <a:buFont typeface="Wingdings" panose="05000000000000000000" pitchFamily="2" charset="2"/>
              <a:buNone/>
              <a:defRPr/>
            </a:pPr>
            <a:r>
              <a:rPr lang="en-US" sz="2800" dirty="0">
                <a:solidFill>
                  <a:schemeClr val="tx1">
                    <a:lumMod val="85000"/>
                    <a:lumOff val="15000"/>
                  </a:schemeClr>
                </a:solidFill>
                <a:latin typeface="Corbel" panose="020B0503020204020204" pitchFamily="34" charset="0"/>
              </a:rPr>
              <a:t>		</a:t>
            </a:r>
            <a:r>
              <a:rPr lang="en-US" sz="2800" dirty="0">
                <a:solidFill>
                  <a:srgbClr val="0070C0"/>
                </a:solidFill>
                <a:latin typeface="Corbel" panose="020B0503020204020204" pitchFamily="34" charset="0"/>
              </a:rPr>
              <a:t>high level data model(ER)created </a:t>
            </a:r>
          </a:p>
          <a:p>
            <a:pPr fontAlgn="auto">
              <a:buFont typeface="Wingdings" panose="05000000000000000000" pitchFamily="2" charset="2"/>
              <a:buNone/>
              <a:defRPr/>
            </a:pPr>
            <a:endParaRPr lang="en-US" sz="2800" dirty="0">
              <a:solidFill>
                <a:srgbClr val="0070C0"/>
              </a:solidFill>
              <a:latin typeface="Corbel" panose="020B0503020204020204" pitchFamily="34" charset="0"/>
            </a:endParaRPr>
          </a:p>
          <a:p>
            <a:pPr fontAlgn="auto">
              <a:buFont typeface="Wingdings" panose="05000000000000000000" pitchFamily="2" charset="2"/>
              <a:buNone/>
              <a:defRPr/>
            </a:pPr>
            <a:r>
              <a:rPr lang="en-US" sz="2800" dirty="0">
                <a:solidFill>
                  <a:schemeClr val="tx1">
                    <a:lumMod val="85000"/>
                    <a:lumOff val="15000"/>
                  </a:schemeClr>
                </a:solidFill>
                <a:latin typeface="Corbel" panose="020B0503020204020204" pitchFamily="34" charset="0"/>
              </a:rPr>
              <a:t>The 2 main constructs of the ER model:  </a:t>
            </a:r>
          </a:p>
          <a:p>
            <a:pPr fontAlgn="auto">
              <a:buFont typeface="Wingdings" panose="05000000000000000000" pitchFamily="2" charset="2"/>
              <a:buNone/>
              <a:defRPr/>
            </a:pPr>
            <a:r>
              <a:rPr lang="en-US" sz="2800" i="1" dirty="0">
                <a:solidFill>
                  <a:schemeClr val="tx1">
                    <a:lumMod val="85000"/>
                    <a:lumOff val="15000"/>
                  </a:schemeClr>
                </a:solidFill>
                <a:latin typeface="Corbel" panose="020B0503020204020204" pitchFamily="34" charset="0"/>
              </a:rPr>
              <a:t>		</a:t>
            </a:r>
            <a:r>
              <a:rPr lang="en-US" sz="2800" dirty="0">
                <a:solidFill>
                  <a:srgbClr val="0070C0"/>
                </a:solidFill>
                <a:latin typeface="Corbel" panose="020B0503020204020204" pitchFamily="34" charset="0"/>
              </a:rPr>
              <a:t>Entities  ,Relationships. </a:t>
            </a:r>
          </a:p>
          <a:p>
            <a:pPr fontAlgn="auto">
              <a:buFont typeface="Wingdings" panose="05000000000000000000" pitchFamily="2" charset="2"/>
              <a:buNone/>
              <a:defRPr/>
            </a:pPr>
            <a:endParaRPr lang="en-US" sz="2800" dirty="0">
              <a:solidFill>
                <a:srgbClr val="0070C0"/>
              </a:solidFill>
              <a:latin typeface="Corbel" panose="020B0503020204020204" pitchFamily="34" charset="0"/>
            </a:endParaRPr>
          </a:p>
          <a:p>
            <a:pPr fontAlgn="auto">
              <a:buFont typeface="Wingdings" panose="05000000000000000000" pitchFamily="2" charset="2"/>
              <a:buNone/>
              <a:defRPr/>
            </a:pPr>
            <a:r>
              <a:rPr lang="en-US" sz="2800" dirty="0">
                <a:solidFill>
                  <a:srgbClr val="FF6600"/>
                </a:solidFill>
                <a:latin typeface="Corbel" panose="020B0503020204020204" pitchFamily="34" charset="0"/>
              </a:rPr>
              <a:t>Different books use different graphical notation.</a:t>
            </a:r>
          </a:p>
        </p:txBody>
      </p:sp>
      <p:cxnSp>
        <p:nvCxnSpPr>
          <p:cNvPr id="5" name="Straight Arrow Connector 4"/>
          <p:cNvCxnSpPr>
            <a:cxnSpLocks/>
          </p:cNvCxnSpPr>
          <p:nvPr/>
        </p:nvCxnSpPr>
        <p:spPr>
          <a:xfrm>
            <a:off x="4800600" y="2133600"/>
            <a:ext cx="0" cy="457200"/>
          </a:xfrm>
          <a:prstGeom prst="straightConnector1">
            <a:avLst/>
          </a:prstGeom>
          <a:ln w="41275"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a:off x="4800600" y="2971800"/>
            <a:ext cx="0" cy="457200"/>
          </a:xfrm>
          <a:prstGeom prst="straightConnector1">
            <a:avLst/>
          </a:prstGeom>
          <a:ln w="41275"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8637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8435">
                                            <p:txEl>
                                              <p:pRg st="6" end="6"/>
                                            </p:txEl>
                                          </p:spTgt>
                                        </p:tgtEl>
                                        <p:attrNameLst>
                                          <p:attrName>style.visibility</p:attrName>
                                        </p:attrNameLst>
                                      </p:cBhvr>
                                      <p:to>
                                        <p:strVal val="visible"/>
                                      </p:to>
                                    </p:set>
                                    <p:anim calcmode="lin" valueType="num">
                                      <p:cBhvr additive="base">
                                        <p:cTn id="25" dur="500" fill="hold"/>
                                        <p:tgtEl>
                                          <p:spTgt spid="184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8435">
                                            <p:txEl>
                                              <p:pRg st="7" end="7"/>
                                            </p:txEl>
                                          </p:spTgt>
                                        </p:tgtEl>
                                        <p:attrNameLst>
                                          <p:attrName>style.visibility</p:attrName>
                                        </p:attrNameLst>
                                      </p:cBhvr>
                                      <p:to>
                                        <p:strVal val="visible"/>
                                      </p:to>
                                    </p:set>
                                    <p:anim calcmode="lin" valueType="num">
                                      <p:cBhvr additive="base">
                                        <p:cTn id="31" dur="500" fill="hold"/>
                                        <p:tgtEl>
                                          <p:spTgt spid="1843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4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8435">
                                            <p:txEl>
                                              <p:pRg st="9" end="9"/>
                                            </p:txEl>
                                          </p:spTgt>
                                        </p:tgtEl>
                                        <p:attrNameLst>
                                          <p:attrName>style.visibility</p:attrName>
                                        </p:attrNameLst>
                                      </p:cBhvr>
                                      <p:to>
                                        <p:strVal val="visible"/>
                                      </p:to>
                                    </p:set>
                                    <p:anim calcmode="lin" valueType="num">
                                      <p:cBhvr additive="base">
                                        <p:cTn id="37" dur="500" fill="hold"/>
                                        <p:tgtEl>
                                          <p:spTgt spid="18435">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843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194881" y="267910"/>
            <a:ext cx="6377940" cy="1293028"/>
          </a:xfrm>
        </p:spPr>
        <p:txBody>
          <a:bodyPr>
            <a:normAutofit/>
          </a:bodyPr>
          <a:lstStyle/>
          <a:p>
            <a:r>
              <a:rPr lang="en-US" sz="4400" dirty="0">
                <a:ln>
                  <a:noFill/>
                </a:ln>
                <a:latin typeface="Corbel" panose="020B0503020204020204" pitchFamily="34" charset="0"/>
              </a:rPr>
              <a:t>ER Diagrams</a:t>
            </a:r>
          </a:p>
        </p:txBody>
      </p:sp>
      <p:pic>
        <p:nvPicPr>
          <p:cNvPr id="47108" name="Picture 10" descr="https://encrypted-tbn1.gstatic.com/images?q=tbn:ANd9GcTiAO_IHJyezb1EY_G3JyiRvAonV-tDhp0IKOBMQD_JWtW8Wf6wN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700808"/>
            <a:ext cx="75438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40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383030" y="-149226"/>
            <a:ext cx="6377940" cy="1015663"/>
          </a:xfrm>
          <a:noFill/>
        </p:spPr>
        <p:txBody>
          <a:bodyPr tIns="0">
            <a:spAutoFit/>
          </a:bodyPr>
          <a:lstStyle/>
          <a:p>
            <a:br>
              <a:rPr lang="en-US" sz="2600" dirty="0">
                <a:ln>
                  <a:noFill/>
                </a:ln>
              </a:rPr>
            </a:br>
            <a:r>
              <a:rPr lang="en-US" sz="4400" dirty="0">
                <a:ln>
                  <a:noFill/>
                </a:ln>
                <a:latin typeface="Corbel" panose="020B0503020204020204" pitchFamily="34" charset="0"/>
              </a:rPr>
              <a:t>E-r Notation</a:t>
            </a:r>
          </a:p>
        </p:txBody>
      </p:sp>
      <p:sp>
        <p:nvSpPr>
          <p:cNvPr id="48131" name="Rectangle 3"/>
          <p:cNvSpPr>
            <a:spLocks noGrp="1" noChangeArrowheads="1"/>
          </p:cNvSpPr>
          <p:nvPr>
            <p:ph idx="4294967295"/>
          </p:nvPr>
        </p:nvSpPr>
        <p:spPr>
          <a:xfrm>
            <a:off x="4716016" y="1700808"/>
            <a:ext cx="3153866" cy="4819781"/>
          </a:xfrm>
          <a:prstGeom prst="rect">
            <a:avLst/>
          </a:prstGeom>
          <a:noFill/>
        </p:spPr>
        <p:txBody>
          <a:bodyPr wrap="square">
            <a:spAutoFit/>
          </a:bodyPr>
          <a:lstStyle/>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ENTITY </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WEAK ENTITY </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RELATIONSHIP </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IDENTIFYING RELATIONSHIP</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ATTRIBUTE</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KEY ATTRIBUTE</a:t>
            </a:r>
          </a:p>
        </p:txBody>
      </p:sp>
      <p:sp>
        <p:nvSpPr>
          <p:cNvPr id="48132" name="Text Box 4"/>
          <p:cNvSpPr txBox="1">
            <a:spLocks noChangeArrowheads="1"/>
          </p:cNvSpPr>
          <p:nvPr/>
        </p:nvSpPr>
        <p:spPr bwMode="auto">
          <a:xfrm>
            <a:off x="2333153" y="1099669"/>
            <a:ext cx="187927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sz="2800" cap="all" dirty="0">
                <a:effectLst>
                  <a:outerShdw blurRad="50800" dist="63500" dir="2700000" algn="tl" rotWithShape="0">
                    <a:srgbClr val="000000">
                      <a:alpha val="48000"/>
                    </a:srgbClr>
                  </a:outerShdw>
                </a:effectLst>
                <a:latin typeface="Corbel" panose="020B0503020204020204" pitchFamily="34" charset="0"/>
                <a:ea typeface="+mj-ea"/>
                <a:cs typeface="+mj-cs"/>
              </a:rPr>
              <a:t>Symbol</a:t>
            </a:r>
          </a:p>
        </p:txBody>
      </p:sp>
      <p:sp>
        <p:nvSpPr>
          <p:cNvPr id="48133" name="Rectangle 5"/>
          <p:cNvSpPr>
            <a:spLocks noChangeArrowheads="1"/>
          </p:cNvSpPr>
          <p:nvPr/>
        </p:nvSpPr>
        <p:spPr bwMode="auto">
          <a:xfrm>
            <a:off x="2592585" y="1743483"/>
            <a:ext cx="901700" cy="3143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48134" name="Group 6"/>
          <p:cNvGrpSpPr>
            <a:grpSpLocks/>
          </p:cNvGrpSpPr>
          <p:nvPr/>
        </p:nvGrpSpPr>
        <p:grpSpPr bwMode="auto">
          <a:xfrm>
            <a:off x="2532063" y="2485040"/>
            <a:ext cx="990600" cy="400050"/>
            <a:chOff x="1085" y="1108"/>
            <a:chExt cx="624" cy="252"/>
          </a:xfrm>
        </p:grpSpPr>
        <p:sp>
          <p:nvSpPr>
            <p:cNvPr id="48187" name="Rectangle 7"/>
            <p:cNvSpPr>
              <a:spLocks noChangeArrowheads="1"/>
            </p:cNvSpPr>
            <p:nvPr/>
          </p:nvSpPr>
          <p:spPr bwMode="auto">
            <a:xfrm>
              <a:off x="1109" y="1130"/>
              <a:ext cx="576" cy="20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88" name="Rectangle 8"/>
            <p:cNvSpPr>
              <a:spLocks noChangeArrowheads="1"/>
            </p:cNvSpPr>
            <p:nvPr/>
          </p:nvSpPr>
          <p:spPr bwMode="auto">
            <a:xfrm>
              <a:off x="1085" y="1108"/>
              <a:ext cx="624" cy="25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sp>
        <p:nvSpPr>
          <p:cNvPr id="48135" name="Rectangle 9"/>
          <p:cNvSpPr>
            <a:spLocks noChangeArrowheads="1"/>
          </p:cNvSpPr>
          <p:nvPr/>
        </p:nvSpPr>
        <p:spPr bwMode="auto">
          <a:xfrm rot="2723072">
            <a:off x="2719332" y="3212506"/>
            <a:ext cx="586423" cy="60132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48136" name="Group 10"/>
          <p:cNvGrpSpPr>
            <a:grpSpLocks/>
          </p:cNvGrpSpPr>
          <p:nvPr/>
        </p:nvGrpSpPr>
        <p:grpSpPr bwMode="auto">
          <a:xfrm>
            <a:off x="2748831" y="4209582"/>
            <a:ext cx="542007" cy="505947"/>
            <a:chOff x="1263" y="1691"/>
            <a:chExt cx="202" cy="202"/>
          </a:xfrm>
        </p:grpSpPr>
        <p:sp>
          <p:nvSpPr>
            <p:cNvPr id="48185" name="Rectangle 11"/>
            <p:cNvSpPr>
              <a:spLocks noChangeArrowheads="1"/>
            </p:cNvSpPr>
            <p:nvPr/>
          </p:nvSpPr>
          <p:spPr bwMode="auto">
            <a:xfrm rot="2723072">
              <a:off x="1284" y="1717"/>
              <a:ext cx="160" cy="16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86" name="Rectangle 12"/>
            <p:cNvSpPr>
              <a:spLocks noChangeArrowheads="1"/>
            </p:cNvSpPr>
            <p:nvPr/>
          </p:nvSpPr>
          <p:spPr bwMode="auto">
            <a:xfrm rot="2723072">
              <a:off x="1263" y="1691"/>
              <a:ext cx="202" cy="20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48137" name="Group 13"/>
          <p:cNvGrpSpPr>
            <a:grpSpLocks/>
          </p:cNvGrpSpPr>
          <p:nvPr/>
        </p:nvGrpSpPr>
        <p:grpSpPr bwMode="auto">
          <a:xfrm>
            <a:off x="2351956" y="5334848"/>
            <a:ext cx="1143000" cy="211137"/>
            <a:chOff x="931" y="2046"/>
            <a:chExt cx="720" cy="133"/>
          </a:xfrm>
        </p:grpSpPr>
        <p:sp>
          <p:nvSpPr>
            <p:cNvPr id="48183" name="Oval 14"/>
            <p:cNvSpPr>
              <a:spLocks noChangeArrowheads="1"/>
            </p:cNvSpPr>
            <p:nvPr/>
          </p:nvSpPr>
          <p:spPr bwMode="auto">
            <a:xfrm>
              <a:off x="1181" y="2046"/>
              <a:ext cx="470" cy="13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84" name="Line 15"/>
            <p:cNvSpPr>
              <a:spLocks noChangeShapeType="1"/>
            </p:cNvSpPr>
            <p:nvPr/>
          </p:nvSpPr>
          <p:spPr bwMode="auto">
            <a:xfrm flipH="1">
              <a:off x="931" y="2113"/>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8138" name="Group 16"/>
          <p:cNvGrpSpPr>
            <a:grpSpLocks/>
          </p:cNvGrpSpPr>
          <p:nvPr/>
        </p:nvGrpSpPr>
        <p:grpSpPr bwMode="auto">
          <a:xfrm>
            <a:off x="2405517" y="6165304"/>
            <a:ext cx="1143000" cy="211138"/>
            <a:chOff x="931" y="2213"/>
            <a:chExt cx="720" cy="133"/>
          </a:xfrm>
        </p:grpSpPr>
        <p:grpSp>
          <p:nvGrpSpPr>
            <p:cNvPr id="48179" name="Group 17"/>
            <p:cNvGrpSpPr>
              <a:grpSpLocks/>
            </p:cNvGrpSpPr>
            <p:nvPr/>
          </p:nvGrpSpPr>
          <p:grpSpPr bwMode="auto">
            <a:xfrm>
              <a:off x="931" y="2213"/>
              <a:ext cx="720" cy="133"/>
              <a:chOff x="931" y="2046"/>
              <a:chExt cx="720" cy="133"/>
            </a:xfrm>
          </p:grpSpPr>
          <p:sp>
            <p:nvSpPr>
              <p:cNvPr id="48181" name="Oval 18"/>
              <p:cNvSpPr>
                <a:spLocks noChangeArrowheads="1"/>
              </p:cNvSpPr>
              <p:nvPr/>
            </p:nvSpPr>
            <p:spPr bwMode="auto">
              <a:xfrm>
                <a:off x="1181" y="2046"/>
                <a:ext cx="470" cy="13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82" name="Line 19"/>
              <p:cNvSpPr>
                <a:spLocks noChangeShapeType="1"/>
              </p:cNvSpPr>
              <p:nvPr/>
            </p:nvSpPr>
            <p:spPr bwMode="auto">
              <a:xfrm flipH="1">
                <a:off x="931" y="2113"/>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8180" name="Line 20"/>
            <p:cNvSpPr>
              <a:spLocks noChangeShapeType="1"/>
            </p:cNvSpPr>
            <p:nvPr/>
          </p:nvSpPr>
          <p:spPr bwMode="auto">
            <a:xfrm>
              <a:off x="1277" y="2306"/>
              <a:ext cx="26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1" name="Text Box 4"/>
          <p:cNvSpPr txBox="1">
            <a:spLocks noChangeArrowheads="1"/>
          </p:cNvSpPr>
          <p:nvPr/>
        </p:nvSpPr>
        <p:spPr bwMode="auto">
          <a:xfrm>
            <a:off x="4750115" y="1102010"/>
            <a:ext cx="187927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sz="2800" cap="all" dirty="0">
                <a:effectLst>
                  <a:outerShdw blurRad="50800" dist="63500" dir="2700000" algn="tl" rotWithShape="0">
                    <a:srgbClr val="000000">
                      <a:alpha val="48000"/>
                    </a:srgbClr>
                  </a:outerShdw>
                </a:effectLst>
                <a:latin typeface="Corbel" panose="020B0503020204020204" pitchFamily="34" charset="0"/>
                <a:ea typeface="+mj-ea"/>
                <a:cs typeface="+mj-cs"/>
              </a:rPr>
              <a:t>Meaning</a:t>
            </a:r>
          </a:p>
        </p:txBody>
      </p:sp>
    </p:spTree>
    <p:extLst>
      <p:ext uri="{BB962C8B-B14F-4D97-AF65-F5344CB8AC3E}">
        <p14:creationId xmlns:p14="http://schemas.microsoft.com/office/powerpoint/2010/main" val="3262458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405795" y="-153881"/>
            <a:ext cx="6377940" cy="1015663"/>
          </a:xfrm>
          <a:noFill/>
        </p:spPr>
        <p:txBody>
          <a:bodyPr tIns="0">
            <a:spAutoFit/>
          </a:bodyPr>
          <a:lstStyle/>
          <a:p>
            <a:br>
              <a:rPr lang="en-US" sz="2600" dirty="0">
                <a:ln>
                  <a:noFill/>
                </a:ln>
              </a:rPr>
            </a:br>
            <a:r>
              <a:rPr lang="en-US" sz="4400" dirty="0">
                <a:ln>
                  <a:noFill/>
                </a:ln>
                <a:latin typeface="Corbel" panose="020B0503020204020204" pitchFamily="34" charset="0"/>
              </a:rPr>
              <a:t>E-r Notation</a:t>
            </a:r>
          </a:p>
        </p:txBody>
      </p:sp>
      <p:sp>
        <p:nvSpPr>
          <p:cNvPr id="48131" name="Rectangle 3"/>
          <p:cNvSpPr>
            <a:spLocks noGrp="1" noChangeArrowheads="1"/>
          </p:cNvSpPr>
          <p:nvPr>
            <p:ph idx="4294967295"/>
          </p:nvPr>
        </p:nvSpPr>
        <p:spPr>
          <a:xfrm>
            <a:off x="3482117" y="1507788"/>
            <a:ext cx="5581332" cy="4819781"/>
          </a:xfrm>
          <a:prstGeom prst="rect">
            <a:avLst/>
          </a:prstGeom>
          <a:noFill/>
        </p:spPr>
        <p:txBody>
          <a:bodyPr wrap="square">
            <a:spAutoFit/>
          </a:bodyPr>
          <a:lstStyle/>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MULTIVALUED ATTRIBUTE</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COMPOSITE ATTRIBUTE</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DERIVED ATTRIBUTE</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TOTAL PARTICIPATION OF E</a:t>
            </a:r>
            <a:r>
              <a:rPr lang="en-US" sz="2400" baseline="-25000" dirty="0">
                <a:latin typeface="Corbel" panose="020B0503020204020204" pitchFamily="34" charset="0"/>
              </a:rPr>
              <a:t>2</a:t>
            </a:r>
            <a:r>
              <a:rPr lang="en-US" sz="2400" dirty="0">
                <a:latin typeface="Corbel" panose="020B0503020204020204" pitchFamily="34" charset="0"/>
              </a:rPr>
              <a:t> IN R</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CARDINALITY RATIO 1:N FOR E</a:t>
            </a:r>
            <a:r>
              <a:rPr lang="en-US" sz="2400" baseline="-25000" dirty="0">
                <a:latin typeface="Corbel" panose="020B0503020204020204" pitchFamily="34" charset="0"/>
              </a:rPr>
              <a:t>1</a:t>
            </a:r>
            <a:r>
              <a:rPr lang="en-US" sz="2400" dirty="0">
                <a:latin typeface="Corbel" panose="020B0503020204020204" pitchFamily="34" charset="0"/>
              </a:rPr>
              <a:t>:E</a:t>
            </a:r>
            <a:r>
              <a:rPr lang="en-US" sz="2400" baseline="-25000" dirty="0">
                <a:latin typeface="Corbel" panose="020B0503020204020204" pitchFamily="34" charset="0"/>
              </a:rPr>
              <a:t>2 </a:t>
            </a:r>
            <a:r>
              <a:rPr lang="en-US" sz="2400" dirty="0">
                <a:latin typeface="Corbel" panose="020B0503020204020204" pitchFamily="34" charset="0"/>
              </a:rPr>
              <a:t>IN R</a:t>
            </a:r>
          </a:p>
          <a:p>
            <a:pPr marL="0" indent="0">
              <a:lnSpc>
                <a:spcPct val="90000"/>
              </a:lnSpc>
              <a:spcBef>
                <a:spcPct val="60000"/>
              </a:spcBef>
              <a:spcAft>
                <a:spcPct val="70000"/>
              </a:spcAft>
              <a:buSzPct val="70000"/>
              <a:buFont typeface="Monotype Sorts" pitchFamily="2" charset="2"/>
              <a:buNone/>
            </a:pPr>
            <a:r>
              <a:rPr lang="en-US" sz="2400" dirty="0">
                <a:latin typeface="Corbel" panose="020B0503020204020204" pitchFamily="34" charset="0"/>
              </a:rPr>
              <a:t>STRUCTURAL CONSTRAINT (min, max) ON PARTICIPATION OF E IN R</a:t>
            </a:r>
          </a:p>
        </p:txBody>
      </p:sp>
      <p:grpSp>
        <p:nvGrpSpPr>
          <p:cNvPr id="48139" name="Group 21"/>
          <p:cNvGrpSpPr>
            <a:grpSpLocks/>
          </p:cNvGrpSpPr>
          <p:nvPr/>
        </p:nvGrpSpPr>
        <p:grpSpPr bwMode="auto">
          <a:xfrm>
            <a:off x="1037767" y="1596429"/>
            <a:ext cx="1249362" cy="273050"/>
            <a:chOff x="931" y="2475"/>
            <a:chExt cx="787" cy="172"/>
          </a:xfrm>
        </p:grpSpPr>
        <p:sp>
          <p:nvSpPr>
            <p:cNvPr id="48176" name="Oval 22"/>
            <p:cNvSpPr>
              <a:spLocks noChangeArrowheads="1"/>
            </p:cNvSpPr>
            <p:nvPr/>
          </p:nvSpPr>
          <p:spPr bwMode="auto">
            <a:xfrm>
              <a:off x="1181" y="2492"/>
              <a:ext cx="470" cy="13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77" name="Line 23"/>
            <p:cNvSpPr>
              <a:spLocks noChangeShapeType="1"/>
            </p:cNvSpPr>
            <p:nvPr/>
          </p:nvSpPr>
          <p:spPr bwMode="auto">
            <a:xfrm flipH="1">
              <a:off x="931" y="2559"/>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78" name="Oval 24"/>
            <p:cNvSpPr>
              <a:spLocks noChangeArrowheads="1"/>
            </p:cNvSpPr>
            <p:nvPr/>
          </p:nvSpPr>
          <p:spPr bwMode="auto">
            <a:xfrm>
              <a:off x="1114" y="2475"/>
              <a:ext cx="604" cy="17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48140" name="Group 25"/>
          <p:cNvGrpSpPr>
            <a:grpSpLocks/>
          </p:cNvGrpSpPr>
          <p:nvPr/>
        </p:nvGrpSpPr>
        <p:grpSpPr bwMode="auto">
          <a:xfrm>
            <a:off x="1070273" y="3205624"/>
            <a:ext cx="1143000" cy="211138"/>
            <a:chOff x="931" y="2046"/>
            <a:chExt cx="720" cy="133"/>
          </a:xfrm>
        </p:grpSpPr>
        <p:sp>
          <p:nvSpPr>
            <p:cNvPr id="48174" name="Oval 26"/>
            <p:cNvSpPr>
              <a:spLocks noChangeArrowheads="1"/>
            </p:cNvSpPr>
            <p:nvPr/>
          </p:nvSpPr>
          <p:spPr bwMode="auto">
            <a:xfrm>
              <a:off x="1181" y="2046"/>
              <a:ext cx="470" cy="133"/>
            </a:xfrm>
            <a:prstGeom prst="ellipse">
              <a:avLst/>
            </a:pr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75" name="Line 27"/>
            <p:cNvSpPr>
              <a:spLocks noChangeShapeType="1"/>
            </p:cNvSpPr>
            <p:nvPr/>
          </p:nvSpPr>
          <p:spPr bwMode="auto">
            <a:xfrm flipH="1">
              <a:off x="931" y="2113"/>
              <a:ext cx="250" cy="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8141" name="Group 28"/>
          <p:cNvGrpSpPr>
            <a:grpSpLocks/>
          </p:cNvGrpSpPr>
          <p:nvPr/>
        </p:nvGrpSpPr>
        <p:grpSpPr bwMode="auto">
          <a:xfrm>
            <a:off x="107504" y="4008160"/>
            <a:ext cx="1143000" cy="241300"/>
            <a:chOff x="528" y="3291"/>
            <a:chExt cx="720" cy="152"/>
          </a:xfrm>
        </p:grpSpPr>
        <p:sp>
          <p:nvSpPr>
            <p:cNvPr id="48172" name="Rectangle 29"/>
            <p:cNvSpPr>
              <a:spLocks noChangeArrowheads="1"/>
            </p:cNvSpPr>
            <p:nvPr/>
          </p:nvSpPr>
          <p:spPr bwMode="auto">
            <a:xfrm>
              <a:off x="528" y="3291"/>
              <a:ext cx="403" cy="15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sz="1400" b="0">
                  <a:latin typeface="Times New Roman" panose="02020603050405020304" pitchFamily="18" charset="0"/>
                </a:rPr>
                <a:t>E</a:t>
              </a:r>
              <a:r>
                <a:rPr lang="en-US" sz="1400" b="0" baseline="-25000">
                  <a:latin typeface="Times New Roman" panose="02020603050405020304" pitchFamily="18" charset="0"/>
                </a:rPr>
                <a:t>1</a:t>
              </a:r>
              <a:endParaRPr lang="en-US" sz="1400" b="0">
                <a:latin typeface="Times New Roman" panose="02020603050405020304" pitchFamily="18" charset="0"/>
              </a:endParaRPr>
            </a:p>
          </p:txBody>
        </p:sp>
        <p:sp>
          <p:nvSpPr>
            <p:cNvPr id="48173" name="Line 30"/>
            <p:cNvSpPr>
              <a:spLocks noChangeShapeType="1"/>
            </p:cNvSpPr>
            <p:nvPr/>
          </p:nvSpPr>
          <p:spPr bwMode="auto">
            <a:xfrm>
              <a:off x="941" y="3371"/>
              <a:ext cx="3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8142" name="Text Box 31"/>
          <p:cNvSpPr txBox="1">
            <a:spLocks noChangeArrowheads="1"/>
          </p:cNvSpPr>
          <p:nvPr/>
        </p:nvSpPr>
        <p:spPr bwMode="auto">
          <a:xfrm>
            <a:off x="1212404" y="4001810"/>
            <a:ext cx="314325" cy="303213"/>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sz="1200" b="0">
                <a:latin typeface="Times New Roman" panose="02020603050405020304" pitchFamily="18" charset="0"/>
              </a:rPr>
              <a:t>R</a:t>
            </a:r>
          </a:p>
        </p:txBody>
      </p:sp>
      <p:sp>
        <p:nvSpPr>
          <p:cNvPr id="48143" name="Line 32"/>
          <p:cNvSpPr>
            <a:spLocks noChangeShapeType="1"/>
          </p:cNvSpPr>
          <p:nvPr/>
        </p:nvSpPr>
        <p:spPr bwMode="auto">
          <a:xfrm>
            <a:off x="1521967" y="4101823"/>
            <a:ext cx="1176337"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4" name="Line 33"/>
          <p:cNvSpPr>
            <a:spLocks noChangeShapeType="1"/>
          </p:cNvSpPr>
          <p:nvPr/>
        </p:nvSpPr>
        <p:spPr bwMode="auto">
          <a:xfrm>
            <a:off x="1561654" y="4147860"/>
            <a:ext cx="1136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5" name="Rectangle 34"/>
          <p:cNvSpPr>
            <a:spLocks noChangeArrowheads="1"/>
          </p:cNvSpPr>
          <p:nvPr/>
        </p:nvSpPr>
        <p:spPr bwMode="auto">
          <a:xfrm>
            <a:off x="2698304" y="4008160"/>
            <a:ext cx="639763" cy="241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sz="1400" b="0" dirty="0">
                <a:latin typeface="Times New Roman" panose="02020603050405020304" pitchFamily="18" charset="0"/>
              </a:rPr>
              <a:t>E</a:t>
            </a:r>
            <a:r>
              <a:rPr lang="en-US" sz="1400" b="0" baseline="-25000" dirty="0">
                <a:latin typeface="Times New Roman" panose="02020603050405020304" pitchFamily="18" charset="0"/>
              </a:rPr>
              <a:t>2</a:t>
            </a:r>
            <a:endParaRPr lang="en-US" sz="1400" b="0" dirty="0">
              <a:latin typeface="Times New Roman" panose="02020603050405020304" pitchFamily="18" charset="0"/>
            </a:endParaRPr>
          </a:p>
        </p:txBody>
      </p:sp>
      <p:sp>
        <p:nvSpPr>
          <p:cNvPr id="48146" name="Rectangle 35"/>
          <p:cNvSpPr>
            <a:spLocks noChangeArrowheads="1"/>
          </p:cNvSpPr>
          <p:nvPr/>
        </p:nvSpPr>
        <p:spPr bwMode="auto">
          <a:xfrm>
            <a:off x="221804" y="4936110"/>
            <a:ext cx="639763" cy="241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sz="1400" b="0">
                <a:latin typeface="Times New Roman" panose="02020603050405020304" pitchFamily="18" charset="0"/>
              </a:rPr>
              <a:t>E</a:t>
            </a:r>
            <a:r>
              <a:rPr lang="en-US" sz="1400" b="0" baseline="-25000">
                <a:latin typeface="Times New Roman" panose="02020603050405020304" pitchFamily="18" charset="0"/>
              </a:rPr>
              <a:t>1</a:t>
            </a:r>
            <a:endParaRPr lang="en-US" sz="1400" b="0">
              <a:latin typeface="Times New Roman" panose="02020603050405020304" pitchFamily="18" charset="0"/>
            </a:endParaRPr>
          </a:p>
        </p:txBody>
      </p:sp>
      <p:sp>
        <p:nvSpPr>
          <p:cNvPr id="48147" name="Line 36"/>
          <p:cNvSpPr>
            <a:spLocks noChangeShapeType="1"/>
          </p:cNvSpPr>
          <p:nvPr/>
        </p:nvSpPr>
        <p:spPr bwMode="auto">
          <a:xfrm>
            <a:off x="877442" y="5040885"/>
            <a:ext cx="487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8" name="Rectangle 37"/>
          <p:cNvSpPr>
            <a:spLocks noChangeArrowheads="1"/>
          </p:cNvSpPr>
          <p:nvPr/>
        </p:nvSpPr>
        <p:spPr bwMode="auto">
          <a:xfrm rot="2723072">
            <a:off x="1421954" y="4912298"/>
            <a:ext cx="254000" cy="2540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endParaRPr lang="en-US" sz="1400" b="0">
              <a:solidFill>
                <a:schemeClr val="bg2"/>
              </a:solidFill>
              <a:latin typeface="Times New Roman" panose="02020603050405020304" pitchFamily="18" charset="0"/>
            </a:endParaRPr>
          </a:p>
        </p:txBody>
      </p:sp>
      <p:sp>
        <p:nvSpPr>
          <p:cNvPr id="48149" name="Text Box 38"/>
          <p:cNvSpPr txBox="1">
            <a:spLocks noChangeArrowheads="1"/>
          </p:cNvSpPr>
          <p:nvPr/>
        </p:nvSpPr>
        <p:spPr bwMode="auto">
          <a:xfrm>
            <a:off x="1387029" y="4909123"/>
            <a:ext cx="314325" cy="3032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sz="1200" b="0">
                <a:latin typeface="Times New Roman" panose="02020603050405020304" pitchFamily="18" charset="0"/>
              </a:rPr>
              <a:t>R</a:t>
            </a:r>
          </a:p>
        </p:txBody>
      </p:sp>
      <p:sp>
        <p:nvSpPr>
          <p:cNvPr id="48150" name="Line 39"/>
          <p:cNvSpPr>
            <a:spLocks noChangeShapeType="1"/>
          </p:cNvSpPr>
          <p:nvPr/>
        </p:nvSpPr>
        <p:spPr bwMode="auto">
          <a:xfrm>
            <a:off x="1745804" y="5044060"/>
            <a:ext cx="7318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1" name="Rectangle 40"/>
          <p:cNvSpPr>
            <a:spLocks noChangeArrowheads="1"/>
          </p:cNvSpPr>
          <p:nvPr/>
        </p:nvSpPr>
        <p:spPr bwMode="auto">
          <a:xfrm>
            <a:off x="2477642" y="4924998"/>
            <a:ext cx="639762" cy="241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sz="1400" b="0">
                <a:latin typeface="Times New Roman" panose="02020603050405020304" pitchFamily="18" charset="0"/>
              </a:rPr>
              <a:t>E</a:t>
            </a:r>
            <a:r>
              <a:rPr lang="en-US" sz="1400" b="0" baseline="-25000">
                <a:latin typeface="Times New Roman" panose="02020603050405020304" pitchFamily="18" charset="0"/>
              </a:rPr>
              <a:t>2</a:t>
            </a:r>
            <a:endParaRPr lang="en-US" sz="1400" b="0">
              <a:latin typeface="Times New Roman" panose="02020603050405020304" pitchFamily="18" charset="0"/>
            </a:endParaRPr>
          </a:p>
        </p:txBody>
      </p:sp>
      <p:sp>
        <p:nvSpPr>
          <p:cNvPr id="48152" name="Line 41"/>
          <p:cNvSpPr>
            <a:spLocks noChangeShapeType="1"/>
          </p:cNvSpPr>
          <p:nvPr/>
        </p:nvSpPr>
        <p:spPr bwMode="auto">
          <a:xfrm>
            <a:off x="624828" y="6232781"/>
            <a:ext cx="487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3" name="Rectangle 42"/>
          <p:cNvSpPr>
            <a:spLocks noChangeArrowheads="1"/>
          </p:cNvSpPr>
          <p:nvPr/>
        </p:nvSpPr>
        <p:spPr bwMode="auto">
          <a:xfrm rot="2723072">
            <a:off x="1169340" y="6104194"/>
            <a:ext cx="254000" cy="2540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endParaRPr lang="en-US" sz="1400" b="0">
              <a:solidFill>
                <a:schemeClr val="bg2"/>
              </a:solidFill>
              <a:latin typeface="Times New Roman" panose="02020603050405020304" pitchFamily="18" charset="0"/>
            </a:endParaRPr>
          </a:p>
        </p:txBody>
      </p:sp>
      <p:sp>
        <p:nvSpPr>
          <p:cNvPr id="48154" name="Text Box 43"/>
          <p:cNvSpPr txBox="1">
            <a:spLocks noChangeArrowheads="1"/>
          </p:cNvSpPr>
          <p:nvPr/>
        </p:nvSpPr>
        <p:spPr bwMode="auto">
          <a:xfrm>
            <a:off x="1134415" y="6101019"/>
            <a:ext cx="314325" cy="303212"/>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sz="1200" b="0">
                <a:latin typeface="Times New Roman" panose="02020603050405020304" pitchFamily="18" charset="0"/>
              </a:rPr>
              <a:t>R</a:t>
            </a:r>
          </a:p>
        </p:txBody>
      </p:sp>
      <p:sp>
        <p:nvSpPr>
          <p:cNvPr id="48155" name="Line 44"/>
          <p:cNvSpPr>
            <a:spLocks noChangeShapeType="1"/>
          </p:cNvSpPr>
          <p:nvPr/>
        </p:nvSpPr>
        <p:spPr bwMode="auto">
          <a:xfrm>
            <a:off x="1493190" y="6235956"/>
            <a:ext cx="7318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6" name="Text Box 45"/>
          <p:cNvSpPr txBox="1">
            <a:spLocks noChangeArrowheads="1"/>
          </p:cNvSpPr>
          <p:nvPr/>
        </p:nvSpPr>
        <p:spPr bwMode="auto">
          <a:xfrm>
            <a:off x="1416990" y="5956556"/>
            <a:ext cx="857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sz="1200" b="0">
                <a:latin typeface="Times New Roman" panose="02020603050405020304" pitchFamily="18" charset="0"/>
              </a:rPr>
              <a:t>(</a:t>
            </a:r>
            <a:r>
              <a:rPr lang="en-US" sz="1200">
                <a:latin typeface="Times New Roman" panose="02020603050405020304" pitchFamily="18" charset="0"/>
              </a:rPr>
              <a:t>min,max</a:t>
            </a:r>
            <a:r>
              <a:rPr lang="en-US" sz="1200" b="0">
                <a:latin typeface="Times New Roman" panose="02020603050405020304" pitchFamily="18" charset="0"/>
              </a:rPr>
              <a:t>)</a:t>
            </a:r>
          </a:p>
        </p:txBody>
      </p:sp>
      <p:sp>
        <p:nvSpPr>
          <p:cNvPr id="48157" name="Rectangle 46"/>
          <p:cNvSpPr>
            <a:spLocks noChangeArrowheads="1"/>
          </p:cNvSpPr>
          <p:nvPr/>
        </p:nvSpPr>
        <p:spPr bwMode="auto">
          <a:xfrm>
            <a:off x="2225028" y="6116894"/>
            <a:ext cx="639762" cy="241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r>
              <a:rPr lang="en-US" sz="1400" b="0">
                <a:latin typeface="Times New Roman" panose="02020603050405020304" pitchFamily="18" charset="0"/>
              </a:rPr>
              <a:t>E</a:t>
            </a:r>
          </a:p>
        </p:txBody>
      </p:sp>
      <p:grpSp>
        <p:nvGrpSpPr>
          <p:cNvPr id="48158" name="Group 47"/>
          <p:cNvGrpSpPr>
            <a:grpSpLocks/>
          </p:cNvGrpSpPr>
          <p:nvPr/>
        </p:nvGrpSpPr>
        <p:grpSpPr bwMode="auto">
          <a:xfrm>
            <a:off x="1206372" y="2313028"/>
            <a:ext cx="990600" cy="346075"/>
            <a:chOff x="0" y="1560"/>
            <a:chExt cx="1200" cy="420"/>
          </a:xfrm>
        </p:grpSpPr>
        <p:sp>
          <p:nvSpPr>
            <p:cNvPr id="48163" name="Oval 48"/>
            <p:cNvSpPr>
              <a:spLocks noChangeArrowheads="1"/>
            </p:cNvSpPr>
            <p:nvPr/>
          </p:nvSpPr>
          <p:spPr bwMode="auto">
            <a:xfrm>
              <a:off x="0" y="1560"/>
              <a:ext cx="288" cy="1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64" name="Oval 49"/>
            <p:cNvSpPr>
              <a:spLocks noChangeArrowheads="1"/>
            </p:cNvSpPr>
            <p:nvPr/>
          </p:nvSpPr>
          <p:spPr bwMode="auto">
            <a:xfrm>
              <a:off x="396" y="1560"/>
              <a:ext cx="288" cy="1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65" name="Oval 50"/>
            <p:cNvSpPr>
              <a:spLocks noChangeArrowheads="1"/>
            </p:cNvSpPr>
            <p:nvPr/>
          </p:nvSpPr>
          <p:spPr bwMode="auto">
            <a:xfrm>
              <a:off x="912" y="1560"/>
              <a:ext cx="288" cy="1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66" name="Oval 51"/>
            <p:cNvSpPr>
              <a:spLocks noChangeArrowheads="1"/>
            </p:cNvSpPr>
            <p:nvPr/>
          </p:nvSpPr>
          <p:spPr bwMode="auto">
            <a:xfrm>
              <a:off x="516" y="1812"/>
              <a:ext cx="288" cy="1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48167" name="Line 52"/>
            <p:cNvSpPr>
              <a:spLocks noChangeShapeType="1"/>
            </p:cNvSpPr>
            <p:nvPr/>
          </p:nvSpPr>
          <p:spPr bwMode="auto">
            <a:xfrm flipH="1">
              <a:off x="264" y="1896"/>
              <a:ext cx="2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68" name="Line 53"/>
            <p:cNvSpPr>
              <a:spLocks noChangeShapeType="1"/>
            </p:cNvSpPr>
            <p:nvPr/>
          </p:nvSpPr>
          <p:spPr bwMode="auto">
            <a:xfrm>
              <a:off x="288" y="1668"/>
              <a:ext cx="264" cy="1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69" name="Line 54"/>
            <p:cNvSpPr>
              <a:spLocks noChangeShapeType="1"/>
            </p:cNvSpPr>
            <p:nvPr/>
          </p:nvSpPr>
          <p:spPr bwMode="auto">
            <a:xfrm>
              <a:off x="528" y="1717"/>
              <a:ext cx="84" cy="1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70" name="Line 55"/>
            <p:cNvSpPr>
              <a:spLocks noChangeShapeType="1"/>
            </p:cNvSpPr>
            <p:nvPr/>
          </p:nvSpPr>
          <p:spPr bwMode="auto">
            <a:xfrm flipV="1">
              <a:off x="792" y="1728"/>
              <a:ext cx="228" cy="1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71" name="Line 56"/>
            <p:cNvSpPr>
              <a:spLocks noChangeShapeType="1"/>
            </p:cNvSpPr>
            <p:nvPr/>
          </p:nvSpPr>
          <p:spPr bwMode="auto">
            <a:xfrm>
              <a:off x="720" y="1644"/>
              <a:ext cx="180" cy="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8159" name="Text Box 57"/>
          <p:cNvSpPr txBox="1">
            <a:spLocks noChangeArrowheads="1"/>
          </p:cNvSpPr>
          <p:nvPr/>
        </p:nvSpPr>
        <p:spPr bwMode="auto">
          <a:xfrm>
            <a:off x="1652142" y="4818635"/>
            <a:ext cx="2936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r>
              <a:rPr lang="en-US" sz="1200" b="0" dirty="0">
                <a:latin typeface="Times New Roman" panose="02020603050405020304" pitchFamily="18" charset="0"/>
              </a:rPr>
              <a:t>N</a:t>
            </a:r>
          </a:p>
        </p:txBody>
      </p:sp>
      <p:sp>
        <p:nvSpPr>
          <p:cNvPr id="48160" name="Rectangle 58"/>
          <p:cNvSpPr>
            <a:spLocks noChangeArrowheads="1"/>
          </p:cNvSpPr>
          <p:nvPr/>
        </p:nvSpPr>
        <p:spPr bwMode="auto">
          <a:xfrm rot="2723072">
            <a:off x="1267967" y="4006573"/>
            <a:ext cx="254000" cy="2540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a:endParaRPr lang="en-US" sz="1400" b="0">
              <a:latin typeface="Times New Roman" panose="02020603050405020304" pitchFamily="18" charset="0"/>
            </a:endParaRPr>
          </a:p>
        </p:txBody>
      </p:sp>
      <p:sp>
        <p:nvSpPr>
          <p:cNvPr id="48161" name="Line 60"/>
          <p:cNvSpPr>
            <a:spLocks noChangeShapeType="1"/>
          </p:cNvSpPr>
          <p:nvPr/>
        </p:nvSpPr>
        <p:spPr bwMode="auto">
          <a:xfrm>
            <a:off x="1540223" y="4101823"/>
            <a:ext cx="1143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2" name="Text Box 61"/>
          <p:cNvSpPr txBox="1">
            <a:spLocks noChangeArrowheads="1"/>
          </p:cNvSpPr>
          <p:nvPr/>
        </p:nvSpPr>
        <p:spPr bwMode="auto">
          <a:xfrm>
            <a:off x="1060004" y="4809110"/>
            <a:ext cx="228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200"/>
              <a:t>1</a:t>
            </a:r>
          </a:p>
        </p:txBody>
      </p:sp>
      <p:sp>
        <p:nvSpPr>
          <p:cNvPr id="61" name="Text Box 4"/>
          <p:cNvSpPr txBox="1">
            <a:spLocks noChangeArrowheads="1"/>
          </p:cNvSpPr>
          <p:nvPr/>
        </p:nvSpPr>
        <p:spPr bwMode="auto">
          <a:xfrm>
            <a:off x="985516" y="913076"/>
            <a:ext cx="187927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sz="2800" cap="all" dirty="0">
                <a:effectLst>
                  <a:outerShdw blurRad="50800" dist="63500" dir="2700000" algn="tl" rotWithShape="0">
                    <a:srgbClr val="000000">
                      <a:alpha val="48000"/>
                    </a:srgbClr>
                  </a:outerShdw>
                </a:effectLst>
                <a:latin typeface="Corbel" panose="020B0503020204020204" pitchFamily="34" charset="0"/>
                <a:ea typeface="+mj-ea"/>
                <a:cs typeface="+mj-cs"/>
              </a:rPr>
              <a:t>Symbol</a:t>
            </a:r>
          </a:p>
        </p:txBody>
      </p:sp>
      <p:sp>
        <p:nvSpPr>
          <p:cNvPr id="62" name="Text Box 4"/>
          <p:cNvSpPr txBox="1">
            <a:spLocks noChangeArrowheads="1"/>
          </p:cNvSpPr>
          <p:nvPr/>
        </p:nvSpPr>
        <p:spPr bwMode="auto">
          <a:xfrm>
            <a:off x="4435897" y="901315"/>
            <a:ext cx="187927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bIns="0">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r>
              <a:rPr lang="en-US" sz="2800" cap="all" dirty="0">
                <a:effectLst>
                  <a:outerShdw blurRad="50800" dist="63500" dir="2700000" algn="tl" rotWithShape="0">
                    <a:srgbClr val="000000">
                      <a:alpha val="48000"/>
                    </a:srgbClr>
                  </a:outerShdw>
                </a:effectLst>
                <a:latin typeface="Corbel" panose="020B0503020204020204" pitchFamily="34" charset="0"/>
                <a:ea typeface="+mj-ea"/>
                <a:cs typeface="+mj-cs"/>
              </a:rPr>
              <a:t>Meaning</a:t>
            </a:r>
          </a:p>
        </p:txBody>
      </p:sp>
    </p:spTree>
    <p:extLst>
      <p:ext uri="{BB962C8B-B14F-4D97-AF65-F5344CB8AC3E}">
        <p14:creationId xmlns:p14="http://schemas.microsoft.com/office/powerpoint/2010/main" val="1156268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567566" y="228600"/>
            <a:ext cx="6377940" cy="1067958"/>
          </a:xfrm>
        </p:spPr>
        <p:txBody>
          <a:bodyPr>
            <a:normAutofit/>
          </a:bodyPr>
          <a:lstStyle/>
          <a:p>
            <a:r>
              <a:rPr lang="en-GB" sz="4400" dirty="0">
                <a:ln>
                  <a:noFill/>
                </a:ln>
                <a:latin typeface="Corbel" panose="020B0503020204020204" pitchFamily="34" charset="0"/>
              </a:rPr>
              <a:t>Entity</a:t>
            </a:r>
          </a:p>
        </p:txBody>
      </p:sp>
      <p:sp>
        <p:nvSpPr>
          <p:cNvPr id="20483" name="Rectangle 3"/>
          <p:cNvSpPr>
            <a:spLocks noGrp="1" noChangeArrowheads="1"/>
          </p:cNvSpPr>
          <p:nvPr>
            <p:ph idx="4294967295"/>
          </p:nvPr>
        </p:nvSpPr>
        <p:spPr>
          <a:xfrm>
            <a:off x="282222" y="834907"/>
            <a:ext cx="8480778" cy="5330943"/>
          </a:xfrm>
          <a:prstGeom prst="rect">
            <a:avLst/>
          </a:prstGeom>
        </p:spPr>
        <p:txBody>
          <a:bodyPr rtlCol="0">
            <a:normAutofit fontScale="25000" lnSpcReduction="20000"/>
          </a:bodyPr>
          <a:lstStyle/>
          <a:p>
            <a:pPr lvl="1" fontAlgn="auto">
              <a:lnSpc>
                <a:spcPct val="90000"/>
              </a:lnSpc>
              <a:buFont typeface="Wingdings" panose="05000000000000000000" pitchFamily="2" charset="2"/>
              <a:buNone/>
              <a:defRPr/>
            </a:pPr>
            <a:endParaRPr lang="en-GB" sz="2200" dirty="0">
              <a:solidFill>
                <a:schemeClr val="tx1">
                  <a:lumMod val="85000"/>
                  <a:lumOff val="15000"/>
                </a:schemeClr>
              </a:solidFill>
            </a:endParaRPr>
          </a:p>
          <a:p>
            <a:pPr algn="just" fontAlgn="auto">
              <a:lnSpc>
                <a:spcPct val="160000"/>
              </a:lnSpc>
              <a:buFont typeface="Arial"/>
              <a:buChar char="•"/>
              <a:defRPr/>
            </a:pPr>
            <a:r>
              <a:rPr lang="en-US" sz="9600" dirty="0">
                <a:solidFill>
                  <a:schemeClr val="tx1">
                    <a:lumMod val="85000"/>
                    <a:lumOff val="15000"/>
                  </a:schemeClr>
                </a:solidFill>
                <a:latin typeface="Corbel" panose="020B0503020204020204" pitchFamily="34" charset="0"/>
              </a:rPr>
              <a:t>An </a:t>
            </a:r>
            <a:r>
              <a:rPr lang="en-US" sz="9600" b="1" dirty="0">
                <a:solidFill>
                  <a:srgbClr val="FF0066"/>
                </a:solidFill>
                <a:latin typeface="Corbel" panose="020B0503020204020204" pitchFamily="34" charset="0"/>
              </a:rPr>
              <a:t>entity</a:t>
            </a:r>
            <a:r>
              <a:rPr lang="en-US" sz="9600" dirty="0">
                <a:solidFill>
                  <a:schemeClr val="tx1">
                    <a:lumMod val="85000"/>
                    <a:lumOff val="15000"/>
                  </a:schemeClr>
                </a:solidFill>
                <a:latin typeface="Corbel" panose="020B0503020204020204" pitchFamily="34" charset="0"/>
              </a:rPr>
              <a:t> is an object in the real world with an independent existence (place, person, car, house, company, job, university, etc.).</a:t>
            </a:r>
          </a:p>
          <a:p>
            <a:pPr marL="0" indent="0" fontAlgn="auto">
              <a:lnSpc>
                <a:spcPct val="90000"/>
              </a:lnSpc>
              <a:buNone/>
              <a:defRPr/>
            </a:pPr>
            <a:endParaRPr lang="en-US" sz="9600" dirty="0">
              <a:solidFill>
                <a:schemeClr val="tx1">
                  <a:lumMod val="85000"/>
                  <a:lumOff val="15000"/>
                </a:schemeClr>
              </a:solidFill>
              <a:latin typeface="Corbel" panose="020B0503020204020204" pitchFamily="34" charset="0"/>
            </a:endParaRPr>
          </a:p>
          <a:p>
            <a:pPr fontAlgn="auto">
              <a:lnSpc>
                <a:spcPct val="90000"/>
              </a:lnSpc>
              <a:buFont typeface="Arial"/>
              <a:buChar char="•"/>
              <a:defRPr/>
            </a:pPr>
            <a:r>
              <a:rPr lang="en-US" sz="9600" dirty="0">
                <a:solidFill>
                  <a:schemeClr val="tx1">
                    <a:lumMod val="85000"/>
                    <a:lumOff val="15000"/>
                  </a:schemeClr>
                </a:solidFill>
                <a:latin typeface="Corbel" panose="020B0503020204020204" pitchFamily="34" charset="0"/>
              </a:rPr>
              <a:t>A collection of similar entities is called an </a:t>
            </a:r>
            <a:r>
              <a:rPr lang="en-US" sz="9600" b="1" dirty="0">
                <a:solidFill>
                  <a:srgbClr val="FF0066"/>
                </a:solidFill>
                <a:latin typeface="Corbel" panose="020B0503020204020204" pitchFamily="34" charset="0"/>
              </a:rPr>
              <a:t>entity set</a:t>
            </a:r>
            <a:r>
              <a:rPr lang="en-US" sz="9600" dirty="0">
                <a:solidFill>
                  <a:srgbClr val="FF0066"/>
                </a:solidFill>
                <a:latin typeface="Corbel" panose="020B0503020204020204" pitchFamily="34" charset="0"/>
              </a:rPr>
              <a:t>.</a:t>
            </a:r>
          </a:p>
          <a:p>
            <a:pPr fontAlgn="auto">
              <a:lnSpc>
                <a:spcPct val="90000"/>
              </a:lnSpc>
              <a:buFont typeface="Arial"/>
              <a:buChar char="•"/>
              <a:defRPr/>
            </a:pPr>
            <a:endParaRPr lang="en-US" sz="9600" dirty="0">
              <a:solidFill>
                <a:schemeClr val="tx1">
                  <a:lumMod val="85000"/>
                  <a:lumOff val="15000"/>
                </a:schemeClr>
              </a:solidFill>
              <a:latin typeface="Corbel" panose="020B0503020204020204" pitchFamily="34" charset="0"/>
            </a:endParaRPr>
          </a:p>
          <a:p>
            <a:pPr fontAlgn="auto">
              <a:lnSpc>
                <a:spcPct val="90000"/>
              </a:lnSpc>
              <a:buFont typeface="Arial"/>
              <a:buChar char="•"/>
              <a:defRPr/>
            </a:pPr>
            <a:r>
              <a:rPr lang="en-US" sz="9600" dirty="0">
                <a:solidFill>
                  <a:schemeClr val="tx1">
                    <a:lumMod val="85000"/>
                    <a:lumOff val="15000"/>
                  </a:schemeClr>
                </a:solidFill>
                <a:latin typeface="Corbel" panose="020B0503020204020204" pitchFamily="34" charset="0"/>
              </a:rPr>
              <a:t>Graphically,</a:t>
            </a:r>
          </a:p>
          <a:p>
            <a:pPr fontAlgn="auto">
              <a:lnSpc>
                <a:spcPct val="90000"/>
              </a:lnSpc>
              <a:buFont typeface="Arial"/>
              <a:buChar char="•"/>
              <a:defRPr/>
            </a:pPr>
            <a:endParaRPr lang="en-US" sz="9600" dirty="0">
              <a:solidFill>
                <a:schemeClr val="tx1">
                  <a:lumMod val="85000"/>
                  <a:lumOff val="15000"/>
                </a:schemeClr>
              </a:solidFill>
              <a:latin typeface="Corbel" panose="020B0503020204020204" pitchFamily="34" charset="0"/>
            </a:endParaRPr>
          </a:p>
          <a:p>
            <a:pPr fontAlgn="auto">
              <a:lnSpc>
                <a:spcPct val="90000"/>
              </a:lnSpc>
              <a:buFont typeface="Arial"/>
              <a:buChar char="•"/>
              <a:defRPr/>
            </a:pPr>
            <a:endParaRPr lang="en-US" sz="9600" dirty="0">
              <a:solidFill>
                <a:schemeClr val="tx1">
                  <a:lumMod val="85000"/>
                  <a:lumOff val="15000"/>
                </a:schemeClr>
              </a:solidFill>
              <a:latin typeface="Corbel" panose="020B0503020204020204" pitchFamily="34" charset="0"/>
            </a:endParaRPr>
          </a:p>
          <a:p>
            <a:pPr fontAlgn="auto">
              <a:lnSpc>
                <a:spcPct val="90000"/>
              </a:lnSpc>
              <a:buFont typeface="Arial"/>
              <a:buChar char="•"/>
              <a:defRPr/>
            </a:pPr>
            <a:endParaRPr lang="en-GB" sz="9600" dirty="0">
              <a:solidFill>
                <a:schemeClr val="tx1">
                  <a:lumMod val="85000"/>
                  <a:lumOff val="15000"/>
                </a:schemeClr>
              </a:solidFill>
              <a:latin typeface="Corbel" panose="020B0503020204020204" pitchFamily="34" charset="0"/>
            </a:endParaRPr>
          </a:p>
          <a:p>
            <a:pPr lvl="1" algn="just" fontAlgn="auto">
              <a:lnSpc>
                <a:spcPct val="90000"/>
              </a:lnSpc>
              <a:buFont typeface="Arial"/>
              <a:buChar char="•"/>
              <a:defRPr/>
            </a:pPr>
            <a:r>
              <a:rPr lang="en-GB" sz="9600" dirty="0">
                <a:solidFill>
                  <a:schemeClr val="tx1">
                    <a:lumMod val="85000"/>
                    <a:lumOff val="15000"/>
                  </a:schemeClr>
                </a:solidFill>
                <a:latin typeface="Corbel" panose="020B0503020204020204" pitchFamily="34" charset="0"/>
              </a:rPr>
              <a:t>First letter of each word in the entity name is uppercase</a:t>
            </a:r>
          </a:p>
          <a:p>
            <a:pPr lvl="2" algn="just" fontAlgn="auto">
              <a:lnSpc>
                <a:spcPct val="90000"/>
              </a:lnSpc>
              <a:buFont typeface="Arial"/>
              <a:buChar char="•"/>
              <a:defRPr/>
            </a:pPr>
            <a:r>
              <a:rPr lang="en-GB" sz="9600" dirty="0">
                <a:solidFill>
                  <a:schemeClr val="tx1">
                    <a:lumMod val="85000"/>
                    <a:lumOff val="15000"/>
                  </a:schemeClr>
                </a:solidFill>
                <a:latin typeface="Corbel" panose="020B0503020204020204" pitchFamily="34" charset="0"/>
              </a:rPr>
              <a:t>E.g., </a:t>
            </a:r>
            <a:r>
              <a:rPr lang="en-GB" sz="9600" u="sng" dirty="0">
                <a:solidFill>
                  <a:schemeClr val="tx1">
                    <a:lumMod val="85000"/>
                    <a:lumOff val="15000"/>
                  </a:schemeClr>
                </a:solidFill>
                <a:latin typeface="Corbel" panose="020B0503020204020204" pitchFamily="34" charset="0"/>
              </a:rPr>
              <a:t>Student</a:t>
            </a:r>
            <a:endParaRPr lang="en-GB" sz="9600" dirty="0">
              <a:solidFill>
                <a:schemeClr val="tx1">
                  <a:lumMod val="85000"/>
                  <a:lumOff val="15000"/>
                </a:schemeClr>
              </a:solidFill>
              <a:latin typeface="Corbel" panose="020B0503020204020204" pitchFamily="34" charset="0"/>
            </a:endParaRPr>
          </a:p>
          <a:p>
            <a:pPr lvl="2" algn="just" fontAlgn="auto">
              <a:lnSpc>
                <a:spcPct val="90000"/>
              </a:lnSpc>
              <a:buFont typeface="Arial"/>
              <a:buChar char="•"/>
              <a:defRPr/>
            </a:pPr>
            <a:endParaRPr lang="en-GB" sz="9600" dirty="0">
              <a:solidFill>
                <a:schemeClr val="tx1">
                  <a:lumMod val="85000"/>
                  <a:lumOff val="15000"/>
                </a:schemeClr>
              </a:solidFill>
              <a:latin typeface="Corbel" panose="020B0503020204020204" pitchFamily="34" charset="0"/>
            </a:endParaRPr>
          </a:p>
          <a:p>
            <a:pPr lvl="1" algn="just" fontAlgn="auto">
              <a:lnSpc>
                <a:spcPct val="90000"/>
              </a:lnSpc>
              <a:buFont typeface="Arial"/>
              <a:buChar char="•"/>
              <a:defRPr/>
            </a:pPr>
            <a:r>
              <a:rPr lang="en-GB" sz="9600" dirty="0">
                <a:solidFill>
                  <a:schemeClr val="tx1">
                    <a:lumMod val="85000"/>
                    <a:lumOff val="15000"/>
                  </a:schemeClr>
                </a:solidFill>
                <a:latin typeface="Corbel" panose="020B0503020204020204" pitchFamily="34" charset="0"/>
              </a:rPr>
              <a:t>Normally an entity is named using a </a:t>
            </a:r>
            <a:r>
              <a:rPr lang="en-GB" sz="9600" u="sng" dirty="0">
                <a:solidFill>
                  <a:schemeClr val="tx1">
                    <a:lumMod val="85000"/>
                    <a:lumOff val="15000"/>
                  </a:schemeClr>
                </a:solidFill>
                <a:latin typeface="Corbel" panose="020B0503020204020204" pitchFamily="34" charset="0"/>
              </a:rPr>
              <a:t>‘</a:t>
            </a:r>
            <a:r>
              <a:rPr lang="en-GB" sz="9600" b="1" u="sng" dirty="0">
                <a:solidFill>
                  <a:srgbClr val="FF0066"/>
                </a:solidFill>
                <a:latin typeface="Corbel" panose="020B0503020204020204" pitchFamily="34" charset="0"/>
              </a:rPr>
              <a:t>noun</a:t>
            </a:r>
            <a:r>
              <a:rPr lang="en-GB" sz="9600" u="sng" dirty="0">
                <a:solidFill>
                  <a:schemeClr val="tx1">
                    <a:lumMod val="85000"/>
                    <a:lumOff val="15000"/>
                  </a:schemeClr>
                </a:solidFill>
                <a:latin typeface="Corbel" panose="020B0503020204020204" pitchFamily="34" charset="0"/>
              </a:rPr>
              <a:t>’</a:t>
            </a:r>
            <a:r>
              <a:rPr lang="en-GB" sz="9600" dirty="0">
                <a:solidFill>
                  <a:schemeClr val="tx1">
                    <a:lumMod val="85000"/>
                    <a:lumOff val="15000"/>
                  </a:schemeClr>
                </a:solidFill>
                <a:latin typeface="Corbel" panose="020B0503020204020204" pitchFamily="34" charset="0"/>
              </a:rPr>
              <a:t> or ‘noun phrase’</a:t>
            </a:r>
          </a:p>
          <a:p>
            <a:pPr fontAlgn="auto">
              <a:lnSpc>
                <a:spcPct val="90000"/>
              </a:lnSpc>
              <a:buFont typeface="Arial"/>
              <a:buChar char="•"/>
              <a:defRPr/>
            </a:pPr>
            <a:endParaRPr lang="en-GB" sz="2000" dirty="0">
              <a:solidFill>
                <a:schemeClr val="tx1">
                  <a:lumMod val="85000"/>
                  <a:lumOff val="15000"/>
                </a:schemeClr>
              </a:solidFill>
            </a:endParaRPr>
          </a:p>
          <a:p>
            <a:pPr fontAlgn="auto">
              <a:lnSpc>
                <a:spcPct val="90000"/>
              </a:lnSpc>
              <a:buFont typeface="Arial"/>
              <a:buChar char="•"/>
              <a:defRPr/>
            </a:pPr>
            <a:endParaRPr lang="en-GB" sz="2000" dirty="0">
              <a:solidFill>
                <a:schemeClr val="tx1">
                  <a:lumMod val="85000"/>
                  <a:lumOff val="15000"/>
                </a:schemeClr>
              </a:solidFill>
            </a:endParaRPr>
          </a:p>
        </p:txBody>
      </p:sp>
      <p:sp>
        <p:nvSpPr>
          <p:cNvPr id="20484" name="Text Box 5"/>
          <p:cNvSpPr txBox="1">
            <a:spLocks noChangeArrowheads="1"/>
          </p:cNvSpPr>
          <p:nvPr/>
        </p:nvSpPr>
        <p:spPr bwMode="auto">
          <a:xfrm>
            <a:off x="2709516" y="3551135"/>
            <a:ext cx="1997075"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sz="2400" b="0" dirty="0">
                <a:latin typeface="Times New Roman" panose="02020603050405020304" pitchFamily="18" charset="0"/>
              </a:rPr>
              <a:t>ENTITY</a:t>
            </a:r>
          </a:p>
        </p:txBody>
      </p:sp>
      <p:sp>
        <p:nvSpPr>
          <p:cNvPr id="49157" name="Text Box 6"/>
          <p:cNvSpPr txBox="1">
            <a:spLocks noChangeArrowheads="1"/>
          </p:cNvSpPr>
          <p:nvPr/>
        </p:nvSpPr>
        <p:spPr bwMode="auto">
          <a:xfrm>
            <a:off x="3032125" y="87313"/>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20486" name="Rectangle 4"/>
          <p:cNvSpPr>
            <a:spLocks noChangeArrowheads="1"/>
          </p:cNvSpPr>
          <p:nvPr/>
        </p:nvSpPr>
        <p:spPr bwMode="auto">
          <a:xfrm>
            <a:off x="5486400" y="3459956"/>
            <a:ext cx="2198619" cy="639866"/>
          </a:xfrm>
          <a:prstGeom prst="rect">
            <a:avLst/>
          </a:prstGeom>
          <a:solidFill>
            <a:srgbClr val="9999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800" dirty="0"/>
              <a:t>STUDENT </a:t>
            </a:r>
          </a:p>
        </p:txBody>
      </p:sp>
    </p:spTree>
    <p:extLst>
      <p:ext uri="{BB962C8B-B14F-4D97-AF65-F5344CB8AC3E}">
        <p14:creationId xmlns:p14="http://schemas.microsoft.com/office/powerpoint/2010/main" val="13516866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4">
                                            <p:bg/>
                                          </p:spTgt>
                                        </p:tgtEl>
                                        <p:attrNameLst>
                                          <p:attrName>style.visibility</p:attrName>
                                        </p:attrNameLst>
                                      </p:cBhvr>
                                      <p:to>
                                        <p:strVal val="visible"/>
                                      </p:to>
                                    </p:set>
                                    <p:animEffect transition="in" filter="blinds(horizontal)">
                                      <p:cBhvr>
                                        <p:cTn id="7" dur="500"/>
                                        <p:tgtEl>
                                          <p:spTgt spid="20484">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4">
                                            <p:txEl>
                                              <p:pRg st="0" end="0"/>
                                            </p:txEl>
                                          </p:spTgt>
                                        </p:tgtEl>
                                        <p:attrNameLst>
                                          <p:attrName>style.visibility</p:attrName>
                                        </p:attrNameLst>
                                      </p:cBhvr>
                                      <p:to>
                                        <p:strVal val="visible"/>
                                      </p:to>
                                    </p:set>
                                    <p:animEffect transition="in" filter="blinds(horizontal)">
                                      <p:cBhvr>
                                        <p:cTn id="12" dur="500"/>
                                        <p:tgtEl>
                                          <p:spTgt spid="2048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483">
                                            <p:txEl>
                                              <p:pRg st="9" end="9"/>
                                            </p:txEl>
                                          </p:spTgt>
                                        </p:tgtEl>
                                        <p:attrNameLst>
                                          <p:attrName>style.visibility</p:attrName>
                                        </p:attrNameLst>
                                      </p:cBhvr>
                                      <p:to>
                                        <p:strVal val="visible"/>
                                      </p:to>
                                    </p:set>
                                    <p:animEffect transition="in" filter="blinds(horizontal)">
                                      <p:cBhvr>
                                        <p:cTn id="17" dur="500"/>
                                        <p:tgtEl>
                                          <p:spTgt spid="20483">
                                            <p:txEl>
                                              <p:pRg st="9" end="9"/>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0483">
                                            <p:txEl>
                                              <p:pRg st="10" end="10"/>
                                            </p:txEl>
                                          </p:spTgt>
                                        </p:tgtEl>
                                        <p:attrNameLst>
                                          <p:attrName>style.visibility</p:attrName>
                                        </p:attrNameLst>
                                      </p:cBhvr>
                                      <p:to>
                                        <p:strVal val="visible"/>
                                      </p:to>
                                    </p:set>
                                    <p:animEffect transition="in" filter="blinds(horizontal)">
                                      <p:cBhvr>
                                        <p:cTn id="20" dur="500"/>
                                        <p:tgtEl>
                                          <p:spTgt spid="20483">
                                            <p:txEl>
                                              <p:pRg st="10" end="1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20486"/>
                                        </p:tgtEl>
                                        <p:attrNameLst>
                                          <p:attrName>style.visibility</p:attrName>
                                        </p:attrNameLst>
                                      </p:cBhvr>
                                      <p:to>
                                        <p:strVal val="visible"/>
                                      </p:to>
                                    </p:set>
                                    <p:animEffect transition="in" filter="box(in)">
                                      <p:cBhvr>
                                        <p:cTn id="25" dur="500"/>
                                        <p:tgtEl>
                                          <p:spTgt spid="2048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20483">
                                            <p:txEl>
                                              <p:pRg st="12" end="12"/>
                                            </p:txEl>
                                          </p:spTgt>
                                        </p:tgtEl>
                                        <p:attrNameLst>
                                          <p:attrName>style.visibility</p:attrName>
                                        </p:attrNameLst>
                                      </p:cBhvr>
                                      <p:to>
                                        <p:strVal val="visible"/>
                                      </p:to>
                                    </p:set>
                                    <p:animEffect transition="in" filter="blinds(horizontal)">
                                      <p:cBhvr>
                                        <p:cTn id="30" dur="500"/>
                                        <p:tgtEl>
                                          <p:spTgt spid="2048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build="allAtOnce" animBg="1"/>
      <p:bldP spid="2048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249785" y="434619"/>
            <a:ext cx="6377940" cy="1084571"/>
          </a:xfrm>
        </p:spPr>
        <p:txBody>
          <a:bodyPr>
            <a:normAutofit/>
          </a:bodyPr>
          <a:lstStyle/>
          <a:p>
            <a:r>
              <a:rPr lang="en-US" sz="4400" dirty="0">
                <a:ln>
                  <a:noFill/>
                </a:ln>
                <a:latin typeface="Corbel" panose="020B0503020204020204" pitchFamily="34" charset="0"/>
              </a:rPr>
              <a:t>Attributes</a:t>
            </a:r>
          </a:p>
        </p:txBody>
      </p:sp>
      <p:sp>
        <p:nvSpPr>
          <p:cNvPr id="21507" name="Rectangle 3"/>
          <p:cNvSpPr>
            <a:spLocks noGrp="1" noChangeArrowheads="1"/>
          </p:cNvSpPr>
          <p:nvPr>
            <p:ph idx="4294967295"/>
          </p:nvPr>
        </p:nvSpPr>
        <p:spPr>
          <a:xfrm>
            <a:off x="312778" y="1574892"/>
            <a:ext cx="8708907" cy="4659313"/>
          </a:xfrm>
          <a:prstGeom prst="rect">
            <a:avLst/>
          </a:prstGeom>
        </p:spPr>
        <p:txBody>
          <a:bodyPr rtlCol="0">
            <a:normAutofit/>
          </a:bodyPr>
          <a:lstStyle/>
          <a:p>
            <a:pPr>
              <a:defRPr/>
            </a:pPr>
            <a:r>
              <a:rPr lang="en-US" sz="2800" dirty="0">
                <a:solidFill>
                  <a:schemeClr val="tx1">
                    <a:lumMod val="85000"/>
                    <a:lumOff val="15000"/>
                  </a:schemeClr>
                </a:solidFill>
                <a:latin typeface="Corbel" panose="020B0503020204020204" pitchFamily="34" charset="0"/>
              </a:rPr>
              <a:t>An entity is described using a set of </a:t>
            </a:r>
            <a:r>
              <a:rPr lang="en-US" sz="2800" b="1" dirty="0">
                <a:solidFill>
                  <a:srgbClr val="FF0066"/>
                </a:solidFill>
                <a:latin typeface="Corbel" panose="020B0503020204020204" pitchFamily="34" charset="0"/>
              </a:rPr>
              <a:t>attributes.        </a:t>
            </a:r>
          </a:p>
          <a:p>
            <a:pPr>
              <a:defRPr/>
            </a:pPr>
            <a:r>
              <a:rPr lang="en-US" sz="2800" dirty="0">
                <a:solidFill>
                  <a:schemeClr val="tx1">
                    <a:lumMod val="85000"/>
                    <a:lumOff val="15000"/>
                  </a:schemeClr>
                </a:solidFill>
                <a:latin typeface="Corbel" panose="020B0503020204020204" pitchFamily="34" charset="0"/>
              </a:rPr>
              <a:t>Graphically, </a:t>
            </a:r>
            <a:r>
              <a:rPr lang="en-US" sz="2800" b="1" dirty="0">
                <a:solidFill>
                  <a:srgbClr val="008000"/>
                </a:solidFill>
                <a:latin typeface="Corbel" panose="020B0503020204020204" pitchFamily="34" charset="0"/>
              </a:rPr>
              <a:t>Oval</a:t>
            </a:r>
            <a:r>
              <a:rPr lang="en-US" sz="2800" dirty="0">
                <a:solidFill>
                  <a:srgbClr val="008000"/>
                </a:solidFill>
                <a:latin typeface="Corbel" panose="020B0503020204020204" pitchFamily="34" charset="0"/>
              </a:rPr>
              <a:t>.</a:t>
            </a:r>
          </a:p>
          <a:p>
            <a:pPr marL="609600" indent="-609600" fontAlgn="auto">
              <a:lnSpc>
                <a:spcPct val="90000"/>
              </a:lnSpc>
              <a:buFont typeface="Arial"/>
              <a:buChar char="•"/>
              <a:defRPr/>
            </a:pPr>
            <a:endParaRPr lang="en-US" sz="2800" dirty="0">
              <a:solidFill>
                <a:schemeClr val="tx1">
                  <a:lumMod val="85000"/>
                  <a:lumOff val="15000"/>
                </a:schemeClr>
              </a:solidFill>
              <a:latin typeface="Corbel" panose="020B0503020204020204" pitchFamily="34" charset="0"/>
            </a:endParaRPr>
          </a:p>
          <a:p>
            <a:pPr marL="0" indent="0" fontAlgn="auto">
              <a:lnSpc>
                <a:spcPct val="90000"/>
              </a:lnSpc>
              <a:buNone/>
              <a:defRPr/>
            </a:pPr>
            <a:endParaRPr lang="en-US" sz="2800" dirty="0">
              <a:solidFill>
                <a:schemeClr val="tx1">
                  <a:lumMod val="85000"/>
                  <a:lumOff val="15000"/>
                </a:schemeClr>
              </a:solidFill>
              <a:latin typeface="Corbel" panose="020B0503020204020204" pitchFamily="34" charset="0"/>
            </a:endParaRPr>
          </a:p>
          <a:p>
            <a:pPr>
              <a:defRPr/>
            </a:pPr>
            <a:r>
              <a:rPr lang="en-US" sz="2800" dirty="0">
                <a:solidFill>
                  <a:schemeClr val="tx1">
                    <a:lumMod val="85000"/>
                    <a:lumOff val="15000"/>
                  </a:schemeClr>
                </a:solidFill>
                <a:latin typeface="Corbel" panose="020B0503020204020204" pitchFamily="34" charset="0"/>
              </a:rPr>
              <a:t>For example, staff has 3 attributes.</a:t>
            </a:r>
          </a:p>
          <a:p>
            <a:pPr lvl="1" fontAlgn="auto">
              <a:lnSpc>
                <a:spcPct val="90000"/>
              </a:lnSpc>
              <a:buFont typeface="Arial"/>
              <a:buChar char="•"/>
              <a:defRPr/>
            </a:pPr>
            <a:r>
              <a:rPr lang="en-US" sz="2800" dirty="0">
                <a:solidFill>
                  <a:schemeClr val="tx1">
                    <a:lumMod val="85000"/>
                    <a:lumOff val="15000"/>
                  </a:schemeClr>
                </a:solidFill>
                <a:latin typeface="Corbel" panose="020B0503020204020204" pitchFamily="34" charset="0"/>
              </a:rPr>
              <a:t>Name</a:t>
            </a:r>
          </a:p>
          <a:p>
            <a:pPr lvl="1" fontAlgn="auto">
              <a:lnSpc>
                <a:spcPct val="90000"/>
              </a:lnSpc>
              <a:buFont typeface="Arial"/>
              <a:buChar char="•"/>
              <a:defRPr/>
            </a:pPr>
            <a:r>
              <a:rPr lang="en-US" sz="2800" dirty="0">
                <a:solidFill>
                  <a:schemeClr val="tx1">
                    <a:lumMod val="85000"/>
                    <a:lumOff val="15000"/>
                  </a:schemeClr>
                </a:solidFill>
                <a:latin typeface="Corbel" panose="020B0503020204020204" pitchFamily="34" charset="0"/>
              </a:rPr>
              <a:t>Position</a:t>
            </a:r>
          </a:p>
          <a:p>
            <a:pPr lvl="1" fontAlgn="auto">
              <a:lnSpc>
                <a:spcPct val="90000"/>
              </a:lnSpc>
              <a:buFont typeface="Arial"/>
              <a:buChar char="•"/>
              <a:defRPr/>
            </a:pPr>
            <a:r>
              <a:rPr lang="en-US" sz="2800" dirty="0">
                <a:solidFill>
                  <a:schemeClr val="tx1">
                    <a:lumMod val="85000"/>
                    <a:lumOff val="15000"/>
                  </a:schemeClr>
                </a:solidFill>
                <a:latin typeface="Corbel" panose="020B0503020204020204" pitchFamily="34" charset="0"/>
              </a:rPr>
              <a:t>Salary</a:t>
            </a:r>
          </a:p>
          <a:p>
            <a:pPr marL="609600" indent="-609600" fontAlgn="auto">
              <a:lnSpc>
                <a:spcPct val="90000"/>
              </a:lnSpc>
              <a:buFont typeface="Wingdings" panose="05000000000000000000" pitchFamily="2" charset="2"/>
              <a:buNone/>
              <a:defRPr/>
            </a:pPr>
            <a:endParaRPr lang="en-US" sz="2600" dirty="0">
              <a:solidFill>
                <a:schemeClr val="tx1">
                  <a:lumMod val="85000"/>
                  <a:lumOff val="15000"/>
                </a:schemeClr>
              </a:solidFill>
            </a:endParaRPr>
          </a:p>
        </p:txBody>
      </p:sp>
      <p:sp>
        <p:nvSpPr>
          <p:cNvPr id="21508" name="Oval 4"/>
          <p:cNvSpPr>
            <a:spLocks noChangeArrowheads="1"/>
          </p:cNvSpPr>
          <p:nvPr/>
        </p:nvSpPr>
        <p:spPr bwMode="auto">
          <a:xfrm>
            <a:off x="4133832" y="2293536"/>
            <a:ext cx="1600200" cy="6096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1800" dirty="0"/>
              <a:t>Attribute</a:t>
            </a:r>
          </a:p>
        </p:txBody>
      </p:sp>
      <p:grpSp>
        <p:nvGrpSpPr>
          <p:cNvPr id="2" name="Group 7"/>
          <p:cNvGrpSpPr>
            <a:grpSpLocks/>
          </p:cNvGrpSpPr>
          <p:nvPr/>
        </p:nvGrpSpPr>
        <p:grpSpPr bwMode="auto">
          <a:xfrm>
            <a:off x="3524232" y="4043408"/>
            <a:ext cx="4419600" cy="2667000"/>
            <a:chOff x="2352" y="2448"/>
            <a:chExt cx="2784" cy="1680"/>
          </a:xfrm>
        </p:grpSpPr>
        <p:sp>
          <p:nvSpPr>
            <p:cNvPr id="50182" name="Rectangle 8"/>
            <p:cNvSpPr>
              <a:spLocks noChangeArrowheads="1"/>
            </p:cNvSpPr>
            <p:nvPr/>
          </p:nvSpPr>
          <p:spPr bwMode="auto">
            <a:xfrm>
              <a:off x="2352" y="3072"/>
              <a:ext cx="1043" cy="317"/>
            </a:xfrm>
            <a:prstGeom prst="rect">
              <a:avLst/>
            </a:prstGeom>
            <a:solidFill>
              <a:srgbClr val="9999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800" dirty="0"/>
                <a:t>STAFF</a:t>
              </a:r>
            </a:p>
          </p:txBody>
        </p:sp>
        <p:sp>
          <p:nvSpPr>
            <p:cNvPr id="50183" name="Oval 9"/>
            <p:cNvSpPr>
              <a:spLocks noChangeArrowheads="1"/>
            </p:cNvSpPr>
            <p:nvPr/>
          </p:nvSpPr>
          <p:spPr bwMode="auto">
            <a:xfrm>
              <a:off x="3168" y="2448"/>
              <a:ext cx="1200" cy="33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Name</a:t>
              </a:r>
            </a:p>
          </p:txBody>
        </p:sp>
        <p:sp>
          <p:nvSpPr>
            <p:cNvPr id="50184" name="Line 10"/>
            <p:cNvSpPr>
              <a:spLocks noChangeShapeType="1"/>
            </p:cNvSpPr>
            <p:nvPr/>
          </p:nvSpPr>
          <p:spPr bwMode="auto">
            <a:xfrm flipH="1">
              <a:off x="3024" y="2736"/>
              <a:ext cx="336"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5" name="Oval 11"/>
            <p:cNvSpPr>
              <a:spLocks noChangeArrowheads="1"/>
            </p:cNvSpPr>
            <p:nvPr/>
          </p:nvSpPr>
          <p:spPr bwMode="auto">
            <a:xfrm>
              <a:off x="3792" y="3072"/>
              <a:ext cx="1344" cy="384"/>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Position</a:t>
              </a:r>
            </a:p>
          </p:txBody>
        </p:sp>
        <p:sp>
          <p:nvSpPr>
            <p:cNvPr id="50186" name="Line 12"/>
            <p:cNvSpPr>
              <a:spLocks noChangeShapeType="1"/>
            </p:cNvSpPr>
            <p:nvPr/>
          </p:nvSpPr>
          <p:spPr bwMode="auto">
            <a:xfrm>
              <a:off x="3408" y="3264"/>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7" name="Oval 13"/>
            <p:cNvSpPr>
              <a:spLocks noChangeArrowheads="1"/>
            </p:cNvSpPr>
            <p:nvPr/>
          </p:nvSpPr>
          <p:spPr bwMode="auto">
            <a:xfrm>
              <a:off x="3072" y="3696"/>
              <a:ext cx="1296" cy="432"/>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Salary</a:t>
              </a:r>
            </a:p>
          </p:txBody>
        </p:sp>
        <p:sp>
          <p:nvSpPr>
            <p:cNvPr id="50188" name="Line 14"/>
            <p:cNvSpPr>
              <a:spLocks noChangeShapeType="1"/>
            </p:cNvSpPr>
            <p:nvPr/>
          </p:nvSpPr>
          <p:spPr bwMode="auto">
            <a:xfrm>
              <a:off x="2928" y="3408"/>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2610356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Effect transition="in" filter="checkerboard(across)">
                                      <p:cBhvr>
                                        <p:cTn id="7" dur="500"/>
                                        <p:tgtEl>
                                          <p:spTgt spid="215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1507">
                                            <p:txEl>
                                              <p:pRg st="4" end="4"/>
                                            </p:txEl>
                                          </p:spTgt>
                                        </p:tgtEl>
                                        <p:attrNameLst>
                                          <p:attrName>style.visibility</p:attrName>
                                        </p:attrNameLst>
                                      </p:cBhvr>
                                      <p:to>
                                        <p:strVal val="visible"/>
                                      </p:to>
                                    </p:set>
                                    <p:animEffect transition="in" filter="checkerboard(across)">
                                      <p:cBhvr>
                                        <p:cTn id="12" dur="500"/>
                                        <p:tgtEl>
                                          <p:spTgt spid="21507">
                                            <p:txEl>
                                              <p:pRg st="4" end="4"/>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1507">
                                            <p:txEl>
                                              <p:pRg st="5" end="5"/>
                                            </p:txEl>
                                          </p:spTgt>
                                        </p:tgtEl>
                                        <p:attrNameLst>
                                          <p:attrName>style.visibility</p:attrName>
                                        </p:attrNameLst>
                                      </p:cBhvr>
                                      <p:to>
                                        <p:strVal val="visible"/>
                                      </p:to>
                                    </p:set>
                                    <p:animEffect transition="in" filter="checkerboard(across)">
                                      <p:cBhvr>
                                        <p:cTn id="15" dur="500"/>
                                        <p:tgtEl>
                                          <p:spTgt spid="21507">
                                            <p:txEl>
                                              <p:pRg st="5" end="5"/>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1507">
                                            <p:txEl>
                                              <p:pRg st="6" end="6"/>
                                            </p:txEl>
                                          </p:spTgt>
                                        </p:tgtEl>
                                        <p:attrNameLst>
                                          <p:attrName>style.visibility</p:attrName>
                                        </p:attrNameLst>
                                      </p:cBhvr>
                                      <p:to>
                                        <p:strVal val="visible"/>
                                      </p:to>
                                    </p:set>
                                    <p:animEffect transition="in" filter="checkerboard(across)">
                                      <p:cBhvr>
                                        <p:cTn id="18" dur="500"/>
                                        <p:tgtEl>
                                          <p:spTgt spid="21507">
                                            <p:txEl>
                                              <p:pRg st="6" end="6"/>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21507">
                                            <p:txEl>
                                              <p:pRg st="7" end="7"/>
                                            </p:txEl>
                                          </p:spTgt>
                                        </p:tgtEl>
                                        <p:attrNameLst>
                                          <p:attrName>style.visibility</p:attrName>
                                        </p:attrNameLst>
                                      </p:cBhvr>
                                      <p:to>
                                        <p:strVal val="visible"/>
                                      </p:to>
                                    </p:set>
                                    <p:animEffect transition="in" filter="checkerboard(across)">
                                      <p:cBhvr>
                                        <p:cTn id="21" dur="500"/>
                                        <p:tgtEl>
                                          <p:spTgt spid="21507">
                                            <p:txEl>
                                              <p:pRg st="7" end="7"/>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8" presetClass="entr" presetSubtype="16"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diamond(in)">
                                      <p:cBhvr>
                                        <p:cTn id="2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1899" y="695324"/>
            <a:ext cx="6377940" cy="786343"/>
          </a:xfrm>
        </p:spPr>
        <p:txBody>
          <a:bodyPr/>
          <a:lstStyle/>
          <a:p>
            <a:r>
              <a:rPr lang="en-US" sz="4400" dirty="0">
                <a:latin typeface="Corbel" panose="020B0503020204020204" pitchFamily="34" charset="0"/>
              </a:rPr>
              <a:t>BOC Network</a:t>
            </a:r>
            <a:r>
              <a:rPr lang="en-US" dirty="0"/>
              <a:t> </a:t>
            </a:r>
          </a:p>
        </p:txBody>
      </p:sp>
      <p:sp>
        <p:nvSpPr>
          <p:cNvPr id="3" name="Content Placeholder 2"/>
          <p:cNvSpPr>
            <a:spLocks noGrp="1"/>
          </p:cNvSpPr>
          <p:nvPr>
            <p:ph idx="4294967295"/>
          </p:nvPr>
        </p:nvSpPr>
        <p:spPr>
          <a:xfrm>
            <a:off x="540926" y="1773238"/>
            <a:ext cx="8450674" cy="4389437"/>
          </a:xfrm>
          <a:prstGeom prst="rect">
            <a:avLst/>
          </a:prstGeom>
        </p:spPr>
        <p:txBody>
          <a:bodyPr/>
          <a:lstStyle/>
          <a:p>
            <a:r>
              <a:rPr lang="en-US" sz="2800" dirty="0">
                <a:latin typeface="Corbel" panose="020B0503020204020204" pitchFamily="34" charset="0"/>
              </a:rPr>
              <a:t>BOC is the largest bank network having over 5,000 branches and over 500,000 customers. Customers can open accounts in any bank branch. </a:t>
            </a:r>
          </a:p>
          <a:p>
            <a:r>
              <a:rPr lang="en-US" sz="2800" dirty="0">
                <a:latin typeface="Corbel" panose="020B0503020204020204" pitchFamily="34" charset="0"/>
              </a:rPr>
              <a:t>Identify </a:t>
            </a:r>
          </a:p>
          <a:p>
            <a:pPr lvl="1" algn="just">
              <a:lnSpc>
                <a:spcPct val="120000"/>
              </a:lnSpc>
              <a:buFont typeface="Arial"/>
              <a:buChar char="•"/>
              <a:defRPr/>
            </a:pPr>
            <a:r>
              <a:rPr lang="en-US" sz="2800" dirty="0">
                <a:solidFill>
                  <a:schemeClr val="tx1">
                    <a:lumMod val="85000"/>
                    <a:lumOff val="15000"/>
                  </a:schemeClr>
                </a:solidFill>
                <a:latin typeface="Corbel" panose="020B0503020204020204" pitchFamily="34" charset="0"/>
              </a:rPr>
              <a:t>Entities </a:t>
            </a:r>
          </a:p>
          <a:p>
            <a:pPr lvl="1" algn="just">
              <a:lnSpc>
                <a:spcPct val="120000"/>
              </a:lnSpc>
              <a:buFont typeface="Arial"/>
              <a:buChar char="•"/>
              <a:defRPr/>
            </a:pPr>
            <a:r>
              <a:rPr lang="en-US" sz="2800" dirty="0">
                <a:solidFill>
                  <a:schemeClr val="tx1">
                    <a:lumMod val="85000"/>
                    <a:lumOff val="15000"/>
                  </a:schemeClr>
                </a:solidFill>
                <a:latin typeface="Corbel" panose="020B0503020204020204" pitchFamily="34" charset="0"/>
              </a:rPr>
              <a:t>At least 3 attributes /entity</a:t>
            </a:r>
          </a:p>
          <a:p>
            <a:endParaRPr lang="en-US" dirty="0"/>
          </a:p>
        </p:txBody>
      </p:sp>
    </p:spTree>
    <p:extLst>
      <p:ext uri="{BB962C8B-B14F-4D97-AF65-F5344CB8AC3E}">
        <p14:creationId xmlns:p14="http://schemas.microsoft.com/office/powerpoint/2010/main" val="3373022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901186" y="838200"/>
            <a:ext cx="7434024" cy="914400"/>
          </a:xfrm>
        </p:spPr>
        <p:txBody>
          <a:bodyPr>
            <a:normAutofit/>
          </a:bodyPr>
          <a:lstStyle/>
          <a:p>
            <a:r>
              <a:rPr lang="en-US" sz="4400" dirty="0">
                <a:solidFill>
                  <a:schemeClr val="tx1">
                    <a:lumMod val="85000"/>
                    <a:lumOff val="15000"/>
                  </a:schemeClr>
                </a:solidFill>
                <a:latin typeface="Corbel" panose="020B0503020204020204" pitchFamily="34" charset="0"/>
              </a:rPr>
              <a:t> SLIIT Student Registration </a:t>
            </a:r>
            <a:endParaRPr lang="en-US" sz="4400" dirty="0">
              <a:ln>
                <a:noFill/>
              </a:ln>
              <a:latin typeface="Corbel" panose="020B0503020204020204" pitchFamily="34" charset="0"/>
            </a:endParaRPr>
          </a:p>
        </p:txBody>
      </p:sp>
      <p:sp>
        <p:nvSpPr>
          <p:cNvPr id="3" name="Content Placeholder 2"/>
          <p:cNvSpPr>
            <a:spLocks noGrp="1"/>
          </p:cNvSpPr>
          <p:nvPr>
            <p:ph idx="4294967295"/>
          </p:nvPr>
        </p:nvSpPr>
        <p:spPr>
          <a:xfrm>
            <a:off x="547688" y="1981199"/>
            <a:ext cx="8283516" cy="4404079"/>
          </a:xfrm>
          <a:prstGeom prst="rect">
            <a:avLst/>
          </a:prstGeom>
        </p:spPr>
        <p:txBody>
          <a:bodyPr rtlCol="0">
            <a:normAutofit lnSpcReduction="10000"/>
          </a:bodyPr>
          <a:lstStyle/>
          <a:p>
            <a:pPr marL="0" indent="0" algn="just" fontAlgn="auto">
              <a:lnSpc>
                <a:spcPct val="120000"/>
              </a:lnSpc>
              <a:buNone/>
              <a:defRPr/>
            </a:pPr>
            <a:r>
              <a:rPr lang="en-US" sz="2800" dirty="0">
                <a:solidFill>
                  <a:schemeClr val="tx1">
                    <a:lumMod val="85000"/>
                    <a:lumOff val="15000"/>
                  </a:schemeClr>
                </a:solidFill>
                <a:latin typeface="Corbel" panose="020B0503020204020204" pitchFamily="34" charset="0"/>
              </a:rPr>
              <a:t>New students are required  to produce their national ID card number, name, address, age, date of birth and gender during the registration process. they are also required to select the degree program of their choice. </a:t>
            </a:r>
          </a:p>
          <a:p>
            <a:pPr marL="0" indent="0" algn="just" fontAlgn="auto">
              <a:lnSpc>
                <a:spcPct val="120000"/>
              </a:lnSpc>
              <a:buNone/>
              <a:defRPr/>
            </a:pPr>
            <a:r>
              <a:rPr lang="en-US" sz="2800" dirty="0">
                <a:solidFill>
                  <a:schemeClr val="tx1">
                    <a:lumMod val="85000"/>
                    <a:lumOff val="15000"/>
                  </a:schemeClr>
                </a:solidFill>
                <a:latin typeface="Corbel" panose="020B0503020204020204" pitchFamily="34" charset="0"/>
              </a:rPr>
              <a:t>The programs are selected based on the entry criteria, specialty, duration, fees etc.</a:t>
            </a:r>
          </a:p>
          <a:p>
            <a:pPr algn="just" fontAlgn="auto">
              <a:lnSpc>
                <a:spcPct val="120000"/>
              </a:lnSpc>
              <a:buFont typeface="Arial"/>
              <a:buChar char="•"/>
              <a:defRPr/>
            </a:pPr>
            <a:r>
              <a:rPr lang="en-US" sz="2800" dirty="0">
                <a:solidFill>
                  <a:schemeClr val="tx1">
                    <a:lumMod val="85000"/>
                    <a:lumOff val="15000"/>
                  </a:schemeClr>
                </a:solidFill>
                <a:latin typeface="Corbel" panose="020B0503020204020204" pitchFamily="34" charset="0"/>
              </a:rPr>
              <a:t>Entity ?</a:t>
            </a:r>
          </a:p>
          <a:p>
            <a:pPr algn="just" fontAlgn="auto">
              <a:lnSpc>
                <a:spcPct val="120000"/>
              </a:lnSpc>
              <a:buFont typeface="Arial"/>
              <a:buChar char="•"/>
              <a:defRPr/>
            </a:pPr>
            <a:r>
              <a:rPr lang="en-US" sz="2800" dirty="0">
                <a:solidFill>
                  <a:schemeClr val="tx1">
                    <a:lumMod val="85000"/>
                    <a:lumOff val="15000"/>
                  </a:schemeClr>
                </a:solidFill>
                <a:latin typeface="Corbel" panose="020B0503020204020204" pitchFamily="34" charset="0"/>
              </a:rPr>
              <a:t>Attributes ?</a:t>
            </a:r>
          </a:p>
          <a:p>
            <a:pPr marL="0" indent="0" fontAlgn="auto">
              <a:buNone/>
              <a:defRPr/>
            </a:pPr>
            <a:endParaRPr lang="en-US" dirty="0">
              <a:solidFill>
                <a:schemeClr val="tx1">
                  <a:lumMod val="85000"/>
                  <a:lumOff val="15000"/>
                </a:schemeClr>
              </a:solidFill>
            </a:endParaRPr>
          </a:p>
          <a:p>
            <a:pPr marL="0" indent="0" fontAlgn="auto">
              <a:buFont typeface="Arial"/>
              <a:buNone/>
              <a:defRPr/>
            </a:pPr>
            <a:endParaRPr lang="en-US" dirty="0">
              <a:solidFill>
                <a:schemeClr val="tx1">
                  <a:lumMod val="85000"/>
                  <a:lumOff val="15000"/>
                </a:schemeClr>
              </a:solidFill>
            </a:endParaRPr>
          </a:p>
        </p:txBody>
      </p:sp>
    </p:spTree>
    <p:extLst>
      <p:ext uri="{BB962C8B-B14F-4D97-AF65-F5344CB8AC3E}">
        <p14:creationId xmlns:p14="http://schemas.microsoft.com/office/powerpoint/2010/main" val="1058484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Rectangle 2"/>
          <p:cNvSpPr>
            <a:spLocks noGrp="1" noChangeArrowheads="1"/>
          </p:cNvSpPr>
          <p:nvPr>
            <p:ph type="title"/>
          </p:nvPr>
        </p:nvSpPr>
        <p:spPr>
          <a:xfrm>
            <a:off x="1414689" y="494291"/>
            <a:ext cx="6377940" cy="1007408"/>
          </a:xfrm>
        </p:spPr>
        <p:txBody>
          <a:bodyPr>
            <a:normAutofit/>
          </a:bodyPr>
          <a:lstStyle/>
          <a:p>
            <a:r>
              <a:rPr lang="en-US" sz="4400" dirty="0">
                <a:ln>
                  <a:noFill/>
                </a:ln>
                <a:latin typeface="Corbel" panose="020B0503020204020204" pitchFamily="34" charset="0"/>
              </a:rPr>
              <a:t>Entity Set</a:t>
            </a:r>
          </a:p>
        </p:txBody>
      </p:sp>
      <p:sp>
        <p:nvSpPr>
          <p:cNvPr id="52231" name="Rectangle 3"/>
          <p:cNvSpPr>
            <a:spLocks noGrp="1" noChangeArrowheads="1"/>
          </p:cNvSpPr>
          <p:nvPr>
            <p:ph idx="4294967295"/>
          </p:nvPr>
        </p:nvSpPr>
        <p:spPr>
          <a:xfrm>
            <a:off x="228600" y="1282032"/>
            <a:ext cx="8763000" cy="4691028"/>
          </a:xfrm>
          <a:prstGeom prst="rect">
            <a:avLst/>
          </a:prstGeom>
        </p:spPr>
        <p:txBody>
          <a:bodyPr/>
          <a:lstStyle/>
          <a:p>
            <a:pPr>
              <a:buFont typeface="Wingdings" panose="05000000000000000000" pitchFamily="2" charset="2"/>
              <a:buNone/>
            </a:pPr>
            <a:r>
              <a:rPr lang="en-US" dirty="0"/>
              <a:t>	</a:t>
            </a:r>
            <a:r>
              <a:rPr lang="en-US" sz="2800" dirty="0">
                <a:latin typeface="Corbel" panose="020B0503020204020204" pitchFamily="34" charset="0"/>
              </a:rPr>
              <a:t>Example: </a:t>
            </a:r>
            <a:r>
              <a:rPr lang="en-US" sz="2800" i="1" dirty="0">
                <a:latin typeface="Corbel" panose="020B0503020204020204" pitchFamily="34" charset="0"/>
              </a:rPr>
              <a:t>name</a:t>
            </a:r>
            <a:r>
              <a:rPr lang="en-US" sz="2800" dirty="0">
                <a:latin typeface="Corbel" panose="020B0503020204020204" pitchFamily="34" charset="0"/>
              </a:rPr>
              <a:t>, </a:t>
            </a:r>
            <a:r>
              <a:rPr lang="en-US" sz="2800" i="1" dirty="0">
                <a:latin typeface="Corbel" panose="020B0503020204020204" pitchFamily="34" charset="0"/>
              </a:rPr>
              <a:t>id</a:t>
            </a:r>
            <a:r>
              <a:rPr lang="en-US" sz="2800" dirty="0">
                <a:latin typeface="Corbel" panose="020B0503020204020204" pitchFamily="34" charset="0"/>
              </a:rPr>
              <a:t>, </a:t>
            </a:r>
            <a:r>
              <a:rPr lang="en-US" sz="2800" i="1" dirty="0">
                <a:latin typeface="Corbel" panose="020B0503020204020204" pitchFamily="34" charset="0"/>
              </a:rPr>
              <a:t>age</a:t>
            </a:r>
            <a:r>
              <a:rPr lang="en-US" sz="2800" dirty="0">
                <a:latin typeface="Corbel" panose="020B0503020204020204" pitchFamily="34" charset="0"/>
              </a:rPr>
              <a:t> &amp; </a:t>
            </a:r>
            <a:r>
              <a:rPr lang="en-US" sz="2800" i="1" dirty="0">
                <a:latin typeface="Corbel" panose="020B0503020204020204" pitchFamily="34" charset="0"/>
              </a:rPr>
              <a:t>salary</a:t>
            </a:r>
            <a:r>
              <a:rPr lang="en-US" sz="2800" dirty="0">
                <a:latin typeface="Corbel" panose="020B0503020204020204" pitchFamily="34" charset="0"/>
              </a:rPr>
              <a:t> are attributes in Employee entity.   </a:t>
            </a:r>
          </a:p>
        </p:txBody>
      </p:sp>
      <p:grpSp>
        <p:nvGrpSpPr>
          <p:cNvPr id="2" name="Group 24"/>
          <p:cNvGrpSpPr>
            <a:grpSpLocks/>
          </p:cNvGrpSpPr>
          <p:nvPr/>
        </p:nvGrpSpPr>
        <p:grpSpPr bwMode="auto">
          <a:xfrm>
            <a:off x="4824319" y="2057400"/>
            <a:ext cx="4091082" cy="4267200"/>
            <a:chOff x="2867" y="1344"/>
            <a:chExt cx="2749" cy="2736"/>
          </a:xfrm>
        </p:grpSpPr>
        <p:grpSp>
          <p:nvGrpSpPr>
            <p:cNvPr id="52248" name="Group 23"/>
            <p:cNvGrpSpPr>
              <a:grpSpLocks/>
            </p:cNvGrpSpPr>
            <p:nvPr/>
          </p:nvGrpSpPr>
          <p:grpSpPr bwMode="auto">
            <a:xfrm>
              <a:off x="4224" y="3504"/>
              <a:ext cx="960" cy="576"/>
              <a:chOff x="1488" y="3238"/>
              <a:chExt cx="960" cy="576"/>
            </a:xfrm>
          </p:grpSpPr>
          <p:sp>
            <p:nvSpPr>
              <p:cNvPr id="52263" name="Oval 5"/>
              <p:cNvSpPr>
                <a:spLocks noChangeArrowheads="1"/>
              </p:cNvSpPr>
              <p:nvPr/>
            </p:nvSpPr>
            <p:spPr bwMode="auto">
              <a:xfrm>
                <a:off x="1488" y="3238"/>
                <a:ext cx="960" cy="57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2264" name="Text Box 6"/>
              <p:cNvSpPr txBox="1">
                <a:spLocks noChangeArrowheads="1"/>
              </p:cNvSpPr>
              <p:nvPr/>
            </p:nvSpPr>
            <p:spPr bwMode="auto">
              <a:xfrm>
                <a:off x="1680" y="3382"/>
                <a:ext cx="617" cy="296"/>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Name</a:t>
                </a:r>
              </a:p>
            </p:txBody>
          </p:sp>
        </p:grpSp>
        <p:grpSp>
          <p:nvGrpSpPr>
            <p:cNvPr id="52249" name="Group 22"/>
            <p:cNvGrpSpPr>
              <a:grpSpLocks/>
            </p:cNvGrpSpPr>
            <p:nvPr/>
          </p:nvGrpSpPr>
          <p:grpSpPr bwMode="auto">
            <a:xfrm>
              <a:off x="4560" y="2784"/>
              <a:ext cx="960" cy="576"/>
              <a:chOff x="2832" y="3286"/>
              <a:chExt cx="960" cy="576"/>
            </a:xfrm>
          </p:grpSpPr>
          <p:sp>
            <p:nvSpPr>
              <p:cNvPr id="52261" name="Oval 7"/>
              <p:cNvSpPr>
                <a:spLocks noChangeArrowheads="1"/>
              </p:cNvSpPr>
              <p:nvPr/>
            </p:nvSpPr>
            <p:spPr bwMode="auto">
              <a:xfrm>
                <a:off x="2832" y="3286"/>
                <a:ext cx="960" cy="57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2262" name="Text Box 8"/>
              <p:cNvSpPr txBox="1">
                <a:spLocks noChangeArrowheads="1"/>
              </p:cNvSpPr>
              <p:nvPr/>
            </p:nvSpPr>
            <p:spPr bwMode="auto">
              <a:xfrm>
                <a:off x="3216" y="3430"/>
                <a:ext cx="312" cy="296"/>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Id</a:t>
                </a:r>
              </a:p>
            </p:txBody>
          </p:sp>
        </p:grpSp>
        <p:grpSp>
          <p:nvGrpSpPr>
            <p:cNvPr id="52250" name="Group 21"/>
            <p:cNvGrpSpPr>
              <a:grpSpLocks/>
            </p:cNvGrpSpPr>
            <p:nvPr/>
          </p:nvGrpSpPr>
          <p:grpSpPr bwMode="auto">
            <a:xfrm>
              <a:off x="4656" y="2064"/>
              <a:ext cx="960" cy="576"/>
              <a:chOff x="4176" y="3238"/>
              <a:chExt cx="960" cy="576"/>
            </a:xfrm>
          </p:grpSpPr>
          <p:sp>
            <p:nvSpPr>
              <p:cNvPr id="52259" name="Oval 9"/>
              <p:cNvSpPr>
                <a:spLocks noChangeArrowheads="1"/>
              </p:cNvSpPr>
              <p:nvPr/>
            </p:nvSpPr>
            <p:spPr bwMode="auto">
              <a:xfrm>
                <a:off x="4176" y="3238"/>
                <a:ext cx="960" cy="57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2260" name="Text Box 10"/>
              <p:cNvSpPr txBox="1">
                <a:spLocks noChangeArrowheads="1"/>
              </p:cNvSpPr>
              <p:nvPr/>
            </p:nvSpPr>
            <p:spPr bwMode="auto">
              <a:xfrm>
                <a:off x="4368" y="3382"/>
                <a:ext cx="469" cy="296"/>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Age</a:t>
                </a:r>
              </a:p>
            </p:txBody>
          </p:sp>
        </p:grpSp>
        <p:grpSp>
          <p:nvGrpSpPr>
            <p:cNvPr id="52251" name="Group 20"/>
            <p:cNvGrpSpPr>
              <a:grpSpLocks/>
            </p:cNvGrpSpPr>
            <p:nvPr/>
          </p:nvGrpSpPr>
          <p:grpSpPr bwMode="auto">
            <a:xfrm>
              <a:off x="4272" y="1344"/>
              <a:ext cx="960" cy="576"/>
              <a:chOff x="4800" y="2230"/>
              <a:chExt cx="960" cy="576"/>
            </a:xfrm>
          </p:grpSpPr>
          <p:sp>
            <p:nvSpPr>
              <p:cNvPr id="52257" name="Oval 11"/>
              <p:cNvSpPr>
                <a:spLocks noChangeArrowheads="1"/>
              </p:cNvSpPr>
              <p:nvPr/>
            </p:nvSpPr>
            <p:spPr bwMode="auto">
              <a:xfrm>
                <a:off x="4800" y="2230"/>
                <a:ext cx="960" cy="57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2258" name="Text Box 12"/>
              <p:cNvSpPr txBox="1">
                <a:spLocks noChangeArrowheads="1"/>
              </p:cNvSpPr>
              <p:nvPr/>
            </p:nvSpPr>
            <p:spPr bwMode="auto">
              <a:xfrm>
                <a:off x="4944" y="2400"/>
                <a:ext cx="652" cy="296"/>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Salary</a:t>
                </a:r>
              </a:p>
            </p:txBody>
          </p:sp>
        </p:grpSp>
        <p:sp>
          <p:nvSpPr>
            <p:cNvPr id="52252" name="Line 13"/>
            <p:cNvSpPr>
              <a:spLocks noChangeShapeType="1"/>
            </p:cNvSpPr>
            <p:nvPr/>
          </p:nvSpPr>
          <p:spPr bwMode="auto">
            <a:xfrm flipV="1">
              <a:off x="4080" y="2400"/>
              <a:ext cx="57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3" name="Line 14"/>
            <p:cNvSpPr>
              <a:spLocks noChangeShapeType="1"/>
            </p:cNvSpPr>
            <p:nvPr/>
          </p:nvSpPr>
          <p:spPr bwMode="auto">
            <a:xfrm flipH="1" flipV="1">
              <a:off x="3600" y="2784"/>
              <a:ext cx="672"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4" name="Line 15"/>
            <p:cNvSpPr>
              <a:spLocks noChangeShapeType="1"/>
            </p:cNvSpPr>
            <p:nvPr/>
          </p:nvSpPr>
          <p:spPr bwMode="auto">
            <a:xfrm flipH="1" flipV="1">
              <a:off x="3792" y="2758"/>
              <a:ext cx="768" cy="3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5" name="Line 16"/>
            <p:cNvSpPr>
              <a:spLocks noChangeShapeType="1"/>
            </p:cNvSpPr>
            <p:nvPr/>
          </p:nvSpPr>
          <p:spPr bwMode="auto">
            <a:xfrm flipH="1">
              <a:off x="3504" y="1872"/>
              <a:ext cx="960"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6" name="Text Box 4"/>
            <p:cNvSpPr txBox="1">
              <a:spLocks noChangeArrowheads="1"/>
            </p:cNvSpPr>
            <p:nvPr/>
          </p:nvSpPr>
          <p:spPr bwMode="auto">
            <a:xfrm>
              <a:off x="2867" y="2496"/>
              <a:ext cx="1237" cy="296"/>
            </a:xfrm>
            <a:prstGeom prst="rect">
              <a:avLst/>
            </a:prstGeom>
            <a:solidFill>
              <a:srgbClr val="9999FF"/>
            </a:solidFill>
            <a:ln w="9525">
              <a:solidFill>
                <a:schemeClr val="tx1"/>
              </a:solidFill>
              <a:miter lim="800000"/>
              <a:headEnd/>
              <a:tailEnd/>
            </a:ln>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EMPLOYEE</a:t>
              </a:r>
            </a:p>
          </p:txBody>
        </p:sp>
      </p:grpSp>
      <p:sp>
        <p:nvSpPr>
          <p:cNvPr id="22537" name="AutoShape 29"/>
          <p:cNvSpPr>
            <a:spLocks noChangeArrowheads="1"/>
          </p:cNvSpPr>
          <p:nvPr/>
        </p:nvSpPr>
        <p:spPr bwMode="auto">
          <a:xfrm>
            <a:off x="3810000" y="3854116"/>
            <a:ext cx="762000" cy="489284"/>
          </a:xfrm>
          <a:prstGeom prst="rightArrow">
            <a:avLst>
              <a:gd name="adj1" fmla="val 50000"/>
              <a:gd name="adj2" fmla="val 29167"/>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grpSp>
        <p:nvGrpSpPr>
          <p:cNvPr id="6" name="Group 5"/>
          <p:cNvGrpSpPr/>
          <p:nvPr/>
        </p:nvGrpSpPr>
        <p:grpSpPr>
          <a:xfrm>
            <a:off x="300205" y="2632630"/>
            <a:ext cx="3505200" cy="3657600"/>
            <a:chOff x="-838143" y="3090991"/>
            <a:chExt cx="3505200" cy="3657600"/>
          </a:xfrm>
        </p:grpSpPr>
        <p:sp>
          <p:nvSpPr>
            <p:cNvPr id="52226" name="Oval 38"/>
            <p:cNvSpPr>
              <a:spLocks noChangeArrowheads="1"/>
            </p:cNvSpPr>
            <p:nvPr/>
          </p:nvSpPr>
          <p:spPr bwMode="auto">
            <a:xfrm>
              <a:off x="1692208" y="3837832"/>
              <a:ext cx="533400" cy="3810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grpSp>
          <p:nvGrpSpPr>
            <p:cNvPr id="5" name="Group 4"/>
            <p:cNvGrpSpPr/>
            <p:nvPr/>
          </p:nvGrpSpPr>
          <p:grpSpPr>
            <a:xfrm>
              <a:off x="-838143" y="3090991"/>
              <a:ext cx="3505200" cy="3657600"/>
              <a:chOff x="228600" y="2514600"/>
              <a:chExt cx="3505200" cy="3657600"/>
            </a:xfrm>
          </p:grpSpPr>
          <p:sp>
            <p:nvSpPr>
              <p:cNvPr id="52229" name="Oval 36"/>
              <p:cNvSpPr>
                <a:spLocks noChangeArrowheads="1"/>
              </p:cNvSpPr>
              <p:nvPr/>
            </p:nvSpPr>
            <p:spPr bwMode="auto">
              <a:xfrm>
                <a:off x="2514600" y="2667000"/>
                <a:ext cx="838200" cy="4572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grpSp>
            <p:nvGrpSpPr>
              <p:cNvPr id="4" name="Group 3"/>
              <p:cNvGrpSpPr/>
              <p:nvPr/>
            </p:nvGrpSpPr>
            <p:grpSpPr>
              <a:xfrm>
                <a:off x="228600" y="2514600"/>
                <a:ext cx="3505200" cy="3657600"/>
                <a:chOff x="228600" y="2514600"/>
                <a:chExt cx="3505200" cy="3657600"/>
              </a:xfrm>
            </p:grpSpPr>
            <p:sp>
              <p:nvSpPr>
                <p:cNvPr id="52228" name="Oval 34"/>
                <p:cNvSpPr>
                  <a:spLocks noChangeArrowheads="1"/>
                </p:cNvSpPr>
                <p:nvPr/>
              </p:nvSpPr>
              <p:spPr bwMode="auto">
                <a:xfrm>
                  <a:off x="304800" y="2514600"/>
                  <a:ext cx="990600" cy="533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grpSp>
              <p:nvGrpSpPr>
                <p:cNvPr id="3" name="Group 2"/>
                <p:cNvGrpSpPr/>
                <p:nvPr/>
              </p:nvGrpSpPr>
              <p:grpSpPr>
                <a:xfrm>
                  <a:off x="228600" y="2578100"/>
                  <a:ext cx="3505200" cy="3594100"/>
                  <a:chOff x="228600" y="2578100"/>
                  <a:chExt cx="3505200" cy="3594100"/>
                </a:xfrm>
              </p:grpSpPr>
              <p:sp>
                <p:nvSpPr>
                  <p:cNvPr id="52227" name="Oval 37"/>
                  <p:cNvSpPr>
                    <a:spLocks noChangeArrowheads="1"/>
                  </p:cNvSpPr>
                  <p:nvPr/>
                </p:nvSpPr>
                <p:spPr bwMode="auto">
                  <a:xfrm>
                    <a:off x="228600" y="3200400"/>
                    <a:ext cx="838200" cy="3810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1800" b="0" dirty="0"/>
                      <a:t>age</a:t>
                    </a:r>
                  </a:p>
                </p:txBody>
              </p:sp>
              <p:grpSp>
                <p:nvGrpSpPr>
                  <p:cNvPr id="7" name="Group 25"/>
                  <p:cNvGrpSpPr>
                    <a:grpSpLocks/>
                  </p:cNvGrpSpPr>
                  <p:nvPr/>
                </p:nvGrpSpPr>
                <p:grpSpPr bwMode="auto">
                  <a:xfrm>
                    <a:off x="685800" y="2590800"/>
                    <a:ext cx="3048000" cy="3581400"/>
                    <a:chOff x="3264" y="1392"/>
                    <a:chExt cx="1920" cy="2688"/>
                  </a:xfrm>
                </p:grpSpPr>
                <p:sp>
                  <p:nvSpPr>
                    <p:cNvPr id="52245" name="Oval 26"/>
                    <p:cNvSpPr>
                      <a:spLocks noChangeArrowheads="1"/>
                    </p:cNvSpPr>
                    <p:nvPr/>
                  </p:nvSpPr>
                  <p:spPr bwMode="auto">
                    <a:xfrm>
                      <a:off x="3600" y="1392"/>
                      <a:ext cx="960" cy="225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2246" name="Text Box 27"/>
                    <p:cNvSpPr txBox="1">
                      <a:spLocks noChangeArrowheads="1"/>
                    </p:cNvSpPr>
                    <p:nvPr/>
                  </p:nvSpPr>
                  <p:spPr bwMode="auto">
                    <a:xfrm>
                      <a:off x="3936" y="1632"/>
                      <a:ext cx="336" cy="1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800" b="0" dirty="0"/>
                        <a:t>e1</a:t>
                      </a:r>
                    </a:p>
                    <a:p>
                      <a:pPr eaLnBrk="1" hangingPunct="1">
                        <a:spcBef>
                          <a:spcPct val="50000"/>
                        </a:spcBef>
                      </a:pPr>
                      <a:r>
                        <a:rPr lang="en-US" sz="1800" b="0" dirty="0"/>
                        <a:t>e2</a:t>
                      </a:r>
                    </a:p>
                    <a:p>
                      <a:pPr eaLnBrk="1" hangingPunct="1">
                        <a:spcBef>
                          <a:spcPct val="50000"/>
                        </a:spcBef>
                      </a:pPr>
                      <a:r>
                        <a:rPr lang="en-US" sz="1800" b="0" dirty="0"/>
                        <a:t>e3</a:t>
                      </a:r>
                    </a:p>
                    <a:p>
                      <a:pPr eaLnBrk="1" hangingPunct="1">
                        <a:spcBef>
                          <a:spcPct val="50000"/>
                        </a:spcBef>
                      </a:pPr>
                      <a:r>
                        <a:rPr lang="en-US" sz="1800" b="0" dirty="0"/>
                        <a:t>e4</a:t>
                      </a:r>
                    </a:p>
                    <a:p>
                      <a:pPr eaLnBrk="1" hangingPunct="1">
                        <a:spcBef>
                          <a:spcPct val="50000"/>
                        </a:spcBef>
                      </a:pPr>
                      <a:r>
                        <a:rPr lang="en-US" sz="1800" b="0" dirty="0"/>
                        <a:t>e5</a:t>
                      </a:r>
                    </a:p>
                    <a:p>
                      <a:pPr eaLnBrk="1" hangingPunct="1">
                        <a:spcBef>
                          <a:spcPct val="50000"/>
                        </a:spcBef>
                      </a:pPr>
                      <a:r>
                        <a:rPr lang="en-US" sz="1800" b="0" dirty="0"/>
                        <a:t>e6</a:t>
                      </a:r>
                    </a:p>
                    <a:p>
                      <a:pPr eaLnBrk="1" hangingPunct="1">
                        <a:spcBef>
                          <a:spcPct val="50000"/>
                        </a:spcBef>
                      </a:pPr>
                      <a:r>
                        <a:rPr lang="en-US" sz="1800" b="0" dirty="0"/>
                        <a:t>…</a:t>
                      </a:r>
                    </a:p>
                  </p:txBody>
                </p:sp>
                <p:sp>
                  <p:nvSpPr>
                    <p:cNvPr id="52247" name="Text Box 28"/>
                    <p:cNvSpPr txBox="1">
                      <a:spLocks noChangeArrowheads="1"/>
                    </p:cNvSpPr>
                    <p:nvPr/>
                  </p:nvSpPr>
                  <p:spPr bwMode="auto">
                    <a:xfrm>
                      <a:off x="3264" y="3792"/>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2400" b="0" dirty="0">
                          <a:solidFill>
                            <a:srgbClr val="3333CC"/>
                          </a:solidFill>
                        </a:rPr>
                        <a:t>Employee Entity set</a:t>
                      </a:r>
                    </a:p>
                  </p:txBody>
                </p:sp>
              </p:grpSp>
              <p:sp>
                <p:nvSpPr>
                  <p:cNvPr id="22539" name="Text Box 30"/>
                  <p:cNvSpPr txBox="1">
                    <a:spLocks noChangeArrowheads="1"/>
                  </p:cNvSpPr>
                  <p:nvPr/>
                </p:nvSpPr>
                <p:spPr bwMode="auto">
                  <a:xfrm>
                    <a:off x="406400" y="2578100"/>
                    <a:ext cx="965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800"/>
                      <a:t>salary</a:t>
                    </a:r>
                  </a:p>
                </p:txBody>
              </p:sp>
              <p:sp>
                <p:nvSpPr>
                  <p:cNvPr id="22541" name="Text Box 32"/>
                  <p:cNvSpPr txBox="1">
                    <a:spLocks noChangeArrowheads="1"/>
                  </p:cNvSpPr>
                  <p:nvPr/>
                </p:nvSpPr>
                <p:spPr bwMode="auto">
                  <a:xfrm>
                    <a:off x="2819400" y="32766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800"/>
                      <a:t>id</a:t>
                    </a:r>
                  </a:p>
                </p:txBody>
              </p:sp>
              <p:sp>
                <p:nvSpPr>
                  <p:cNvPr id="22542" name="Text Box 33"/>
                  <p:cNvSpPr txBox="1">
                    <a:spLocks noChangeArrowheads="1"/>
                  </p:cNvSpPr>
                  <p:nvPr/>
                </p:nvSpPr>
                <p:spPr bwMode="auto">
                  <a:xfrm>
                    <a:off x="2540000" y="2692400"/>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800"/>
                      <a:t>name</a:t>
                    </a:r>
                  </a:p>
                </p:txBody>
              </p:sp>
              <p:sp>
                <p:nvSpPr>
                  <p:cNvPr id="52239" name="Line 39"/>
                  <p:cNvSpPr>
                    <a:spLocks noChangeShapeType="1"/>
                  </p:cNvSpPr>
                  <p:nvPr/>
                </p:nvSpPr>
                <p:spPr bwMode="auto">
                  <a:xfrm>
                    <a:off x="1295400" y="2819400"/>
                    <a:ext cx="533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0" name="Line 40"/>
                  <p:cNvSpPr>
                    <a:spLocks noChangeShapeType="1"/>
                  </p:cNvSpPr>
                  <p:nvPr/>
                </p:nvSpPr>
                <p:spPr bwMode="auto">
                  <a:xfrm flipV="1">
                    <a:off x="1066800" y="3124200"/>
                    <a:ext cx="762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1" name="Line 41"/>
                  <p:cNvSpPr>
                    <a:spLocks noChangeShapeType="1"/>
                  </p:cNvSpPr>
                  <p:nvPr/>
                </p:nvSpPr>
                <p:spPr bwMode="auto">
                  <a:xfrm flipV="1">
                    <a:off x="2057400" y="2895600"/>
                    <a:ext cx="457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2" name="Line 42"/>
                  <p:cNvSpPr>
                    <a:spLocks noChangeShapeType="1"/>
                  </p:cNvSpPr>
                  <p:nvPr/>
                </p:nvSpPr>
                <p:spPr bwMode="auto">
                  <a:xfrm>
                    <a:off x="2057400" y="3124200"/>
                    <a:ext cx="762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3" name="Line 43"/>
                  <p:cNvSpPr>
                    <a:spLocks noChangeShapeType="1"/>
                  </p:cNvSpPr>
                  <p:nvPr/>
                </p:nvSpPr>
                <p:spPr bwMode="auto">
                  <a:xfrm flipH="1">
                    <a:off x="914400" y="35052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4" name="Line 44"/>
                  <p:cNvSpPr>
                    <a:spLocks noChangeShapeType="1"/>
                  </p:cNvSpPr>
                  <p:nvPr/>
                </p:nvSpPr>
                <p:spPr bwMode="auto">
                  <a:xfrm>
                    <a:off x="2057400" y="35052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spTree>
    <p:extLst>
      <p:ext uri="{BB962C8B-B14F-4D97-AF65-F5344CB8AC3E}">
        <p14:creationId xmlns:p14="http://schemas.microsoft.com/office/powerpoint/2010/main" val="273458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build="p"/>
      <p:bldP spid="225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061911" y="262838"/>
            <a:ext cx="6377940" cy="1074761"/>
          </a:xfrm>
        </p:spPr>
        <p:txBody>
          <a:bodyPr>
            <a:normAutofit/>
          </a:bodyPr>
          <a:lstStyle/>
          <a:p>
            <a:r>
              <a:rPr lang="en-US" altLang="en-US" sz="4400" dirty="0">
                <a:latin typeface="Corbel" panose="020B0503020204020204" pitchFamily="34" charset="0"/>
              </a:rPr>
              <a:t>Example</a:t>
            </a:r>
          </a:p>
        </p:txBody>
      </p:sp>
      <p:sp>
        <p:nvSpPr>
          <p:cNvPr id="8196" name="Rectangle 3"/>
          <p:cNvSpPr>
            <a:spLocks noGrp="1" noChangeArrowheads="1"/>
          </p:cNvSpPr>
          <p:nvPr>
            <p:ph type="body" idx="4294967295"/>
          </p:nvPr>
        </p:nvSpPr>
        <p:spPr>
          <a:xfrm>
            <a:off x="470372" y="2238375"/>
            <a:ext cx="8419630" cy="4217458"/>
          </a:xfrm>
          <a:prstGeom prst="rect">
            <a:avLst/>
          </a:prstGeom>
        </p:spPr>
        <p:txBody>
          <a:bodyPr>
            <a:normAutofit/>
          </a:bodyPr>
          <a:lstStyle/>
          <a:p>
            <a:pPr>
              <a:buFont typeface="Monotype Sorts" pitchFamily="2" charset="2"/>
              <a:buNone/>
            </a:pPr>
            <a:endParaRPr lang="en-US" altLang="en-US" sz="2800" dirty="0"/>
          </a:p>
          <a:p>
            <a:pPr>
              <a:buFont typeface="Monotype Sorts" pitchFamily="2" charset="2"/>
              <a:buNone/>
            </a:pPr>
            <a:endParaRPr lang="en-US" altLang="en-US" sz="2800" dirty="0"/>
          </a:p>
          <a:p>
            <a:pPr>
              <a:buFont typeface="Monotype Sorts" pitchFamily="2" charset="2"/>
              <a:buNone/>
            </a:pPr>
            <a:endParaRPr lang="en-US" altLang="en-US" sz="2800" dirty="0"/>
          </a:p>
          <a:p>
            <a:pPr>
              <a:buFont typeface="Monotype Sorts" pitchFamily="2" charset="2"/>
              <a:buNone/>
            </a:pPr>
            <a:endParaRPr lang="en-US" altLang="en-US" sz="2800" dirty="0"/>
          </a:p>
          <a:p>
            <a:r>
              <a:rPr lang="en-US" altLang="en-US" sz="3000" dirty="0">
                <a:latin typeface="Corbel" panose="020B0503020204020204" pitchFamily="34" charset="0"/>
              </a:rPr>
              <a:t>Entity set </a:t>
            </a:r>
            <a:r>
              <a:rPr lang="en-US" altLang="en-US" sz="3000" dirty="0">
                <a:solidFill>
                  <a:srgbClr val="009900"/>
                </a:solidFill>
                <a:latin typeface="Corbel" panose="020B0503020204020204" pitchFamily="34" charset="0"/>
              </a:rPr>
              <a:t>Juice</a:t>
            </a:r>
            <a:r>
              <a:rPr lang="en-US" altLang="en-US" sz="3000" dirty="0">
                <a:latin typeface="Corbel" panose="020B0503020204020204" pitchFamily="34" charset="0"/>
              </a:rPr>
              <a:t> has two attributes, </a:t>
            </a:r>
            <a:r>
              <a:rPr lang="en-US" altLang="en-US" sz="3000" dirty="0">
                <a:solidFill>
                  <a:schemeClr val="accent1">
                    <a:lumMod val="60000"/>
                    <a:lumOff val="40000"/>
                  </a:schemeClr>
                </a:solidFill>
                <a:latin typeface="Corbel" panose="020B0503020204020204" pitchFamily="34" charset="0"/>
              </a:rPr>
              <a:t>name </a:t>
            </a:r>
            <a:r>
              <a:rPr lang="en-US" altLang="en-US" sz="3000" dirty="0">
                <a:latin typeface="Corbel" panose="020B0503020204020204" pitchFamily="34" charset="0"/>
              </a:rPr>
              <a:t>and </a:t>
            </a:r>
            <a:r>
              <a:rPr lang="en-US" altLang="en-US" sz="3000" dirty="0" err="1">
                <a:solidFill>
                  <a:schemeClr val="accent1">
                    <a:lumMod val="60000"/>
                    <a:lumOff val="40000"/>
                  </a:schemeClr>
                </a:solidFill>
                <a:latin typeface="Corbel" panose="020B0503020204020204" pitchFamily="34" charset="0"/>
              </a:rPr>
              <a:t>manf</a:t>
            </a:r>
            <a:r>
              <a:rPr lang="en-US" altLang="en-US" sz="3000" dirty="0">
                <a:latin typeface="Corbel" panose="020B0503020204020204" pitchFamily="34" charset="0"/>
              </a:rPr>
              <a:t> (manufacturer).</a:t>
            </a:r>
          </a:p>
          <a:p>
            <a:r>
              <a:rPr lang="en-US" altLang="en-US" sz="3000" dirty="0">
                <a:latin typeface="Corbel" panose="020B0503020204020204" pitchFamily="34" charset="0"/>
              </a:rPr>
              <a:t>Each </a:t>
            </a:r>
            <a:r>
              <a:rPr lang="en-US" altLang="en-US" sz="3000" dirty="0">
                <a:solidFill>
                  <a:srgbClr val="009900"/>
                </a:solidFill>
                <a:latin typeface="Corbel" panose="020B0503020204020204" pitchFamily="34" charset="0"/>
              </a:rPr>
              <a:t>Juice</a:t>
            </a:r>
            <a:r>
              <a:rPr lang="en-US" altLang="en-US" sz="3000" dirty="0">
                <a:latin typeface="Corbel" panose="020B0503020204020204" pitchFamily="34" charset="0"/>
              </a:rPr>
              <a:t> entity has values for these two attributes. E.g. (</a:t>
            </a:r>
            <a:r>
              <a:rPr lang="en-US" altLang="en-US" sz="3000" dirty="0" err="1">
                <a:latin typeface="Corbel" panose="020B0503020204020204" pitchFamily="34" charset="0"/>
              </a:rPr>
              <a:t>JustJUice</a:t>
            </a:r>
            <a:r>
              <a:rPr lang="en-US" altLang="en-US" sz="3000" dirty="0">
                <a:latin typeface="Corbel" panose="020B0503020204020204" pitchFamily="34" charset="0"/>
              </a:rPr>
              <a:t>, Anheuser-Busch)</a:t>
            </a:r>
          </a:p>
        </p:txBody>
      </p:sp>
      <p:grpSp>
        <p:nvGrpSpPr>
          <p:cNvPr id="8197" name="Group 11"/>
          <p:cNvGrpSpPr>
            <a:grpSpLocks/>
          </p:cNvGrpSpPr>
          <p:nvPr/>
        </p:nvGrpSpPr>
        <p:grpSpPr bwMode="auto">
          <a:xfrm>
            <a:off x="2813029" y="1606736"/>
            <a:ext cx="3124200" cy="2286000"/>
            <a:chOff x="1632" y="1440"/>
            <a:chExt cx="1968" cy="1440"/>
          </a:xfrm>
        </p:grpSpPr>
        <p:sp>
          <p:nvSpPr>
            <p:cNvPr id="8198" name="Rectangle 4"/>
            <p:cNvSpPr>
              <a:spLocks noChangeArrowheads="1"/>
            </p:cNvSpPr>
            <p:nvPr/>
          </p:nvSpPr>
          <p:spPr bwMode="auto">
            <a:xfrm>
              <a:off x="2064" y="2208"/>
              <a:ext cx="1008" cy="67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JUICE</a:t>
              </a:r>
            </a:p>
          </p:txBody>
        </p:sp>
        <p:sp>
          <p:nvSpPr>
            <p:cNvPr id="8199" name="Oval 5"/>
            <p:cNvSpPr>
              <a:spLocks noChangeArrowheads="1"/>
            </p:cNvSpPr>
            <p:nvPr/>
          </p:nvSpPr>
          <p:spPr bwMode="auto">
            <a:xfrm>
              <a:off x="1632" y="1440"/>
              <a:ext cx="768" cy="384"/>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Name</a:t>
              </a:r>
            </a:p>
          </p:txBody>
        </p:sp>
        <p:sp>
          <p:nvSpPr>
            <p:cNvPr id="8200" name="Oval 6"/>
            <p:cNvSpPr>
              <a:spLocks noChangeArrowheads="1"/>
            </p:cNvSpPr>
            <p:nvPr/>
          </p:nvSpPr>
          <p:spPr bwMode="auto">
            <a:xfrm>
              <a:off x="2976" y="1488"/>
              <a:ext cx="624" cy="288"/>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err="1"/>
                <a:t>Manf</a:t>
              </a:r>
              <a:endParaRPr lang="en-US" altLang="en-US" dirty="0"/>
            </a:p>
          </p:txBody>
        </p:sp>
        <p:sp>
          <p:nvSpPr>
            <p:cNvPr id="8201" name="Line 7"/>
            <p:cNvSpPr>
              <a:spLocks noChangeShapeType="1"/>
            </p:cNvSpPr>
            <p:nvPr/>
          </p:nvSpPr>
          <p:spPr bwMode="auto">
            <a:xfrm>
              <a:off x="2016" y="1824"/>
              <a:ext cx="288"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Line 8"/>
            <p:cNvSpPr>
              <a:spLocks noChangeShapeType="1"/>
            </p:cNvSpPr>
            <p:nvPr/>
          </p:nvSpPr>
          <p:spPr bwMode="auto">
            <a:xfrm flipH="1">
              <a:off x="2832" y="1776"/>
              <a:ext cx="48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783364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65148" y="914400"/>
            <a:ext cx="7596336" cy="1293028"/>
          </a:xfrm>
        </p:spPr>
        <p:txBody>
          <a:bodyPr>
            <a:normAutofit/>
          </a:bodyPr>
          <a:lstStyle/>
          <a:p>
            <a:r>
              <a:rPr lang="en-US" sz="4400" dirty="0">
                <a:ln>
                  <a:noFill/>
                </a:ln>
                <a:latin typeface="Corbel" panose="020B0503020204020204" pitchFamily="34" charset="0"/>
              </a:rPr>
              <a:t>Domain of an Attribute  </a:t>
            </a:r>
          </a:p>
        </p:txBody>
      </p:sp>
      <p:sp>
        <p:nvSpPr>
          <p:cNvPr id="53251" name="Rectangle 3"/>
          <p:cNvSpPr>
            <a:spLocks noGrp="1" noChangeArrowheads="1"/>
          </p:cNvSpPr>
          <p:nvPr>
            <p:ph idx="4294967295"/>
          </p:nvPr>
        </p:nvSpPr>
        <p:spPr>
          <a:xfrm>
            <a:off x="658522" y="2066925"/>
            <a:ext cx="8043330" cy="3651250"/>
          </a:xfrm>
          <a:prstGeom prst="rect">
            <a:avLst/>
          </a:prstGeom>
        </p:spPr>
        <p:txBody>
          <a:bodyPr>
            <a:normAutofit/>
          </a:bodyPr>
          <a:lstStyle/>
          <a:p>
            <a:pPr marL="0" indent="0" algn="just">
              <a:buNone/>
            </a:pPr>
            <a:r>
              <a:rPr lang="en-US" sz="2800" dirty="0">
                <a:latin typeface="Corbel" panose="020B0503020204020204" pitchFamily="34" charset="0"/>
              </a:rPr>
              <a:t>The </a:t>
            </a:r>
            <a:r>
              <a:rPr lang="en-US" sz="2800" b="1" dirty="0">
                <a:solidFill>
                  <a:srgbClr val="FF0066"/>
                </a:solidFill>
                <a:latin typeface="Corbel" panose="020B0503020204020204" pitchFamily="34" charset="0"/>
              </a:rPr>
              <a:t>domain</a:t>
            </a:r>
            <a:r>
              <a:rPr lang="en-US" sz="2800" dirty="0">
                <a:latin typeface="Corbel" panose="020B0503020204020204" pitchFamily="34" charset="0"/>
              </a:rPr>
              <a:t> of an attribute specifies the set of possible values that the attribute can have.</a:t>
            </a:r>
          </a:p>
          <a:p>
            <a:endParaRPr lang="en-US" sz="2800" dirty="0">
              <a:latin typeface="Corbel" panose="020B0503020204020204" pitchFamily="34" charset="0"/>
            </a:endParaRPr>
          </a:p>
          <a:p>
            <a:pPr>
              <a:buFont typeface="Wingdings" panose="05000000000000000000" pitchFamily="2" charset="2"/>
              <a:buNone/>
            </a:pPr>
            <a:r>
              <a:rPr lang="en-US" sz="2800" i="1" dirty="0">
                <a:latin typeface="Corbel" panose="020B0503020204020204" pitchFamily="34" charset="0"/>
              </a:rPr>
              <a:t>age</a:t>
            </a:r>
            <a:r>
              <a:rPr lang="en-US" sz="2800" dirty="0">
                <a:latin typeface="Corbel" panose="020B0503020204020204" pitchFamily="34" charset="0"/>
              </a:rPr>
              <a:t> : 	integer  values from  0 - 120 </a:t>
            </a:r>
          </a:p>
          <a:p>
            <a:pPr>
              <a:buFont typeface="Wingdings" panose="05000000000000000000" pitchFamily="2" charset="2"/>
              <a:buNone/>
            </a:pPr>
            <a:endParaRPr lang="en-US" sz="2800" dirty="0">
              <a:latin typeface="Corbel" panose="020B0503020204020204" pitchFamily="34" charset="0"/>
            </a:endParaRPr>
          </a:p>
          <a:p>
            <a:pPr>
              <a:buFont typeface="Wingdings" panose="05000000000000000000" pitchFamily="2" charset="2"/>
              <a:buNone/>
            </a:pPr>
            <a:r>
              <a:rPr lang="en-US" sz="2800" dirty="0">
                <a:latin typeface="Corbel" panose="020B0503020204020204" pitchFamily="34" charset="0"/>
              </a:rPr>
              <a:t> name: 20-character string </a:t>
            </a:r>
          </a:p>
          <a:p>
            <a:endParaRPr lang="en-US" dirty="0"/>
          </a:p>
        </p:txBody>
      </p:sp>
    </p:spTree>
    <p:extLst>
      <p:ext uri="{BB962C8B-B14F-4D97-AF65-F5344CB8AC3E}">
        <p14:creationId xmlns:p14="http://schemas.microsoft.com/office/powerpoint/2010/main" val="1654733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27337" y="893764"/>
            <a:ext cx="7298925" cy="782636"/>
          </a:xfrm>
        </p:spPr>
        <p:txBody>
          <a:bodyPr>
            <a:noAutofit/>
          </a:bodyPr>
          <a:lstStyle/>
          <a:p>
            <a:r>
              <a:rPr lang="en-US" sz="4400" dirty="0">
                <a:ln>
                  <a:noFill/>
                </a:ln>
                <a:latin typeface="Corbel" panose="020B0503020204020204" pitchFamily="34" charset="0"/>
              </a:rPr>
              <a:t>Composite Attributes </a:t>
            </a:r>
          </a:p>
        </p:txBody>
      </p:sp>
      <p:sp>
        <p:nvSpPr>
          <p:cNvPr id="54275" name="Rectangle 3"/>
          <p:cNvSpPr>
            <a:spLocks noGrp="1" noChangeArrowheads="1"/>
          </p:cNvSpPr>
          <p:nvPr>
            <p:ph idx="4294967295"/>
          </p:nvPr>
        </p:nvSpPr>
        <p:spPr>
          <a:xfrm>
            <a:off x="655696" y="1737518"/>
            <a:ext cx="8229600" cy="4754563"/>
          </a:xfrm>
          <a:prstGeom prst="rect">
            <a:avLst/>
          </a:prstGeom>
        </p:spPr>
        <p:txBody>
          <a:bodyPr>
            <a:normAutofit/>
          </a:bodyPr>
          <a:lstStyle/>
          <a:p>
            <a:r>
              <a:rPr lang="en-US" sz="2800" b="1" dirty="0">
                <a:solidFill>
                  <a:srgbClr val="FF0066"/>
                </a:solidFill>
                <a:latin typeface="Corbel" panose="020B0503020204020204" pitchFamily="34" charset="0"/>
              </a:rPr>
              <a:t>Composite attributes</a:t>
            </a:r>
            <a:r>
              <a:rPr lang="en-US" sz="2800" dirty="0">
                <a:latin typeface="Corbel" panose="020B0503020204020204" pitchFamily="34" charset="0"/>
              </a:rPr>
              <a:t> can be divided into smaller subparts.</a:t>
            </a:r>
          </a:p>
          <a:p>
            <a:endParaRPr lang="en-US" sz="2800" dirty="0">
              <a:latin typeface="Corbel" panose="020B0503020204020204" pitchFamily="34" charset="0"/>
            </a:endParaRPr>
          </a:p>
          <a:p>
            <a:pPr>
              <a:buFont typeface="Wingdings" panose="05000000000000000000" pitchFamily="2" charset="2"/>
              <a:buNone/>
            </a:pPr>
            <a:r>
              <a:rPr lang="en-US" sz="2800" dirty="0">
                <a:latin typeface="Corbel" panose="020B0503020204020204" pitchFamily="34" charset="0"/>
              </a:rPr>
              <a:t>	Graphically, </a:t>
            </a:r>
          </a:p>
        </p:txBody>
      </p:sp>
      <p:sp>
        <p:nvSpPr>
          <p:cNvPr id="296964" name="Oval 4"/>
          <p:cNvSpPr>
            <a:spLocks noChangeArrowheads="1"/>
          </p:cNvSpPr>
          <p:nvPr/>
        </p:nvSpPr>
        <p:spPr bwMode="auto">
          <a:xfrm>
            <a:off x="914400" y="4800600"/>
            <a:ext cx="1524000" cy="914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296965" name="Text Box 5"/>
          <p:cNvSpPr txBox="1">
            <a:spLocks noChangeArrowheads="1"/>
          </p:cNvSpPr>
          <p:nvPr/>
        </p:nvSpPr>
        <p:spPr bwMode="auto">
          <a:xfrm>
            <a:off x="990600" y="4953000"/>
            <a:ext cx="12779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Surname</a:t>
            </a:r>
          </a:p>
        </p:txBody>
      </p:sp>
      <p:sp>
        <p:nvSpPr>
          <p:cNvPr id="296966" name="Line 7"/>
          <p:cNvSpPr>
            <a:spLocks noChangeShapeType="1"/>
          </p:cNvSpPr>
          <p:nvPr/>
        </p:nvSpPr>
        <p:spPr bwMode="auto">
          <a:xfrm flipV="1">
            <a:off x="1981200" y="4114800"/>
            <a:ext cx="1676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6967" name="Oval 9"/>
          <p:cNvSpPr>
            <a:spLocks noChangeArrowheads="1"/>
          </p:cNvSpPr>
          <p:nvPr/>
        </p:nvSpPr>
        <p:spPr bwMode="auto">
          <a:xfrm>
            <a:off x="3352800" y="4953000"/>
            <a:ext cx="1524000" cy="914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296968" name="Text Box 10"/>
          <p:cNvSpPr txBox="1">
            <a:spLocks noChangeArrowheads="1"/>
          </p:cNvSpPr>
          <p:nvPr/>
        </p:nvSpPr>
        <p:spPr bwMode="auto">
          <a:xfrm>
            <a:off x="3352800" y="5105400"/>
            <a:ext cx="15680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err="1">
                <a:latin typeface="Times New Roman" panose="02020603050405020304" pitchFamily="18" charset="0"/>
              </a:rPr>
              <a:t>First_name</a:t>
            </a:r>
            <a:endParaRPr lang="en-US" sz="2400" b="0" dirty="0">
              <a:latin typeface="Times New Roman" panose="02020603050405020304" pitchFamily="18" charset="0"/>
            </a:endParaRPr>
          </a:p>
        </p:txBody>
      </p:sp>
      <p:sp>
        <p:nvSpPr>
          <p:cNvPr id="296969" name="Oval 11"/>
          <p:cNvSpPr>
            <a:spLocks noChangeArrowheads="1"/>
          </p:cNvSpPr>
          <p:nvPr/>
        </p:nvSpPr>
        <p:spPr bwMode="auto">
          <a:xfrm>
            <a:off x="5562600" y="4724400"/>
            <a:ext cx="2057400" cy="914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296970" name="Text Box 12"/>
          <p:cNvSpPr txBox="1">
            <a:spLocks noChangeArrowheads="1"/>
          </p:cNvSpPr>
          <p:nvPr/>
        </p:nvSpPr>
        <p:spPr bwMode="auto">
          <a:xfrm>
            <a:off x="5703888" y="4953000"/>
            <a:ext cx="18918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err="1">
                <a:latin typeface="Times New Roman" panose="02020603050405020304" pitchFamily="18" charset="0"/>
              </a:rPr>
              <a:t>Middle_name</a:t>
            </a:r>
            <a:endParaRPr lang="en-US" sz="2400" b="0" dirty="0">
              <a:latin typeface="Times New Roman" panose="02020603050405020304" pitchFamily="18" charset="0"/>
            </a:endParaRPr>
          </a:p>
        </p:txBody>
      </p:sp>
      <p:sp>
        <p:nvSpPr>
          <p:cNvPr id="54283" name="Oval 14"/>
          <p:cNvSpPr>
            <a:spLocks noChangeArrowheads="1"/>
          </p:cNvSpPr>
          <p:nvPr/>
        </p:nvSpPr>
        <p:spPr bwMode="auto">
          <a:xfrm>
            <a:off x="3581400" y="3429000"/>
            <a:ext cx="1524000" cy="914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4284" name="Text Box 15"/>
          <p:cNvSpPr txBox="1">
            <a:spLocks noChangeArrowheads="1"/>
          </p:cNvSpPr>
          <p:nvPr/>
        </p:nvSpPr>
        <p:spPr bwMode="auto">
          <a:xfrm>
            <a:off x="3962400" y="3581400"/>
            <a:ext cx="9188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Name</a:t>
            </a:r>
          </a:p>
        </p:txBody>
      </p:sp>
      <p:sp>
        <p:nvSpPr>
          <p:cNvPr id="296973" name="Line 16"/>
          <p:cNvSpPr>
            <a:spLocks noChangeShapeType="1"/>
          </p:cNvSpPr>
          <p:nvPr/>
        </p:nvSpPr>
        <p:spPr bwMode="auto">
          <a:xfrm flipV="1">
            <a:off x="4191000" y="43434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6974" name="Line 17"/>
          <p:cNvSpPr>
            <a:spLocks noChangeShapeType="1"/>
          </p:cNvSpPr>
          <p:nvPr/>
        </p:nvSpPr>
        <p:spPr bwMode="auto">
          <a:xfrm flipH="1" flipV="1">
            <a:off x="4876800" y="4191000"/>
            <a:ext cx="990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7" name="Text Box 18"/>
          <p:cNvSpPr txBox="1">
            <a:spLocks noChangeArrowheads="1"/>
          </p:cNvSpPr>
          <p:nvPr/>
        </p:nvSpPr>
        <p:spPr bwMode="auto">
          <a:xfrm>
            <a:off x="5943600" y="3352800"/>
            <a:ext cx="2438400" cy="588963"/>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3200" b="0" dirty="0">
                <a:latin typeface="Times New Roman" panose="02020603050405020304" pitchFamily="18" charset="0"/>
              </a:rPr>
              <a:t>EMPLOYEE</a:t>
            </a:r>
          </a:p>
        </p:txBody>
      </p:sp>
      <p:sp>
        <p:nvSpPr>
          <p:cNvPr id="54288" name="Line 19"/>
          <p:cNvSpPr>
            <a:spLocks noChangeShapeType="1"/>
          </p:cNvSpPr>
          <p:nvPr/>
        </p:nvSpPr>
        <p:spPr bwMode="auto">
          <a:xfrm>
            <a:off x="5105400" y="3733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9" name="Line 17"/>
          <p:cNvSpPr>
            <a:spLocks noChangeShapeType="1"/>
          </p:cNvSpPr>
          <p:nvPr/>
        </p:nvSpPr>
        <p:spPr bwMode="auto">
          <a:xfrm>
            <a:off x="3733800" y="2209800"/>
            <a:ext cx="457200" cy="114300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910618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69"/>
                                        </p:tgtEl>
                                        <p:attrNameLst>
                                          <p:attrName>style.visibility</p:attrName>
                                        </p:attrNameLst>
                                      </p:cBhvr>
                                      <p:to>
                                        <p:strVal val="visible"/>
                                      </p:to>
                                    </p:set>
                                    <p:anim calcmode="lin" valueType="num">
                                      <p:cBhvr additive="base">
                                        <p:cTn id="7" dur="500" fill="hold"/>
                                        <p:tgtEl>
                                          <p:spTgt spid="23569"/>
                                        </p:tgtEl>
                                        <p:attrNameLst>
                                          <p:attrName>ppt_x</p:attrName>
                                        </p:attrNameLst>
                                      </p:cBhvr>
                                      <p:tavLst>
                                        <p:tav tm="0">
                                          <p:val>
                                            <p:strVal val="#ppt_x"/>
                                          </p:val>
                                        </p:tav>
                                        <p:tav tm="100000">
                                          <p:val>
                                            <p:strVal val="#ppt_x"/>
                                          </p:val>
                                        </p:tav>
                                      </p:tavLst>
                                    </p:anim>
                                    <p:anim calcmode="lin" valueType="num">
                                      <p:cBhvr additive="base">
                                        <p:cTn id="8" dur="500" fill="hold"/>
                                        <p:tgtEl>
                                          <p:spTgt spid="2356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6966"/>
                                        </p:tgtEl>
                                        <p:attrNameLst>
                                          <p:attrName>style.visibility</p:attrName>
                                        </p:attrNameLst>
                                      </p:cBhvr>
                                      <p:to>
                                        <p:strVal val="visible"/>
                                      </p:to>
                                    </p:set>
                                    <p:anim calcmode="lin" valueType="num">
                                      <p:cBhvr additive="base">
                                        <p:cTn id="13" dur="500" fill="hold"/>
                                        <p:tgtEl>
                                          <p:spTgt spid="296966"/>
                                        </p:tgtEl>
                                        <p:attrNameLst>
                                          <p:attrName>ppt_x</p:attrName>
                                        </p:attrNameLst>
                                      </p:cBhvr>
                                      <p:tavLst>
                                        <p:tav tm="0">
                                          <p:val>
                                            <p:strVal val="#ppt_x"/>
                                          </p:val>
                                        </p:tav>
                                        <p:tav tm="100000">
                                          <p:val>
                                            <p:strVal val="#ppt_x"/>
                                          </p:val>
                                        </p:tav>
                                      </p:tavLst>
                                    </p:anim>
                                    <p:anim calcmode="lin" valueType="num">
                                      <p:cBhvr additive="base">
                                        <p:cTn id="14" dur="500" fill="hold"/>
                                        <p:tgtEl>
                                          <p:spTgt spid="29696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96965"/>
                                        </p:tgtEl>
                                        <p:attrNameLst>
                                          <p:attrName>style.visibility</p:attrName>
                                        </p:attrNameLst>
                                      </p:cBhvr>
                                      <p:to>
                                        <p:strVal val="visible"/>
                                      </p:to>
                                    </p:set>
                                    <p:anim calcmode="lin" valueType="num">
                                      <p:cBhvr additive="base">
                                        <p:cTn id="17" dur="500" fill="hold"/>
                                        <p:tgtEl>
                                          <p:spTgt spid="296965"/>
                                        </p:tgtEl>
                                        <p:attrNameLst>
                                          <p:attrName>ppt_x</p:attrName>
                                        </p:attrNameLst>
                                      </p:cBhvr>
                                      <p:tavLst>
                                        <p:tav tm="0">
                                          <p:val>
                                            <p:strVal val="#ppt_x"/>
                                          </p:val>
                                        </p:tav>
                                        <p:tav tm="100000">
                                          <p:val>
                                            <p:strVal val="#ppt_x"/>
                                          </p:val>
                                        </p:tav>
                                      </p:tavLst>
                                    </p:anim>
                                    <p:anim calcmode="lin" valueType="num">
                                      <p:cBhvr additive="base">
                                        <p:cTn id="18" dur="500" fill="hold"/>
                                        <p:tgtEl>
                                          <p:spTgt spid="29696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96973"/>
                                        </p:tgtEl>
                                        <p:attrNameLst>
                                          <p:attrName>style.visibility</p:attrName>
                                        </p:attrNameLst>
                                      </p:cBhvr>
                                      <p:to>
                                        <p:strVal val="visible"/>
                                      </p:to>
                                    </p:set>
                                    <p:anim calcmode="lin" valueType="num">
                                      <p:cBhvr additive="base">
                                        <p:cTn id="21" dur="500" fill="hold"/>
                                        <p:tgtEl>
                                          <p:spTgt spid="296973"/>
                                        </p:tgtEl>
                                        <p:attrNameLst>
                                          <p:attrName>ppt_x</p:attrName>
                                        </p:attrNameLst>
                                      </p:cBhvr>
                                      <p:tavLst>
                                        <p:tav tm="0">
                                          <p:val>
                                            <p:strVal val="#ppt_x"/>
                                          </p:val>
                                        </p:tav>
                                        <p:tav tm="100000">
                                          <p:val>
                                            <p:strVal val="#ppt_x"/>
                                          </p:val>
                                        </p:tav>
                                      </p:tavLst>
                                    </p:anim>
                                    <p:anim calcmode="lin" valueType="num">
                                      <p:cBhvr additive="base">
                                        <p:cTn id="22" dur="500" fill="hold"/>
                                        <p:tgtEl>
                                          <p:spTgt spid="29697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96968"/>
                                        </p:tgtEl>
                                        <p:attrNameLst>
                                          <p:attrName>style.visibility</p:attrName>
                                        </p:attrNameLst>
                                      </p:cBhvr>
                                      <p:to>
                                        <p:strVal val="visible"/>
                                      </p:to>
                                    </p:set>
                                    <p:anim calcmode="lin" valueType="num">
                                      <p:cBhvr additive="base">
                                        <p:cTn id="25" dur="500" fill="hold"/>
                                        <p:tgtEl>
                                          <p:spTgt spid="296968"/>
                                        </p:tgtEl>
                                        <p:attrNameLst>
                                          <p:attrName>ppt_x</p:attrName>
                                        </p:attrNameLst>
                                      </p:cBhvr>
                                      <p:tavLst>
                                        <p:tav tm="0">
                                          <p:val>
                                            <p:strVal val="#ppt_x"/>
                                          </p:val>
                                        </p:tav>
                                        <p:tav tm="100000">
                                          <p:val>
                                            <p:strVal val="#ppt_x"/>
                                          </p:val>
                                        </p:tav>
                                      </p:tavLst>
                                    </p:anim>
                                    <p:anim calcmode="lin" valueType="num">
                                      <p:cBhvr additive="base">
                                        <p:cTn id="26" dur="500" fill="hold"/>
                                        <p:tgtEl>
                                          <p:spTgt spid="29696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96974"/>
                                        </p:tgtEl>
                                        <p:attrNameLst>
                                          <p:attrName>style.visibility</p:attrName>
                                        </p:attrNameLst>
                                      </p:cBhvr>
                                      <p:to>
                                        <p:strVal val="visible"/>
                                      </p:to>
                                    </p:set>
                                    <p:anim calcmode="lin" valueType="num">
                                      <p:cBhvr additive="base">
                                        <p:cTn id="29" dur="500" fill="hold"/>
                                        <p:tgtEl>
                                          <p:spTgt spid="296974"/>
                                        </p:tgtEl>
                                        <p:attrNameLst>
                                          <p:attrName>ppt_x</p:attrName>
                                        </p:attrNameLst>
                                      </p:cBhvr>
                                      <p:tavLst>
                                        <p:tav tm="0">
                                          <p:val>
                                            <p:strVal val="#ppt_x"/>
                                          </p:val>
                                        </p:tav>
                                        <p:tav tm="100000">
                                          <p:val>
                                            <p:strVal val="#ppt_x"/>
                                          </p:val>
                                        </p:tav>
                                      </p:tavLst>
                                    </p:anim>
                                    <p:anim calcmode="lin" valueType="num">
                                      <p:cBhvr additive="base">
                                        <p:cTn id="30" dur="500" fill="hold"/>
                                        <p:tgtEl>
                                          <p:spTgt spid="296974"/>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96970"/>
                                        </p:tgtEl>
                                        <p:attrNameLst>
                                          <p:attrName>style.visibility</p:attrName>
                                        </p:attrNameLst>
                                      </p:cBhvr>
                                      <p:to>
                                        <p:strVal val="visible"/>
                                      </p:to>
                                    </p:set>
                                    <p:anim calcmode="lin" valueType="num">
                                      <p:cBhvr additive="base">
                                        <p:cTn id="33" dur="500" fill="hold"/>
                                        <p:tgtEl>
                                          <p:spTgt spid="296970"/>
                                        </p:tgtEl>
                                        <p:attrNameLst>
                                          <p:attrName>ppt_x</p:attrName>
                                        </p:attrNameLst>
                                      </p:cBhvr>
                                      <p:tavLst>
                                        <p:tav tm="0">
                                          <p:val>
                                            <p:strVal val="#ppt_x"/>
                                          </p:val>
                                        </p:tav>
                                        <p:tav tm="100000">
                                          <p:val>
                                            <p:strVal val="#ppt_x"/>
                                          </p:val>
                                        </p:tav>
                                      </p:tavLst>
                                    </p:anim>
                                    <p:anim calcmode="lin" valueType="num">
                                      <p:cBhvr additive="base">
                                        <p:cTn id="34" dur="500" fill="hold"/>
                                        <p:tgtEl>
                                          <p:spTgt spid="29697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96964"/>
                                        </p:tgtEl>
                                        <p:attrNameLst>
                                          <p:attrName>style.visibility</p:attrName>
                                        </p:attrNameLst>
                                      </p:cBhvr>
                                      <p:to>
                                        <p:strVal val="visible"/>
                                      </p:to>
                                    </p:set>
                                    <p:anim calcmode="lin" valueType="num">
                                      <p:cBhvr additive="base">
                                        <p:cTn id="37" dur="500" fill="hold"/>
                                        <p:tgtEl>
                                          <p:spTgt spid="296964"/>
                                        </p:tgtEl>
                                        <p:attrNameLst>
                                          <p:attrName>ppt_x</p:attrName>
                                        </p:attrNameLst>
                                      </p:cBhvr>
                                      <p:tavLst>
                                        <p:tav tm="0">
                                          <p:val>
                                            <p:strVal val="#ppt_x"/>
                                          </p:val>
                                        </p:tav>
                                        <p:tav tm="100000">
                                          <p:val>
                                            <p:strVal val="#ppt_x"/>
                                          </p:val>
                                        </p:tav>
                                      </p:tavLst>
                                    </p:anim>
                                    <p:anim calcmode="lin" valueType="num">
                                      <p:cBhvr additive="base">
                                        <p:cTn id="38" dur="500" fill="hold"/>
                                        <p:tgtEl>
                                          <p:spTgt spid="29696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96967"/>
                                        </p:tgtEl>
                                        <p:attrNameLst>
                                          <p:attrName>style.visibility</p:attrName>
                                        </p:attrNameLst>
                                      </p:cBhvr>
                                      <p:to>
                                        <p:strVal val="visible"/>
                                      </p:to>
                                    </p:set>
                                    <p:anim calcmode="lin" valueType="num">
                                      <p:cBhvr additive="base">
                                        <p:cTn id="41" dur="500" fill="hold"/>
                                        <p:tgtEl>
                                          <p:spTgt spid="296967"/>
                                        </p:tgtEl>
                                        <p:attrNameLst>
                                          <p:attrName>ppt_x</p:attrName>
                                        </p:attrNameLst>
                                      </p:cBhvr>
                                      <p:tavLst>
                                        <p:tav tm="0">
                                          <p:val>
                                            <p:strVal val="#ppt_x"/>
                                          </p:val>
                                        </p:tav>
                                        <p:tav tm="100000">
                                          <p:val>
                                            <p:strVal val="#ppt_x"/>
                                          </p:val>
                                        </p:tav>
                                      </p:tavLst>
                                    </p:anim>
                                    <p:anim calcmode="lin" valueType="num">
                                      <p:cBhvr additive="base">
                                        <p:cTn id="42" dur="500" fill="hold"/>
                                        <p:tgtEl>
                                          <p:spTgt spid="296967"/>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96969"/>
                                        </p:tgtEl>
                                        <p:attrNameLst>
                                          <p:attrName>style.visibility</p:attrName>
                                        </p:attrNameLst>
                                      </p:cBhvr>
                                      <p:to>
                                        <p:strVal val="visible"/>
                                      </p:to>
                                    </p:set>
                                    <p:anim calcmode="lin" valueType="num">
                                      <p:cBhvr additive="base">
                                        <p:cTn id="45" dur="500" fill="hold"/>
                                        <p:tgtEl>
                                          <p:spTgt spid="296969"/>
                                        </p:tgtEl>
                                        <p:attrNameLst>
                                          <p:attrName>ppt_x</p:attrName>
                                        </p:attrNameLst>
                                      </p:cBhvr>
                                      <p:tavLst>
                                        <p:tav tm="0">
                                          <p:val>
                                            <p:strVal val="#ppt_x"/>
                                          </p:val>
                                        </p:tav>
                                        <p:tav tm="100000">
                                          <p:val>
                                            <p:strVal val="#ppt_x"/>
                                          </p:val>
                                        </p:tav>
                                      </p:tavLst>
                                    </p:anim>
                                    <p:anim calcmode="lin" valueType="num">
                                      <p:cBhvr additive="base">
                                        <p:cTn id="46" dur="500" fill="hold"/>
                                        <p:tgtEl>
                                          <p:spTgt spid="2969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4" grpId="0" animBg="1"/>
      <p:bldP spid="296965" grpId="0"/>
      <p:bldP spid="296966" grpId="0" animBg="1"/>
      <p:bldP spid="296967" grpId="0" animBg="1"/>
      <p:bldP spid="296968" grpId="0"/>
      <p:bldP spid="296969" grpId="0" animBg="1"/>
      <p:bldP spid="296970" grpId="0"/>
      <p:bldP spid="296973" grpId="0" animBg="1"/>
      <p:bldP spid="296974" grpId="0" animBg="1"/>
      <p:bldP spid="2356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061910" y="411971"/>
            <a:ext cx="6377940" cy="1293028"/>
          </a:xfrm>
        </p:spPr>
        <p:txBody>
          <a:bodyPr>
            <a:normAutofit/>
          </a:bodyPr>
          <a:lstStyle/>
          <a:p>
            <a:r>
              <a:rPr lang="en-US" sz="4400" dirty="0">
                <a:ln>
                  <a:noFill/>
                </a:ln>
                <a:latin typeface="Corbel" panose="020B0503020204020204" pitchFamily="34" charset="0"/>
              </a:rPr>
              <a:t>Your Turn!!</a:t>
            </a:r>
          </a:p>
        </p:txBody>
      </p:sp>
      <p:sp>
        <p:nvSpPr>
          <p:cNvPr id="55299" name="Rectangle 3"/>
          <p:cNvSpPr>
            <a:spLocks noGrp="1" noChangeArrowheads="1"/>
          </p:cNvSpPr>
          <p:nvPr>
            <p:ph idx="4294967295"/>
          </p:nvPr>
        </p:nvSpPr>
        <p:spPr>
          <a:xfrm>
            <a:off x="690562" y="1916113"/>
            <a:ext cx="8135937" cy="3651250"/>
          </a:xfrm>
          <a:prstGeom prst="rect">
            <a:avLst/>
          </a:prstGeom>
        </p:spPr>
        <p:txBody>
          <a:bodyPr/>
          <a:lstStyle/>
          <a:p>
            <a:pPr>
              <a:buFont typeface="Wingdings" panose="05000000000000000000" pitchFamily="2" charset="2"/>
              <a:buNone/>
            </a:pPr>
            <a:r>
              <a:rPr lang="en-US" sz="2800" dirty="0">
                <a:latin typeface="Corbel" panose="020B0503020204020204" pitchFamily="34" charset="0"/>
              </a:rPr>
              <a:t>Think about the library database.</a:t>
            </a:r>
          </a:p>
          <a:p>
            <a:pPr algn="just"/>
            <a:r>
              <a:rPr lang="en-US" sz="2800" dirty="0">
                <a:latin typeface="Corbel" panose="020B0503020204020204" pitchFamily="34" charset="0"/>
              </a:rPr>
              <a:t>Identify entities , attributes and domain of attributes</a:t>
            </a:r>
          </a:p>
          <a:p>
            <a:endParaRPr lang="en-US" dirty="0"/>
          </a:p>
        </p:txBody>
      </p:sp>
    </p:spTree>
    <p:extLst>
      <p:ext uri="{BB962C8B-B14F-4D97-AF65-F5344CB8AC3E}">
        <p14:creationId xmlns:p14="http://schemas.microsoft.com/office/powerpoint/2010/main" val="3232091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975921" y="884236"/>
            <a:ext cx="7215206" cy="762002"/>
          </a:xfrm>
        </p:spPr>
        <p:txBody>
          <a:bodyPr/>
          <a:lstStyle/>
          <a:p>
            <a:r>
              <a:rPr lang="en-US" sz="4400" dirty="0">
                <a:ln>
                  <a:noFill/>
                </a:ln>
                <a:latin typeface="Corbel" panose="020B0503020204020204" pitchFamily="34" charset="0"/>
              </a:rPr>
              <a:t>Multi valued Attributes</a:t>
            </a:r>
            <a:r>
              <a:rPr lang="en-US" dirty="0">
                <a:ln>
                  <a:noFill/>
                </a:ln>
              </a:rPr>
              <a:t> </a:t>
            </a:r>
          </a:p>
        </p:txBody>
      </p:sp>
      <p:sp>
        <p:nvSpPr>
          <p:cNvPr id="299011" name="Rectangle 3"/>
          <p:cNvSpPr>
            <a:spLocks noGrp="1" noChangeArrowheads="1"/>
          </p:cNvSpPr>
          <p:nvPr>
            <p:ph idx="4294967295"/>
          </p:nvPr>
        </p:nvSpPr>
        <p:spPr>
          <a:xfrm>
            <a:off x="914400" y="1798638"/>
            <a:ext cx="8229600" cy="4784725"/>
          </a:xfrm>
          <a:prstGeom prst="rect">
            <a:avLst/>
          </a:prstGeom>
        </p:spPr>
        <p:txBody>
          <a:bodyPr rtlCol="0">
            <a:noAutofit/>
          </a:bodyPr>
          <a:lstStyle/>
          <a:p>
            <a:pPr algn="just" fontAlgn="auto">
              <a:buFont typeface="Arial"/>
              <a:buChar char="•"/>
              <a:defRPr/>
            </a:pPr>
            <a:r>
              <a:rPr lang="en-US" sz="2800" dirty="0">
                <a:solidFill>
                  <a:schemeClr val="tx1">
                    <a:lumMod val="85000"/>
                    <a:lumOff val="15000"/>
                  </a:schemeClr>
                </a:solidFill>
                <a:latin typeface="Corbel" panose="020B0503020204020204" pitchFamily="34" charset="0"/>
              </a:rPr>
              <a:t>Attributes containing multiple values  are called </a:t>
            </a:r>
            <a:r>
              <a:rPr lang="en-US" sz="2800" b="1" dirty="0">
                <a:solidFill>
                  <a:srgbClr val="FF0066"/>
                </a:solidFill>
                <a:latin typeface="Corbel" panose="020B0503020204020204" pitchFamily="34" charset="0"/>
              </a:rPr>
              <a:t>multivalued attributes</a:t>
            </a:r>
            <a:r>
              <a:rPr lang="en-US" sz="2800" dirty="0">
                <a:solidFill>
                  <a:schemeClr val="tx1">
                    <a:lumMod val="85000"/>
                    <a:lumOff val="15000"/>
                  </a:schemeClr>
                </a:solidFill>
                <a:latin typeface="Corbel" panose="020B0503020204020204" pitchFamily="34" charset="0"/>
              </a:rPr>
              <a:t>.          </a:t>
            </a:r>
            <a:r>
              <a:rPr lang="en-US" sz="2800" dirty="0">
                <a:solidFill>
                  <a:srgbClr val="008000"/>
                </a:solidFill>
                <a:latin typeface="Corbel" panose="020B0503020204020204" pitchFamily="34" charset="0"/>
              </a:rPr>
              <a:t>Double lines</a:t>
            </a:r>
          </a:p>
          <a:p>
            <a:pPr fontAlgn="auto">
              <a:buFont typeface="Arial"/>
              <a:buChar char="•"/>
              <a:defRPr/>
            </a:pPr>
            <a:endParaRPr lang="en-US" sz="2800" dirty="0">
              <a:solidFill>
                <a:srgbClr val="008000"/>
              </a:solidFill>
              <a:latin typeface="Corbel" panose="020B0503020204020204" pitchFamily="34" charset="0"/>
            </a:endParaRPr>
          </a:p>
          <a:p>
            <a:pPr fontAlgn="auto">
              <a:buFont typeface="Wingdings" panose="05000000000000000000" pitchFamily="2" charset="2"/>
              <a:buNone/>
              <a:defRPr/>
            </a:pPr>
            <a:endParaRPr lang="en-US" sz="2800" dirty="0">
              <a:solidFill>
                <a:schemeClr val="tx1">
                  <a:lumMod val="85000"/>
                  <a:lumOff val="15000"/>
                </a:schemeClr>
              </a:solidFill>
              <a:latin typeface="Corbel" panose="020B0503020204020204" pitchFamily="34" charset="0"/>
            </a:endParaRPr>
          </a:p>
          <a:p>
            <a:pPr fontAlgn="auto">
              <a:buFont typeface="Wingdings" panose="05000000000000000000" pitchFamily="2" charset="2"/>
              <a:buNone/>
              <a:defRPr/>
            </a:pPr>
            <a:endParaRPr lang="en-US" sz="2800" dirty="0">
              <a:solidFill>
                <a:schemeClr val="tx1">
                  <a:lumMod val="85000"/>
                  <a:lumOff val="15000"/>
                </a:schemeClr>
              </a:solidFill>
              <a:latin typeface="Corbel" panose="020B0503020204020204" pitchFamily="34" charset="0"/>
            </a:endParaRPr>
          </a:p>
          <a:p>
            <a:pPr fontAlgn="auto">
              <a:buFont typeface="Wingdings" panose="05000000000000000000" pitchFamily="2" charset="2"/>
              <a:buNone/>
              <a:defRPr/>
            </a:pPr>
            <a:endParaRPr lang="en-US" sz="2800" dirty="0">
              <a:solidFill>
                <a:schemeClr val="tx1">
                  <a:lumMod val="85000"/>
                  <a:lumOff val="15000"/>
                </a:schemeClr>
              </a:solidFill>
              <a:latin typeface="Corbel" panose="020B0503020204020204" pitchFamily="34" charset="0"/>
            </a:endParaRPr>
          </a:p>
          <a:p>
            <a:pPr fontAlgn="auto">
              <a:buFont typeface="Wingdings" panose="05000000000000000000" pitchFamily="2" charset="2"/>
              <a:buNone/>
              <a:defRPr/>
            </a:pPr>
            <a:r>
              <a:rPr lang="en-US" sz="2800" dirty="0">
                <a:solidFill>
                  <a:schemeClr val="tx1">
                    <a:lumMod val="85000"/>
                    <a:lumOff val="15000"/>
                  </a:schemeClr>
                </a:solidFill>
                <a:latin typeface="Corbel" panose="020B0503020204020204" pitchFamily="34" charset="0"/>
              </a:rPr>
              <a:t> </a:t>
            </a:r>
          </a:p>
          <a:p>
            <a:pPr fontAlgn="auto">
              <a:buFont typeface="Wingdings" panose="05000000000000000000" pitchFamily="2" charset="2"/>
              <a:buNone/>
              <a:defRPr/>
            </a:pPr>
            <a:r>
              <a:rPr lang="en-US" sz="2800" dirty="0">
                <a:solidFill>
                  <a:schemeClr val="tx1">
                    <a:lumMod val="85000"/>
                    <a:lumOff val="15000"/>
                  </a:schemeClr>
                </a:solidFill>
                <a:latin typeface="Corbel" panose="020B0503020204020204" pitchFamily="34" charset="0"/>
              </a:rPr>
              <a:t>Gmail , yahoo, SLIIT e-mail address</a:t>
            </a:r>
          </a:p>
        </p:txBody>
      </p:sp>
      <p:sp>
        <p:nvSpPr>
          <p:cNvPr id="56324" name="Oval 4"/>
          <p:cNvSpPr>
            <a:spLocks noChangeArrowheads="1"/>
          </p:cNvSpPr>
          <p:nvPr/>
        </p:nvSpPr>
        <p:spPr bwMode="auto">
          <a:xfrm>
            <a:off x="3352800" y="4114800"/>
            <a:ext cx="1524000" cy="914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6325" name="Text Box 5"/>
          <p:cNvSpPr txBox="1">
            <a:spLocks noChangeArrowheads="1"/>
          </p:cNvSpPr>
          <p:nvPr/>
        </p:nvSpPr>
        <p:spPr bwMode="auto">
          <a:xfrm>
            <a:off x="3429000" y="4267200"/>
            <a:ext cx="15680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err="1">
                <a:latin typeface="Times New Roman" panose="02020603050405020304" pitchFamily="18" charset="0"/>
              </a:rPr>
              <a:t>First_name</a:t>
            </a:r>
            <a:endParaRPr lang="en-US" sz="2400" b="0" dirty="0">
              <a:latin typeface="Times New Roman" panose="02020603050405020304" pitchFamily="18" charset="0"/>
            </a:endParaRPr>
          </a:p>
        </p:txBody>
      </p:sp>
      <p:sp>
        <p:nvSpPr>
          <p:cNvPr id="56326" name="Oval 6"/>
          <p:cNvSpPr>
            <a:spLocks noChangeArrowheads="1"/>
          </p:cNvSpPr>
          <p:nvPr/>
        </p:nvSpPr>
        <p:spPr bwMode="auto">
          <a:xfrm>
            <a:off x="5562600" y="3886200"/>
            <a:ext cx="2057400" cy="914400"/>
          </a:xfrm>
          <a:prstGeom prst="ellipse">
            <a:avLst/>
          </a:prstGeom>
          <a:solidFill>
            <a:srgbClr val="9999FF"/>
          </a:solidFill>
          <a:ln w="63500" cmpd="dbl">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6327" name="Text Box 7"/>
          <p:cNvSpPr txBox="1">
            <a:spLocks noChangeArrowheads="1"/>
          </p:cNvSpPr>
          <p:nvPr/>
        </p:nvSpPr>
        <p:spPr bwMode="auto">
          <a:xfrm>
            <a:off x="6019800" y="4114800"/>
            <a:ext cx="1157288" cy="457200"/>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E-mail</a:t>
            </a:r>
          </a:p>
        </p:txBody>
      </p:sp>
      <p:sp>
        <p:nvSpPr>
          <p:cNvPr id="56328" name="Oval 8"/>
          <p:cNvSpPr>
            <a:spLocks noChangeArrowheads="1"/>
          </p:cNvSpPr>
          <p:nvPr/>
        </p:nvSpPr>
        <p:spPr bwMode="auto">
          <a:xfrm>
            <a:off x="1147776" y="4078357"/>
            <a:ext cx="1609716" cy="914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6329" name="Text Box 9"/>
          <p:cNvSpPr txBox="1">
            <a:spLocks noChangeArrowheads="1"/>
          </p:cNvSpPr>
          <p:nvPr/>
        </p:nvSpPr>
        <p:spPr bwMode="auto">
          <a:xfrm>
            <a:off x="1283529" y="4270513"/>
            <a:ext cx="1277914" cy="461665"/>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Surname</a:t>
            </a:r>
          </a:p>
        </p:txBody>
      </p:sp>
      <p:sp>
        <p:nvSpPr>
          <p:cNvPr id="56330" name="Line 10"/>
          <p:cNvSpPr>
            <a:spLocks noChangeShapeType="1"/>
          </p:cNvSpPr>
          <p:nvPr/>
        </p:nvSpPr>
        <p:spPr bwMode="auto">
          <a:xfrm flipV="1">
            <a:off x="4191000" y="3276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1" name="Line 11"/>
          <p:cNvSpPr>
            <a:spLocks noChangeShapeType="1"/>
          </p:cNvSpPr>
          <p:nvPr/>
        </p:nvSpPr>
        <p:spPr bwMode="auto">
          <a:xfrm flipH="1" flipV="1">
            <a:off x="4876800" y="3276600"/>
            <a:ext cx="9906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2" name="Text Box 12"/>
          <p:cNvSpPr txBox="1">
            <a:spLocks noChangeArrowheads="1"/>
          </p:cNvSpPr>
          <p:nvPr/>
        </p:nvSpPr>
        <p:spPr bwMode="auto">
          <a:xfrm>
            <a:off x="3581400" y="2971800"/>
            <a:ext cx="1925638"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STUDENT</a:t>
            </a:r>
          </a:p>
        </p:txBody>
      </p:sp>
      <p:sp>
        <p:nvSpPr>
          <p:cNvPr id="56333" name="Line 14"/>
          <p:cNvSpPr>
            <a:spLocks noChangeShapeType="1"/>
          </p:cNvSpPr>
          <p:nvPr/>
        </p:nvSpPr>
        <p:spPr bwMode="auto">
          <a:xfrm flipV="1">
            <a:off x="2438400" y="3276600"/>
            <a:ext cx="11049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023" name="Arc 15"/>
          <p:cNvSpPr>
            <a:spLocks/>
          </p:cNvSpPr>
          <p:nvPr/>
        </p:nvSpPr>
        <p:spPr bwMode="auto">
          <a:xfrm>
            <a:off x="6515100" y="2666999"/>
            <a:ext cx="533400" cy="1231241"/>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0066"/>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38704456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9023"/>
                                        </p:tgtEl>
                                        <p:attrNameLst>
                                          <p:attrName>style.visibility</p:attrName>
                                        </p:attrNameLst>
                                      </p:cBhvr>
                                      <p:to>
                                        <p:strVal val="visible"/>
                                      </p:to>
                                    </p:set>
                                    <p:anim calcmode="lin" valueType="num">
                                      <p:cBhvr additive="base">
                                        <p:cTn id="7" dur="500" fill="hold"/>
                                        <p:tgtEl>
                                          <p:spTgt spid="299023"/>
                                        </p:tgtEl>
                                        <p:attrNameLst>
                                          <p:attrName>ppt_x</p:attrName>
                                        </p:attrNameLst>
                                      </p:cBhvr>
                                      <p:tavLst>
                                        <p:tav tm="0">
                                          <p:val>
                                            <p:strVal val="#ppt_x"/>
                                          </p:val>
                                        </p:tav>
                                        <p:tav tm="100000">
                                          <p:val>
                                            <p:strVal val="#ppt_x"/>
                                          </p:val>
                                        </p:tav>
                                      </p:tavLst>
                                    </p:anim>
                                    <p:anim calcmode="lin" valueType="num">
                                      <p:cBhvr additive="base">
                                        <p:cTn id="8" dur="500" fill="hold"/>
                                        <p:tgtEl>
                                          <p:spTgt spid="2990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9011">
                                            <p:txEl>
                                              <p:pRg st="5" end="5"/>
                                            </p:txEl>
                                          </p:spTgt>
                                        </p:tgtEl>
                                        <p:attrNameLst>
                                          <p:attrName>style.visibility</p:attrName>
                                        </p:attrNameLst>
                                      </p:cBhvr>
                                      <p:to>
                                        <p:strVal val="visible"/>
                                      </p:to>
                                    </p:set>
                                    <p:anim calcmode="lin" valueType="num">
                                      <p:cBhvr additive="base">
                                        <p:cTn id="13" dur="500" fill="hold"/>
                                        <p:tgtEl>
                                          <p:spTgt spid="299011">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90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9011">
                                            <p:txEl>
                                              <p:pRg st="6" end="6"/>
                                            </p:txEl>
                                          </p:spTgt>
                                        </p:tgtEl>
                                        <p:attrNameLst>
                                          <p:attrName>style.visibility</p:attrName>
                                        </p:attrNameLst>
                                      </p:cBhvr>
                                      <p:to>
                                        <p:strVal val="visible"/>
                                      </p:to>
                                    </p:set>
                                    <p:anim calcmode="lin" valueType="num">
                                      <p:cBhvr additive="base">
                                        <p:cTn id="19" dur="500" fill="hold"/>
                                        <p:tgtEl>
                                          <p:spTgt spid="29901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901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438207" y="335470"/>
            <a:ext cx="6377940" cy="1293028"/>
          </a:xfrm>
        </p:spPr>
        <p:txBody>
          <a:bodyPr>
            <a:normAutofit/>
          </a:bodyPr>
          <a:lstStyle/>
          <a:p>
            <a:r>
              <a:rPr lang="en-US" sz="4400" dirty="0">
                <a:ln>
                  <a:noFill/>
                </a:ln>
                <a:latin typeface="Corbel" panose="020B0503020204020204" pitchFamily="34" charset="0"/>
              </a:rPr>
              <a:t>Your Turn!!</a:t>
            </a:r>
          </a:p>
        </p:txBody>
      </p:sp>
      <p:sp>
        <p:nvSpPr>
          <p:cNvPr id="58371" name="Rectangle 3"/>
          <p:cNvSpPr>
            <a:spLocks noGrp="1" noChangeArrowheads="1"/>
          </p:cNvSpPr>
          <p:nvPr>
            <p:ph idx="4294967295"/>
          </p:nvPr>
        </p:nvSpPr>
        <p:spPr>
          <a:xfrm>
            <a:off x="358775" y="1916113"/>
            <a:ext cx="8785225" cy="3651250"/>
          </a:xfrm>
          <a:prstGeom prst="rect">
            <a:avLst/>
          </a:prstGeom>
        </p:spPr>
        <p:txBody>
          <a:bodyPr/>
          <a:lstStyle/>
          <a:p>
            <a:r>
              <a:rPr lang="en-US" sz="2800" dirty="0">
                <a:latin typeface="Corbel" panose="020B0503020204020204" pitchFamily="34" charset="0"/>
              </a:rPr>
              <a:t>Give an example for a multi valued attribute in library database</a:t>
            </a:r>
          </a:p>
          <a:p>
            <a:pPr marL="0" indent="0">
              <a:buNone/>
            </a:pPr>
            <a:endParaRPr lang="en-US" dirty="0"/>
          </a:p>
        </p:txBody>
      </p:sp>
    </p:spTree>
    <p:extLst>
      <p:ext uri="{BB962C8B-B14F-4D97-AF65-F5344CB8AC3E}">
        <p14:creationId xmlns:p14="http://schemas.microsoft.com/office/powerpoint/2010/main" val="502494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167744" y="788849"/>
            <a:ext cx="6377940" cy="763725"/>
          </a:xfrm>
        </p:spPr>
        <p:txBody>
          <a:bodyPr>
            <a:normAutofit/>
          </a:bodyPr>
          <a:lstStyle/>
          <a:p>
            <a:r>
              <a:rPr lang="en-US" sz="4400" dirty="0">
                <a:ln>
                  <a:noFill/>
                </a:ln>
                <a:latin typeface="Corbel" panose="020B0503020204020204" pitchFamily="34" charset="0"/>
              </a:rPr>
              <a:t>Derived Attributes</a:t>
            </a:r>
          </a:p>
        </p:txBody>
      </p:sp>
      <p:sp>
        <p:nvSpPr>
          <p:cNvPr id="59395" name="Rectangle 3"/>
          <p:cNvSpPr>
            <a:spLocks noGrp="1" noChangeArrowheads="1"/>
          </p:cNvSpPr>
          <p:nvPr>
            <p:ph idx="4294967295"/>
          </p:nvPr>
        </p:nvSpPr>
        <p:spPr>
          <a:xfrm>
            <a:off x="539750" y="1628775"/>
            <a:ext cx="8604250" cy="4460875"/>
          </a:xfrm>
          <a:prstGeom prst="rect">
            <a:avLst/>
          </a:prstGeom>
        </p:spPr>
        <p:txBody>
          <a:bodyPr/>
          <a:lstStyle/>
          <a:p>
            <a:r>
              <a:rPr lang="en-US" sz="2800" dirty="0">
                <a:latin typeface="Corbel" panose="020B0503020204020204" pitchFamily="34" charset="0"/>
              </a:rPr>
              <a:t>Some attributes can be derived - called </a:t>
            </a:r>
            <a:r>
              <a:rPr lang="en-US" sz="2800" b="1" dirty="0">
                <a:solidFill>
                  <a:srgbClr val="FF0066"/>
                </a:solidFill>
                <a:latin typeface="Corbel" panose="020B0503020204020204" pitchFamily="34" charset="0"/>
              </a:rPr>
              <a:t>derived attributes</a:t>
            </a:r>
            <a:r>
              <a:rPr lang="en-US" sz="2800" dirty="0">
                <a:latin typeface="Corbel" panose="020B0503020204020204" pitchFamily="34" charset="0"/>
              </a:rPr>
              <a:t>.   </a:t>
            </a:r>
            <a:r>
              <a:rPr lang="en-US" sz="2800" dirty="0">
                <a:solidFill>
                  <a:srgbClr val="008000"/>
                </a:solidFill>
                <a:latin typeface="Corbel" panose="020B0503020204020204" pitchFamily="34" charset="0"/>
              </a:rPr>
              <a:t>Dotted line</a:t>
            </a:r>
          </a:p>
          <a:p>
            <a:r>
              <a:rPr lang="en-US" sz="2800" dirty="0">
                <a:latin typeface="Corbel" panose="020B0503020204020204" pitchFamily="34" charset="0"/>
              </a:rPr>
              <a:t>For example, </a:t>
            </a:r>
            <a:r>
              <a:rPr lang="en-US" sz="2800" i="1" dirty="0">
                <a:latin typeface="Corbel" panose="020B0503020204020204" pitchFamily="34" charset="0"/>
              </a:rPr>
              <a:t>age</a:t>
            </a:r>
            <a:r>
              <a:rPr lang="en-US" sz="2800" dirty="0">
                <a:latin typeface="Corbel" panose="020B0503020204020204" pitchFamily="34" charset="0"/>
              </a:rPr>
              <a:t> is derived from date of birth &amp; current date.  </a:t>
            </a:r>
          </a:p>
          <a:p>
            <a:pPr>
              <a:buFont typeface="Wingdings" panose="05000000000000000000" pitchFamily="2" charset="2"/>
              <a:buNone/>
            </a:pPr>
            <a:endParaRPr lang="en-US" dirty="0"/>
          </a:p>
        </p:txBody>
      </p:sp>
      <p:grpSp>
        <p:nvGrpSpPr>
          <p:cNvPr id="2" name="Group 5"/>
          <p:cNvGrpSpPr>
            <a:grpSpLocks/>
          </p:cNvGrpSpPr>
          <p:nvPr/>
        </p:nvGrpSpPr>
        <p:grpSpPr bwMode="auto">
          <a:xfrm>
            <a:off x="3587750" y="3420925"/>
            <a:ext cx="5022850" cy="2692400"/>
            <a:chOff x="1920" y="1200"/>
            <a:chExt cx="3164" cy="1696"/>
          </a:xfrm>
        </p:grpSpPr>
        <p:sp>
          <p:nvSpPr>
            <p:cNvPr id="59397" name="Oval 4"/>
            <p:cNvSpPr>
              <a:spLocks noChangeArrowheads="1"/>
            </p:cNvSpPr>
            <p:nvPr/>
          </p:nvSpPr>
          <p:spPr bwMode="auto">
            <a:xfrm>
              <a:off x="1920" y="1776"/>
              <a:ext cx="960" cy="57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9398" name="Text Box 5"/>
            <p:cNvSpPr txBox="1">
              <a:spLocks noChangeArrowheads="1"/>
            </p:cNvSpPr>
            <p:nvPr/>
          </p:nvSpPr>
          <p:spPr bwMode="auto">
            <a:xfrm>
              <a:off x="2160" y="1872"/>
              <a:ext cx="5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name</a:t>
              </a:r>
            </a:p>
          </p:txBody>
        </p:sp>
        <p:sp>
          <p:nvSpPr>
            <p:cNvPr id="59399" name="Oval 6"/>
            <p:cNvSpPr>
              <a:spLocks noChangeArrowheads="1"/>
            </p:cNvSpPr>
            <p:nvPr/>
          </p:nvSpPr>
          <p:spPr bwMode="auto">
            <a:xfrm>
              <a:off x="2976" y="1680"/>
              <a:ext cx="1296" cy="576"/>
            </a:xfrm>
            <a:prstGeom prst="ellipse">
              <a:avLst/>
            </a:prstGeom>
            <a:solidFill>
              <a:srgbClr val="9999FF"/>
            </a:solidFill>
            <a:ln w="22225">
              <a:solidFill>
                <a:schemeClr val="tx1"/>
              </a:solidFill>
              <a:prstDash val="lgDash"/>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59400" name="Text Box 7"/>
            <p:cNvSpPr txBox="1">
              <a:spLocks noChangeArrowheads="1"/>
            </p:cNvSpPr>
            <p:nvPr/>
          </p:nvSpPr>
          <p:spPr bwMode="auto">
            <a:xfrm>
              <a:off x="3312" y="1776"/>
              <a:ext cx="3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age</a:t>
              </a:r>
            </a:p>
          </p:txBody>
        </p:sp>
        <p:sp>
          <p:nvSpPr>
            <p:cNvPr id="59401" name="Line 8"/>
            <p:cNvSpPr>
              <a:spLocks noChangeShapeType="1"/>
            </p:cNvSpPr>
            <p:nvPr/>
          </p:nvSpPr>
          <p:spPr bwMode="auto">
            <a:xfrm flipV="1">
              <a:off x="2448" y="148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2" name="Line 9"/>
            <p:cNvSpPr>
              <a:spLocks noChangeShapeType="1"/>
            </p:cNvSpPr>
            <p:nvPr/>
          </p:nvSpPr>
          <p:spPr bwMode="auto">
            <a:xfrm flipH="1" flipV="1">
              <a:off x="2880" y="1488"/>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3" name="Text Box 10"/>
            <p:cNvSpPr txBox="1">
              <a:spLocks noChangeArrowheads="1"/>
            </p:cNvSpPr>
            <p:nvPr/>
          </p:nvSpPr>
          <p:spPr bwMode="auto">
            <a:xfrm>
              <a:off x="1920" y="1200"/>
              <a:ext cx="1213" cy="294"/>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Employee</a:t>
              </a:r>
            </a:p>
          </p:txBody>
        </p:sp>
        <p:sp>
          <p:nvSpPr>
            <p:cNvPr id="59404" name="Text Box 11"/>
            <p:cNvSpPr txBox="1">
              <a:spLocks noChangeArrowheads="1"/>
            </p:cNvSpPr>
            <p:nvPr/>
          </p:nvSpPr>
          <p:spPr bwMode="auto">
            <a:xfrm>
              <a:off x="3648" y="2640"/>
              <a:ext cx="1436" cy="256"/>
            </a:xfrm>
            <a:prstGeom prst="rect">
              <a:avLst/>
            </a:prstGeom>
            <a:noFill/>
            <a:ln w="9525">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Derived attribute </a:t>
              </a:r>
            </a:p>
          </p:txBody>
        </p:sp>
        <p:sp>
          <p:nvSpPr>
            <p:cNvPr id="59405" name="Line 12"/>
            <p:cNvSpPr>
              <a:spLocks noChangeShapeType="1"/>
            </p:cNvSpPr>
            <p:nvPr/>
          </p:nvSpPr>
          <p:spPr bwMode="auto">
            <a:xfrm>
              <a:off x="3936" y="2208"/>
              <a:ext cx="336" cy="384"/>
            </a:xfrm>
            <a:prstGeom prst="line">
              <a:avLst/>
            </a:prstGeom>
            <a:noFill/>
            <a:ln w="9525">
              <a:solidFill>
                <a:srgbClr val="FF0066"/>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 name="Oval 4">
            <a:extLst>
              <a:ext uri="{FF2B5EF4-FFF2-40B4-BE49-F238E27FC236}">
                <a16:creationId xmlns:a16="http://schemas.microsoft.com/office/drawing/2014/main" id="{2327BC5D-4D6D-4EAB-B1CF-462F07220355}"/>
              </a:ext>
            </a:extLst>
          </p:cNvPr>
          <p:cNvSpPr>
            <a:spLocks noChangeArrowheads="1"/>
          </p:cNvSpPr>
          <p:nvPr/>
        </p:nvSpPr>
        <p:spPr bwMode="auto">
          <a:xfrm>
            <a:off x="1935922" y="4068625"/>
            <a:ext cx="1524000" cy="914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15" name="Text Box 5">
            <a:extLst>
              <a:ext uri="{FF2B5EF4-FFF2-40B4-BE49-F238E27FC236}">
                <a16:creationId xmlns:a16="http://schemas.microsoft.com/office/drawing/2014/main" id="{02F9AC19-CBBF-45CF-8B45-008B1212F931}"/>
              </a:ext>
            </a:extLst>
          </p:cNvPr>
          <p:cNvSpPr txBox="1">
            <a:spLocks noChangeArrowheads="1"/>
          </p:cNvSpPr>
          <p:nvPr/>
        </p:nvSpPr>
        <p:spPr bwMode="auto">
          <a:xfrm>
            <a:off x="2264155" y="4297225"/>
            <a:ext cx="8354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DOB</a:t>
            </a:r>
          </a:p>
        </p:txBody>
      </p:sp>
      <p:sp>
        <p:nvSpPr>
          <p:cNvPr id="16" name="Line 8">
            <a:extLst>
              <a:ext uri="{FF2B5EF4-FFF2-40B4-BE49-F238E27FC236}">
                <a16:creationId xmlns:a16="http://schemas.microsoft.com/office/drawing/2014/main" id="{C54F111A-71ED-47B9-933B-7BE393B6A79A}"/>
              </a:ext>
            </a:extLst>
          </p:cNvPr>
          <p:cNvSpPr>
            <a:spLocks noChangeShapeType="1"/>
          </p:cNvSpPr>
          <p:nvPr/>
        </p:nvSpPr>
        <p:spPr bwMode="auto">
          <a:xfrm flipV="1">
            <a:off x="3289300" y="3887650"/>
            <a:ext cx="344557" cy="295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8708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22445" y="403601"/>
            <a:ext cx="7886700" cy="1082675"/>
          </a:xfrm>
        </p:spPr>
        <p:txBody>
          <a:bodyPr>
            <a:normAutofit/>
          </a:bodyPr>
          <a:lstStyle/>
          <a:p>
            <a:r>
              <a:rPr lang="en-US" sz="4400" dirty="0">
                <a:ln>
                  <a:noFill/>
                </a:ln>
                <a:latin typeface="Corbel" panose="020B0503020204020204" pitchFamily="34" charset="0"/>
              </a:rPr>
              <a:t>An exercise</a:t>
            </a:r>
            <a:endParaRPr lang="en-AU" sz="4400" dirty="0">
              <a:ln>
                <a:noFill/>
              </a:ln>
              <a:latin typeface="Corbel" panose="020B0503020204020204" pitchFamily="34" charset="0"/>
            </a:endParaRPr>
          </a:p>
        </p:txBody>
      </p:sp>
      <p:grpSp>
        <p:nvGrpSpPr>
          <p:cNvPr id="2" name="Group 3"/>
          <p:cNvGrpSpPr>
            <a:grpSpLocks/>
          </p:cNvGrpSpPr>
          <p:nvPr/>
        </p:nvGrpSpPr>
        <p:grpSpPr bwMode="auto">
          <a:xfrm>
            <a:off x="152400" y="1066800"/>
            <a:ext cx="8915400" cy="5061668"/>
            <a:chOff x="-3" y="-3"/>
            <a:chExt cx="4411" cy="3078"/>
          </a:xfrm>
        </p:grpSpPr>
        <p:grpSp>
          <p:nvGrpSpPr>
            <p:cNvPr id="3" name="Group 4"/>
            <p:cNvGrpSpPr>
              <a:grpSpLocks/>
            </p:cNvGrpSpPr>
            <p:nvPr/>
          </p:nvGrpSpPr>
          <p:grpSpPr bwMode="auto">
            <a:xfrm>
              <a:off x="0" y="0"/>
              <a:ext cx="4405" cy="3072"/>
              <a:chOff x="0" y="0"/>
              <a:chExt cx="4405" cy="3072"/>
            </a:xfrm>
          </p:grpSpPr>
          <p:grpSp>
            <p:nvGrpSpPr>
              <p:cNvPr id="4" name="Group 5"/>
              <p:cNvGrpSpPr>
                <a:grpSpLocks/>
              </p:cNvGrpSpPr>
              <p:nvPr/>
            </p:nvGrpSpPr>
            <p:grpSpPr bwMode="auto">
              <a:xfrm>
                <a:off x="0" y="0"/>
                <a:ext cx="484" cy="384"/>
                <a:chOff x="0" y="0"/>
                <a:chExt cx="484" cy="384"/>
              </a:xfrm>
            </p:grpSpPr>
            <p:sp>
              <p:nvSpPr>
                <p:cNvPr id="60602" name="Rectangle 6"/>
                <p:cNvSpPr>
                  <a:spLocks noChangeArrowheads="1"/>
                </p:cNvSpPr>
                <p:nvPr/>
              </p:nvSpPr>
              <p:spPr bwMode="auto">
                <a:xfrm>
                  <a:off x="0" y="0"/>
                  <a:ext cx="484"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5" name="Group 7"/>
                <p:cNvGrpSpPr>
                  <a:grpSpLocks/>
                </p:cNvGrpSpPr>
                <p:nvPr/>
              </p:nvGrpSpPr>
              <p:grpSpPr bwMode="auto">
                <a:xfrm>
                  <a:off x="0" y="0"/>
                  <a:ext cx="484" cy="384"/>
                  <a:chOff x="0" y="0"/>
                  <a:chExt cx="484" cy="384"/>
                </a:xfrm>
              </p:grpSpPr>
              <p:sp>
                <p:nvSpPr>
                  <p:cNvPr id="60604" name="Rectangle 8"/>
                  <p:cNvSpPr>
                    <a:spLocks noChangeArrowheads="1"/>
                  </p:cNvSpPr>
                  <p:nvPr/>
                </p:nvSpPr>
                <p:spPr bwMode="auto">
                  <a:xfrm>
                    <a:off x="43" y="0"/>
                    <a:ext cx="398"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solidFill>
                          <a:srgbClr val="FFFFFF"/>
                        </a:solidFill>
                        <a:latin typeface="Times New Roman" panose="02020603050405020304" pitchFamily="18" charset="0"/>
                        <a:cs typeface="Times New Roman" panose="02020603050405020304" pitchFamily="18" charset="0"/>
                      </a:rPr>
                      <a:t>stuNum</a:t>
                    </a:r>
                    <a:endParaRPr lang="en-GB" sz="1300">
                      <a:solidFill>
                        <a:srgbClr val="3333CC"/>
                      </a:solidFill>
                      <a:latin typeface="Times New Roman" panose="02020603050405020304" pitchFamily="18" charset="0"/>
                      <a:cs typeface="Times New Roman" panose="02020603050405020304" pitchFamily="18" charset="0"/>
                    </a:endParaRPr>
                  </a:p>
                  <a:p>
                    <a:endParaRPr lang="en-GB" sz="1300">
                      <a:latin typeface="Times New Roman" panose="02020603050405020304" pitchFamily="18" charset="0"/>
                    </a:endParaRPr>
                  </a:p>
                </p:txBody>
              </p:sp>
              <p:sp>
                <p:nvSpPr>
                  <p:cNvPr id="60605" name="Rectangle 9"/>
                  <p:cNvSpPr>
                    <a:spLocks noChangeArrowheads="1"/>
                  </p:cNvSpPr>
                  <p:nvPr/>
                </p:nvSpPr>
                <p:spPr bwMode="auto">
                  <a:xfrm>
                    <a:off x="0" y="0"/>
                    <a:ext cx="484"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grpSp>
            <p:nvGrpSpPr>
              <p:cNvPr id="6" name="Group 10"/>
              <p:cNvGrpSpPr>
                <a:grpSpLocks/>
              </p:cNvGrpSpPr>
              <p:nvPr/>
            </p:nvGrpSpPr>
            <p:grpSpPr bwMode="auto">
              <a:xfrm>
                <a:off x="484" y="0"/>
                <a:ext cx="732" cy="384"/>
                <a:chOff x="484" y="0"/>
                <a:chExt cx="732" cy="384"/>
              </a:xfrm>
            </p:grpSpPr>
            <p:sp>
              <p:nvSpPr>
                <p:cNvPr id="60598" name="Rectangle 11"/>
                <p:cNvSpPr>
                  <a:spLocks noChangeArrowheads="1"/>
                </p:cNvSpPr>
                <p:nvPr/>
              </p:nvSpPr>
              <p:spPr bwMode="auto">
                <a:xfrm>
                  <a:off x="484" y="0"/>
                  <a:ext cx="732"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7" name="Group 12"/>
                <p:cNvGrpSpPr>
                  <a:grpSpLocks/>
                </p:cNvGrpSpPr>
                <p:nvPr/>
              </p:nvGrpSpPr>
              <p:grpSpPr bwMode="auto">
                <a:xfrm>
                  <a:off x="484" y="0"/>
                  <a:ext cx="732" cy="384"/>
                  <a:chOff x="484" y="0"/>
                  <a:chExt cx="732" cy="384"/>
                </a:xfrm>
              </p:grpSpPr>
              <p:sp>
                <p:nvSpPr>
                  <p:cNvPr id="60600" name="Rectangle 13"/>
                  <p:cNvSpPr>
                    <a:spLocks noChangeArrowheads="1"/>
                  </p:cNvSpPr>
                  <p:nvPr/>
                </p:nvSpPr>
                <p:spPr bwMode="auto">
                  <a:xfrm>
                    <a:off x="527" y="0"/>
                    <a:ext cx="646"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solidFill>
                          <a:srgbClr val="FFFFFF"/>
                        </a:solidFill>
                        <a:latin typeface="Times New Roman" panose="02020603050405020304" pitchFamily="18" charset="0"/>
                        <a:cs typeface="Times New Roman" panose="02020603050405020304" pitchFamily="18" charset="0"/>
                      </a:rPr>
                      <a:t>stuName</a:t>
                    </a:r>
                    <a:endParaRPr lang="en-GB" sz="1300">
                      <a:solidFill>
                        <a:srgbClr val="3333CC"/>
                      </a:solidFill>
                      <a:latin typeface="Times New Roman" panose="02020603050405020304" pitchFamily="18" charset="0"/>
                      <a:cs typeface="Times New Roman" panose="02020603050405020304" pitchFamily="18" charset="0"/>
                    </a:endParaRPr>
                  </a:p>
                  <a:p>
                    <a:endParaRPr lang="en-GB" sz="1300">
                      <a:latin typeface="Times New Roman" panose="02020603050405020304" pitchFamily="18" charset="0"/>
                    </a:endParaRPr>
                  </a:p>
                </p:txBody>
              </p:sp>
              <p:sp>
                <p:nvSpPr>
                  <p:cNvPr id="60601" name="Rectangle 14"/>
                  <p:cNvSpPr>
                    <a:spLocks noChangeArrowheads="1"/>
                  </p:cNvSpPr>
                  <p:nvPr/>
                </p:nvSpPr>
                <p:spPr bwMode="auto">
                  <a:xfrm>
                    <a:off x="484" y="0"/>
                    <a:ext cx="732"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grpSp>
            <p:nvGrpSpPr>
              <p:cNvPr id="8" name="Group 15"/>
              <p:cNvGrpSpPr>
                <a:grpSpLocks/>
              </p:cNvGrpSpPr>
              <p:nvPr/>
            </p:nvGrpSpPr>
            <p:grpSpPr bwMode="auto">
              <a:xfrm>
                <a:off x="1216" y="0"/>
                <a:ext cx="672" cy="384"/>
                <a:chOff x="1216" y="0"/>
                <a:chExt cx="672" cy="384"/>
              </a:xfrm>
            </p:grpSpPr>
            <p:sp>
              <p:nvSpPr>
                <p:cNvPr id="60594" name="Rectangle 16"/>
                <p:cNvSpPr>
                  <a:spLocks noChangeArrowheads="1"/>
                </p:cNvSpPr>
                <p:nvPr/>
              </p:nvSpPr>
              <p:spPr bwMode="auto">
                <a:xfrm>
                  <a:off x="1216" y="0"/>
                  <a:ext cx="672"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9" name="Group 17"/>
                <p:cNvGrpSpPr>
                  <a:grpSpLocks/>
                </p:cNvGrpSpPr>
                <p:nvPr/>
              </p:nvGrpSpPr>
              <p:grpSpPr bwMode="auto">
                <a:xfrm>
                  <a:off x="1216" y="0"/>
                  <a:ext cx="672" cy="384"/>
                  <a:chOff x="1216" y="0"/>
                  <a:chExt cx="672" cy="384"/>
                </a:xfrm>
              </p:grpSpPr>
              <p:sp>
                <p:nvSpPr>
                  <p:cNvPr id="60596" name="Rectangle 18"/>
                  <p:cNvSpPr>
                    <a:spLocks noChangeArrowheads="1"/>
                  </p:cNvSpPr>
                  <p:nvPr/>
                </p:nvSpPr>
                <p:spPr bwMode="auto">
                  <a:xfrm>
                    <a:off x="1259" y="0"/>
                    <a:ext cx="586"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dirty="0" err="1">
                        <a:solidFill>
                          <a:srgbClr val="FFFFFF"/>
                        </a:solidFill>
                        <a:latin typeface="Times New Roman" panose="02020603050405020304" pitchFamily="18" charset="0"/>
                        <a:cs typeface="Times New Roman" panose="02020603050405020304" pitchFamily="18" charset="0"/>
                      </a:rPr>
                      <a:t>stuMajor</a:t>
                    </a:r>
                    <a:endParaRPr lang="en-GB" sz="1300" dirty="0">
                      <a:solidFill>
                        <a:srgbClr val="3333CC"/>
                      </a:solidFill>
                      <a:latin typeface="Times New Roman" panose="02020603050405020304" pitchFamily="18" charset="0"/>
                      <a:cs typeface="Times New Roman" panose="02020603050405020304" pitchFamily="18" charset="0"/>
                    </a:endParaRPr>
                  </a:p>
                  <a:p>
                    <a:endParaRPr lang="en-GB" sz="1300" dirty="0">
                      <a:latin typeface="Times New Roman" panose="02020603050405020304" pitchFamily="18" charset="0"/>
                    </a:endParaRPr>
                  </a:p>
                </p:txBody>
              </p:sp>
              <p:sp>
                <p:nvSpPr>
                  <p:cNvPr id="60597" name="Rectangle 19"/>
                  <p:cNvSpPr>
                    <a:spLocks noChangeArrowheads="1"/>
                  </p:cNvSpPr>
                  <p:nvPr/>
                </p:nvSpPr>
                <p:spPr bwMode="auto">
                  <a:xfrm>
                    <a:off x="1216" y="0"/>
                    <a:ext cx="672"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grpSp>
            <p:nvGrpSpPr>
              <p:cNvPr id="10" name="Group 20"/>
              <p:cNvGrpSpPr>
                <a:grpSpLocks/>
              </p:cNvGrpSpPr>
              <p:nvPr/>
            </p:nvGrpSpPr>
            <p:grpSpPr bwMode="auto">
              <a:xfrm>
                <a:off x="1888" y="0"/>
                <a:ext cx="596" cy="384"/>
                <a:chOff x="1888" y="0"/>
                <a:chExt cx="596" cy="384"/>
              </a:xfrm>
            </p:grpSpPr>
            <p:sp>
              <p:nvSpPr>
                <p:cNvPr id="60590" name="Rectangle 21"/>
                <p:cNvSpPr>
                  <a:spLocks noChangeArrowheads="1"/>
                </p:cNvSpPr>
                <p:nvPr/>
              </p:nvSpPr>
              <p:spPr bwMode="auto">
                <a:xfrm>
                  <a:off x="1888" y="0"/>
                  <a:ext cx="596"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11" name="Group 22"/>
                <p:cNvGrpSpPr>
                  <a:grpSpLocks/>
                </p:cNvGrpSpPr>
                <p:nvPr/>
              </p:nvGrpSpPr>
              <p:grpSpPr bwMode="auto">
                <a:xfrm>
                  <a:off x="1888" y="0"/>
                  <a:ext cx="596" cy="384"/>
                  <a:chOff x="1888" y="0"/>
                  <a:chExt cx="596" cy="384"/>
                </a:xfrm>
              </p:grpSpPr>
              <p:sp>
                <p:nvSpPr>
                  <p:cNvPr id="60592" name="Rectangle 23"/>
                  <p:cNvSpPr>
                    <a:spLocks noChangeArrowheads="1"/>
                  </p:cNvSpPr>
                  <p:nvPr/>
                </p:nvSpPr>
                <p:spPr bwMode="auto">
                  <a:xfrm>
                    <a:off x="1931" y="0"/>
                    <a:ext cx="510"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solidFill>
                          <a:srgbClr val="FFFFFF"/>
                        </a:solidFill>
                        <a:latin typeface="Times New Roman" panose="02020603050405020304" pitchFamily="18" charset="0"/>
                        <a:cs typeface="Times New Roman" panose="02020603050405020304" pitchFamily="18" charset="0"/>
                      </a:rPr>
                      <a:t>stuDob</a:t>
                    </a:r>
                    <a:endParaRPr lang="en-GB" sz="1300">
                      <a:solidFill>
                        <a:srgbClr val="3333CC"/>
                      </a:solidFill>
                      <a:latin typeface="Times New Roman" panose="02020603050405020304" pitchFamily="18" charset="0"/>
                      <a:cs typeface="Times New Roman" panose="02020603050405020304" pitchFamily="18" charset="0"/>
                    </a:endParaRPr>
                  </a:p>
                  <a:p>
                    <a:endParaRPr lang="en-GB" sz="1300">
                      <a:latin typeface="Times New Roman" panose="02020603050405020304" pitchFamily="18" charset="0"/>
                    </a:endParaRPr>
                  </a:p>
                </p:txBody>
              </p:sp>
              <p:sp>
                <p:nvSpPr>
                  <p:cNvPr id="60593" name="Rectangle 24"/>
                  <p:cNvSpPr>
                    <a:spLocks noChangeArrowheads="1"/>
                  </p:cNvSpPr>
                  <p:nvPr/>
                </p:nvSpPr>
                <p:spPr bwMode="auto">
                  <a:xfrm>
                    <a:off x="1888" y="0"/>
                    <a:ext cx="596"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grpSp>
            <p:nvGrpSpPr>
              <p:cNvPr id="12" name="Group 25"/>
              <p:cNvGrpSpPr>
                <a:grpSpLocks/>
              </p:cNvGrpSpPr>
              <p:nvPr/>
            </p:nvGrpSpPr>
            <p:grpSpPr bwMode="auto">
              <a:xfrm>
                <a:off x="2484" y="0"/>
                <a:ext cx="483" cy="384"/>
                <a:chOff x="2484" y="0"/>
                <a:chExt cx="483" cy="384"/>
              </a:xfrm>
            </p:grpSpPr>
            <p:sp>
              <p:nvSpPr>
                <p:cNvPr id="60586" name="Rectangle 26"/>
                <p:cNvSpPr>
                  <a:spLocks noChangeArrowheads="1"/>
                </p:cNvSpPr>
                <p:nvPr/>
              </p:nvSpPr>
              <p:spPr bwMode="auto">
                <a:xfrm>
                  <a:off x="2484" y="0"/>
                  <a:ext cx="483"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13" name="Group 27"/>
                <p:cNvGrpSpPr>
                  <a:grpSpLocks/>
                </p:cNvGrpSpPr>
                <p:nvPr/>
              </p:nvGrpSpPr>
              <p:grpSpPr bwMode="auto">
                <a:xfrm>
                  <a:off x="2484" y="0"/>
                  <a:ext cx="483" cy="384"/>
                  <a:chOff x="2484" y="0"/>
                  <a:chExt cx="483" cy="384"/>
                </a:xfrm>
              </p:grpSpPr>
              <p:sp>
                <p:nvSpPr>
                  <p:cNvPr id="60588" name="Rectangle 28"/>
                  <p:cNvSpPr>
                    <a:spLocks noChangeArrowheads="1"/>
                  </p:cNvSpPr>
                  <p:nvPr/>
                </p:nvSpPr>
                <p:spPr bwMode="auto">
                  <a:xfrm>
                    <a:off x="2527" y="0"/>
                    <a:ext cx="397"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solidFill>
                          <a:srgbClr val="FFFFFF"/>
                        </a:solidFill>
                        <a:latin typeface="Times New Roman" panose="02020603050405020304" pitchFamily="18" charset="0"/>
                        <a:cs typeface="Times New Roman" panose="02020603050405020304" pitchFamily="18" charset="0"/>
                      </a:rPr>
                      <a:t>stuHrs</a:t>
                    </a:r>
                    <a:endParaRPr lang="en-GB" sz="1300">
                      <a:solidFill>
                        <a:srgbClr val="3333CC"/>
                      </a:solidFill>
                      <a:latin typeface="Times New Roman" panose="02020603050405020304" pitchFamily="18" charset="0"/>
                      <a:cs typeface="Times New Roman" panose="02020603050405020304" pitchFamily="18" charset="0"/>
                    </a:endParaRPr>
                  </a:p>
                  <a:p>
                    <a:endParaRPr lang="en-GB" sz="1300">
                      <a:latin typeface="Times New Roman" panose="02020603050405020304" pitchFamily="18" charset="0"/>
                    </a:endParaRPr>
                  </a:p>
                </p:txBody>
              </p:sp>
              <p:sp>
                <p:nvSpPr>
                  <p:cNvPr id="60589" name="Rectangle 29"/>
                  <p:cNvSpPr>
                    <a:spLocks noChangeArrowheads="1"/>
                  </p:cNvSpPr>
                  <p:nvPr/>
                </p:nvSpPr>
                <p:spPr bwMode="auto">
                  <a:xfrm>
                    <a:off x="2484" y="0"/>
                    <a:ext cx="483"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grpSp>
            <p:nvGrpSpPr>
              <p:cNvPr id="14" name="Group 30"/>
              <p:cNvGrpSpPr>
                <a:grpSpLocks/>
              </p:cNvGrpSpPr>
              <p:nvPr/>
            </p:nvGrpSpPr>
            <p:grpSpPr bwMode="auto">
              <a:xfrm>
                <a:off x="2967" y="0"/>
                <a:ext cx="426" cy="384"/>
                <a:chOff x="2967" y="0"/>
                <a:chExt cx="426" cy="384"/>
              </a:xfrm>
            </p:grpSpPr>
            <p:sp>
              <p:nvSpPr>
                <p:cNvPr id="60582" name="Rectangle 31"/>
                <p:cNvSpPr>
                  <a:spLocks noChangeArrowheads="1"/>
                </p:cNvSpPr>
                <p:nvPr/>
              </p:nvSpPr>
              <p:spPr bwMode="auto">
                <a:xfrm>
                  <a:off x="2967" y="0"/>
                  <a:ext cx="426"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15" name="Group 32"/>
                <p:cNvGrpSpPr>
                  <a:grpSpLocks/>
                </p:cNvGrpSpPr>
                <p:nvPr/>
              </p:nvGrpSpPr>
              <p:grpSpPr bwMode="auto">
                <a:xfrm>
                  <a:off x="2967" y="0"/>
                  <a:ext cx="426" cy="384"/>
                  <a:chOff x="2967" y="0"/>
                  <a:chExt cx="426" cy="384"/>
                </a:xfrm>
              </p:grpSpPr>
              <p:sp>
                <p:nvSpPr>
                  <p:cNvPr id="60584" name="Rectangle 33"/>
                  <p:cNvSpPr>
                    <a:spLocks noChangeArrowheads="1"/>
                  </p:cNvSpPr>
                  <p:nvPr/>
                </p:nvSpPr>
                <p:spPr bwMode="auto">
                  <a:xfrm>
                    <a:off x="3010" y="0"/>
                    <a:ext cx="340"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solidFill>
                          <a:srgbClr val="FFFFFF"/>
                        </a:solidFill>
                        <a:latin typeface="Times New Roman" panose="02020603050405020304" pitchFamily="18" charset="0"/>
                        <a:cs typeface="Times New Roman" panose="02020603050405020304" pitchFamily="18" charset="0"/>
                      </a:rPr>
                      <a:t>stuYr</a:t>
                    </a:r>
                    <a:endParaRPr lang="en-GB" sz="1300">
                      <a:solidFill>
                        <a:srgbClr val="3333CC"/>
                      </a:solidFill>
                      <a:latin typeface="Times New Roman" panose="02020603050405020304" pitchFamily="18" charset="0"/>
                      <a:cs typeface="Times New Roman" panose="02020603050405020304" pitchFamily="18" charset="0"/>
                    </a:endParaRPr>
                  </a:p>
                  <a:p>
                    <a:endParaRPr lang="en-GB" sz="1300">
                      <a:latin typeface="Times New Roman" panose="02020603050405020304" pitchFamily="18" charset="0"/>
                    </a:endParaRPr>
                  </a:p>
                </p:txBody>
              </p:sp>
              <p:sp>
                <p:nvSpPr>
                  <p:cNvPr id="60585" name="Rectangle 34"/>
                  <p:cNvSpPr>
                    <a:spLocks noChangeArrowheads="1"/>
                  </p:cNvSpPr>
                  <p:nvPr/>
                </p:nvSpPr>
                <p:spPr bwMode="auto">
                  <a:xfrm>
                    <a:off x="2967" y="0"/>
                    <a:ext cx="426"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grpSp>
            <p:nvGrpSpPr>
              <p:cNvPr id="16" name="Group 35"/>
              <p:cNvGrpSpPr>
                <a:grpSpLocks/>
              </p:cNvGrpSpPr>
              <p:nvPr/>
            </p:nvGrpSpPr>
            <p:grpSpPr bwMode="auto">
              <a:xfrm>
                <a:off x="3393" y="0"/>
                <a:ext cx="479" cy="384"/>
                <a:chOff x="3393" y="0"/>
                <a:chExt cx="479" cy="384"/>
              </a:xfrm>
            </p:grpSpPr>
            <p:sp>
              <p:nvSpPr>
                <p:cNvPr id="60578" name="Rectangle 36"/>
                <p:cNvSpPr>
                  <a:spLocks noChangeArrowheads="1"/>
                </p:cNvSpPr>
                <p:nvPr/>
              </p:nvSpPr>
              <p:spPr bwMode="auto">
                <a:xfrm>
                  <a:off x="3393" y="0"/>
                  <a:ext cx="479"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17" name="Group 37"/>
                <p:cNvGrpSpPr>
                  <a:grpSpLocks/>
                </p:cNvGrpSpPr>
                <p:nvPr/>
              </p:nvGrpSpPr>
              <p:grpSpPr bwMode="auto">
                <a:xfrm>
                  <a:off x="3393" y="0"/>
                  <a:ext cx="479" cy="384"/>
                  <a:chOff x="3393" y="0"/>
                  <a:chExt cx="479" cy="384"/>
                </a:xfrm>
              </p:grpSpPr>
              <p:sp>
                <p:nvSpPr>
                  <p:cNvPr id="60580" name="Rectangle 38"/>
                  <p:cNvSpPr>
                    <a:spLocks noChangeArrowheads="1"/>
                  </p:cNvSpPr>
                  <p:nvPr/>
                </p:nvSpPr>
                <p:spPr bwMode="auto">
                  <a:xfrm>
                    <a:off x="3436" y="0"/>
                    <a:ext cx="393"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solidFill>
                          <a:srgbClr val="FFFFFF"/>
                        </a:solidFill>
                        <a:latin typeface="Times New Roman" panose="02020603050405020304" pitchFamily="18" charset="0"/>
                        <a:cs typeface="Times New Roman" panose="02020603050405020304" pitchFamily="18" charset="0"/>
                      </a:rPr>
                      <a:t>stuGpa</a:t>
                    </a:r>
                    <a:endParaRPr lang="en-GB" sz="1300">
                      <a:solidFill>
                        <a:srgbClr val="3333CC"/>
                      </a:solidFill>
                      <a:latin typeface="Times New Roman" panose="02020603050405020304" pitchFamily="18" charset="0"/>
                      <a:cs typeface="Times New Roman" panose="02020603050405020304" pitchFamily="18" charset="0"/>
                    </a:endParaRPr>
                  </a:p>
                  <a:p>
                    <a:endParaRPr lang="en-GB" sz="1300">
                      <a:latin typeface="Times New Roman" panose="02020603050405020304" pitchFamily="18" charset="0"/>
                    </a:endParaRPr>
                  </a:p>
                </p:txBody>
              </p:sp>
              <p:sp>
                <p:nvSpPr>
                  <p:cNvPr id="60581" name="Rectangle 39"/>
                  <p:cNvSpPr>
                    <a:spLocks noChangeArrowheads="1"/>
                  </p:cNvSpPr>
                  <p:nvPr/>
                </p:nvSpPr>
                <p:spPr bwMode="auto">
                  <a:xfrm>
                    <a:off x="3393" y="0"/>
                    <a:ext cx="479"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grpSp>
            <p:nvGrpSpPr>
              <p:cNvPr id="18" name="Group 40"/>
              <p:cNvGrpSpPr>
                <a:grpSpLocks/>
              </p:cNvGrpSpPr>
              <p:nvPr/>
            </p:nvGrpSpPr>
            <p:grpSpPr bwMode="auto">
              <a:xfrm>
                <a:off x="3872" y="0"/>
                <a:ext cx="533" cy="384"/>
                <a:chOff x="3872" y="0"/>
                <a:chExt cx="533" cy="384"/>
              </a:xfrm>
            </p:grpSpPr>
            <p:sp>
              <p:nvSpPr>
                <p:cNvPr id="60574" name="Rectangle 41"/>
                <p:cNvSpPr>
                  <a:spLocks noChangeArrowheads="1"/>
                </p:cNvSpPr>
                <p:nvPr/>
              </p:nvSpPr>
              <p:spPr bwMode="auto">
                <a:xfrm>
                  <a:off x="3872" y="0"/>
                  <a:ext cx="533"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19" name="Group 42"/>
                <p:cNvGrpSpPr>
                  <a:grpSpLocks/>
                </p:cNvGrpSpPr>
                <p:nvPr/>
              </p:nvGrpSpPr>
              <p:grpSpPr bwMode="auto">
                <a:xfrm>
                  <a:off x="3872" y="0"/>
                  <a:ext cx="533" cy="384"/>
                  <a:chOff x="3872" y="0"/>
                  <a:chExt cx="533" cy="384"/>
                </a:xfrm>
              </p:grpSpPr>
              <p:sp>
                <p:nvSpPr>
                  <p:cNvPr id="60576" name="Rectangle 43"/>
                  <p:cNvSpPr>
                    <a:spLocks noChangeArrowheads="1"/>
                  </p:cNvSpPr>
                  <p:nvPr/>
                </p:nvSpPr>
                <p:spPr bwMode="auto">
                  <a:xfrm>
                    <a:off x="3915" y="0"/>
                    <a:ext cx="447" cy="384"/>
                  </a:xfrm>
                  <a:prstGeom prst="rect">
                    <a:avLst/>
                  </a:prstGeom>
                  <a:solidFill>
                    <a:srgbClr val="0000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solidFill>
                          <a:srgbClr val="FFFFFF"/>
                        </a:solidFill>
                        <a:latin typeface="Times New Roman" panose="02020603050405020304" pitchFamily="18" charset="0"/>
                        <a:cs typeface="Times New Roman" panose="02020603050405020304" pitchFamily="18" charset="0"/>
                      </a:rPr>
                      <a:t>stuAge</a:t>
                    </a:r>
                    <a:endParaRPr lang="en-GB" sz="1300">
                      <a:solidFill>
                        <a:srgbClr val="3333CC"/>
                      </a:solidFill>
                      <a:latin typeface="Times New Roman" panose="02020603050405020304" pitchFamily="18" charset="0"/>
                      <a:cs typeface="Times New Roman" panose="02020603050405020304" pitchFamily="18" charset="0"/>
                    </a:endParaRPr>
                  </a:p>
                  <a:p>
                    <a:endParaRPr lang="en-GB" sz="1300">
                      <a:latin typeface="Times New Roman" panose="02020603050405020304" pitchFamily="18" charset="0"/>
                    </a:endParaRPr>
                  </a:p>
                </p:txBody>
              </p:sp>
              <p:sp>
                <p:nvSpPr>
                  <p:cNvPr id="60577" name="Rectangle 44"/>
                  <p:cNvSpPr>
                    <a:spLocks noChangeArrowheads="1"/>
                  </p:cNvSpPr>
                  <p:nvPr/>
                </p:nvSpPr>
                <p:spPr bwMode="auto">
                  <a:xfrm>
                    <a:off x="3872" y="0"/>
                    <a:ext cx="533"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grpSp>
            <p:nvGrpSpPr>
              <p:cNvPr id="20" name="Group 45"/>
              <p:cNvGrpSpPr>
                <a:grpSpLocks/>
              </p:cNvGrpSpPr>
              <p:nvPr/>
            </p:nvGrpSpPr>
            <p:grpSpPr bwMode="auto">
              <a:xfrm>
                <a:off x="0" y="384"/>
                <a:ext cx="484" cy="480"/>
                <a:chOff x="0" y="384"/>
                <a:chExt cx="484" cy="480"/>
              </a:xfrm>
            </p:grpSpPr>
            <p:sp>
              <p:nvSpPr>
                <p:cNvPr id="60572" name="Rectangle 46"/>
                <p:cNvSpPr>
                  <a:spLocks noChangeArrowheads="1"/>
                </p:cNvSpPr>
                <p:nvPr/>
              </p:nvSpPr>
              <p:spPr bwMode="auto">
                <a:xfrm>
                  <a:off x="43" y="384"/>
                  <a:ext cx="39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2103456</a:t>
                  </a:r>
                </a:p>
                <a:p>
                  <a:endParaRPr lang="en-GB" sz="1300">
                    <a:latin typeface="Times New Roman" panose="02020603050405020304" pitchFamily="18" charset="0"/>
                  </a:endParaRPr>
                </a:p>
              </p:txBody>
            </p:sp>
            <p:sp>
              <p:nvSpPr>
                <p:cNvPr id="60573" name="Rectangle 47"/>
                <p:cNvSpPr>
                  <a:spLocks noChangeArrowheads="1"/>
                </p:cNvSpPr>
                <p:nvPr/>
              </p:nvSpPr>
              <p:spPr bwMode="auto">
                <a:xfrm>
                  <a:off x="0" y="384"/>
                  <a:ext cx="484"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1" name="Group 48"/>
              <p:cNvGrpSpPr>
                <a:grpSpLocks/>
              </p:cNvGrpSpPr>
              <p:nvPr/>
            </p:nvGrpSpPr>
            <p:grpSpPr bwMode="auto">
              <a:xfrm>
                <a:off x="484" y="384"/>
                <a:ext cx="732" cy="480"/>
                <a:chOff x="484" y="384"/>
                <a:chExt cx="732" cy="480"/>
              </a:xfrm>
            </p:grpSpPr>
            <p:sp>
              <p:nvSpPr>
                <p:cNvPr id="60570" name="Rectangle 49"/>
                <p:cNvSpPr>
                  <a:spLocks noChangeArrowheads="1"/>
                </p:cNvSpPr>
                <p:nvPr/>
              </p:nvSpPr>
              <p:spPr bwMode="auto">
                <a:xfrm>
                  <a:off x="527" y="384"/>
                  <a:ext cx="64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dirty="0">
                      <a:latin typeface="Times New Roman" panose="02020603050405020304" pitchFamily="18" charset="0"/>
                      <a:cs typeface="Times New Roman" panose="02020603050405020304" pitchFamily="18" charset="0"/>
                    </a:rPr>
                    <a:t>Aunt Annie</a:t>
                  </a:r>
                </a:p>
                <a:p>
                  <a:endParaRPr lang="en-GB" sz="1300" dirty="0">
                    <a:latin typeface="Times New Roman" panose="02020603050405020304" pitchFamily="18" charset="0"/>
                  </a:endParaRPr>
                </a:p>
              </p:txBody>
            </p:sp>
            <p:sp>
              <p:nvSpPr>
                <p:cNvPr id="60571" name="Rectangle 50"/>
                <p:cNvSpPr>
                  <a:spLocks noChangeArrowheads="1"/>
                </p:cNvSpPr>
                <p:nvPr/>
              </p:nvSpPr>
              <p:spPr bwMode="auto">
                <a:xfrm>
                  <a:off x="484" y="384"/>
                  <a:ext cx="732"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2" name="Group 51"/>
              <p:cNvGrpSpPr>
                <a:grpSpLocks/>
              </p:cNvGrpSpPr>
              <p:nvPr/>
            </p:nvGrpSpPr>
            <p:grpSpPr bwMode="auto">
              <a:xfrm>
                <a:off x="1216" y="384"/>
                <a:ext cx="672" cy="480"/>
                <a:chOff x="1216" y="384"/>
                <a:chExt cx="672" cy="480"/>
              </a:xfrm>
            </p:grpSpPr>
            <p:sp>
              <p:nvSpPr>
                <p:cNvPr id="60568" name="Rectangle 52"/>
                <p:cNvSpPr>
                  <a:spLocks noChangeArrowheads="1"/>
                </p:cNvSpPr>
                <p:nvPr/>
              </p:nvSpPr>
              <p:spPr bwMode="auto">
                <a:xfrm>
                  <a:off x="1259" y="384"/>
                  <a:ext cx="58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IT, Fine Art</a:t>
                  </a:r>
                </a:p>
                <a:p>
                  <a:endParaRPr lang="en-GB" sz="1300">
                    <a:latin typeface="Times New Roman" panose="02020603050405020304" pitchFamily="18" charset="0"/>
                  </a:endParaRPr>
                </a:p>
              </p:txBody>
            </p:sp>
            <p:sp>
              <p:nvSpPr>
                <p:cNvPr id="60569" name="Rectangle 53"/>
                <p:cNvSpPr>
                  <a:spLocks noChangeArrowheads="1"/>
                </p:cNvSpPr>
                <p:nvPr/>
              </p:nvSpPr>
              <p:spPr bwMode="auto">
                <a:xfrm>
                  <a:off x="1216" y="384"/>
                  <a:ext cx="672"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3" name="Group 54"/>
              <p:cNvGrpSpPr>
                <a:grpSpLocks/>
              </p:cNvGrpSpPr>
              <p:nvPr/>
            </p:nvGrpSpPr>
            <p:grpSpPr bwMode="auto">
              <a:xfrm>
                <a:off x="1888" y="384"/>
                <a:ext cx="596" cy="480"/>
                <a:chOff x="1888" y="384"/>
                <a:chExt cx="596" cy="480"/>
              </a:xfrm>
            </p:grpSpPr>
            <p:sp>
              <p:nvSpPr>
                <p:cNvPr id="60566" name="Rectangle 55"/>
                <p:cNvSpPr>
                  <a:spLocks noChangeArrowheads="1"/>
                </p:cNvSpPr>
                <p:nvPr/>
              </p:nvSpPr>
              <p:spPr bwMode="auto">
                <a:xfrm>
                  <a:off x="1931" y="384"/>
                  <a:ext cx="51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dirty="0">
                      <a:latin typeface="Times New Roman" panose="02020603050405020304" pitchFamily="18" charset="0"/>
                      <a:cs typeface="Times New Roman" panose="02020603050405020304" pitchFamily="18" charset="0"/>
                    </a:rPr>
                    <a:t>14 Feb 1990</a:t>
                  </a:r>
                </a:p>
                <a:p>
                  <a:endParaRPr lang="en-GB" sz="1300" dirty="0">
                    <a:latin typeface="Times New Roman" panose="02020603050405020304" pitchFamily="18" charset="0"/>
                  </a:endParaRPr>
                </a:p>
              </p:txBody>
            </p:sp>
            <p:sp>
              <p:nvSpPr>
                <p:cNvPr id="60567" name="Rectangle 56"/>
                <p:cNvSpPr>
                  <a:spLocks noChangeArrowheads="1"/>
                </p:cNvSpPr>
                <p:nvPr/>
              </p:nvSpPr>
              <p:spPr bwMode="auto">
                <a:xfrm>
                  <a:off x="1888" y="384"/>
                  <a:ext cx="596"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4" name="Group 57"/>
              <p:cNvGrpSpPr>
                <a:grpSpLocks/>
              </p:cNvGrpSpPr>
              <p:nvPr/>
            </p:nvGrpSpPr>
            <p:grpSpPr bwMode="auto">
              <a:xfrm>
                <a:off x="2484" y="384"/>
                <a:ext cx="483" cy="480"/>
                <a:chOff x="2484" y="384"/>
                <a:chExt cx="483" cy="480"/>
              </a:xfrm>
            </p:grpSpPr>
            <p:sp>
              <p:nvSpPr>
                <p:cNvPr id="60564" name="Rectangle 58"/>
                <p:cNvSpPr>
                  <a:spLocks noChangeArrowheads="1"/>
                </p:cNvSpPr>
                <p:nvPr/>
              </p:nvSpPr>
              <p:spPr bwMode="auto">
                <a:xfrm>
                  <a:off x="2527" y="384"/>
                  <a:ext cx="39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23</a:t>
                  </a:r>
                </a:p>
                <a:p>
                  <a:endParaRPr lang="en-GB" sz="1300">
                    <a:latin typeface="Times New Roman" panose="02020603050405020304" pitchFamily="18" charset="0"/>
                  </a:endParaRPr>
                </a:p>
              </p:txBody>
            </p:sp>
            <p:sp>
              <p:nvSpPr>
                <p:cNvPr id="60565" name="Rectangle 59"/>
                <p:cNvSpPr>
                  <a:spLocks noChangeArrowheads="1"/>
                </p:cNvSpPr>
                <p:nvPr/>
              </p:nvSpPr>
              <p:spPr bwMode="auto">
                <a:xfrm>
                  <a:off x="2484" y="384"/>
                  <a:ext cx="483"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5" name="Group 60"/>
              <p:cNvGrpSpPr>
                <a:grpSpLocks/>
              </p:cNvGrpSpPr>
              <p:nvPr/>
            </p:nvGrpSpPr>
            <p:grpSpPr bwMode="auto">
              <a:xfrm>
                <a:off x="2967" y="384"/>
                <a:ext cx="426" cy="480"/>
                <a:chOff x="2967" y="384"/>
                <a:chExt cx="426" cy="480"/>
              </a:xfrm>
            </p:grpSpPr>
            <p:sp>
              <p:nvSpPr>
                <p:cNvPr id="60562" name="Rectangle 61"/>
                <p:cNvSpPr>
                  <a:spLocks noChangeArrowheads="1"/>
                </p:cNvSpPr>
                <p:nvPr/>
              </p:nvSpPr>
              <p:spPr bwMode="auto">
                <a:xfrm>
                  <a:off x="3010" y="384"/>
                  <a:ext cx="34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a:t>
                  </a:r>
                </a:p>
                <a:p>
                  <a:endParaRPr lang="en-GB" sz="1300">
                    <a:latin typeface="Times New Roman" panose="02020603050405020304" pitchFamily="18" charset="0"/>
                  </a:endParaRPr>
                </a:p>
              </p:txBody>
            </p:sp>
            <p:sp>
              <p:nvSpPr>
                <p:cNvPr id="60563" name="Rectangle 62"/>
                <p:cNvSpPr>
                  <a:spLocks noChangeArrowheads="1"/>
                </p:cNvSpPr>
                <p:nvPr/>
              </p:nvSpPr>
              <p:spPr bwMode="auto">
                <a:xfrm>
                  <a:off x="2967" y="384"/>
                  <a:ext cx="426"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6" name="Group 63"/>
              <p:cNvGrpSpPr>
                <a:grpSpLocks/>
              </p:cNvGrpSpPr>
              <p:nvPr/>
            </p:nvGrpSpPr>
            <p:grpSpPr bwMode="auto">
              <a:xfrm>
                <a:off x="3393" y="384"/>
                <a:ext cx="479" cy="480"/>
                <a:chOff x="3393" y="384"/>
                <a:chExt cx="479" cy="480"/>
              </a:xfrm>
            </p:grpSpPr>
            <p:sp>
              <p:nvSpPr>
                <p:cNvPr id="60560" name="Rectangle 64"/>
                <p:cNvSpPr>
                  <a:spLocks noChangeArrowheads="1"/>
                </p:cNvSpPr>
                <p:nvPr/>
              </p:nvSpPr>
              <p:spPr bwMode="auto">
                <a:xfrm>
                  <a:off x="3436" y="384"/>
                  <a:ext cx="39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3.26</a:t>
                  </a:r>
                </a:p>
                <a:p>
                  <a:endParaRPr lang="en-GB" sz="1300">
                    <a:latin typeface="Times New Roman" panose="02020603050405020304" pitchFamily="18" charset="0"/>
                  </a:endParaRPr>
                </a:p>
              </p:txBody>
            </p:sp>
            <p:sp>
              <p:nvSpPr>
                <p:cNvPr id="60561" name="Rectangle 65"/>
                <p:cNvSpPr>
                  <a:spLocks noChangeArrowheads="1"/>
                </p:cNvSpPr>
                <p:nvPr/>
              </p:nvSpPr>
              <p:spPr bwMode="auto">
                <a:xfrm>
                  <a:off x="3393" y="384"/>
                  <a:ext cx="479"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7" name="Group 66"/>
              <p:cNvGrpSpPr>
                <a:grpSpLocks/>
              </p:cNvGrpSpPr>
              <p:nvPr/>
            </p:nvGrpSpPr>
            <p:grpSpPr bwMode="auto">
              <a:xfrm>
                <a:off x="3872" y="384"/>
                <a:ext cx="533" cy="480"/>
                <a:chOff x="3872" y="384"/>
                <a:chExt cx="533" cy="480"/>
              </a:xfrm>
            </p:grpSpPr>
            <p:sp>
              <p:nvSpPr>
                <p:cNvPr id="60558" name="Rectangle 67"/>
                <p:cNvSpPr>
                  <a:spLocks noChangeArrowheads="1"/>
                </p:cNvSpPr>
                <p:nvPr/>
              </p:nvSpPr>
              <p:spPr bwMode="auto">
                <a:xfrm>
                  <a:off x="3915" y="384"/>
                  <a:ext cx="44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dirty="0">
                      <a:latin typeface="Times New Roman" panose="02020603050405020304" pitchFamily="18" charset="0"/>
                      <a:cs typeface="Times New Roman" panose="02020603050405020304" pitchFamily="18" charset="0"/>
                    </a:rPr>
                    <a:t>26</a:t>
                  </a:r>
                </a:p>
                <a:p>
                  <a:endParaRPr lang="en-GB" sz="1300" dirty="0">
                    <a:latin typeface="Times New Roman" panose="02020603050405020304" pitchFamily="18" charset="0"/>
                  </a:endParaRPr>
                </a:p>
              </p:txBody>
            </p:sp>
            <p:sp>
              <p:nvSpPr>
                <p:cNvPr id="60559" name="Rectangle 68"/>
                <p:cNvSpPr>
                  <a:spLocks noChangeArrowheads="1"/>
                </p:cNvSpPr>
                <p:nvPr/>
              </p:nvSpPr>
              <p:spPr bwMode="auto">
                <a:xfrm>
                  <a:off x="3872" y="384"/>
                  <a:ext cx="533"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8" name="Group 69"/>
              <p:cNvGrpSpPr>
                <a:grpSpLocks/>
              </p:cNvGrpSpPr>
              <p:nvPr/>
            </p:nvGrpSpPr>
            <p:grpSpPr bwMode="auto">
              <a:xfrm>
                <a:off x="0" y="864"/>
                <a:ext cx="484" cy="384"/>
                <a:chOff x="0" y="864"/>
                <a:chExt cx="484" cy="384"/>
              </a:xfrm>
            </p:grpSpPr>
            <p:sp>
              <p:nvSpPr>
                <p:cNvPr id="60556" name="Rectangle 70"/>
                <p:cNvSpPr>
                  <a:spLocks noChangeArrowheads="1"/>
                </p:cNvSpPr>
                <p:nvPr/>
              </p:nvSpPr>
              <p:spPr bwMode="auto">
                <a:xfrm>
                  <a:off x="43" y="864"/>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3006381</a:t>
                  </a:r>
                </a:p>
                <a:p>
                  <a:endParaRPr lang="en-GB" sz="1300">
                    <a:latin typeface="Times New Roman" panose="02020603050405020304" pitchFamily="18" charset="0"/>
                  </a:endParaRPr>
                </a:p>
              </p:txBody>
            </p:sp>
            <p:sp>
              <p:nvSpPr>
                <p:cNvPr id="60557" name="Rectangle 71"/>
                <p:cNvSpPr>
                  <a:spLocks noChangeArrowheads="1"/>
                </p:cNvSpPr>
                <p:nvPr/>
              </p:nvSpPr>
              <p:spPr bwMode="auto">
                <a:xfrm>
                  <a:off x="0" y="864"/>
                  <a:ext cx="484"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9" name="Group 72"/>
              <p:cNvGrpSpPr>
                <a:grpSpLocks/>
              </p:cNvGrpSpPr>
              <p:nvPr/>
            </p:nvGrpSpPr>
            <p:grpSpPr bwMode="auto">
              <a:xfrm>
                <a:off x="484" y="864"/>
                <a:ext cx="732" cy="384"/>
                <a:chOff x="484" y="864"/>
                <a:chExt cx="732" cy="384"/>
              </a:xfrm>
            </p:grpSpPr>
            <p:sp>
              <p:nvSpPr>
                <p:cNvPr id="60554" name="Rectangle 73"/>
                <p:cNvSpPr>
                  <a:spLocks noChangeArrowheads="1"/>
                </p:cNvSpPr>
                <p:nvPr/>
              </p:nvSpPr>
              <p:spPr bwMode="auto">
                <a:xfrm>
                  <a:off x="527" y="864"/>
                  <a:ext cx="6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Bert Baxter</a:t>
                  </a:r>
                </a:p>
                <a:p>
                  <a:endParaRPr lang="en-GB" sz="1300">
                    <a:latin typeface="Times New Roman" panose="02020603050405020304" pitchFamily="18" charset="0"/>
                  </a:endParaRPr>
                </a:p>
              </p:txBody>
            </p:sp>
            <p:sp>
              <p:nvSpPr>
                <p:cNvPr id="60555" name="Rectangle 74"/>
                <p:cNvSpPr>
                  <a:spLocks noChangeArrowheads="1"/>
                </p:cNvSpPr>
                <p:nvPr/>
              </p:nvSpPr>
              <p:spPr bwMode="auto">
                <a:xfrm>
                  <a:off x="484" y="864"/>
                  <a:ext cx="732"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30" name="Group 75"/>
              <p:cNvGrpSpPr>
                <a:grpSpLocks/>
              </p:cNvGrpSpPr>
              <p:nvPr/>
            </p:nvGrpSpPr>
            <p:grpSpPr bwMode="auto">
              <a:xfrm>
                <a:off x="1216" y="864"/>
                <a:ext cx="672" cy="384"/>
                <a:chOff x="1216" y="864"/>
                <a:chExt cx="672" cy="384"/>
              </a:xfrm>
            </p:grpSpPr>
            <p:sp>
              <p:nvSpPr>
                <p:cNvPr id="60552" name="Rectangle 76"/>
                <p:cNvSpPr>
                  <a:spLocks noChangeArrowheads="1"/>
                </p:cNvSpPr>
                <p:nvPr/>
              </p:nvSpPr>
              <p:spPr bwMode="auto">
                <a:xfrm>
                  <a:off x="1259" y="864"/>
                  <a:ext cx="5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IT</a:t>
                  </a:r>
                </a:p>
                <a:p>
                  <a:endParaRPr lang="en-GB" sz="1300">
                    <a:latin typeface="Times New Roman" panose="02020603050405020304" pitchFamily="18" charset="0"/>
                  </a:endParaRPr>
                </a:p>
              </p:txBody>
            </p:sp>
            <p:sp>
              <p:nvSpPr>
                <p:cNvPr id="60553" name="Rectangle 77"/>
                <p:cNvSpPr>
                  <a:spLocks noChangeArrowheads="1"/>
                </p:cNvSpPr>
                <p:nvPr/>
              </p:nvSpPr>
              <p:spPr bwMode="auto">
                <a:xfrm>
                  <a:off x="1216" y="864"/>
                  <a:ext cx="672"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31" name="Group 78"/>
              <p:cNvGrpSpPr>
                <a:grpSpLocks/>
              </p:cNvGrpSpPr>
              <p:nvPr/>
            </p:nvGrpSpPr>
            <p:grpSpPr bwMode="auto">
              <a:xfrm>
                <a:off x="1888" y="864"/>
                <a:ext cx="596" cy="384"/>
                <a:chOff x="1888" y="864"/>
                <a:chExt cx="596" cy="384"/>
              </a:xfrm>
            </p:grpSpPr>
            <p:sp>
              <p:nvSpPr>
                <p:cNvPr id="60550" name="Rectangle 79"/>
                <p:cNvSpPr>
                  <a:spLocks noChangeArrowheads="1"/>
                </p:cNvSpPr>
                <p:nvPr/>
              </p:nvSpPr>
              <p:spPr bwMode="auto">
                <a:xfrm>
                  <a:off x="1931" y="864"/>
                  <a:ext cx="51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23 Jun 1992</a:t>
                  </a:r>
                </a:p>
                <a:p>
                  <a:endParaRPr lang="en-GB" sz="1300">
                    <a:latin typeface="Times New Roman" panose="02020603050405020304" pitchFamily="18" charset="0"/>
                  </a:endParaRPr>
                </a:p>
              </p:txBody>
            </p:sp>
            <p:sp>
              <p:nvSpPr>
                <p:cNvPr id="60551" name="Rectangle 80"/>
                <p:cNvSpPr>
                  <a:spLocks noChangeArrowheads="1"/>
                </p:cNvSpPr>
                <p:nvPr/>
              </p:nvSpPr>
              <p:spPr bwMode="auto">
                <a:xfrm>
                  <a:off x="1888" y="864"/>
                  <a:ext cx="596"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575" name="Group 81"/>
              <p:cNvGrpSpPr>
                <a:grpSpLocks/>
              </p:cNvGrpSpPr>
              <p:nvPr/>
            </p:nvGrpSpPr>
            <p:grpSpPr bwMode="auto">
              <a:xfrm>
                <a:off x="2484" y="864"/>
                <a:ext cx="483" cy="384"/>
                <a:chOff x="2484" y="864"/>
                <a:chExt cx="483" cy="384"/>
              </a:xfrm>
            </p:grpSpPr>
            <p:sp>
              <p:nvSpPr>
                <p:cNvPr id="60548" name="Rectangle 82"/>
                <p:cNvSpPr>
                  <a:spLocks noChangeArrowheads="1"/>
                </p:cNvSpPr>
                <p:nvPr/>
              </p:nvSpPr>
              <p:spPr bwMode="auto">
                <a:xfrm>
                  <a:off x="2527" y="864"/>
                  <a:ext cx="39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33</a:t>
                  </a:r>
                </a:p>
                <a:p>
                  <a:endParaRPr lang="en-GB" sz="1300">
                    <a:latin typeface="Times New Roman" panose="02020603050405020304" pitchFamily="18" charset="0"/>
                  </a:endParaRPr>
                </a:p>
              </p:txBody>
            </p:sp>
            <p:sp>
              <p:nvSpPr>
                <p:cNvPr id="60549" name="Rectangle 83"/>
                <p:cNvSpPr>
                  <a:spLocks noChangeArrowheads="1"/>
                </p:cNvSpPr>
                <p:nvPr/>
              </p:nvSpPr>
              <p:spPr bwMode="auto">
                <a:xfrm>
                  <a:off x="2484" y="864"/>
                  <a:ext cx="483"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579" name="Group 84"/>
              <p:cNvGrpSpPr>
                <a:grpSpLocks/>
              </p:cNvGrpSpPr>
              <p:nvPr/>
            </p:nvGrpSpPr>
            <p:grpSpPr bwMode="auto">
              <a:xfrm>
                <a:off x="2967" y="864"/>
                <a:ext cx="426" cy="384"/>
                <a:chOff x="2967" y="864"/>
                <a:chExt cx="426" cy="384"/>
              </a:xfrm>
            </p:grpSpPr>
            <p:sp>
              <p:nvSpPr>
                <p:cNvPr id="60546" name="Rectangle 85"/>
                <p:cNvSpPr>
                  <a:spLocks noChangeArrowheads="1"/>
                </p:cNvSpPr>
                <p:nvPr/>
              </p:nvSpPr>
              <p:spPr bwMode="auto">
                <a:xfrm>
                  <a:off x="3010" y="864"/>
                  <a:ext cx="3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3</a:t>
                  </a:r>
                </a:p>
                <a:p>
                  <a:endParaRPr lang="en-GB" sz="1300">
                    <a:latin typeface="Times New Roman" panose="02020603050405020304" pitchFamily="18" charset="0"/>
                  </a:endParaRPr>
                </a:p>
              </p:txBody>
            </p:sp>
            <p:sp>
              <p:nvSpPr>
                <p:cNvPr id="60547" name="Rectangle 86"/>
                <p:cNvSpPr>
                  <a:spLocks noChangeArrowheads="1"/>
                </p:cNvSpPr>
                <p:nvPr/>
              </p:nvSpPr>
              <p:spPr bwMode="auto">
                <a:xfrm>
                  <a:off x="2967" y="864"/>
                  <a:ext cx="426"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583" name="Group 87"/>
              <p:cNvGrpSpPr>
                <a:grpSpLocks/>
              </p:cNvGrpSpPr>
              <p:nvPr/>
            </p:nvGrpSpPr>
            <p:grpSpPr bwMode="auto">
              <a:xfrm>
                <a:off x="3393" y="864"/>
                <a:ext cx="479" cy="384"/>
                <a:chOff x="3393" y="864"/>
                <a:chExt cx="479" cy="384"/>
              </a:xfrm>
            </p:grpSpPr>
            <p:sp>
              <p:nvSpPr>
                <p:cNvPr id="60544" name="Rectangle 88"/>
                <p:cNvSpPr>
                  <a:spLocks noChangeArrowheads="1"/>
                </p:cNvSpPr>
                <p:nvPr/>
              </p:nvSpPr>
              <p:spPr bwMode="auto">
                <a:xfrm>
                  <a:off x="3436" y="864"/>
                  <a:ext cx="39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2.59</a:t>
                  </a:r>
                </a:p>
                <a:p>
                  <a:endParaRPr lang="en-GB" sz="1300">
                    <a:latin typeface="Times New Roman" panose="02020603050405020304" pitchFamily="18" charset="0"/>
                  </a:endParaRPr>
                </a:p>
              </p:txBody>
            </p:sp>
            <p:sp>
              <p:nvSpPr>
                <p:cNvPr id="60545" name="Rectangle 89"/>
                <p:cNvSpPr>
                  <a:spLocks noChangeArrowheads="1"/>
                </p:cNvSpPr>
                <p:nvPr/>
              </p:nvSpPr>
              <p:spPr bwMode="auto">
                <a:xfrm>
                  <a:off x="3393" y="864"/>
                  <a:ext cx="479"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587" name="Group 90"/>
              <p:cNvGrpSpPr>
                <a:grpSpLocks/>
              </p:cNvGrpSpPr>
              <p:nvPr/>
            </p:nvGrpSpPr>
            <p:grpSpPr bwMode="auto">
              <a:xfrm>
                <a:off x="3872" y="864"/>
                <a:ext cx="533" cy="384"/>
                <a:chOff x="3872" y="864"/>
                <a:chExt cx="533" cy="384"/>
              </a:xfrm>
            </p:grpSpPr>
            <p:sp>
              <p:nvSpPr>
                <p:cNvPr id="60542" name="Rectangle 91"/>
                <p:cNvSpPr>
                  <a:spLocks noChangeArrowheads="1"/>
                </p:cNvSpPr>
                <p:nvPr/>
              </p:nvSpPr>
              <p:spPr bwMode="auto">
                <a:xfrm>
                  <a:off x="3915" y="864"/>
                  <a:ext cx="44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dirty="0">
                      <a:latin typeface="Times New Roman" panose="02020603050405020304" pitchFamily="18" charset="0"/>
                      <a:cs typeface="Times New Roman" panose="02020603050405020304" pitchFamily="18" charset="0"/>
                    </a:rPr>
                    <a:t>24</a:t>
                  </a:r>
                </a:p>
                <a:p>
                  <a:endParaRPr lang="en-GB" sz="1300" dirty="0">
                    <a:latin typeface="Times New Roman" panose="02020603050405020304" pitchFamily="18" charset="0"/>
                  </a:endParaRPr>
                </a:p>
              </p:txBody>
            </p:sp>
            <p:sp>
              <p:nvSpPr>
                <p:cNvPr id="60543" name="Rectangle 92"/>
                <p:cNvSpPr>
                  <a:spLocks noChangeArrowheads="1"/>
                </p:cNvSpPr>
                <p:nvPr/>
              </p:nvSpPr>
              <p:spPr bwMode="auto">
                <a:xfrm>
                  <a:off x="3872" y="864"/>
                  <a:ext cx="533"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591" name="Group 93"/>
              <p:cNvGrpSpPr>
                <a:grpSpLocks/>
              </p:cNvGrpSpPr>
              <p:nvPr/>
            </p:nvGrpSpPr>
            <p:grpSpPr bwMode="auto">
              <a:xfrm>
                <a:off x="0" y="1248"/>
                <a:ext cx="484" cy="480"/>
                <a:chOff x="0" y="1248"/>
                <a:chExt cx="484" cy="480"/>
              </a:xfrm>
            </p:grpSpPr>
            <p:sp>
              <p:nvSpPr>
                <p:cNvPr id="60540" name="Rectangle 94"/>
                <p:cNvSpPr>
                  <a:spLocks noChangeArrowheads="1"/>
                </p:cNvSpPr>
                <p:nvPr/>
              </p:nvSpPr>
              <p:spPr bwMode="auto">
                <a:xfrm>
                  <a:off x="43" y="1248"/>
                  <a:ext cx="39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2007824</a:t>
                  </a:r>
                </a:p>
                <a:p>
                  <a:endParaRPr lang="en-GB" sz="1300">
                    <a:latin typeface="Times New Roman" panose="02020603050405020304" pitchFamily="18" charset="0"/>
                  </a:endParaRPr>
                </a:p>
              </p:txBody>
            </p:sp>
            <p:sp>
              <p:nvSpPr>
                <p:cNvPr id="60541" name="Rectangle 95"/>
                <p:cNvSpPr>
                  <a:spLocks noChangeArrowheads="1"/>
                </p:cNvSpPr>
                <p:nvPr/>
              </p:nvSpPr>
              <p:spPr bwMode="auto">
                <a:xfrm>
                  <a:off x="0" y="1248"/>
                  <a:ext cx="484"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595" name="Group 96"/>
              <p:cNvGrpSpPr>
                <a:grpSpLocks/>
              </p:cNvGrpSpPr>
              <p:nvPr/>
            </p:nvGrpSpPr>
            <p:grpSpPr bwMode="auto">
              <a:xfrm>
                <a:off x="484" y="1248"/>
                <a:ext cx="732" cy="480"/>
                <a:chOff x="484" y="1248"/>
                <a:chExt cx="732" cy="480"/>
              </a:xfrm>
            </p:grpSpPr>
            <p:sp>
              <p:nvSpPr>
                <p:cNvPr id="60538" name="Rectangle 97"/>
                <p:cNvSpPr>
                  <a:spLocks noChangeArrowheads="1"/>
                </p:cNvSpPr>
                <p:nvPr/>
              </p:nvSpPr>
              <p:spPr bwMode="auto">
                <a:xfrm>
                  <a:off x="527" y="1248"/>
                  <a:ext cx="64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Corinne Creevey</a:t>
                  </a:r>
                </a:p>
                <a:p>
                  <a:endParaRPr lang="en-GB" sz="1300">
                    <a:latin typeface="Times New Roman" panose="02020603050405020304" pitchFamily="18" charset="0"/>
                  </a:endParaRPr>
                </a:p>
              </p:txBody>
            </p:sp>
            <p:sp>
              <p:nvSpPr>
                <p:cNvPr id="60539" name="Rectangle 98"/>
                <p:cNvSpPr>
                  <a:spLocks noChangeArrowheads="1"/>
                </p:cNvSpPr>
                <p:nvPr/>
              </p:nvSpPr>
              <p:spPr bwMode="auto">
                <a:xfrm>
                  <a:off x="484" y="1248"/>
                  <a:ext cx="732"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599" name="Group 99"/>
              <p:cNvGrpSpPr>
                <a:grpSpLocks/>
              </p:cNvGrpSpPr>
              <p:nvPr/>
            </p:nvGrpSpPr>
            <p:grpSpPr bwMode="auto">
              <a:xfrm>
                <a:off x="1216" y="1248"/>
                <a:ext cx="672" cy="480"/>
                <a:chOff x="1216" y="1248"/>
                <a:chExt cx="672" cy="480"/>
              </a:xfrm>
            </p:grpSpPr>
            <p:sp>
              <p:nvSpPr>
                <p:cNvPr id="60536" name="Rectangle 100"/>
                <p:cNvSpPr>
                  <a:spLocks noChangeArrowheads="1"/>
                </p:cNvSpPr>
                <p:nvPr/>
              </p:nvSpPr>
              <p:spPr bwMode="auto">
                <a:xfrm>
                  <a:off x="1259" y="1248"/>
                  <a:ext cx="58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IT, Education</a:t>
                  </a:r>
                </a:p>
                <a:p>
                  <a:endParaRPr lang="en-GB" sz="1300">
                    <a:latin typeface="Times New Roman" panose="02020603050405020304" pitchFamily="18" charset="0"/>
                  </a:endParaRPr>
                </a:p>
              </p:txBody>
            </p:sp>
            <p:sp>
              <p:nvSpPr>
                <p:cNvPr id="60537" name="Rectangle 101"/>
                <p:cNvSpPr>
                  <a:spLocks noChangeArrowheads="1"/>
                </p:cNvSpPr>
                <p:nvPr/>
              </p:nvSpPr>
              <p:spPr bwMode="auto">
                <a:xfrm>
                  <a:off x="1216" y="1248"/>
                  <a:ext cx="672"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603" name="Group 102"/>
              <p:cNvGrpSpPr>
                <a:grpSpLocks/>
              </p:cNvGrpSpPr>
              <p:nvPr/>
            </p:nvGrpSpPr>
            <p:grpSpPr bwMode="auto">
              <a:xfrm>
                <a:off x="1888" y="1248"/>
                <a:ext cx="596" cy="480"/>
                <a:chOff x="1888" y="1248"/>
                <a:chExt cx="596" cy="480"/>
              </a:xfrm>
            </p:grpSpPr>
            <p:sp>
              <p:nvSpPr>
                <p:cNvPr id="60534" name="Rectangle 103"/>
                <p:cNvSpPr>
                  <a:spLocks noChangeArrowheads="1"/>
                </p:cNvSpPr>
                <p:nvPr/>
              </p:nvSpPr>
              <p:spPr bwMode="auto">
                <a:xfrm>
                  <a:off x="1931" y="1248"/>
                  <a:ext cx="51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5 Oct 1991</a:t>
                  </a:r>
                </a:p>
                <a:p>
                  <a:endParaRPr lang="en-GB" sz="1300">
                    <a:latin typeface="Times New Roman" panose="02020603050405020304" pitchFamily="18" charset="0"/>
                  </a:endParaRPr>
                </a:p>
              </p:txBody>
            </p:sp>
            <p:sp>
              <p:nvSpPr>
                <p:cNvPr id="60535" name="Rectangle 104"/>
                <p:cNvSpPr>
                  <a:spLocks noChangeArrowheads="1"/>
                </p:cNvSpPr>
                <p:nvPr/>
              </p:nvSpPr>
              <p:spPr bwMode="auto">
                <a:xfrm>
                  <a:off x="1888" y="1248"/>
                  <a:ext cx="596"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606" name="Group 105"/>
              <p:cNvGrpSpPr>
                <a:grpSpLocks/>
              </p:cNvGrpSpPr>
              <p:nvPr/>
            </p:nvGrpSpPr>
            <p:grpSpPr bwMode="auto">
              <a:xfrm>
                <a:off x="2484" y="1248"/>
                <a:ext cx="483" cy="480"/>
                <a:chOff x="2484" y="1248"/>
                <a:chExt cx="483" cy="480"/>
              </a:xfrm>
            </p:grpSpPr>
            <p:sp>
              <p:nvSpPr>
                <p:cNvPr id="60532" name="Rectangle 106"/>
                <p:cNvSpPr>
                  <a:spLocks noChangeArrowheads="1"/>
                </p:cNvSpPr>
                <p:nvPr/>
              </p:nvSpPr>
              <p:spPr bwMode="auto">
                <a:xfrm>
                  <a:off x="2527" y="1248"/>
                  <a:ext cx="39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27</a:t>
                  </a:r>
                </a:p>
                <a:p>
                  <a:endParaRPr lang="en-GB" sz="1300">
                    <a:latin typeface="Times New Roman" panose="02020603050405020304" pitchFamily="18" charset="0"/>
                  </a:endParaRPr>
                </a:p>
              </p:txBody>
            </p:sp>
            <p:sp>
              <p:nvSpPr>
                <p:cNvPr id="60533" name="Rectangle 107"/>
                <p:cNvSpPr>
                  <a:spLocks noChangeArrowheads="1"/>
                </p:cNvSpPr>
                <p:nvPr/>
              </p:nvSpPr>
              <p:spPr bwMode="auto">
                <a:xfrm>
                  <a:off x="2484" y="1248"/>
                  <a:ext cx="483"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607" name="Group 108"/>
              <p:cNvGrpSpPr>
                <a:grpSpLocks/>
              </p:cNvGrpSpPr>
              <p:nvPr/>
            </p:nvGrpSpPr>
            <p:grpSpPr bwMode="auto">
              <a:xfrm>
                <a:off x="2967" y="1248"/>
                <a:ext cx="426" cy="480"/>
                <a:chOff x="2967" y="1248"/>
                <a:chExt cx="426" cy="480"/>
              </a:xfrm>
            </p:grpSpPr>
            <p:sp>
              <p:nvSpPr>
                <p:cNvPr id="60530" name="Rectangle 109"/>
                <p:cNvSpPr>
                  <a:spLocks noChangeArrowheads="1"/>
                </p:cNvSpPr>
                <p:nvPr/>
              </p:nvSpPr>
              <p:spPr bwMode="auto">
                <a:xfrm>
                  <a:off x="3010" y="1248"/>
                  <a:ext cx="34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1</a:t>
                  </a:r>
                </a:p>
                <a:p>
                  <a:endParaRPr lang="en-GB" sz="1300">
                    <a:latin typeface="Times New Roman" panose="02020603050405020304" pitchFamily="18" charset="0"/>
                  </a:endParaRPr>
                </a:p>
              </p:txBody>
            </p:sp>
            <p:sp>
              <p:nvSpPr>
                <p:cNvPr id="60531" name="Rectangle 110"/>
                <p:cNvSpPr>
                  <a:spLocks noChangeArrowheads="1"/>
                </p:cNvSpPr>
                <p:nvPr/>
              </p:nvSpPr>
              <p:spPr bwMode="auto">
                <a:xfrm>
                  <a:off x="2967" y="1248"/>
                  <a:ext cx="426"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16" name="Group 111"/>
              <p:cNvGrpSpPr>
                <a:grpSpLocks/>
              </p:cNvGrpSpPr>
              <p:nvPr/>
            </p:nvGrpSpPr>
            <p:grpSpPr bwMode="auto">
              <a:xfrm>
                <a:off x="3393" y="1248"/>
                <a:ext cx="479" cy="480"/>
                <a:chOff x="3393" y="1248"/>
                <a:chExt cx="479" cy="480"/>
              </a:xfrm>
            </p:grpSpPr>
            <p:sp>
              <p:nvSpPr>
                <p:cNvPr id="60528" name="Rectangle 112"/>
                <p:cNvSpPr>
                  <a:spLocks noChangeArrowheads="1"/>
                </p:cNvSpPr>
                <p:nvPr/>
              </p:nvSpPr>
              <p:spPr bwMode="auto">
                <a:xfrm>
                  <a:off x="3436" y="1248"/>
                  <a:ext cx="39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3.59</a:t>
                  </a:r>
                </a:p>
                <a:p>
                  <a:endParaRPr lang="en-GB" sz="1300">
                    <a:latin typeface="Times New Roman" panose="02020603050405020304" pitchFamily="18" charset="0"/>
                  </a:endParaRPr>
                </a:p>
              </p:txBody>
            </p:sp>
            <p:sp>
              <p:nvSpPr>
                <p:cNvPr id="60529" name="Rectangle 113"/>
                <p:cNvSpPr>
                  <a:spLocks noChangeArrowheads="1"/>
                </p:cNvSpPr>
                <p:nvPr/>
              </p:nvSpPr>
              <p:spPr bwMode="auto">
                <a:xfrm>
                  <a:off x="3393" y="1248"/>
                  <a:ext cx="479"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17" name="Group 114"/>
              <p:cNvGrpSpPr>
                <a:grpSpLocks/>
              </p:cNvGrpSpPr>
              <p:nvPr/>
            </p:nvGrpSpPr>
            <p:grpSpPr bwMode="auto">
              <a:xfrm>
                <a:off x="3872" y="1248"/>
                <a:ext cx="533" cy="480"/>
                <a:chOff x="3872" y="1248"/>
                <a:chExt cx="533" cy="480"/>
              </a:xfrm>
            </p:grpSpPr>
            <p:sp>
              <p:nvSpPr>
                <p:cNvPr id="60526" name="Rectangle 115"/>
                <p:cNvSpPr>
                  <a:spLocks noChangeArrowheads="1"/>
                </p:cNvSpPr>
                <p:nvPr/>
              </p:nvSpPr>
              <p:spPr bwMode="auto">
                <a:xfrm>
                  <a:off x="3915" y="1248"/>
                  <a:ext cx="44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dirty="0">
                      <a:latin typeface="Times New Roman" panose="02020603050405020304" pitchFamily="18" charset="0"/>
                      <a:cs typeface="Times New Roman" panose="02020603050405020304" pitchFamily="18" charset="0"/>
                    </a:rPr>
                    <a:t>25</a:t>
                  </a:r>
                </a:p>
                <a:p>
                  <a:endParaRPr lang="en-GB" sz="1300" dirty="0">
                    <a:latin typeface="Times New Roman" panose="02020603050405020304" pitchFamily="18" charset="0"/>
                  </a:endParaRPr>
                </a:p>
              </p:txBody>
            </p:sp>
            <p:sp>
              <p:nvSpPr>
                <p:cNvPr id="60527" name="Rectangle 116"/>
                <p:cNvSpPr>
                  <a:spLocks noChangeArrowheads="1"/>
                </p:cNvSpPr>
                <p:nvPr/>
              </p:nvSpPr>
              <p:spPr bwMode="auto">
                <a:xfrm>
                  <a:off x="3872" y="1248"/>
                  <a:ext cx="533"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19" name="Group 117"/>
              <p:cNvGrpSpPr>
                <a:grpSpLocks/>
              </p:cNvGrpSpPr>
              <p:nvPr/>
            </p:nvGrpSpPr>
            <p:grpSpPr bwMode="auto">
              <a:xfrm>
                <a:off x="0" y="1728"/>
                <a:ext cx="484" cy="480"/>
                <a:chOff x="0" y="1728"/>
                <a:chExt cx="484" cy="480"/>
              </a:xfrm>
            </p:grpSpPr>
            <p:sp>
              <p:nvSpPr>
                <p:cNvPr id="60524" name="Rectangle 118"/>
                <p:cNvSpPr>
                  <a:spLocks noChangeArrowheads="1"/>
                </p:cNvSpPr>
                <p:nvPr/>
              </p:nvSpPr>
              <p:spPr bwMode="auto">
                <a:xfrm>
                  <a:off x="43" y="1728"/>
                  <a:ext cx="39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7650802</a:t>
                  </a:r>
                </a:p>
                <a:p>
                  <a:endParaRPr lang="en-GB" sz="1300">
                    <a:latin typeface="Times New Roman" panose="02020603050405020304" pitchFamily="18" charset="0"/>
                  </a:endParaRPr>
                </a:p>
              </p:txBody>
            </p:sp>
            <p:sp>
              <p:nvSpPr>
                <p:cNvPr id="60525" name="Rectangle 119"/>
                <p:cNvSpPr>
                  <a:spLocks noChangeArrowheads="1"/>
                </p:cNvSpPr>
                <p:nvPr/>
              </p:nvSpPr>
              <p:spPr bwMode="auto">
                <a:xfrm>
                  <a:off x="0" y="1728"/>
                  <a:ext cx="484"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20" name="Group 120"/>
              <p:cNvGrpSpPr>
                <a:grpSpLocks/>
              </p:cNvGrpSpPr>
              <p:nvPr/>
            </p:nvGrpSpPr>
            <p:grpSpPr bwMode="auto">
              <a:xfrm>
                <a:off x="484" y="1728"/>
                <a:ext cx="732" cy="480"/>
                <a:chOff x="484" y="1728"/>
                <a:chExt cx="732" cy="480"/>
              </a:xfrm>
            </p:grpSpPr>
            <p:sp>
              <p:nvSpPr>
                <p:cNvPr id="60522" name="Rectangle 121"/>
                <p:cNvSpPr>
                  <a:spLocks noChangeArrowheads="1"/>
                </p:cNvSpPr>
                <p:nvPr/>
              </p:nvSpPr>
              <p:spPr bwMode="auto">
                <a:xfrm>
                  <a:off x="527" y="1728"/>
                  <a:ext cx="64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David Doo</a:t>
                  </a:r>
                </a:p>
                <a:p>
                  <a:endParaRPr lang="en-GB" sz="1300">
                    <a:latin typeface="Times New Roman" panose="02020603050405020304" pitchFamily="18" charset="0"/>
                  </a:endParaRPr>
                </a:p>
              </p:txBody>
            </p:sp>
            <p:sp>
              <p:nvSpPr>
                <p:cNvPr id="60523" name="Rectangle 122"/>
                <p:cNvSpPr>
                  <a:spLocks noChangeArrowheads="1"/>
                </p:cNvSpPr>
                <p:nvPr/>
              </p:nvSpPr>
              <p:spPr bwMode="auto">
                <a:xfrm>
                  <a:off x="484" y="1728"/>
                  <a:ext cx="732"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22" name="Group 123"/>
              <p:cNvGrpSpPr>
                <a:grpSpLocks/>
              </p:cNvGrpSpPr>
              <p:nvPr/>
            </p:nvGrpSpPr>
            <p:grpSpPr bwMode="auto">
              <a:xfrm>
                <a:off x="1216" y="1728"/>
                <a:ext cx="672" cy="480"/>
                <a:chOff x="1216" y="1728"/>
                <a:chExt cx="672" cy="480"/>
              </a:xfrm>
            </p:grpSpPr>
            <p:sp>
              <p:nvSpPr>
                <p:cNvPr id="60520" name="Rectangle 124"/>
                <p:cNvSpPr>
                  <a:spLocks noChangeArrowheads="1"/>
                </p:cNvSpPr>
                <p:nvPr/>
              </p:nvSpPr>
              <p:spPr bwMode="auto">
                <a:xfrm>
                  <a:off x="1259" y="1728"/>
                  <a:ext cx="58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Arts</a:t>
                  </a:r>
                </a:p>
                <a:p>
                  <a:endParaRPr lang="en-GB" sz="1300">
                    <a:latin typeface="Times New Roman" panose="02020603050405020304" pitchFamily="18" charset="0"/>
                  </a:endParaRPr>
                </a:p>
              </p:txBody>
            </p:sp>
            <p:sp>
              <p:nvSpPr>
                <p:cNvPr id="60521" name="Rectangle 125"/>
                <p:cNvSpPr>
                  <a:spLocks noChangeArrowheads="1"/>
                </p:cNvSpPr>
                <p:nvPr/>
              </p:nvSpPr>
              <p:spPr bwMode="auto">
                <a:xfrm>
                  <a:off x="1216" y="1728"/>
                  <a:ext cx="672"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23" name="Group 126"/>
              <p:cNvGrpSpPr>
                <a:grpSpLocks/>
              </p:cNvGrpSpPr>
              <p:nvPr/>
            </p:nvGrpSpPr>
            <p:grpSpPr bwMode="auto">
              <a:xfrm>
                <a:off x="1888" y="1728"/>
                <a:ext cx="596" cy="480"/>
                <a:chOff x="1888" y="1728"/>
                <a:chExt cx="596" cy="480"/>
              </a:xfrm>
            </p:grpSpPr>
            <p:sp>
              <p:nvSpPr>
                <p:cNvPr id="60518" name="Rectangle 127"/>
                <p:cNvSpPr>
                  <a:spLocks noChangeArrowheads="1"/>
                </p:cNvSpPr>
                <p:nvPr/>
              </p:nvSpPr>
              <p:spPr bwMode="auto">
                <a:xfrm>
                  <a:off x="1931" y="1728"/>
                  <a:ext cx="51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28 Aug 1994</a:t>
                  </a:r>
                </a:p>
                <a:p>
                  <a:endParaRPr lang="en-GB" sz="1300">
                    <a:latin typeface="Times New Roman" panose="02020603050405020304" pitchFamily="18" charset="0"/>
                  </a:endParaRPr>
                </a:p>
              </p:txBody>
            </p:sp>
            <p:sp>
              <p:nvSpPr>
                <p:cNvPr id="60519" name="Rectangle 128"/>
                <p:cNvSpPr>
                  <a:spLocks noChangeArrowheads="1"/>
                </p:cNvSpPr>
                <p:nvPr/>
              </p:nvSpPr>
              <p:spPr bwMode="auto">
                <a:xfrm>
                  <a:off x="1888" y="1728"/>
                  <a:ext cx="596"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24" name="Group 129"/>
              <p:cNvGrpSpPr>
                <a:grpSpLocks/>
              </p:cNvGrpSpPr>
              <p:nvPr/>
            </p:nvGrpSpPr>
            <p:grpSpPr bwMode="auto">
              <a:xfrm>
                <a:off x="2484" y="1728"/>
                <a:ext cx="483" cy="480"/>
                <a:chOff x="2484" y="1728"/>
                <a:chExt cx="483" cy="480"/>
              </a:xfrm>
            </p:grpSpPr>
            <p:sp>
              <p:nvSpPr>
                <p:cNvPr id="60516" name="Rectangle 130"/>
                <p:cNvSpPr>
                  <a:spLocks noChangeArrowheads="1"/>
                </p:cNvSpPr>
                <p:nvPr/>
              </p:nvSpPr>
              <p:spPr bwMode="auto">
                <a:xfrm>
                  <a:off x="2527" y="1728"/>
                  <a:ext cx="39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16</a:t>
                  </a:r>
                </a:p>
                <a:p>
                  <a:endParaRPr lang="en-GB" sz="1300">
                    <a:latin typeface="Times New Roman" panose="02020603050405020304" pitchFamily="18" charset="0"/>
                  </a:endParaRPr>
                </a:p>
              </p:txBody>
            </p:sp>
            <p:sp>
              <p:nvSpPr>
                <p:cNvPr id="60517" name="Rectangle 131"/>
                <p:cNvSpPr>
                  <a:spLocks noChangeArrowheads="1"/>
                </p:cNvSpPr>
                <p:nvPr/>
              </p:nvSpPr>
              <p:spPr bwMode="auto">
                <a:xfrm>
                  <a:off x="2484" y="1728"/>
                  <a:ext cx="483"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25" name="Group 132"/>
              <p:cNvGrpSpPr>
                <a:grpSpLocks/>
              </p:cNvGrpSpPr>
              <p:nvPr/>
            </p:nvGrpSpPr>
            <p:grpSpPr bwMode="auto">
              <a:xfrm>
                <a:off x="2967" y="1728"/>
                <a:ext cx="426" cy="480"/>
                <a:chOff x="2967" y="1728"/>
                <a:chExt cx="426" cy="480"/>
              </a:xfrm>
            </p:grpSpPr>
            <p:sp>
              <p:nvSpPr>
                <p:cNvPr id="60514" name="Rectangle 133"/>
                <p:cNvSpPr>
                  <a:spLocks noChangeArrowheads="1"/>
                </p:cNvSpPr>
                <p:nvPr/>
              </p:nvSpPr>
              <p:spPr bwMode="auto">
                <a:xfrm>
                  <a:off x="3010" y="1728"/>
                  <a:ext cx="34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1</a:t>
                  </a:r>
                </a:p>
                <a:p>
                  <a:endParaRPr lang="en-GB" sz="1300">
                    <a:latin typeface="Times New Roman" panose="02020603050405020304" pitchFamily="18" charset="0"/>
                  </a:endParaRPr>
                </a:p>
              </p:txBody>
            </p:sp>
            <p:sp>
              <p:nvSpPr>
                <p:cNvPr id="60515" name="Rectangle 134"/>
                <p:cNvSpPr>
                  <a:spLocks noChangeArrowheads="1"/>
                </p:cNvSpPr>
                <p:nvPr/>
              </p:nvSpPr>
              <p:spPr bwMode="auto">
                <a:xfrm>
                  <a:off x="2967" y="1728"/>
                  <a:ext cx="426"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26" name="Group 135"/>
              <p:cNvGrpSpPr>
                <a:grpSpLocks/>
              </p:cNvGrpSpPr>
              <p:nvPr/>
            </p:nvGrpSpPr>
            <p:grpSpPr bwMode="auto">
              <a:xfrm>
                <a:off x="3393" y="1728"/>
                <a:ext cx="479" cy="480"/>
                <a:chOff x="3393" y="1728"/>
                <a:chExt cx="479" cy="480"/>
              </a:xfrm>
            </p:grpSpPr>
            <p:sp>
              <p:nvSpPr>
                <p:cNvPr id="60512" name="Rectangle 136"/>
                <p:cNvSpPr>
                  <a:spLocks noChangeArrowheads="1"/>
                </p:cNvSpPr>
                <p:nvPr/>
              </p:nvSpPr>
              <p:spPr bwMode="auto">
                <a:xfrm>
                  <a:off x="3436" y="1728"/>
                  <a:ext cx="39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0</a:t>
                  </a:r>
                </a:p>
                <a:p>
                  <a:endParaRPr lang="en-GB" sz="1300">
                    <a:latin typeface="Times New Roman" panose="02020603050405020304" pitchFamily="18" charset="0"/>
                  </a:endParaRPr>
                </a:p>
              </p:txBody>
            </p:sp>
            <p:sp>
              <p:nvSpPr>
                <p:cNvPr id="60513" name="Rectangle 137"/>
                <p:cNvSpPr>
                  <a:spLocks noChangeArrowheads="1"/>
                </p:cNvSpPr>
                <p:nvPr/>
              </p:nvSpPr>
              <p:spPr bwMode="auto">
                <a:xfrm>
                  <a:off x="3393" y="1728"/>
                  <a:ext cx="479"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27" name="Group 138"/>
              <p:cNvGrpSpPr>
                <a:grpSpLocks/>
              </p:cNvGrpSpPr>
              <p:nvPr/>
            </p:nvGrpSpPr>
            <p:grpSpPr bwMode="auto">
              <a:xfrm>
                <a:off x="3872" y="1728"/>
                <a:ext cx="533" cy="480"/>
                <a:chOff x="3872" y="1728"/>
                <a:chExt cx="533" cy="480"/>
              </a:xfrm>
            </p:grpSpPr>
            <p:sp>
              <p:nvSpPr>
                <p:cNvPr id="60510" name="Rectangle 139"/>
                <p:cNvSpPr>
                  <a:spLocks noChangeArrowheads="1"/>
                </p:cNvSpPr>
                <p:nvPr/>
              </p:nvSpPr>
              <p:spPr bwMode="auto">
                <a:xfrm>
                  <a:off x="3915" y="1728"/>
                  <a:ext cx="44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dirty="0">
                      <a:latin typeface="Times New Roman" panose="02020603050405020304" pitchFamily="18" charset="0"/>
                      <a:cs typeface="Times New Roman" panose="02020603050405020304" pitchFamily="18" charset="0"/>
                    </a:rPr>
                    <a:t>22</a:t>
                  </a:r>
                </a:p>
                <a:p>
                  <a:endParaRPr lang="en-GB" sz="1300" dirty="0">
                    <a:latin typeface="Times New Roman" panose="02020603050405020304" pitchFamily="18" charset="0"/>
                  </a:endParaRPr>
                </a:p>
              </p:txBody>
            </p:sp>
            <p:sp>
              <p:nvSpPr>
                <p:cNvPr id="60511" name="Rectangle 140"/>
                <p:cNvSpPr>
                  <a:spLocks noChangeArrowheads="1"/>
                </p:cNvSpPr>
                <p:nvPr/>
              </p:nvSpPr>
              <p:spPr bwMode="auto">
                <a:xfrm>
                  <a:off x="3872" y="1728"/>
                  <a:ext cx="533"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28" name="Group 141"/>
              <p:cNvGrpSpPr>
                <a:grpSpLocks/>
              </p:cNvGrpSpPr>
              <p:nvPr/>
            </p:nvGrpSpPr>
            <p:grpSpPr bwMode="auto">
              <a:xfrm>
                <a:off x="0" y="2208"/>
                <a:ext cx="484" cy="480"/>
                <a:chOff x="0" y="2208"/>
                <a:chExt cx="484" cy="480"/>
              </a:xfrm>
            </p:grpSpPr>
            <p:sp>
              <p:nvSpPr>
                <p:cNvPr id="60508" name="Rectangle 142"/>
                <p:cNvSpPr>
                  <a:spLocks noChangeArrowheads="1"/>
                </p:cNvSpPr>
                <p:nvPr/>
              </p:nvSpPr>
              <p:spPr bwMode="auto">
                <a:xfrm>
                  <a:off x="43" y="2208"/>
                  <a:ext cx="39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9635962</a:t>
                  </a:r>
                </a:p>
                <a:p>
                  <a:endParaRPr lang="en-GB" sz="1300">
                    <a:latin typeface="Times New Roman" panose="02020603050405020304" pitchFamily="18" charset="0"/>
                  </a:endParaRPr>
                </a:p>
              </p:txBody>
            </p:sp>
            <p:sp>
              <p:nvSpPr>
                <p:cNvPr id="60509" name="Rectangle 143"/>
                <p:cNvSpPr>
                  <a:spLocks noChangeArrowheads="1"/>
                </p:cNvSpPr>
                <p:nvPr/>
              </p:nvSpPr>
              <p:spPr bwMode="auto">
                <a:xfrm>
                  <a:off x="0" y="2208"/>
                  <a:ext cx="484"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29" name="Group 144"/>
              <p:cNvGrpSpPr>
                <a:grpSpLocks/>
              </p:cNvGrpSpPr>
              <p:nvPr/>
            </p:nvGrpSpPr>
            <p:grpSpPr bwMode="auto">
              <a:xfrm>
                <a:off x="484" y="2208"/>
                <a:ext cx="732" cy="480"/>
                <a:chOff x="484" y="2208"/>
                <a:chExt cx="732" cy="480"/>
              </a:xfrm>
            </p:grpSpPr>
            <p:sp>
              <p:nvSpPr>
                <p:cNvPr id="60506" name="Rectangle 145"/>
                <p:cNvSpPr>
                  <a:spLocks noChangeArrowheads="1"/>
                </p:cNvSpPr>
                <p:nvPr/>
              </p:nvSpPr>
              <p:spPr bwMode="auto">
                <a:xfrm>
                  <a:off x="527" y="2208"/>
                  <a:ext cx="64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Eli Edwards</a:t>
                  </a:r>
                </a:p>
                <a:p>
                  <a:endParaRPr lang="en-GB" sz="1300">
                    <a:latin typeface="Times New Roman" panose="02020603050405020304" pitchFamily="18" charset="0"/>
                  </a:endParaRPr>
                </a:p>
              </p:txBody>
            </p:sp>
            <p:sp>
              <p:nvSpPr>
                <p:cNvPr id="60507" name="Rectangle 146"/>
                <p:cNvSpPr>
                  <a:spLocks noChangeArrowheads="1"/>
                </p:cNvSpPr>
                <p:nvPr/>
              </p:nvSpPr>
              <p:spPr bwMode="auto">
                <a:xfrm>
                  <a:off x="484" y="2208"/>
                  <a:ext cx="732"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0" name="Group 147"/>
              <p:cNvGrpSpPr>
                <a:grpSpLocks/>
              </p:cNvGrpSpPr>
              <p:nvPr/>
            </p:nvGrpSpPr>
            <p:grpSpPr bwMode="auto">
              <a:xfrm>
                <a:off x="1216" y="2208"/>
                <a:ext cx="672" cy="480"/>
                <a:chOff x="1216" y="2208"/>
                <a:chExt cx="672" cy="480"/>
              </a:xfrm>
            </p:grpSpPr>
            <p:sp>
              <p:nvSpPr>
                <p:cNvPr id="60504" name="Rectangle 148"/>
                <p:cNvSpPr>
                  <a:spLocks noChangeArrowheads="1"/>
                </p:cNvSpPr>
                <p:nvPr/>
              </p:nvSpPr>
              <p:spPr bwMode="auto">
                <a:xfrm>
                  <a:off x="1259" y="2208"/>
                  <a:ext cx="58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Arts, Teaching</a:t>
                  </a:r>
                </a:p>
                <a:p>
                  <a:endParaRPr lang="en-GB" sz="1300">
                    <a:latin typeface="Times New Roman" panose="02020603050405020304" pitchFamily="18" charset="0"/>
                  </a:endParaRPr>
                </a:p>
              </p:txBody>
            </p:sp>
            <p:sp>
              <p:nvSpPr>
                <p:cNvPr id="60505" name="Rectangle 149"/>
                <p:cNvSpPr>
                  <a:spLocks noChangeArrowheads="1"/>
                </p:cNvSpPr>
                <p:nvPr/>
              </p:nvSpPr>
              <p:spPr bwMode="auto">
                <a:xfrm>
                  <a:off x="1216" y="2208"/>
                  <a:ext cx="672"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1" name="Group 150"/>
              <p:cNvGrpSpPr>
                <a:grpSpLocks/>
              </p:cNvGrpSpPr>
              <p:nvPr/>
            </p:nvGrpSpPr>
            <p:grpSpPr bwMode="auto">
              <a:xfrm>
                <a:off x="1888" y="2208"/>
                <a:ext cx="596" cy="480"/>
                <a:chOff x="1888" y="2208"/>
                <a:chExt cx="596" cy="480"/>
              </a:xfrm>
            </p:grpSpPr>
            <p:sp>
              <p:nvSpPr>
                <p:cNvPr id="60502" name="Rectangle 151"/>
                <p:cNvSpPr>
                  <a:spLocks noChangeArrowheads="1"/>
                </p:cNvSpPr>
                <p:nvPr/>
              </p:nvSpPr>
              <p:spPr bwMode="auto">
                <a:xfrm>
                  <a:off x="1931" y="2208"/>
                  <a:ext cx="51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15 Nov 1992</a:t>
                  </a:r>
                </a:p>
                <a:p>
                  <a:endParaRPr lang="en-GB" sz="1300">
                    <a:latin typeface="Times New Roman" panose="02020603050405020304" pitchFamily="18" charset="0"/>
                  </a:endParaRPr>
                </a:p>
              </p:txBody>
            </p:sp>
            <p:sp>
              <p:nvSpPr>
                <p:cNvPr id="60503" name="Rectangle 152"/>
                <p:cNvSpPr>
                  <a:spLocks noChangeArrowheads="1"/>
                </p:cNvSpPr>
                <p:nvPr/>
              </p:nvSpPr>
              <p:spPr bwMode="auto">
                <a:xfrm>
                  <a:off x="1888" y="2208"/>
                  <a:ext cx="596"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2" name="Group 153"/>
              <p:cNvGrpSpPr>
                <a:grpSpLocks/>
              </p:cNvGrpSpPr>
              <p:nvPr/>
            </p:nvGrpSpPr>
            <p:grpSpPr bwMode="auto">
              <a:xfrm>
                <a:off x="2484" y="2208"/>
                <a:ext cx="483" cy="480"/>
                <a:chOff x="2484" y="2208"/>
                <a:chExt cx="483" cy="480"/>
              </a:xfrm>
            </p:grpSpPr>
            <p:sp>
              <p:nvSpPr>
                <p:cNvPr id="60500" name="Rectangle 154"/>
                <p:cNvSpPr>
                  <a:spLocks noChangeArrowheads="1"/>
                </p:cNvSpPr>
                <p:nvPr/>
              </p:nvSpPr>
              <p:spPr bwMode="auto">
                <a:xfrm>
                  <a:off x="2527" y="2208"/>
                  <a:ext cx="39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35</a:t>
                  </a:r>
                </a:p>
                <a:p>
                  <a:endParaRPr lang="en-GB" sz="1300">
                    <a:latin typeface="Times New Roman" panose="02020603050405020304" pitchFamily="18" charset="0"/>
                  </a:endParaRPr>
                </a:p>
              </p:txBody>
            </p:sp>
            <p:sp>
              <p:nvSpPr>
                <p:cNvPr id="60501" name="Rectangle 155"/>
                <p:cNvSpPr>
                  <a:spLocks noChangeArrowheads="1"/>
                </p:cNvSpPr>
                <p:nvPr/>
              </p:nvSpPr>
              <p:spPr bwMode="auto">
                <a:xfrm>
                  <a:off x="2484" y="2208"/>
                  <a:ext cx="483"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3" name="Group 156"/>
              <p:cNvGrpSpPr>
                <a:grpSpLocks/>
              </p:cNvGrpSpPr>
              <p:nvPr/>
            </p:nvGrpSpPr>
            <p:grpSpPr bwMode="auto">
              <a:xfrm>
                <a:off x="2967" y="2208"/>
                <a:ext cx="426" cy="480"/>
                <a:chOff x="2967" y="2208"/>
                <a:chExt cx="426" cy="480"/>
              </a:xfrm>
            </p:grpSpPr>
            <p:sp>
              <p:nvSpPr>
                <p:cNvPr id="60498" name="Rectangle 157"/>
                <p:cNvSpPr>
                  <a:spLocks noChangeArrowheads="1"/>
                </p:cNvSpPr>
                <p:nvPr/>
              </p:nvSpPr>
              <p:spPr bwMode="auto">
                <a:xfrm>
                  <a:off x="3010" y="2208"/>
                  <a:ext cx="34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a:t>
                  </a:r>
                </a:p>
                <a:p>
                  <a:endParaRPr lang="en-GB" sz="1300">
                    <a:latin typeface="Times New Roman" panose="02020603050405020304" pitchFamily="18" charset="0"/>
                  </a:endParaRPr>
                </a:p>
              </p:txBody>
            </p:sp>
            <p:sp>
              <p:nvSpPr>
                <p:cNvPr id="60499" name="Rectangle 158"/>
                <p:cNvSpPr>
                  <a:spLocks noChangeArrowheads="1"/>
                </p:cNvSpPr>
                <p:nvPr/>
              </p:nvSpPr>
              <p:spPr bwMode="auto">
                <a:xfrm>
                  <a:off x="2967" y="2208"/>
                  <a:ext cx="426"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4" name="Group 159"/>
              <p:cNvGrpSpPr>
                <a:grpSpLocks/>
              </p:cNvGrpSpPr>
              <p:nvPr/>
            </p:nvGrpSpPr>
            <p:grpSpPr bwMode="auto">
              <a:xfrm>
                <a:off x="3393" y="2208"/>
                <a:ext cx="479" cy="480"/>
                <a:chOff x="3393" y="2208"/>
                <a:chExt cx="479" cy="480"/>
              </a:xfrm>
            </p:grpSpPr>
            <p:sp>
              <p:nvSpPr>
                <p:cNvPr id="60496" name="Rectangle 160"/>
                <p:cNvSpPr>
                  <a:spLocks noChangeArrowheads="1"/>
                </p:cNvSpPr>
                <p:nvPr/>
              </p:nvSpPr>
              <p:spPr bwMode="auto">
                <a:xfrm>
                  <a:off x="3436" y="2208"/>
                  <a:ext cx="39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2.73</a:t>
                  </a:r>
                </a:p>
                <a:p>
                  <a:endParaRPr lang="en-GB" sz="1300">
                    <a:latin typeface="Times New Roman" panose="02020603050405020304" pitchFamily="18" charset="0"/>
                  </a:endParaRPr>
                </a:p>
              </p:txBody>
            </p:sp>
            <p:sp>
              <p:nvSpPr>
                <p:cNvPr id="60497" name="Rectangle 161"/>
                <p:cNvSpPr>
                  <a:spLocks noChangeArrowheads="1"/>
                </p:cNvSpPr>
                <p:nvPr/>
              </p:nvSpPr>
              <p:spPr bwMode="auto">
                <a:xfrm>
                  <a:off x="3393" y="2208"/>
                  <a:ext cx="479"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5" name="Group 162"/>
              <p:cNvGrpSpPr>
                <a:grpSpLocks/>
              </p:cNvGrpSpPr>
              <p:nvPr/>
            </p:nvGrpSpPr>
            <p:grpSpPr bwMode="auto">
              <a:xfrm>
                <a:off x="3872" y="2208"/>
                <a:ext cx="533" cy="480"/>
                <a:chOff x="3872" y="2208"/>
                <a:chExt cx="533" cy="480"/>
              </a:xfrm>
            </p:grpSpPr>
            <p:sp>
              <p:nvSpPr>
                <p:cNvPr id="60494" name="Rectangle 163"/>
                <p:cNvSpPr>
                  <a:spLocks noChangeArrowheads="1"/>
                </p:cNvSpPr>
                <p:nvPr/>
              </p:nvSpPr>
              <p:spPr bwMode="auto">
                <a:xfrm>
                  <a:off x="3915" y="2208"/>
                  <a:ext cx="44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dirty="0">
                      <a:latin typeface="Times New Roman" panose="02020603050405020304" pitchFamily="18" charset="0"/>
                      <a:cs typeface="Times New Roman" panose="02020603050405020304" pitchFamily="18" charset="0"/>
                    </a:rPr>
                    <a:t>24</a:t>
                  </a:r>
                </a:p>
                <a:p>
                  <a:endParaRPr lang="en-GB" sz="1300" dirty="0">
                    <a:latin typeface="Times New Roman" panose="02020603050405020304" pitchFamily="18" charset="0"/>
                  </a:endParaRPr>
                </a:p>
              </p:txBody>
            </p:sp>
            <p:sp>
              <p:nvSpPr>
                <p:cNvPr id="60495" name="Rectangle 164"/>
                <p:cNvSpPr>
                  <a:spLocks noChangeArrowheads="1"/>
                </p:cNvSpPr>
                <p:nvPr/>
              </p:nvSpPr>
              <p:spPr bwMode="auto">
                <a:xfrm>
                  <a:off x="3872" y="2208"/>
                  <a:ext cx="533" cy="480"/>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6" name="Group 165"/>
              <p:cNvGrpSpPr>
                <a:grpSpLocks/>
              </p:cNvGrpSpPr>
              <p:nvPr/>
            </p:nvGrpSpPr>
            <p:grpSpPr bwMode="auto">
              <a:xfrm>
                <a:off x="0" y="2688"/>
                <a:ext cx="484" cy="384"/>
                <a:chOff x="0" y="2688"/>
                <a:chExt cx="484" cy="384"/>
              </a:xfrm>
            </p:grpSpPr>
            <p:sp>
              <p:nvSpPr>
                <p:cNvPr id="60492" name="Rectangle 166"/>
                <p:cNvSpPr>
                  <a:spLocks noChangeArrowheads="1"/>
                </p:cNvSpPr>
                <p:nvPr/>
              </p:nvSpPr>
              <p:spPr bwMode="auto">
                <a:xfrm>
                  <a:off x="43" y="2688"/>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2113843</a:t>
                  </a:r>
                </a:p>
                <a:p>
                  <a:endParaRPr lang="en-GB" sz="1300">
                    <a:latin typeface="Times New Roman" panose="02020603050405020304" pitchFamily="18" charset="0"/>
                  </a:endParaRPr>
                </a:p>
              </p:txBody>
            </p:sp>
            <p:sp>
              <p:nvSpPr>
                <p:cNvPr id="60493" name="Rectangle 167"/>
                <p:cNvSpPr>
                  <a:spLocks noChangeArrowheads="1"/>
                </p:cNvSpPr>
                <p:nvPr/>
              </p:nvSpPr>
              <p:spPr bwMode="auto">
                <a:xfrm>
                  <a:off x="0" y="2688"/>
                  <a:ext cx="484"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7" name="Group 168"/>
              <p:cNvGrpSpPr>
                <a:grpSpLocks/>
              </p:cNvGrpSpPr>
              <p:nvPr/>
            </p:nvGrpSpPr>
            <p:grpSpPr bwMode="auto">
              <a:xfrm>
                <a:off x="484" y="2688"/>
                <a:ext cx="732" cy="384"/>
                <a:chOff x="484" y="2688"/>
                <a:chExt cx="732" cy="384"/>
              </a:xfrm>
            </p:grpSpPr>
            <p:sp>
              <p:nvSpPr>
                <p:cNvPr id="60490" name="Rectangle 169"/>
                <p:cNvSpPr>
                  <a:spLocks noChangeArrowheads="1"/>
                </p:cNvSpPr>
                <p:nvPr/>
              </p:nvSpPr>
              <p:spPr bwMode="auto">
                <a:xfrm>
                  <a:off x="527" y="2688"/>
                  <a:ext cx="6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Fiona Fawcett</a:t>
                  </a:r>
                </a:p>
                <a:p>
                  <a:endParaRPr lang="en-GB" sz="1300">
                    <a:latin typeface="Times New Roman" panose="02020603050405020304" pitchFamily="18" charset="0"/>
                  </a:endParaRPr>
                </a:p>
              </p:txBody>
            </p:sp>
            <p:sp>
              <p:nvSpPr>
                <p:cNvPr id="60491" name="Rectangle 170"/>
                <p:cNvSpPr>
                  <a:spLocks noChangeArrowheads="1"/>
                </p:cNvSpPr>
                <p:nvPr/>
              </p:nvSpPr>
              <p:spPr bwMode="auto">
                <a:xfrm>
                  <a:off x="484" y="2688"/>
                  <a:ext cx="732"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8" name="Group 171"/>
              <p:cNvGrpSpPr>
                <a:grpSpLocks/>
              </p:cNvGrpSpPr>
              <p:nvPr/>
            </p:nvGrpSpPr>
            <p:grpSpPr bwMode="auto">
              <a:xfrm>
                <a:off x="1216" y="2688"/>
                <a:ext cx="672" cy="384"/>
                <a:chOff x="1216" y="2688"/>
                <a:chExt cx="672" cy="384"/>
              </a:xfrm>
            </p:grpSpPr>
            <p:sp>
              <p:nvSpPr>
                <p:cNvPr id="60488" name="Rectangle 172"/>
                <p:cNvSpPr>
                  <a:spLocks noChangeArrowheads="1"/>
                </p:cNvSpPr>
                <p:nvPr/>
              </p:nvSpPr>
              <p:spPr bwMode="auto">
                <a:xfrm>
                  <a:off x="1259" y="2688"/>
                  <a:ext cx="5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IT</a:t>
                  </a:r>
                </a:p>
                <a:p>
                  <a:endParaRPr lang="en-GB" sz="1300">
                    <a:latin typeface="Times New Roman" panose="02020603050405020304" pitchFamily="18" charset="0"/>
                  </a:endParaRPr>
                </a:p>
              </p:txBody>
            </p:sp>
            <p:sp>
              <p:nvSpPr>
                <p:cNvPr id="60489" name="Rectangle 173"/>
                <p:cNvSpPr>
                  <a:spLocks noChangeArrowheads="1"/>
                </p:cNvSpPr>
                <p:nvPr/>
              </p:nvSpPr>
              <p:spPr bwMode="auto">
                <a:xfrm>
                  <a:off x="1216" y="2688"/>
                  <a:ext cx="672"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39" name="Group 174"/>
              <p:cNvGrpSpPr>
                <a:grpSpLocks/>
              </p:cNvGrpSpPr>
              <p:nvPr/>
            </p:nvGrpSpPr>
            <p:grpSpPr bwMode="auto">
              <a:xfrm>
                <a:off x="1888" y="2688"/>
                <a:ext cx="596" cy="384"/>
                <a:chOff x="1888" y="2688"/>
                <a:chExt cx="596" cy="384"/>
              </a:xfrm>
            </p:grpSpPr>
            <p:sp>
              <p:nvSpPr>
                <p:cNvPr id="60486" name="Rectangle 175"/>
                <p:cNvSpPr>
                  <a:spLocks noChangeArrowheads="1"/>
                </p:cNvSpPr>
                <p:nvPr/>
              </p:nvSpPr>
              <p:spPr bwMode="auto">
                <a:xfrm>
                  <a:off x="1931" y="2688"/>
                  <a:ext cx="51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30 Jul 1990</a:t>
                  </a:r>
                </a:p>
                <a:p>
                  <a:endParaRPr lang="en-GB" sz="1300">
                    <a:latin typeface="Times New Roman" panose="02020603050405020304" pitchFamily="18" charset="0"/>
                  </a:endParaRPr>
                </a:p>
              </p:txBody>
            </p:sp>
            <p:sp>
              <p:nvSpPr>
                <p:cNvPr id="60487" name="Rectangle 176"/>
                <p:cNvSpPr>
                  <a:spLocks noChangeArrowheads="1"/>
                </p:cNvSpPr>
                <p:nvPr/>
              </p:nvSpPr>
              <p:spPr bwMode="auto">
                <a:xfrm>
                  <a:off x="1888" y="2688"/>
                  <a:ext cx="596"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40" name="Group 177"/>
              <p:cNvGrpSpPr>
                <a:grpSpLocks/>
              </p:cNvGrpSpPr>
              <p:nvPr/>
            </p:nvGrpSpPr>
            <p:grpSpPr bwMode="auto">
              <a:xfrm>
                <a:off x="2484" y="2688"/>
                <a:ext cx="483" cy="384"/>
                <a:chOff x="2484" y="2688"/>
                <a:chExt cx="483" cy="384"/>
              </a:xfrm>
            </p:grpSpPr>
            <p:sp>
              <p:nvSpPr>
                <p:cNvPr id="60484" name="Rectangle 178"/>
                <p:cNvSpPr>
                  <a:spLocks noChangeArrowheads="1"/>
                </p:cNvSpPr>
                <p:nvPr/>
              </p:nvSpPr>
              <p:spPr bwMode="auto">
                <a:xfrm>
                  <a:off x="2527" y="2688"/>
                  <a:ext cx="39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28</a:t>
                  </a:r>
                </a:p>
                <a:p>
                  <a:endParaRPr lang="en-GB" sz="1300">
                    <a:latin typeface="Times New Roman" panose="02020603050405020304" pitchFamily="18" charset="0"/>
                  </a:endParaRPr>
                </a:p>
              </p:txBody>
            </p:sp>
            <p:sp>
              <p:nvSpPr>
                <p:cNvPr id="60485" name="Rectangle 179"/>
                <p:cNvSpPr>
                  <a:spLocks noChangeArrowheads="1"/>
                </p:cNvSpPr>
                <p:nvPr/>
              </p:nvSpPr>
              <p:spPr bwMode="auto">
                <a:xfrm>
                  <a:off x="2484" y="2688"/>
                  <a:ext cx="483"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41" name="Group 180"/>
              <p:cNvGrpSpPr>
                <a:grpSpLocks/>
              </p:cNvGrpSpPr>
              <p:nvPr/>
            </p:nvGrpSpPr>
            <p:grpSpPr bwMode="auto">
              <a:xfrm>
                <a:off x="2967" y="2688"/>
                <a:ext cx="426" cy="384"/>
                <a:chOff x="2967" y="2688"/>
                <a:chExt cx="426" cy="384"/>
              </a:xfrm>
            </p:grpSpPr>
            <p:sp>
              <p:nvSpPr>
                <p:cNvPr id="60482" name="Rectangle 181"/>
                <p:cNvSpPr>
                  <a:spLocks noChangeArrowheads="1"/>
                </p:cNvSpPr>
                <p:nvPr/>
              </p:nvSpPr>
              <p:spPr bwMode="auto">
                <a:xfrm>
                  <a:off x="3010" y="2688"/>
                  <a:ext cx="3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2</a:t>
                  </a:r>
                </a:p>
                <a:p>
                  <a:endParaRPr lang="en-GB" sz="1300">
                    <a:latin typeface="Times New Roman" panose="02020603050405020304" pitchFamily="18" charset="0"/>
                  </a:endParaRPr>
                </a:p>
              </p:txBody>
            </p:sp>
            <p:sp>
              <p:nvSpPr>
                <p:cNvPr id="60483" name="Rectangle 182"/>
                <p:cNvSpPr>
                  <a:spLocks noChangeArrowheads="1"/>
                </p:cNvSpPr>
                <p:nvPr/>
              </p:nvSpPr>
              <p:spPr bwMode="auto">
                <a:xfrm>
                  <a:off x="2967" y="2688"/>
                  <a:ext cx="426"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42" name="Group 183"/>
              <p:cNvGrpSpPr>
                <a:grpSpLocks/>
              </p:cNvGrpSpPr>
              <p:nvPr/>
            </p:nvGrpSpPr>
            <p:grpSpPr bwMode="auto">
              <a:xfrm>
                <a:off x="3393" y="2688"/>
                <a:ext cx="479" cy="384"/>
                <a:chOff x="3393" y="2688"/>
                <a:chExt cx="479" cy="384"/>
              </a:xfrm>
            </p:grpSpPr>
            <p:sp>
              <p:nvSpPr>
                <p:cNvPr id="60480" name="Rectangle 184"/>
                <p:cNvSpPr>
                  <a:spLocks noChangeArrowheads="1"/>
                </p:cNvSpPr>
                <p:nvPr/>
              </p:nvSpPr>
              <p:spPr bwMode="auto">
                <a:xfrm>
                  <a:off x="3436" y="2688"/>
                  <a:ext cx="39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a:latin typeface="Times New Roman" panose="02020603050405020304" pitchFamily="18" charset="0"/>
                      <a:cs typeface="Times New Roman" panose="02020603050405020304" pitchFamily="18" charset="0"/>
                    </a:rPr>
                    <a:t>3.27</a:t>
                  </a:r>
                </a:p>
                <a:p>
                  <a:endParaRPr lang="en-GB" sz="1300">
                    <a:latin typeface="Times New Roman" panose="02020603050405020304" pitchFamily="18" charset="0"/>
                  </a:endParaRPr>
                </a:p>
              </p:txBody>
            </p:sp>
            <p:sp>
              <p:nvSpPr>
                <p:cNvPr id="60481" name="Rectangle 185"/>
                <p:cNvSpPr>
                  <a:spLocks noChangeArrowheads="1"/>
                </p:cNvSpPr>
                <p:nvPr/>
              </p:nvSpPr>
              <p:spPr bwMode="auto">
                <a:xfrm>
                  <a:off x="3393" y="2688"/>
                  <a:ext cx="479"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0443" name="Group 186"/>
              <p:cNvGrpSpPr>
                <a:grpSpLocks/>
              </p:cNvGrpSpPr>
              <p:nvPr/>
            </p:nvGrpSpPr>
            <p:grpSpPr bwMode="auto">
              <a:xfrm>
                <a:off x="3872" y="2688"/>
                <a:ext cx="533" cy="384"/>
                <a:chOff x="3872" y="2688"/>
                <a:chExt cx="533" cy="384"/>
              </a:xfrm>
            </p:grpSpPr>
            <p:sp>
              <p:nvSpPr>
                <p:cNvPr id="60478" name="Rectangle 187"/>
                <p:cNvSpPr>
                  <a:spLocks noChangeArrowheads="1"/>
                </p:cNvSpPr>
                <p:nvPr/>
              </p:nvSpPr>
              <p:spPr bwMode="auto">
                <a:xfrm>
                  <a:off x="3915" y="2688"/>
                  <a:ext cx="44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300" dirty="0">
                      <a:latin typeface="Times New Roman" panose="02020603050405020304" pitchFamily="18" charset="0"/>
                      <a:cs typeface="Times New Roman" panose="02020603050405020304" pitchFamily="18" charset="0"/>
                    </a:rPr>
                    <a:t>26</a:t>
                  </a:r>
                </a:p>
                <a:p>
                  <a:endParaRPr lang="en-GB" sz="1300" dirty="0">
                    <a:latin typeface="Times New Roman" panose="02020603050405020304" pitchFamily="18" charset="0"/>
                  </a:endParaRPr>
                </a:p>
              </p:txBody>
            </p:sp>
            <p:sp>
              <p:nvSpPr>
                <p:cNvPr id="60479" name="Rectangle 188"/>
                <p:cNvSpPr>
                  <a:spLocks noChangeArrowheads="1"/>
                </p:cNvSpPr>
                <p:nvPr/>
              </p:nvSpPr>
              <p:spPr bwMode="auto">
                <a:xfrm>
                  <a:off x="3872" y="2688"/>
                  <a:ext cx="533" cy="384"/>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sp>
          <p:nvSpPr>
            <p:cNvPr id="60421" name="Rectangle 189"/>
            <p:cNvSpPr>
              <a:spLocks noChangeArrowheads="1"/>
            </p:cNvSpPr>
            <p:nvPr/>
          </p:nvSpPr>
          <p:spPr bwMode="auto">
            <a:xfrm>
              <a:off x="-3" y="-3"/>
              <a:ext cx="4411" cy="3078"/>
            </a:xfrm>
            <a:prstGeom prst="rect">
              <a:avLst/>
            </a:prstGeom>
            <a:noFill/>
            <a:ln w="9525">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spTree>
    <p:extLst>
      <p:ext uri="{BB962C8B-B14F-4D97-AF65-F5344CB8AC3E}">
        <p14:creationId xmlns:p14="http://schemas.microsoft.com/office/powerpoint/2010/main" val="2894183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56260" y="1642030"/>
            <a:ext cx="7560840" cy="4648200"/>
            <a:chOff x="-3" y="-3"/>
            <a:chExt cx="4464" cy="3633"/>
          </a:xfrm>
        </p:grpSpPr>
        <p:grpSp>
          <p:nvGrpSpPr>
            <p:cNvPr id="3" name="Group 3"/>
            <p:cNvGrpSpPr>
              <a:grpSpLocks/>
            </p:cNvGrpSpPr>
            <p:nvPr/>
          </p:nvGrpSpPr>
          <p:grpSpPr bwMode="auto">
            <a:xfrm>
              <a:off x="0" y="0"/>
              <a:ext cx="4458" cy="3627"/>
              <a:chOff x="0" y="0"/>
              <a:chExt cx="4458" cy="3627"/>
            </a:xfrm>
          </p:grpSpPr>
          <p:grpSp>
            <p:nvGrpSpPr>
              <p:cNvPr id="4" name="Group 4"/>
              <p:cNvGrpSpPr>
                <a:grpSpLocks/>
              </p:cNvGrpSpPr>
              <p:nvPr/>
            </p:nvGrpSpPr>
            <p:grpSpPr bwMode="auto">
              <a:xfrm>
                <a:off x="0" y="0"/>
                <a:ext cx="743" cy="403"/>
                <a:chOff x="0" y="0"/>
                <a:chExt cx="743" cy="403"/>
              </a:xfrm>
            </p:grpSpPr>
            <p:sp>
              <p:nvSpPr>
                <p:cNvPr id="61606" name="Rectangle 5"/>
                <p:cNvSpPr>
                  <a:spLocks noChangeArrowheads="1"/>
                </p:cNvSpPr>
                <p:nvPr/>
              </p:nvSpPr>
              <p:spPr bwMode="auto">
                <a:xfrm>
                  <a:off x="43" y="0"/>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600">
                      <a:latin typeface="Times New Roman" panose="02020603050405020304" pitchFamily="18" charset="0"/>
                      <a:cs typeface="Times New Roman" panose="02020603050405020304" pitchFamily="18" charset="0"/>
                    </a:rPr>
                    <a:t>Attribute</a:t>
                  </a:r>
                  <a:endParaRPr lang="en-GB" sz="1600">
                    <a:latin typeface="Times New Roman" panose="02020603050405020304" pitchFamily="18" charset="0"/>
                  </a:endParaRPr>
                </a:p>
              </p:txBody>
            </p:sp>
            <p:sp>
              <p:nvSpPr>
                <p:cNvPr id="61607" name="Rectangle 6"/>
                <p:cNvSpPr>
                  <a:spLocks noChangeArrowheads="1"/>
                </p:cNvSpPr>
                <p:nvPr/>
              </p:nvSpPr>
              <p:spPr bwMode="auto">
                <a:xfrm>
                  <a:off x="0" y="0"/>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5" name="Group 7"/>
              <p:cNvGrpSpPr>
                <a:grpSpLocks/>
              </p:cNvGrpSpPr>
              <p:nvPr/>
            </p:nvGrpSpPr>
            <p:grpSpPr bwMode="auto">
              <a:xfrm>
                <a:off x="743" y="0"/>
                <a:ext cx="743" cy="403"/>
                <a:chOff x="743" y="0"/>
                <a:chExt cx="743" cy="403"/>
              </a:xfrm>
            </p:grpSpPr>
            <p:sp>
              <p:nvSpPr>
                <p:cNvPr id="61604" name="Rectangle 8"/>
                <p:cNvSpPr>
                  <a:spLocks noChangeArrowheads="1"/>
                </p:cNvSpPr>
                <p:nvPr/>
              </p:nvSpPr>
              <p:spPr bwMode="auto">
                <a:xfrm>
                  <a:off x="786" y="0"/>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600">
                      <a:latin typeface="Times New Roman" panose="02020603050405020304" pitchFamily="18" charset="0"/>
                      <a:cs typeface="Times New Roman" panose="02020603050405020304" pitchFamily="18" charset="0"/>
                    </a:rPr>
                    <a:t>simple</a:t>
                  </a:r>
                </a:p>
                <a:p>
                  <a:pPr algn="ctr"/>
                  <a:endParaRPr lang="en-GB" sz="1600">
                    <a:latin typeface="Times New Roman" panose="02020603050405020304" pitchFamily="18" charset="0"/>
                  </a:endParaRPr>
                </a:p>
              </p:txBody>
            </p:sp>
            <p:sp>
              <p:nvSpPr>
                <p:cNvPr id="61605" name="Rectangle 9"/>
                <p:cNvSpPr>
                  <a:spLocks noChangeArrowheads="1"/>
                </p:cNvSpPr>
                <p:nvPr/>
              </p:nvSpPr>
              <p:spPr bwMode="auto">
                <a:xfrm>
                  <a:off x="743" y="0"/>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 name="Group 10"/>
              <p:cNvGrpSpPr>
                <a:grpSpLocks/>
              </p:cNvGrpSpPr>
              <p:nvPr/>
            </p:nvGrpSpPr>
            <p:grpSpPr bwMode="auto">
              <a:xfrm>
                <a:off x="1486" y="0"/>
                <a:ext cx="743" cy="403"/>
                <a:chOff x="1486" y="0"/>
                <a:chExt cx="743" cy="403"/>
              </a:xfrm>
            </p:grpSpPr>
            <p:sp>
              <p:nvSpPr>
                <p:cNvPr id="61602" name="Rectangle 11"/>
                <p:cNvSpPr>
                  <a:spLocks noChangeArrowheads="1"/>
                </p:cNvSpPr>
                <p:nvPr/>
              </p:nvSpPr>
              <p:spPr bwMode="auto">
                <a:xfrm>
                  <a:off x="1529" y="0"/>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600">
                      <a:latin typeface="Times New Roman" panose="02020603050405020304" pitchFamily="18" charset="0"/>
                      <a:cs typeface="Times New Roman" panose="02020603050405020304" pitchFamily="18" charset="0"/>
                    </a:rPr>
                    <a:t>single-valued</a:t>
                  </a:r>
                </a:p>
                <a:p>
                  <a:pPr algn="ctr"/>
                  <a:endParaRPr lang="en-GB" sz="1600">
                    <a:latin typeface="Times New Roman" panose="02020603050405020304" pitchFamily="18" charset="0"/>
                  </a:endParaRPr>
                </a:p>
              </p:txBody>
            </p:sp>
            <p:sp>
              <p:nvSpPr>
                <p:cNvPr id="61603" name="Rectangle 12"/>
                <p:cNvSpPr>
                  <a:spLocks noChangeArrowheads="1"/>
                </p:cNvSpPr>
                <p:nvPr/>
              </p:nvSpPr>
              <p:spPr bwMode="auto">
                <a:xfrm>
                  <a:off x="1486" y="0"/>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7" name="Group 13"/>
              <p:cNvGrpSpPr>
                <a:grpSpLocks/>
              </p:cNvGrpSpPr>
              <p:nvPr/>
            </p:nvGrpSpPr>
            <p:grpSpPr bwMode="auto">
              <a:xfrm>
                <a:off x="2229" y="0"/>
                <a:ext cx="743" cy="403"/>
                <a:chOff x="2229" y="0"/>
                <a:chExt cx="743" cy="403"/>
              </a:xfrm>
            </p:grpSpPr>
            <p:sp>
              <p:nvSpPr>
                <p:cNvPr id="61600" name="Rectangle 14"/>
                <p:cNvSpPr>
                  <a:spLocks noChangeArrowheads="1"/>
                </p:cNvSpPr>
                <p:nvPr/>
              </p:nvSpPr>
              <p:spPr bwMode="auto">
                <a:xfrm>
                  <a:off x="2272" y="0"/>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600">
                      <a:latin typeface="Times New Roman" panose="02020603050405020304" pitchFamily="18" charset="0"/>
                      <a:cs typeface="Times New Roman" panose="02020603050405020304" pitchFamily="18" charset="0"/>
                    </a:rPr>
                    <a:t>composite</a:t>
                  </a:r>
                </a:p>
                <a:p>
                  <a:pPr algn="ctr"/>
                  <a:endParaRPr lang="en-GB" sz="1600">
                    <a:latin typeface="Times New Roman" panose="02020603050405020304" pitchFamily="18" charset="0"/>
                  </a:endParaRPr>
                </a:p>
              </p:txBody>
            </p:sp>
            <p:sp>
              <p:nvSpPr>
                <p:cNvPr id="61601" name="Rectangle 15"/>
                <p:cNvSpPr>
                  <a:spLocks noChangeArrowheads="1"/>
                </p:cNvSpPr>
                <p:nvPr/>
              </p:nvSpPr>
              <p:spPr bwMode="auto">
                <a:xfrm>
                  <a:off x="2229" y="0"/>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8" name="Group 16"/>
              <p:cNvGrpSpPr>
                <a:grpSpLocks/>
              </p:cNvGrpSpPr>
              <p:nvPr/>
            </p:nvGrpSpPr>
            <p:grpSpPr bwMode="auto">
              <a:xfrm>
                <a:off x="2972" y="0"/>
                <a:ext cx="743" cy="403"/>
                <a:chOff x="2972" y="0"/>
                <a:chExt cx="743" cy="403"/>
              </a:xfrm>
            </p:grpSpPr>
            <p:sp>
              <p:nvSpPr>
                <p:cNvPr id="61598" name="Rectangle 17"/>
                <p:cNvSpPr>
                  <a:spLocks noChangeArrowheads="1"/>
                </p:cNvSpPr>
                <p:nvPr/>
              </p:nvSpPr>
              <p:spPr bwMode="auto">
                <a:xfrm>
                  <a:off x="3015" y="0"/>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600">
                      <a:latin typeface="Times New Roman" panose="02020603050405020304" pitchFamily="18" charset="0"/>
                      <a:cs typeface="Times New Roman" panose="02020603050405020304" pitchFamily="18" charset="0"/>
                    </a:rPr>
                    <a:t>multivalued</a:t>
                  </a:r>
                  <a:endParaRPr lang="en-GB" sz="1600">
                    <a:latin typeface="Times New Roman" panose="02020603050405020304" pitchFamily="18" charset="0"/>
                  </a:endParaRPr>
                </a:p>
              </p:txBody>
            </p:sp>
            <p:sp>
              <p:nvSpPr>
                <p:cNvPr id="61599" name="Rectangle 18"/>
                <p:cNvSpPr>
                  <a:spLocks noChangeArrowheads="1"/>
                </p:cNvSpPr>
                <p:nvPr/>
              </p:nvSpPr>
              <p:spPr bwMode="auto">
                <a:xfrm>
                  <a:off x="2972" y="0"/>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9" name="Group 19"/>
              <p:cNvGrpSpPr>
                <a:grpSpLocks/>
              </p:cNvGrpSpPr>
              <p:nvPr/>
            </p:nvGrpSpPr>
            <p:grpSpPr bwMode="auto">
              <a:xfrm>
                <a:off x="3715" y="0"/>
                <a:ext cx="743" cy="403"/>
                <a:chOff x="3715" y="0"/>
                <a:chExt cx="743" cy="403"/>
              </a:xfrm>
            </p:grpSpPr>
            <p:sp>
              <p:nvSpPr>
                <p:cNvPr id="61596" name="Rectangle 20"/>
                <p:cNvSpPr>
                  <a:spLocks noChangeArrowheads="1"/>
                </p:cNvSpPr>
                <p:nvPr/>
              </p:nvSpPr>
              <p:spPr bwMode="auto">
                <a:xfrm>
                  <a:off x="3758" y="0"/>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600">
                      <a:latin typeface="Times New Roman" panose="02020603050405020304" pitchFamily="18" charset="0"/>
                      <a:cs typeface="Times New Roman" panose="02020603050405020304" pitchFamily="18" charset="0"/>
                    </a:rPr>
                    <a:t>derived</a:t>
                  </a:r>
                  <a:endParaRPr lang="en-GB" sz="1600">
                    <a:latin typeface="Times New Roman" panose="02020603050405020304" pitchFamily="18" charset="0"/>
                  </a:endParaRPr>
                </a:p>
              </p:txBody>
            </p:sp>
            <p:sp>
              <p:nvSpPr>
                <p:cNvPr id="61597" name="Rectangle 21"/>
                <p:cNvSpPr>
                  <a:spLocks noChangeArrowheads="1"/>
                </p:cNvSpPr>
                <p:nvPr/>
              </p:nvSpPr>
              <p:spPr bwMode="auto">
                <a:xfrm>
                  <a:off x="3715" y="0"/>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0" name="Group 22"/>
              <p:cNvGrpSpPr>
                <a:grpSpLocks/>
              </p:cNvGrpSpPr>
              <p:nvPr/>
            </p:nvGrpSpPr>
            <p:grpSpPr bwMode="auto">
              <a:xfrm>
                <a:off x="0" y="403"/>
                <a:ext cx="743" cy="403"/>
                <a:chOff x="0" y="403"/>
                <a:chExt cx="743" cy="403"/>
              </a:xfrm>
            </p:grpSpPr>
            <p:sp>
              <p:nvSpPr>
                <p:cNvPr id="61594" name="Rectangle 23"/>
                <p:cNvSpPr>
                  <a:spLocks noChangeArrowheads="1"/>
                </p:cNvSpPr>
                <p:nvPr/>
              </p:nvSpPr>
              <p:spPr bwMode="auto">
                <a:xfrm>
                  <a:off x="43" y="403"/>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stuNum</a:t>
                  </a:r>
                </a:p>
                <a:p>
                  <a:endParaRPr lang="en-GB" sz="1600">
                    <a:latin typeface="Times New Roman" panose="02020603050405020304" pitchFamily="18" charset="0"/>
                  </a:endParaRPr>
                </a:p>
              </p:txBody>
            </p:sp>
            <p:sp>
              <p:nvSpPr>
                <p:cNvPr id="61595" name="Rectangle 24"/>
                <p:cNvSpPr>
                  <a:spLocks noChangeArrowheads="1"/>
                </p:cNvSpPr>
                <p:nvPr/>
              </p:nvSpPr>
              <p:spPr bwMode="auto">
                <a:xfrm>
                  <a:off x="0" y="403"/>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1" name="Group 25"/>
              <p:cNvGrpSpPr>
                <a:grpSpLocks/>
              </p:cNvGrpSpPr>
              <p:nvPr/>
            </p:nvGrpSpPr>
            <p:grpSpPr bwMode="auto">
              <a:xfrm>
                <a:off x="743" y="403"/>
                <a:ext cx="743" cy="403"/>
                <a:chOff x="743" y="403"/>
                <a:chExt cx="743" cy="403"/>
              </a:xfrm>
            </p:grpSpPr>
            <p:sp>
              <p:nvSpPr>
                <p:cNvPr id="61592" name="Rectangle 26"/>
                <p:cNvSpPr>
                  <a:spLocks noChangeArrowheads="1"/>
                </p:cNvSpPr>
                <p:nvPr/>
              </p:nvSpPr>
              <p:spPr bwMode="auto">
                <a:xfrm>
                  <a:off x="786" y="403"/>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93" name="Rectangle 27"/>
                <p:cNvSpPr>
                  <a:spLocks noChangeArrowheads="1"/>
                </p:cNvSpPr>
                <p:nvPr/>
              </p:nvSpPr>
              <p:spPr bwMode="auto">
                <a:xfrm>
                  <a:off x="743" y="403"/>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2" name="Group 28"/>
              <p:cNvGrpSpPr>
                <a:grpSpLocks/>
              </p:cNvGrpSpPr>
              <p:nvPr/>
            </p:nvGrpSpPr>
            <p:grpSpPr bwMode="auto">
              <a:xfrm>
                <a:off x="1486" y="403"/>
                <a:ext cx="743" cy="403"/>
                <a:chOff x="1486" y="403"/>
                <a:chExt cx="743" cy="403"/>
              </a:xfrm>
            </p:grpSpPr>
            <p:sp>
              <p:nvSpPr>
                <p:cNvPr id="61590" name="Rectangle 29"/>
                <p:cNvSpPr>
                  <a:spLocks noChangeArrowheads="1"/>
                </p:cNvSpPr>
                <p:nvPr/>
              </p:nvSpPr>
              <p:spPr bwMode="auto">
                <a:xfrm>
                  <a:off x="1529" y="403"/>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91" name="Rectangle 30"/>
                <p:cNvSpPr>
                  <a:spLocks noChangeArrowheads="1"/>
                </p:cNvSpPr>
                <p:nvPr/>
              </p:nvSpPr>
              <p:spPr bwMode="auto">
                <a:xfrm>
                  <a:off x="1486" y="403"/>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3" name="Group 31"/>
              <p:cNvGrpSpPr>
                <a:grpSpLocks/>
              </p:cNvGrpSpPr>
              <p:nvPr/>
            </p:nvGrpSpPr>
            <p:grpSpPr bwMode="auto">
              <a:xfrm>
                <a:off x="2229" y="403"/>
                <a:ext cx="743" cy="403"/>
                <a:chOff x="2229" y="403"/>
                <a:chExt cx="743" cy="403"/>
              </a:xfrm>
            </p:grpSpPr>
            <p:sp>
              <p:nvSpPr>
                <p:cNvPr id="61588" name="Rectangle 32"/>
                <p:cNvSpPr>
                  <a:spLocks noChangeArrowheads="1"/>
                </p:cNvSpPr>
                <p:nvPr/>
              </p:nvSpPr>
              <p:spPr bwMode="auto">
                <a:xfrm>
                  <a:off x="2272" y="403"/>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89" name="Rectangle 33"/>
                <p:cNvSpPr>
                  <a:spLocks noChangeArrowheads="1"/>
                </p:cNvSpPr>
                <p:nvPr/>
              </p:nvSpPr>
              <p:spPr bwMode="auto">
                <a:xfrm>
                  <a:off x="2229" y="403"/>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4" name="Group 34"/>
              <p:cNvGrpSpPr>
                <a:grpSpLocks/>
              </p:cNvGrpSpPr>
              <p:nvPr/>
            </p:nvGrpSpPr>
            <p:grpSpPr bwMode="auto">
              <a:xfrm>
                <a:off x="2972" y="403"/>
                <a:ext cx="743" cy="403"/>
                <a:chOff x="2972" y="403"/>
                <a:chExt cx="743" cy="403"/>
              </a:xfrm>
            </p:grpSpPr>
            <p:sp>
              <p:nvSpPr>
                <p:cNvPr id="61586" name="Rectangle 35"/>
                <p:cNvSpPr>
                  <a:spLocks noChangeArrowheads="1"/>
                </p:cNvSpPr>
                <p:nvPr/>
              </p:nvSpPr>
              <p:spPr bwMode="auto">
                <a:xfrm>
                  <a:off x="3015" y="403"/>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87" name="Rectangle 36"/>
                <p:cNvSpPr>
                  <a:spLocks noChangeArrowheads="1"/>
                </p:cNvSpPr>
                <p:nvPr/>
              </p:nvSpPr>
              <p:spPr bwMode="auto">
                <a:xfrm>
                  <a:off x="2972" y="403"/>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5" name="Group 37"/>
              <p:cNvGrpSpPr>
                <a:grpSpLocks/>
              </p:cNvGrpSpPr>
              <p:nvPr/>
            </p:nvGrpSpPr>
            <p:grpSpPr bwMode="auto">
              <a:xfrm>
                <a:off x="3715" y="403"/>
                <a:ext cx="743" cy="403"/>
                <a:chOff x="3715" y="403"/>
                <a:chExt cx="743" cy="403"/>
              </a:xfrm>
            </p:grpSpPr>
            <p:sp>
              <p:nvSpPr>
                <p:cNvPr id="61584" name="Rectangle 38"/>
                <p:cNvSpPr>
                  <a:spLocks noChangeArrowheads="1"/>
                </p:cNvSpPr>
                <p:nvPr/>
              </p:nvSpPr>
              <p:spPr bwMode="auto">
                <a:xfrm>
                  <a:off x="3758" y="403"/>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85" name="Rectangle 39"/>
                <p:cNvSpPr>
                  <a:spLocks noChangeArrowheads="1"/>
                </p:cNvSpPr>
                <p:nvPr/>
              </p:nvSpPr>
              <p:spPr bwMode="auto">
                <a:xfrm>
                  <a:off x="3715" y="403"/>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6" name="Group 40"/>
              <p:cNvGrpSpPr>
                <a:grpSpLocks/>
              </p:cNvGrpSpPr>
              <p:nvPr/>
            </p:nvGrpSpPr>
            <p:grpSpPr bwMode="auto">
              <a:xfrm>
                <a:off x="0" y="806"/>
                <a:ext cx="743" cy="403"/>
                <a:chOff x="0" y="806"/>
                <a:chExt cx="743" cy="403"/>
              </a:xfrm>
            </p:grpSpPr>
            <p:sp>
              <p:nvSpPr>
                <p:cNvPr id="61582" name="Rectangle 41"/>
                <p:cNvSpPr>
                  <a:spLocks noChangeArrowheads="1"/>
                </p:cNvSpPr>
                <p:nvPr/>
              </p:nvSpPr>
              <p:spPr bwMode="auto">
                <a:xfrm>
                  <a:off x="43" y="806"/>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stuName</a:t>
                  </a:r>
                </a:p>
                <a:p>
                  <a:endParaRPr lang="en-GB" sz="1600">
                    <a:latin typeface="Times New Roman" panose="02020603050405020304" pitchFamily="18" charset="0"/>
                  </a:endParaRPr>
                </a:p>
              </p:txBody>
            </p:sp>
            <p:sp>
              <p:nvSpPr>
                <p:cNvPr id="61583" name="Rectangle 42"/>
                <p:cNvSpPr>
                  <a:spLocks noChangeArrowheads="1"/>
                </p:cNvSpPr>
                <p:nvPr/>
              </p:nvSpPr>
              <p:spPr bwMode="auto">
                <a:xfrm>
                  <a:off x="0" y="806"/>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7" name="Group 43"/>
              <p:cNvGrpSpPr>
                <a:grpSpLocks/>
              </p:cNvGrpSpPr>
              <p:nvPr/>
            </p:nvGrpSpPr>
            <p:grpSpPr bwMode="auto">
              <a:xfrm>
                <a:off x="743" y="806"/>
                <a:ext cx="743" cy="403"/>
                <a:chOff x="743" y="806"/>
                <a:chExt cx="743" cy="403"/>
              </a:xfrm>
            </p:grpSpPr>
            <p:sp>
              <p:nvSpPr>
                <p:cNvPr id="61580" name="Rectangle 44"/>
                <p:cNvSpPr>
                  <a:spLocks noChangeArrowheads="1"/>
                </p:cNvSpPr>
                <p:nvPr/>
              </p:nvSpPr>
              <p:spPr bwMode="auto">
                <a:xfrm>
                  <a:off x="786" y="806"/>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81" name="Rectangle 45"/>
                <p:cNvSpPr>
                  <a:spLocks noChangeArrowheads="1"/>
                </p:cNvSpPr>
                <p:nvPr/>
              </p:nvSpPr>
              <p:spPr bwMode="auto">
                <a:xfrm>
                  <a:off x="743" y="806"/>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8" name="Group 46"/>
              <p:cNvGrpSpPr>
                <a:grpSpLocks/>
              </p:cNvGrpSpPr>
              <p:nvPr/>
            </p:nvGrpSpPr>
            <p:grpSpPr bwMode="auto">
              <a:xfrm>
                <a:off x="1486" y="806"/>
                <a:ext cx="743" cy="403"/>
                <a:chOff x="1486" y="806"/>
                <a:chExt cx="743" cy="403"/>
              </a:xfrm>
            </p:grpSpPr>
            <p:sp>
              <p:nvSpPr>
                <p:cNvPr id="61578" name="Rectangle 47"/>
                <p:cNvSpPr>
                  <a:spLocks noChangeArrowheads="1"/>
                </p:cNvSpPr>
                <p:nvPr/>
              </p:nvSpPr>
              <p:spPr bwMode="auto">
                <a:xfrm>
                  <a:off x="1529" y="806"/>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79" name="Rectangle 48"/>
                <p:cNvSpPr>
                  <a:spLocks noChangeArrowheads="1"/>
                </p:cNvSpPr>
                <p:nvPr/>
              </p:nvSpPr>
              <p:spPr bwMode="auto">
                <a:xfrm>
                  <a:off x="1486" y="806"/>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19" name="Group 49"/>
              <p:cNvGrpSpPr>
                <a:grpSpLocks/>
              </p:cNvGrpSpPr>
              <p:nvPr/>
            </p:nvGrpSpPr>
            <p:grpSpPr bwMode="auto">
              <a:xfrm>
                <a:off x="2229" y="806"/>
                <a:ext cx="743" cy="403"/>
                <a:chOff x="2229" y="806"/>
                <a:chExt cx="743" cy="403"/>
              </a:xfrm>
            </p:grpSpPr>
            <p:sp>
              <p:nvSpPr>
                <p:cNvPr id="61576" name="Rectangle 50"/>
                <p:cNvSpPr>
                  <a:spLocks noChangeArrowheads="1"/>
                </p:cNvSpPr>
                <p:nvPr/>
              </p:nvSpPr>
              <p:spPr bwMode="auto">
                <a:xfrm>
                  <a:off x="2272" y="806"/>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77" name="Rectangle 51"/>
                <p:cNvSpPr>
                  <a:spLocks noChangeArrowheads="1"/>
                </p:cNvSpPr>
                <p:nvPr/>
              </p:nvSpPr>
              <p:spPr bwMode="auto">
                <a:xfrm>
                  <a:off x="2229" y="806"/>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0" name="Group 52"/>
              <p:cNvGrpSpPr>
                <a:grpSpLocks/>
              </p:cNvGrpSpPr>
              <p:nvPr/>
            </p:nvGrpSpPr>
            <p:grpSpPr bwMode="auto">
              <a:xfrm>
                <a:off x="2972" y="806"/>
                <a:ext cx="743" cy="403"/>
                <a:chOff x="2972" y="806"/>
                <a:chExt cx="743" cy="403"/>
              </a:xfrm>
            </p:grpSpPr>
            <p:sp>
              <p:nvSpPr>
                <p:cNvPr id="61574" name="Rectangle 53"/>
                <p:cNvSpPr>
                  <a:spLocks noChangeArrowheads="1"/>
                </p:cNvSpPr>
                <p:nvPr/>
              </p:nvSpPr>
              <p:spPr bwMode="auto">
                <a:xfrm>
                  <a:off x="3015" y="806"/>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75" name="Rectangle 54"/>
                <p:cNvSpPr>
                  <a:spLocks noChangeArrowheads="1"/>
                </p:cNvSpPr>
                <p:nvPr/>
              </p:nvSpPr>
              <p:spPr bwMode="auto">
                <a:xfrm>
                  <a:off x="2972" y="806"/>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1" name="Group 55"/>
              <p:cNvGrpSpPr>
                <a:grpSpLocks/>
              </p:cNvGrpSpPr>
              <p:nvPr/>
            </p:nvGrpSpPr>
            <p:grpSpPr bwMode="auto">
              <a:xfrm>
                <a:off x="3715" y="806"/>
                <a:ext cx="743" cy="403"/>
                <a:chOff x="3715" y="806"/>
                <a:chExt cx="743" cy="403"/>
              </a:xfrm>
            </p:grpSpPr>
            <p:sp>
              <p:nvSpPr>
                <p:cNvPr id="61572" name="Rectangle 56"/>
                <p:cNvSpPr>
                  <a:spLocks noChangeArrowheads="1"/>
                </p:cNvSpPr>
                <p:nvPr/>
              </p:nvSpPr>
              <p:spPr bwMode="auto">
                <a:xfrm>
                  <a:off x="3758" y="806"/>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73" name="Rectangle 57"/>
                <p:cNvSpPr>
                  <a:spLocks noChangeArrowheads="1"/>
                </p:cNvSpPr>
                <p:nvPr/>
              </p:nvSpPr>
              <p:spPr bwMode="auto">
                <a:xfrm>
                  <a:off x="3715" y="806"/>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2" name="Group 58"/>
              <p:cNvGrpSpPr>
                <a:grpSpLocks/>
              </p:cNvGrpSpPr>
              <p:nvPr/>
            </p:nvGrpSpPr>
            <p:grpSpPr bwMode="auto">
              <a:xfrm>
                <a:off x="0" y="1209"/>
                <a:ext cx="743" cy="403"/>
                <a:chOff x="0" y="1209"/>
                <a:chExt cx="743" cy="403"/>
              </a:xfrm>
            </p:grpSpPr>
            <p:sp>
              <p:nvSpPr>
                <p:cNvPr id="61570" name="Rectangle 59"/>
                <p:cNvSpPr>
                  <a:spLocks noChangeArrowheads="1"/>
                </p:cNvSpPr>
                <p:nvPr/>
              </p:nvSpPr>
              <p:spPr bwMode="auto">
                <a:xfrm>
                  <a:off x="43" y="1209"/>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stuMajor</a:t>
                  </a:r>
                </a:p>
                <a:p>
                  <a:endParaRPr lang="en-GB" sz="1600">
                    <a:latin typeface="Times New Roman" panose="02020603050405020304" pitchFamily="18" charset="0"/>
                  </a:endParaRPr>
                </a:p>
              </p:txBody>
            </p:sp>
            <p:sp>
              <p:nvSpPr>
                <p:cNvPr id="61571" name="Rectangle 60"/>
                <p:cNvSpPr>
                  <a:spLocks noChangeArrowheads="1"/>
                </p:cNvSpPr>
                <p:nvPr/>
              </p:nvSpPr>
              <p:spPr bwMode="auto">
                <a:xfrm>
                  <a:off x="0" y="1209"/>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3" name="Group 61"/>
              <p:cNvGrpSpPr>
                <a:grpSpLocks/>
              </p:cNvGrpSpPr>
              <p:nvPr/>
            </p:nvGrpSpPr>
            <p:grpSpPr bwMode="auto">
              <a:xfrm>
                <a:off x="743" y="1209"/>
                <a:ext cx="743" cy="403"/>
                <a:chOff x="743" y="1209"/>
                <a:chExt cx="743" cy="403"/>
              </a:xfrm>
            </p:grpSpPr>
            <p:sp>
              <p:nvSpPr>
                <p:cNvPr id="61568" name="Rectangle 62"/>
                <p:cNvSpPr>
                  <a:spLocks noChangeArrowheads="1"/>
                </p:cNvSpPr>
                <p:nvPr/>
              </p:nvSpPr>
              <p:spPr bwMode="auto">
                <a:xfrm>
                  <a:off x="786" y="1209"/>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69" name="Rectangle 63"/>
                <p:cNvSpPr>
                  <a:spLocks noChangeArrowheads="1"/>
                </p:cNvSpPr>
                <p:nvPr/>
              </p:nvSpPr>
              <p:spPr bwMode="auto">
                <a:xfrm>
                  <a:off x="743" y="1209"/>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4" name="Group 64"/>
              <p:cNvGrpSpPr>
                <a:grpSpLocks/>
              </p:cNvGrpSpPr>
              <p:nvPr/>
            </p:nvGrpSpPr>
            <p:grpSpPr bwMode="auto">
              <a:xfrm>
                <a:off x="1486" y="1209"/>
                <a:ext cx="743" cy="403"/>
                <a:chOff x="1486" y="1209"/>
                <a:chExt cx="743" cy="403"/>
              </a:xfrm>
            </p:grpSpPr>
            <p:sp>
              <p:nvSpPr>
                <p:cNvPr id="61566" name="Rectangle 65"/>
                <p:cNvSpPr>
                  <a:spLocks noChangeArrowheads="1"/>
                </p:cNvSpPr>
                <p:nvPr/>
              </p:nvSpPr>
              <p:spPr bwMode="auto">
                <a:xfrm>
                  <a:off x="1529" y="1209"/>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67" name="Rectangle 66"/>
                <p:cNvSpPr>
                  <a:spLocks noChangeArrowheads="1"/>
                </p:cNvSpPr>
                <p:nvPr/>
              </p:nvSpPr>
              <p:spPr bwMode="auto">
                <a:xfrm>
                  <a:off x="1486" y="1209"/>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5" name="Group 67"/>
              <p:cNvGrpSpPr>
                <a:grpSpLocks/>
              </p:cNvGrpSpPr>
              <p:nvPr/>
            </p:nvGrpSpPr>
            <p:grpSpPr bwMode="auto">
              <a:xfrm>
                <a:off x="2229" y="1209"/>
                <a:ext cx="743" cy="403"/>
                <a:chOff x="2229" y="1209"/>
                <a:chExt cx="743" cy="403"/>
              </a:xfrm>
            </p:grpSpPr>
            <p:sp>
              <p:nvSpPr>
                <p:cNvPr id="61564" name="Rectangle 68"/>
                <p:cNvSpPr>
                  <a:spLocks noChangeArrowheads="1"/>
                </p:cNvSpPr>
                <p:nvPr/>
              </p:nvSpPr>
              <p:spPr bwMode="auto">
                <a:xfrm>
                  <a:off x="2272" y="1209"/>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65" name="Rectangle 69"/>
                <p:cNvSpPr>
                  <a:spLocks noChangeArrowheads="1"/>
                </p:cNvSpPr>
                <p:nvPr/>
              </p:nvSpPr>
              <p:spPr bwMode="auto">
                <a:xfrm>
                  <a:off x="2229" y="1209"/>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6" name="Group 70"/>
              <p:cNvGrpSpPr>
                <a:grpSpLocks/>
              </p:cNvGrpSpPr>
              <p:nvPr/>
            </p:nvGrpSpPr>
            <p:grpSpPr bwMode="auto">
              <a:xfrm>
                <a:off x="2972" y="1209"/>
                <a:ext cx="743" cy="403"/>
                <a:chOff x="2972" y="1209"/>
                <a:chExt cx="743" cy="403"/>
              </a:xfrm>
            </p:grpSpPr>
            <p:sp>
              <p:nvSpPr>
                <p:cNvPr id="61562" name="Rectangle 71"/>
                <p:cNvSpPr>
                  <a:spLocks noChangeArrowheads="1"/>
                </p:cNvSpPr>
                <p:nvPr/>
              </p:nvSpPr>
              <p:spPr bwMode="auto">
                <a:xfrm>
                  <a:off x="3015" y="1209"/>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63" name="Rectangle 72"/>
                <p:cNvSpPr>
                  <a:spLocks noChangeArrowheads="1"/>
                </p:cNvSpPr>
                <p:nvPr/>
              </p:nvSpPr>
              <p:spPr bwMode="auto">
                <a:xfrm>
                  <a:off x="2972" y="1209"/>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7" name="Group 73"/>
              <p:cNvGrpSpPr>
                <a:grpSpLocks/>
              </p:cNvGrpSpPr>
              <p:nvPr/>
            </p:nvGrpSpPr>
            <p:grpSpPr bwMode="auto">
              <a:xfrm>
                <a:off x="3715" y="1209"/>
                <a:ext cx="743" cy="403"/>
                <a:chOff x="3715" y="1209"/>
                <a:chExt cx="743" cy="403"/>
              </a:xfrm>
            </p:grpSpPr>
            <p:sp>
              <p:nvSpPr>
                <p:cNvPr id="61560" name="Rectangle 74"/>
                <p:cNvSpPr>
                  <a:spLocks noChangeArrowheads="1"/>
                </p:cNvSpPr>
                <p:nvPr/>
              </p:nvSpPr>
              <p:spPr bwMode="auto">
                <a:xfrm>
                  <a:off x="3758" y="1209"/>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61" name="Rectangle 75"/>
                <p:cNvSpPr>
                  <a:spLocks noChangeArrowheads="1"/>
                </p:cNvSpPr>
                <p:nvPr/>
              </p:nvSpPr>
              <p:spPr bwMode="auto">
                <a:xfrm>
                  <a:off x="3715" y="1209"/>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8" name="Group 76"/>
              <p:cNvGrpSpPr>
                <a:grpSpLocks/>
              </p:cNvGrpSpPr>
              <p:nvPr/>
            </p:nvGrpSpPr>
            <p:grpSpPr bwMode="auto">
              <a:xfrm>
                <a:off x="0" y="1612"/>
                <a:ext cx="743" cy="403"/>
                <a:chOff x="0" y="1612"/>
                <a:chExt cx="743" cy="403"/>
              </a:xfrm>
            </p:grpSpPr>
            <p:sp>
              <p:nvSpPr>
                <p:cNvPr id="61558" name="Rectangle 77"/>
                <p:cNvSpPr>
                  <a:spLocks noChangeArrowheads="1"/>
                </p:cNvSpPr>
                <p:nvPr/>
              </p:nvSpPr>
              <p:spPr bwMode="auto">
                <a:xfrm>
                  <a:off x="43" y="1612"/>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stuDob</a:t>
                  </a:r>
                </a:p>
                <a:p>
                  <a:endParaRPr lang="en-GB" sz="1600">
                    <a:latin typeface="Times New Roman" panose="02020603050405020304" pitchFamily="18" charset="0"/>
                  </a:endParaRPr>
                </a:p>
              </p:txBody>
            </p:sp>
            <p:sp>
              <p:nvSpPr>
                <p:cNvPr id="61559" name="Rectangle 78"/>
                <p:cNvSpPr>
                  <a:spLocks noChangeArrowheads="1"/>
                </p:cNvSpPr>
                <p:nvPr/>
              </p:nvSpPr>
              <p:spPr bwMode="auto">
                <a:xfrm>
                  <a:off x="0" y="1612"/>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29" name="Group 79"/>
              <p:cNvGrpSpPr>
                <a:grpSpLocks/>
              </p:cNvGrpSpPr>
              <p:nvPr/>
            </p:nvGrpSpPr>
            <p:grpSpPr bwMode="auto">
              <a:xfrm>
                <a:off x="743" y="1612"/>
                <a:ext cx="743" cy="403"/>
                <a:chOff x="743" y="1612"/>
                <a:chExt cx="743" cy="403"/>
              </a:xfrm>
            </p:grpSpPr>
            <p:sp>
              <p:nvSpPr>
                <p:cNvPr id="61556" name="Rectangle 80"/>
                <p:cNvSpPr>
                  <a:spLocks noChangeArrowheads="1"/>
                </p:cNvSpPr>
                <p:nvPr/>
              </p:nvSpPr>
              <p:spPr bwMode="auto">
                <a:xfrm>
                  <a:off x="786" y="1612"/>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57" name="Rectangle 81"/>
                <p:cNvSpPr>
                  <a:spLocks noChangeArrowheads="1"/>
                </p:cNvSpPr>
                <p:nvPr/>
              </p:nvSpPr>
              <p:spPr bwMode="auto">
                <a:xfrm>
                  <a:off x="743" y="1612"/>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30" name="Group 82"/>
              <p:cNvGrpSpPr>
                <a:grpSpLocks/>
              </p:cNvGrpSpPr>
              <p:nvPr/>
            </p:nvGrpSpPr>
            <p:grpSpPr bwMode="auto">
              <a:xfrm>
                <a:off x="1486" y="1612"/>
                <a:ext cx="743" cy="403"/>
                <a:chOff x="1486" y="1612"/>
                <a:chExt cx="743" cy="403"/>
              </a:xfrm>
            </p:grpSpPr>
            <p:sp>
              <p:nvSpPr>
                <p:cNvPr id="61554" name="Rectangle 83"/>
                <p:cNvSpPr>
                  <a:spLocks noChangeArrowheads="1"/>
                </p:cNvSpPr>
                <p:nvPr/>
              </p:nvSpPr>
              <p:spPr bwMode="auto">
                <a:xfrm>
                  <a:off x="1529" y="1612"/>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55" name="Rectangle 84"/>
                <p:cNvSpPr>
                  <a:spLocks noChangeArrowheads="1"/>
                </p:cNvSpPr>
                <p:nvPr/>
              </p:nvSpPr>
              <p:spPr bwMode="auto">
                <a:xfrm>
                  <a:off x="1486" y="1612"/>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31" name="Group 85"/>
              <p:cNvGrpSpPr>
                <a:grpSpLocks/>
              </p:cNvGrpSpPr>
              <p:nvPr/>
            </p:nvGrpSpPr>
            <p:grpSpPr bwMode="auto">
              <a:xfrm>
                <a:off x="2229" y="1612"/>
                <a:ext cx="743" cy="403"/>
                <a:chOff x="2229" y="1612"/>
                <a:chExt cx="743" cy="403"/>
              </a:xfrm>
            </p:grpSpPr>
            <p:sp>
              <p:nvSpPr>
                <p:cNvPr id="61552" name="Rectangle 86"/>
                <p:cNvSpPr>
                  <a:spLocks noChangeArrowheads="1"/>
                </p:cNvSpPr>
                <p:nvPr/>
              </p:nvSpPr>
              <p:spPr bwMode="auto">
                <a:xfrm>
                  <a:off x="2272" y="1612"/>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53" name="Rectangle 87"/>
                <p:cNvSpPr>
                  <a:spLocks noChangeArrowheads="1"/>
                </p:cNvSpPr>
                <p:nvPr/>
              </p:nvSpPr>
              <p:spPr bwMode="auto">
                <a:xfrm>
                  <a:off x="2229" y="1612"/>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08" name="Group 88"/>
              <p:cNvGrpSpPr>
                <a:grpSpLocks/>
              </p:cNvGrpSpPr>
              <p:nvPr/>
            </p:nvGrpSpPr>
            <p:grpSpPr bwMode="auto">
              <a:xfrm>
                <a:off x="2972" y="1612"/>
                <a:ext cx="743" cy="403"/>
                <a:chOff x="2972" y="1612"/>
                <a:chExt cx="743" cy="403"/>
              </a:xfrm>
            </p:grpSpPr>
            <p:sp>
              <p:nvSpPr>
                <p:cNvPr id="61550" name="Rectangle 89"/>
                <p:cNvSpPr>
                  <a:spLocks noChangeArrowheads="1"/>
                </p:cNvSpPr>
                <p:nvPr/>
              </p:nvSpPr>
              <p:spPr bwMode="auto">
                <a:xfrm>
                  <a:off x="3015" y="1612"/>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51" name="Rectangle 90"/>
                <p:cNvSpPr>
                  <a:spLocks noChangeArrowheads="1"/>
                </p:cNvSpPr>
                <p:nvPr/>
              </p:nvSpPr>
              <p:spPr bwMode="auto">
                <a:xfrm>
                  <a:off x="2972" y="1612"/>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09" name="Group 91"/>
              <p:cNvGrpSpPr>
                <a:grpSpLocks/>
              </p:cNvGrpSpPr>
              <p:nvPr/>
            </p:nvGrpSpPr>
            <p:grpSpPr bwMode="auto">
              <a:xfrm>
                <a:off x="3715" y="1612"/>
                <a:ext cx="743" cy="403"/>
                <a:chOff x="3715" y="1612"/>
                <a:chExt cx="743" cy="403"/>
              </a:xfrm>
            </p:grpSpPr>
            <p:sp>
              <p:nvSpPr>
                <p:cNvPr id="61548" name="Rectangle 92"/>
                <p:cNvSpPr>
                  <a:spLocks noChangeArrowheads="1"/>
                </p:cNvSpPr>
                <p:nvPr/>
              </p:nvSpPr>
              <p:spPr bwMode="auto">
                <a:xfrm>
                  <a:off x="3758" y="1612"/>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49" name="Rectangle 93"/>
                <p:cNvSpPr>
                  <a:spLocks noChangeArrowheads="1"/>
                </p:cNvSpPr>
                <p:nvPr/>
              </p:nvSpPr>
              <p:spPr bwMode="auto">
                <a:xfrm>
                  <a:off x="3715" y="1612"/>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0" name="Group 94"/>
              <p:cNvGrpSpPr>
                <a:grpSpLocks/>
              </p:cNvGrpSpPr>
              <p:nvPr/>
            </p:nvGrpSpPr>
            <p:grpSpPr bwMode="auto">
              <a:xfrm>
                <a:off x="0" y="2015"/>
                <a:ext cx="743" cy="403"/>
                <a:chOff x="0" y="2015"/>
                <a:chExt cx="743" cy="403"/>
              </a:xfrm>
            </p:grpSpPr>
            <p:sp>
              <p:nvSpPr>
                <p:cNvPr id="61546" name="Rectangle 95"/>
                <p:cNvSpPr>
                  <a:spLocks noChangeArrowheads="1"/>
                </p:cNvSpPr>
                <p:nvPr/>
              </p:nvSpPr>
              <p:spPr bwMode="auto">
                <a:xfrm>
                  <a:off x="43" y="2015"/>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stuHrs</a:t>
                  </a:r>
                </a:p>
                <a:p>
                  <a:endParaRPr lang="en-GB" sz="1600">
                    <a:latin typeface="Times New Roman" panose="02020603050405020304" pitchFamily="18" charset="0"/>
                  </a:endParaRPr>
                </a:p>
              </p:txBody>
            </p:sp>
            <p:sp>
              <p:nvSpPr>
                <p:cNvPr id="61547" name="Rectangle 96"/>
                <p:cNvSpPr>
                  <a:spLocks noChangeArrowheads="1"/>
                </p:cNvSpPr>
                <p:nvPr/>
              </p:nvSpPr>
              <p:spPr bwMode="auto">
                <a:xfrm>
                  <a:off x="0" y="2015"/>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1" name="Group 97"/>
              <p:cNvGrpSpPr>
                <a:grpSpLocks/>
              </p:cNvGrpSpPr>
              <p:nvPr/>
            </p:nvGrpSpPr>
            <p:grpSpPr bwMode="auto">
              <a:xfrm>
                <a:off x="743" y="2015"/>
                <a:ext cx="743" cy="403"/>
                <a:chOff x="743" y="2015"/>
                <a:chExt cx="743" cy="403"/>
              </a:xfrm>
            </p:grpSpPr>
            <p:sp>
              <p:nvSpPr>
                <p:cNvPr id="61544" name="Rectangle 98"/>
                <p:cNvSpPr>
                  <a:spLocks noChangeArrowheads="1"/>
                </p:cNvSpPr>
                <p:nvPr/>
              </p:nvSpPr>
              <p:spPr bwMode="auto">
                <a:xfrm>
                  <a:off x="786" y="2015"/>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45" name="Rectangle 99"/>
                <p:cNvSpPr>
                  <a:spLocks noChangeArrowheads="1"/>
                </p:cNvSpPr>
                <p:nvPr/>
              </p:nvSpPr>
              <p:spPr bwMode="auto">
                <a:xfrm>
                  <a:off x="743" y="2015"/>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2" name="Group 100"/>
              <p:cNvGrpSpPr>
                <a:grpSpLocks/>
              </p:cNvGrpSpPr>
              <p:nvPr/>
            </p:nvGrpSpPr>
            <p:grpSpPr bwMode="auto">
              <a:xfrm>
                <a:off x="1486" y="2015"/>
                <a:ext cx="743" cy="403"/>
                <a:chOff x="1486" y="2015"/>
                <a:chExt cx="743" cy="403"/>
              </a:xfrm>
            </p:grpSpPr>
            <p:sp>
              <p:nvSpPr>
                <p:cNvPr id="61542" name="Rectangle 101"/>
                <p:cNvSpPr>
                  <a:spLocks noChangeArrowheads="1"/>
                </p:cNvSpPr>
                <p:nvPr/>
              </p:nvSpPr>
              <p:spPr bwMode="auto">
                <a:xfrm>
                  <a:off x="1529" y="2015"/>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43" name="Rectangle 102"/>
                <p:cNvSpPr>
                  <a:spLocks noChangeArrowheads="1"/>
                </p:cNvSpPr>
                <p:nvPr/>
              </p:nvSpPr>
              <p:spPr bwMode="auto">
                <a:xfrm>
                  <a:off x="1486" y="2015"/>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3" name="Group 103"/>
              <p:cNvGrpSpPr>
                <a:grpSpLocks/>
              </p:cNvGrpSpPr>
              <p:nvPr/>
            </p:nvGrpSpPr>
            <p:grpSpPr bwMode="auto">
              <a:xfrm>
                <a:off x="2229" y="2015"/>
                <a:ext cx="743" cy="403"/>
                <a:chOff x="2229" y="2015"/>
                <a:chExt cx="743" cy="403"/>
              </a:xfrm>
            </p:grpSpPr>
            <p:sp>
              <p:nvSpPr>
                <p:cNvPr id="61540" name="Rectangle 104"/>
                <p:cNvSpPr>
                  <a:spLocks noChangeArrowheads="1"/>
                </p:cNvSpPr>
                <p:nvPr/>
              </p:nvSpPr>
              <p:spPr bwMode="auto">
                <a:xfrm>
                  <a:off x="2272" y="2015"/>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41" name="Rectangle 105"/>
                <p:cNvSpPr>
                  <a:spLocks noChangeArrowheads="1"/>
                </p:cNvSpPr>
                <p:nvPr/>
              </p:nvSpPr>
              <p:spPr bwMode="auto">
                <a:xfrm>
                  <a:off x="2229" y="2015"/>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4" name="Group 106"/>
              <p:cNvGrpSpPr>
                <a:grpSpLocks/>
              </p:cNvGrpSpPr>
              <p:nvPr/>
            </p:nvGrpSpPr>
            <p:grpSpPr bwMode="auto">
              <a:xfrm>
                <a:off x="2972" y="2015"/>
                <a:ext cx="743" cy="403"/>
                <a:chOff x="2972" y="2015"/>
                <a:chExt cx="743" cy="403"/>
              </a:xfrm>
            </p:grpSpPr>
            <p:sp>
              <p:nvSpPr>
                <p:cNvPr id="61538" name="Rectangle 107"/>
                <p:cNvSpPr>
                  <a:spLocks noChangeArrowheads="1"/>
                </p:cNvSpPr>
                <p:nvPr/>
              </p:nvSpPr>
              <p:spPr bwMode="auto">
                <a:xfrm>
                  <a:off x="3015" y="2015"/>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39" name="Rectangle 108"/>
                <p:cNvSpPr>
                  <a:spLocks noChangeArrowheads="1"/>
                </p:cNvSpPr>
                <p:nvPr/>
              </p:nvSpPr>
              <p:spPr bwMode="auto">
                <a:xfrm>
                  <a:off x="2972" y="2015"/>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5" name="Group 109"/>
              <p:cNvGrpSpPr>
                <a:grpSpLocks/>
              </p:cNvGrpSpPr>
              <p:nvPr/>
            </p:nvGrpSpPr>
            <p:grpSpPr bwMode="auto">
              <a:xfrm>
                <a:off x="3715" y="2015"/>
                <a:ext cx="743" cy="403"/>
                <a:chOff x="3715" y="2015"/>
                <a:chExt cx="743" cy="403"/>
              </a:xfrm>
            </p:grpSpPr>
            <p:sp>
              <p:nvSpPr>
                <p:cNvPr id="61536" name="Rectangle 110"/>
                <p:cNvSpPr>
                  <a:spLocks noChangeArrowheads="1"/>
                </p:cNvSpPr>
                <p:nvPr/>
              </p:nvSpPr>
              <p:spPr bwMode="auto">
                <a:xfrm>
                  <a:off x="3758" y="2015"/>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37" name="Rectangle 111"/>
                <p:cNvSpPr>
                  <a:spLocks noChangeArrowheads="1"/>
                </p:cNvSpPr>
                <p:nvPr/>
              </p:nvSpPr>
              <p:spPr bwMode="auto">
                <a:xfrm>
                  <a:off x="3715" y="2015"/>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6" name="Group 112"/>
              <p:cNvGrpSpPr>
                <a:grpSpLocks/>
              </p:cNvGrpSpPr>
              <p:nvPr/>
            </p:nvGrpSpPr>
            <p:grpSpPr bwMode="auto">
              <a:xfrm>
                <a:off x="0" y="2418"/>
                <a:ext cx="743" cy="403"/>
                <a:chOff x="0" y="2418"/>
                <a:chExt cx="743" cy="403"/>
              </a:xfrm>
            </p:grpSpPr>
            <p:sp>
              <p:nvSpPr>
                <p:cNvPr id="61534" name="Rectangle 113"/>
                <p:cNvSpPr>
                  <a:spLocks noChangeArrowheads="1"/>
                </p:cNvSpPr>
                <p:nvPr/>
              </p:nvSpPr>
              <p:spPr bwMode="auto">
                <a:xfrm>
                  <a:off x="43" y="2418"/>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stuYr</a:t>
                  </a:r>
                </a:p>
                <a:p>
                  <a:endParaRPr lang="en-GB" sz="1600">
                    <a:latin typeface="Times New Roman" panose="02020603050405020304" pitchFamily="18" charset="0"/>
                  </a:endParaRPr>
                </a:p>
              </p:txBody>
            </p:sp>
            <p:sp>
              <p:nvSpPr>
                <p:cNvPr id="61535" name="Rectangle 114"/>
                <p:cNvSpPr>
                  <a:spLocks noChangeArrowheads="1"/>
                </p:cNvSpPr>
                <p:nvPr/>
              </p:nvSpPr>
              <p:spPr bwMode="auto">
                <a:xfrm>
                  <a:off x="0" y="2418"/>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7" name="Group 115"/>
              <p:cNvGrpSpPr>
                <a:grpSpLocks/>
              </p:cNvGrpSpPr>
              <p:nvPr/>
            </p:nvGrpSpPr>
            <p:grpSpPr bwMode="auto">
              <a:xfrm>
                <a:off x="743" y="2418"/>
                <a:ext cx="743" cy="403"/>
                <a:chOff x="743" y="2418"/>
                <a:chExt cx="743" cy="403"/>
              </a:xfrm>
            </p:grpSpPr>
            <p:sp>
              <p:nvSpPr>
                <p:cNvPr id="61532" name="Rectangle 116"/>
                <p:cNvSpPr>
                  <a:spLocks noChangeArrowheads="1"/>
                </p:cNvSpPr>
                <p:nvPr/>
              </p:nvSpPr>
              <p:spPr bwMode="auto">
                <a:xfrm>
                  <a:off x="786" y="2418"/>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33" name="Rectangle 117"/>
                <p:cNvSpPr>
                  <a:spLocks noChangeArrowheads="1"/>
                </p:cNvSpPr>
                <p:nvPr/>
              </p:nvSpPr>
              <p:spPr bwMode="auto">
                <a:xfrm>
                  <a:off x="743" y="2418"/>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8" name="Group 118"/>
              <p:cNvGrpSpPr>
                <a:grpSpLocks/>
              </p:cNvGrpSpPr>
              <p:nvPr/>
            </p:nvGrpSpPr>
            <p:grpSpPr bwMode="auto">
              <a:xfrm>
                <a:off x="1486" y="2418"/>
                <a:ext cx="743" cy="403"/>
                <a:chOff x="1486" y="2418"/>
                <a:chExt cx="743" cy="403"/>
              </a:xfrm>
            </p:grpSpPr>
            <p:sp>
              <p:nvSpPr>
                <p:cNvPr id="61530" name="Rectangle 119"/>
                <p:cNvSpPr>
                  <a:spLocks noChangeArrowheads="1"/>
                </p:cNvSpPr>
                <p:nvPr/>
              </p:nvSpPr>
              <p:spPr bwMode="auto">
                <a:xfrm>
                  <a:off x="1529" y="2418"/>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31" name="Rectangle 120"/>
                <p:cNvSpPr>
                  <a:spLocks noChangeArrowheads="1"/>
                </p:cNvSpPr>
                <p:nvPr/>
              </p:nvSpPr>
              <p:spPr bwMode="auto">
                <a:xfrm>
                  <a:off x="1486" y="2418"/>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19" name="Group 121"/>
              <p:cNvGrpSpPr>
                <a:grpSpLocks/>
              </p:cNvGrpSpPr>
              <p:nvPr/>
            </p:nvGrpSpPr>
            <p:grpSpPr bwMode="auto">
              <a:xfrm>
                <a:off x="2229" y="2418"/>
                <a:ext cx="743" cy="403"/>
                <a:chOff x="2229" y="2418"/>
                <a:chExt cx="743" cy="403"/>
              </a:xfrm>
            </p:grpSpPr>
            <p:sp>
              <p:nvSpPr>
                <p:cNvPr id="61528" name="Rectangle 122"/>
                <p:cNvSpPr>
                  <a:spLocks noChangeArrowheads="1"/>
                </p:cNvSpPr>
                <p:nvPr/>
              </p:nvSpPr>
              <p:spPr bwMode="auto">
                <a:xfrm>
                  <a:off x="2272" y="2418"/>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29" name="Rectangle 123"/>
                <p:cNvSpPr>
                  <a:spLocks noChangeArrowheads="1"/>
                </p:cNvSpPr>
                <p:nvPr/>
              </p:nvSpPr>
              <p:spPr bwMode="auto">
                <a:xfrm>
                  <a:off x="2229" y="2418"/>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0" name="Group 124"/>
              <p:cNvGrpSpPr>
                <a:grpSpLocks/>
              </p:cNvGrpSpPr>
              <p:nvPr/>
            </p:nvGrpSpPr>
            <p:grpSpPr bwMode="auto">
              <a:xfrm>
                <a:off x="2972" y="2418"/>
                <a:ext cx="743" cy="403"/>
                <a:chOff x="2972" y="2418"/>
                <a:chExt cx="743" cy="403"/>
              </a:xfrm>
            </p:grpSpPr>
            <p:sp>
              <p:nvSpPr>
                <p:cNvPr id="61526" name="Rectangle 125"/>
                <p:cNvSpPr>
                  <a:spLocks noChangeArrowheads="1"/>
                </p:cNvSpPr>
                <p:nvPr/>
              </p:nvSpPr>
              <p:spPr bwMode="auto">
                <a:xfrm>
                  <a:off x="3015" y="2418"/>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27" name="Rectangle 126"/>
                <p:cNvSpPr>
                  <a:spLocks noChangeArrowheads="1"/>
                </p:cNvSpPr>
                <p:nvPr/>
              </p:nvSpPr>
              <p:spPr bwMode="auto">
                <a:xfrm>
                  <a:off x="2972" y="2418"/>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1" name="Group 127"/>
              <p:cNvGrpSpPr>
                <a:grpSpLocks/>
              </p:cNvGrpSpPr>
              <p:nvPr/>
            </p:nvGrpSpPr>
            <p:grpSpPr bwMode="auto">
              <a:xfrm>
                <a:off x="3715" y="2418"/>
                <a:ext cx="743" cy="403"/>
                <a:chOff x="3715" y="2418"/>
                <a:chExt cx="743" cy="403"/>
              </a:xfrm>
            </p:grpSpPr>
            <p:sp>
              <p:nvSpPr>
                <p:cNvPr id="61524" name="Rectangle 128"/>
                <p:cNvSpPr>
                  <a:spLocks noChangeArrowheads="1"/>
                </p:cNvSpPr>
                <p:nvPr/>
              </p:nvSpPr>
              <p:spPr bwMode="auto">
                <a:xfrm>
                  <a:off x="3758" y="2418"/>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25" name="Rectangle 129"/>
                <p:cNvSpPr>
                  <a:spLocks noChangeArrowheads="1"/>
                </p:cNvSpPr>
                <p:nvPr/>
              </p:nvSpPr>
              <p:spPr bwMode="auto">
                <a:xfrm>
                  <a:off x="3715" y="2418"/>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2" name="Group 130"/>
              <p:cNvGrpSpPr>
                <a:grpSpLocks/>
              </p:cNvGrpSpPr>
              <p:nvPr/>
            </p:nvGrpSpPr>
            <p:grpSpPr bwMode="auto">
              <a:xfrm>
                <a:off x="0" y="2821"/>
                <a:ext cx="743" cy="403"/>
                <a:chOff x="0" y="2821"/>
                <a:chExt cx="743" cy="403"/>
              </a:xfrm>
            </p:grpSpPr>
            <p:sp>
              <p:nvSpPr>
                <p:cNvPr id="61522" name="Rectangle 131"/>
                <p:cNvSpPr>
                  <a:spLocks noChangeArrowheads="1"/>
                </p:cNvSpPr>
                <p:nvPr/>
              </p:nvSpPr>
              <p:spPr bwMode="auto">
                <a:xfrm>
                  <a:off x="43" y="2821"/>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stuGpa</a:t>
                  </a:r>
                </a:p>
                <a:p>
                  <a:endParaRPr lang="en-GB" sz="1600">
                    <a:latin typeface="Times New Roman" panose="02020603050405020304" pitchFamily="18" charset="0"/>
                  </a:endParaRPr>
                </a:p>
              </p:txBody>
            </p:sp>
            <p:sp>
              <p:nvSpPr>
                <p:cNvPr id="61523" name="Rectangle 132"/>
                <p:cNvSpPr>
                  <a:spLocks noChangeArrowheads="1"/>
                </p:cNvSpPr>
                <p:nvPr/>
              </p:nvSpPr>
              <p:spPr bwMode="auto">
                <a:xfrm>
                  <a:off x="0" y="2821"/>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3" name="Group 133"/>
              <p:cNvGrpSpPr>
                <a:grpSpLocks/>
              </p:cNvGrpSpPr>
              <p:nvPr/>
            </p:nvGrpSpPr>
            <p:grpSpPr bwMode="auto">
              <a:xfrm>
                <a:off x="743" y="2821"/>
                <a:ext cx="743" cy="403"/>
                <a:chOff x="743" y="2821"/>
                <a:chExt cx="743" cy="403"/>
              </a:xfrm>
            </p:grpSpPr>
            <p:sp>
              <p:nvSpPr>
                <p:cNvPr id="61520" name="Rectangle 134"/>
                <p:cNvSpPr>
                  <a:spLocks noChangeArrowheads="1"/>
                </p:cNvSpPr>
                <p:nvPr/>
              </p:nvSpPr>
              <p:spPr bwMode="auto">
                <a:xfrm>
                  <a:off x="786" y="2821"/>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21" name="Rectangle 135"/>
                <p:cNvSpPr>
                  <a:spLocks noChangeArrowheads="1"/>
                </p:cNvSpPr>
                <p:nvPr/>
              </p:nvSpPr>
              <p:spPr bwMode="auto">
                <a:xfrm>
                  <a:off x="743" y="2821"/>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4" name="Group 136"/>
              <p:cNvGrpSpPr>
                <a:grpSpLocks/>
              </p:cNvGrpSpPr>
              <p:nvPr/>
            </p:nvGrpSpPr>
            <p:grpSpPr bwMode="auto">
              <a:xfrm>
                <a:off x="1486" y="2821"/>
                <a:ext cx="743" cy="403"/>
                <a:chOff x="1486" y="2821"/>
                <a:chExt cx="743" cy="403"/>
              </a:xfrm>
            </p:grpSpPr>
            <p:sp>
              <p:nvSpPr>
                <p:cNvPr id="61518" name="Rectangle 137"/>
                <p:cNvSpPr>
                  <a:spLocks noChangeArrowheads="1"/>
                </p:cNvSpPr>
                <p:nvPr/>
              </p:nvSpPr>
              <p:spPr bwMode="auto">
                <a:xfrm>
                  <a:off x="1529" y="2821"/>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19" name="Rectangle 138"/>
                <p:cNvSpPr>
                  <a:spLocks noChangeArrowheads="1"/>
                </p:cNvSpPr>
                <p:nvPr/>
              </p:nvSpPr>
              <p:spPr bwMode="auto">
                <a:xfrm>
                  <a:off x="1486" y="2821"/>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5" name="Group 139"/>
              <p:cNvGrpSpPr>
                <a:grpSpLocks/>
              </p:cNvGrpSpPr>
              <p:nvPr/>
            </p:nvGrpSpPr>
            <p:grpSpPr bwMode="auto">
              <a:xfrm>
                <a:off x="2229" y="2821"/>
                <a:ext cx="743" cy="403"/>
                <a:chOff x="2229" y="2821"/>
                <a:chExt cx="743" cy="403"/>
              </a:xfrm>
            </p:grpSpPr>
            <p:sp>
              <p:nvSpPr>
                <p:cNvPr id="61516" name="Rectangle 140"/>
                <p:cNvSpPr>
                  <a:spLocks noChangeArrowheads="1"/>
                </p:cNvSpPr>
                <p:nvPr/>
              </p:nvSpPr>
              <p:spPr bwMode="auto">
                <a:xfrm>
                  <a:off x="2272" y="2821"/>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17" name="Rectangle 141"/>
                <p:cNvSpPr>
                  <a:spLocks noChangeArrowheads="1"/>
                </p:cNvSpPr>
                <p:nvPr/>
              </p:nvSpPr>
              <p:spPr bwMode="auto">
                <a:xfrm>
                  <a:off x="2229" y="2821"/>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6" name="Group 142"/>
              <p:cNvGrpSpPr>
                <a:grpSpLocks/>
              </p:cNvGrpSpPr>
              <p:nvPr/>
            </p:nvGrpSpPr>
            <p:grpSpPr bwMode="auto">
              <a:xfrm>
                <a:off x="2972" y="2821"/>
                <a:ext cx="743" cy="403"/>
                <a:chOff x="2972" y="2821"/>
                <a:chExt cx="743" cy="403"/>
              </a:xfrm>
            </p:grpSpPr>
            <p:sp>
              <p:nvSpPr>
                <p:cNvPr id="61514" name="Rectangle 143"/>
                <p:cNvSpPr>
                  <a:spLocks noChangeArrowheads="1"/>
                </p:cNvSpPr>
                <p:nvPr/>
              </p:nvSpPr>
              <p:spPr bwMode="auto">
                <a:xfrm>
                  <a:off x="3015" y="2821"/>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15" name="Rectangle 144"/>
                <p:cNvSpPr>
                  <a:spLocks noChangeArrowheads="1"/>
                </p:cNvSpPr>
                <p:nvPr/>
              </p:nvSpPr>
              <p:spPr bwMode="auto">
                <a:xfrm>
                  <a:off x="2972" y="2821"/>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7" name="Group 145"/>
              <p:cNvGrpSpPr>
                <a:grpSpLocks/>
              </p:cNvGrpSpPr>
              <p:nvPr/>
            </p:nvGrpSpPr>
            <p:grpSpPr bwMode="auto">
              <a:xfrm>
                <a:off x="3715" y="2821"/>
                <a:ext cx="743" cy="403"/>
                <a:chOff x="3715" y="2821"/>
                <a:chExt cx="743" cy="403"/>
              </a:xfrm>
            </p:grpSpPr>
            <p:sp>
              <p:nvSpPr>
                <p:cNvPr id="61512" name="Rectangle 146"/>
                <p:cNvSpPr>
                  <a:spLocks noChangeArrowheads="1"/>
                </p:cNvSpPr>
                <p:nvPr/>
              </p:nvSpPr>
              <p:spPr bwMode="auto">
                <a:xfrm>
                  <a:off x="3758" y="2821"/>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13" name="Rectangle 147"/>
                <p:cNvSpPr>
                  <a:spLocks noChangeArrowheads="1"/>
                </p:cNvSpPr>
                <p:nvPr/>
              </p:nvSpPr>
              <p:spPr bwMode="auto">
                <a:xfrm>
                  <a:off x="3715" y="2821"/>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8" name="Group 148"/>
              <p:cNvGrpSpPr>
                <a:grpSpLocks/>
              </p:cNvGrpSpPr>
              <p:nvPr/>
            </p:nvGrpSpPr>
            <p:grpSpPr bwMode="auto">
              <a:xfrm>
                <a:off x="0" y="3224"/>
                <a:ext cx="743" cy="403"/>
                <a:chOff x="0" y="3224"/>
                <a:chExt cx="743" cy="403"/>
              </a:xfrm>
            </p:grpSpPr>
            <p:sp>
              <p:nvSpPr>
                <p:cNvPr id="61510" name="Rectangle 149"/>
                <p:cNvSpPr>
                  <a:spLocks noChangeArrowheads="1"/>
                </p:cNvSpPr>
                <p:nvPr/>
              </p:nvSpPr>
              <p:spPr bwMode="auto">
                <a:xfrm>
                  <a:off x="43" y="3224"/>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stuAge</a:t>
                  </a:r>
                </a:p>
                <a:p>
                  <a:endParaRPr lang="en-GB" sz="1600">
                    <a:latin typeface="Times New Roman" panose="02020603050405020304" pitchFamily="18" charset="0"/>
                  </a:endParaRPr>
                </a:p>
              </p:txBody>
            </p:sp>
            <p:sp>
              <p:nvSpPr>
                <p:cNvPr id="61511" name="Rectangle 150"/>
                <p:cNvSpPr>
                  <a:spLocks noChangeArrowheads="1"/>
                </p:cNvSpPr>
                <p:nvPr/>
              </p:nvSpPr>
              <p:spPr bwMode="auto">
                <a:xfrm>
                  <a:off x="0" y="3224"/>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29" name="Group 151"/>
              <p:cNvGrpSpPr>
                <a:grpSpLocks/>
              </p:cNvGrpSpPr>
              <p:nvPr/>
            </p:nvGrpSpPr>
            <p:grpSpPr bwMode="auto">
              <a:xfrm>
                <a:off x="743" y="3224"/>
                <a:ext cx="743" cy="403"/>
                <a:chOff x="743" y="3224"/>
                <a:chExt cx="743" cy="403"/>
              </a:xfrm>
            </p:grpSpPr>
            <p:sp>
              <p:nvSpPr>
                <p:cNvPr id="61508" name="Rectangle 152"/>
                <p:cNvSpPr>
                  <a:spLocks noChangeArrowheads="1"/>
                </p:cNvSpPr>
                <p:nvPr/>
              </p:nvSpPr>
              <p:spPr bwMode="auto">
                <a:xfrm>
                  <a:off x="786" y="3224"/>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09" name="Rectangle 153"/>
                <p:cNvSpPr>
                  <a:spLocks noChangeArrowheads="1"/>
                </p:cNvSpPr>
                <p:nvPr/>
              </p:nvSpPr>
              <p:spPr bwMode="auto">
                <a:xfrm>
                  <a:off x="743" y="3224"/>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30" name="Group 154"/>
              <p:cNvGrpSpPr>
                <a:grpSpLocks/>
              </p:cNvGrpSpPr>
              <p:nvPr/>
            </p:nvGrpSpPr>
            <p:grpSpPr bwMode="auto">
              <a:xfrm>
                <a:off x="1486" y="3224"/>
                <a:ext cx="743" cy="403"/>
                <a:chOff x="1486" y="3224"/>
                <a:chExt cx="743" cy="403"/>
              </a:xfrm>
            </p:grpSpPr>
            <p:sp>
              <p:nvSpPr>
                <p:cNvPr id="61506" name="Rectangle 155"/>
                <p:cNvSpPr>
                  <a:spLocks noChangeArrowheads="1"/>
                </p:cNvSpPr>
                <p:nvPr/>
              </p:nvSpPr>
              <p:spPr bwMode="auto">
                <a:xfrm>
                  <a:off x="1529" y="3224"/>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07" name="Rectangle 156"/>
                <p:cNvSpPr>
                  <a:spLocks noChangeArrowheads="1"/>
                </p:cNvSpPr>
                <p:nvPr/>
              </p:nvSpPr>
              <p:spPr bwMode="auto">
                <a:xfrm>
                  <a:off x="1486" y="3224"/>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631" name="Group 157"/>
              <p:cNvGrpSpPr>
                <a:grpSpLocks/>
              </p:cNvGrpSpPr>
              <p:nvPr/>
            </p:nvGrpSpPr>
            <p:grpSpPr bwMode="auto">
              <a:xfrm>
                <a:off x="2229" y="3224"/>
                <a:ext cx="743" cy="403"/>
                <a:chOff x="2229" y="3224"/>
                <a:chExt cx="743" cy="403"/>
              </a:xfrm>
            </p:grpSpPr>
            <p:sp>
              <p:nvSpPr>
                <p:cNvPr id="61504" name="Rectangle 158"/>
                <p:cNvSpPr>
                  <a:spLocks noChangeArrowheads="1"/>
                </p:cNvSpPr>
                <p:nvPr/>
              </p:nvSpPr>
              <p:spPr bwMode="auto">
                <a:xfrm>
                  <a:off x="2272" y="3224"/>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05" name="Rectangle 159"/>
                <p:cNvSpPr>
                  <a:spLocks noChangeArrowheads="1"/>
                </p:cNvSpPr>
                <p:nvPr/>
              </p:nvSpPr>
              <p:spPr bwMode="auto">
                <a:xfrm>
                  <a:off x="2229" y="3224"/>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440" name="Group 160"/>
              <p:cNvGrpSpPr>
                <a:grpSpLocks/>
              </p:cNvGrpSpPr>
              <p:nvPr/>
            </p:nvGrpSpPr>
            <p:grpSpPr bwMode="auto">
              <a:xfrm>
                <a:off x="2972" y="3224"/>
                <a:ext cx="743" cy="403"/>
                <a:chOff x="2972" y="3224"/>
                <a:chExt cx="743" cy="403"/>
              </a:xfrm>
            </p:grpSpPr>
            <p:sp>
              <p:nvSpPr>
                <p:cNvPr id="61502" name="Rectangle 161"/>
                <p:cNvSpPr>
                  <a:spLocks noChangeArrowheads="1"/>
                </p:cNvSpPr>
                <p:nvPr/>
              </p:nvSpPr>
              <p:spPr bwMode="auto">
                <a:xfrm>
                  <a:off x="3015" y="3224"/>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03" name="Rectangle 162"/>
                <p:cNvSpPr>
                  <a:spLocks noChangeArrowheads="1"/>
                </p:cNvSpPr>
                <p:nvPr/>
              </p:nvSpPr>
              <p:spPr bwMode="auto">
                <a:xfrm>
                  <a:off x="2972" y="3224"/>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nvGrpSpPr>
              <p:cNvPr id="61441" name="Group 163"/>
              <p:cNvGrpSpPr>
                <a:grpSpLocks/>
              </p:cNvGrpSpPr>
              <p:nvPr/>
            </p:nvGrpSpPr>
            <p:grpSpPr bwMode="auto">
              <a:xfrm>
                <a:off x="3715" y="3224"/>
                <a:ext cx="743" cy="403"/>
                <a:chOff x="3715" y="3224"/>
                <a:chExt cx="743" cy="403"/>
              </a:xfrm>
            </p:grpSpPr>
            <p:sp>
              <p:nvSpPr>
                <p:cNvPr id="61500" name="Rectangle 164"/>
                <p:cNvSpPr>
                  <a:spLocks noChangeArrowheads="1"/>
                </p:cNvSpPr>
                <p:nvPr/>
              </p:nvSpPr>
              <p:spPr bwMode="auto">
                <a:xfrm>
                  <a:off x="3758" y="3224"/>
                  <a:ext cx="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1600">
                      <a:latin typeface="Times New Roman" panose="02020603050405020304" pitchFamily="18" charset="0"/>
                      <a:cs typeface="Times New Roman" panose="02020603050405020304" pitchFamily="18" charset="0"/>
                    </a:rPr>
                    <a:t> </a:t>
                  </a:r>
                </a:p>
                <a:p>
                  <a:endParaRPr lang="en-GB" sz="1600">
                    <a:latin typeface="Times New Roman" panose="02020603050405020304" pitchFamily="18" charset="0"/>
                  </a:endParaRPr>
                </a:p>
              </p:txBody>
            </p:sp>
            <p:sp>
              <p:nvSpPr>
                <p:cNvPr id="61501" name="Rectangle 165"/>
                <p:cNvSpPr>
                  <a:spLocks noChangeArrowheads="1"/>
                </p:cNvSpPr>
                <p:nvPr/>
              </p:nvSpPr>
              <p:spPr bwMode="auto">
                <a:xfrm>
                  <a:off x="3715" y="3224"/>
                  <a:ext cx="743" cy="403"/>
                </a:xfrm>
                <a:prstGeom prst="rect">
                  <a:avLst/>
                </a:prstGeom>
                <a:noFill/>
                <a:ln w="7">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grpSp>
        <p:sp>
          <p:nvSpPr>
            <p:cNvPr id="61445" name="Rectangle 166"/>
            <p:cNvSpPr>
              <a:spLocks noChangeArrowheads="1"/>
            </p:cNvSpPr>
            <p:nvPr/>
          </p:nvSpPr>
          <p:spPr bwMode="auto">
            <a:xfrm>
              <a:off x="-3" y="-3"/>
              <a:ext cx="4464" cy="3633"/>
            </a:xfrm>
            <a:prstGeom prst="rect">
              <a:avLst/>
            </a:prstGeom>
            <a:noFill/>
            <a:ln w="9525">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sp>
        <p:nvSpPr>
          <p:cNvPr id="61443" name="Rectangle 167"/>
          <p:cNvSpPr>
            <a:spLocks noGrp="1" noChangeArrowheads="1"/>
          </p:cNvSpPr>
          <p:nvPr>
            <p:ph type="title"/>
          </p:nvPr>
        </p:nvSpPr>
        <p:spPr>
          <a:xfrm>
            <a:off x="556259" y="311670"/>
            <a:ext cx="7910407" cy="1293028"/>
          </a:xfrm>
          <a:noFill/>
        </p:spPr>
        <p:txBody>
          <a:bodyPr lIns="92075" tIns="46038" rIns="92075" bIns="46038">
            <a:noAutofit/>
          </a:bodyPr>
          <a:lstStyle/>
          <a:p>
            <a:r>
              <a:rPr lang="en-US" sz="4400" dirty="0">
                <a:ln>
                  <a:noFill/>
                </a:ln>
                <a:latin typeface="Corbel" panose="020B0503020204020204" pitchFamily="34" charset="0"/>
              </a:rPr>
              <a:t>Tick where applicable</a:t>
            </a:r>
            <a:endParaRPr lang="en-AU" sz="4400" dirty="0">
              <a:ln>
                <a:noFill/>
              </a:ln>
              <a:latin typeface="Corbel" panose="020B0503020204020204" pitchFamily="34" charset="0"/>
            </a:endParaRPr>
          </a:p>
        </p:txBody>
      </p:sp>
    </p:spTree>
    <p:extLst>
      <p:ext uri="{BB962C8B-B14F-4D97-AF65-F5344CB8AC3E}">
        <p14:creationId xmlns:p14="http://schemas.microsoft.com/office/powerpoint/2010/main" val="1176400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a:xfrm>
            <a:off x="1332374" y="672146"/>
            <a:ext cx="6377940" cy="847864"/>
          </a:xfrm>
        </p:spPr>
        <p:txBody>
          <a:bodyPr>
            <a:normAutofit/>
          </a:bodyPr>
          <a:lstStyle/>
          <a:p>
            <a:r>
              <a:rPr lang="en-US" sz="4400" dirty="0">
                <a:ln>
                  <a:noFill/>
                </a:ln>
                <a:latin typeface="Corbel" panose="020B0503020204020204" pitchFamily="34" charset="0"/>
              </a:rPr>
              <a:t>Key Attributes</a:t>
            </a:r>
          </a:p>
        </p:txBody>
      </p:sp>
      <p:sp>
        <p:nvSpPr>
          <p:cNvPr id="62466" name="Rectangle 3"/>
          <p:cNvSpPr>
            <a:spLocks noGrp="1" noChangeArrowheads="1"/>
          </p:cNvSpPr>
          <p:nvPr>
            <p:ph idx="4294967295"/>
          </p:nvPr>
        </p:nvSpPr>
        <p:spPr>
          <a:xfrm>
            <a:off x="341018" y="1565275"/>
            <a:ext cx="8802981" cy="5624513"/>
          </a:xfrm>
          <a:prstGeom prst="rect">
            <a:avLst/>
          </a:prstGeom>
        </p:spPr>
        <p:txBody>
          <a:bodyPr/>
          <a:lstStyle/>
          <a:p>
            <a:pPr algn="just">
              <a:lnSpc>
                <a:spcPct val="90000"/>
              </a:lnSpc>
            </a:pPr>
            <a:r>
              <a:rPr lang="en-US" sz="2800" b="1" dirty="0">
                <a:solidFill>
                  <a:srgbClr val="FF0066"/>
                </a:solidFill>
                <a:latin typeface="Corbel" panose="020B0503020204020204" pitchFamily="34" charset="0"/>
              </a:rPr>
              <a:t>key attribute</a:t>
            </a:r>
            <a:r>
              <a:rPr lang="en-US" sz="2800" dirty="0">
                <a:latin typeface="Corbel" panose="020B0503020204020204" pitchFamily="34" charset="0"/>
              </a:rPr>
              <a:t>  - Minimal set of attributes which </a:t>
            </a:r>
          </a:p>
          <a:p>
            <a:pPr marL="0" indent="0" algn="just">
              <a:lnSpc>
                <a:spcPct val="90000"/>
              </a:lnSpc>
              <a:buNone/>
            </a:pPr>
            <a:r>
              <a:rPr lang="en-US" sz="2800" dirty="0">
                <a:latin typeface="Corbel" panose="020B0503020204020204" pitchFamily="34" charset="0"/>
              </a:rPr>
              <a:t>uniquely identify an entity in the entity list.         </a:t>
            </a:r>
            <a:r>
              <a:rPr lang="en-US" sz="2800" dirty="0">
                <a:solidFill>
                  <a:srgbClr val="008000"/>
                </a:solidFill>
                <a:latin typeface="Corbel" panose="020B0503020204020204" pitchFamily="34" charset="0"/>
              </a:rPr>
              <a:t>Underlined </a:t>
            </a:r>
          </a:p>
          <a:p>
            <a:pPr marL="1828800" lvl="4" indent="0">
              <a:lnSpc>
                <a:spcPct val="90000"/>
              </a:lnSpc>
              <a:buFont typeface="Arial" panose="020B0604020202020204" pitchFamily="34" charset="0"/>
              <a:buNone/>
            </a:pPr>
            <a:r>
              <a:rPr lang="en-US" sz="2000" dirty="0"/>
              <a:t>                                                     </a:t>
            </a:r>
            <a:r>
              <a:rPr lang="en-US" dirty="0"/>
              <a:t>   </a:t>
            </a:r>
            <a:endParaRPr lang="en-US" dirty="0">
              <a:solidFill>
                <a:srgbClr val="008000"/>
              </a:solidFill>
            </a:endParaRPr>
          </a:p>
        </p:txBody>
      </p:sp>
      <p:sp>
        <p:nvSpPr>
          <p:cNvPr id="32787" name="Text Box 12"/>
          <p:cNvSpPr txBox="1">
            <a:spLocks noChangeArrowheads="1"/>
          </p:cNvSpPr>
          <p:nvPr/>
        </p:nvSpPr>
        <p:spPr bwMode="auto">
          <a:xfrm>
            <a:off x="1066800" y="5604204"/>
            <a:ext cx="3048000" cy="457200"/>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2400" b="0" dirty="0">
                <a:solidFill>
                  <a:srgbClr val="3333CC"/>
                </a:solidFill>
              </a:rPr>
              <a:t>Employee Entity set</a:t>
            </a:r>
          </a:p>
        </p:txBody>
      </p:sp>
      <p:grpSp>
        <p:nvGrpSpPr>
          <p:cNvPr id="2" name="Group 44"/>
          <p:cNvGrpSpPr>
            <a:grpSpLocks/>
          </p:cNvGrpSpPr>
          <p:nvPr/>
        </p:nvGrpSpPr>
        <p:grpSpPr bwMode="auto">
          <a:xfrm>
            <a:off x="3043555" y="2564904"/>
            <a:ext cx="3479800" cy="3875864"/>
            <a:chOff x="2448" y="2064"/>
            <a:chExt cx="2192" cy="2550"/>
          </a:xfrm>
        </p:grpSpPr>
        <p:grpSp>
          <p:nvGrpSpPr>
            <p:cNvPr id="3" name="Group 43"/>
            <p:cNvGrpSpPr>
              <a:grpSpLocks/>
            </p:cNvGrpSpPr>
            <p:nvPr/>
          </p:nvGrpSpPr>
          <p:grpSpPr bwMode="auto">
            <a:xfrm>
              <a:off x="2448" y="2064"/>
              <a:ext cx="2016" cy="720"/>
              <a:chOff x="2880" y="1536"/>
              <a:chExt cx="2016" cy="720"/>
            </a:xfrm>
          </p:grpSpPr>
          <p:sp>
            <p:nvSpPr>
              <p:cNvPr id="62485" name="Oval 20"/>
              <p:cNvSpPr>
                <a:spLocks noChangeArrowheads="1"/>
              </p:cNvSpPr>
              <p:nvPr/>
            </p:nvSpPr>
            <p:spPr bwMode="auto">
              <a:xfrm>
                <a:off x="2880" y="1968"/>
                <a:ext cx="528" cy="24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62486" name="Oval 18"/>
              <p:cNvSpPr>
                <a:spLocks noChangeArrowheads="1"/>
              </p:cNvSpPr>
              <p:nvPr/>
            </p:nvSpPr>
            <p:spPr bwMode="auto">
              <a:xfrm>
                <a:off x="2928" y="1536"/>
                <a:ext cx="624" cy="33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62487" name="Oval 21"/>
              <p:cNvSpPr>
                <a:spLocks noChangeArrowheads="1"/>
              </p:cNvSpPr>
              <p:nvPr/>
            </p:nvSpPr>
            <p:spPr bwMode="auto">
              <a:xfrm>
                <a:off x="4560" y="2016"/>
                <a:ext cx="336" cy="24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62488" name="Oval 19"/>
              <p:cNvSpPr>
                <a:spLocks noChangeArrowheads="1"/>
              </p:cNvSpPr>
              <p:nvPr/>
            </p:nvSpPr>
            <p:spPr bwMode="auto">
              <a:xfrm>
                <a:off x="4368" y="1584"/>
                <a:ext cx="528" cy="288"/>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grpSp>
        <p:grpSp>
          <p:nvGrpSpPr>
            <p:cNvPr id="4" name="Group 42"/>
            <p:cNvGrpSpPr>
              <a:grpSpLocks/>
            </p:cNvGrpSpPr>
            <p:nvPr/>
          </p:nvGrpSpPr>
          <p:grpSpPr bwMode="auto">
            <a:xfrm>
              <a:off x="2592" y="2112"/>
              <a:ext cx="2048" cy="2502"/>
              <a:chOff x="3120" y="1584"/>
              <a:chExt cx="2048" cy="2502"/>
            </a:xfrm>
          </p:grpSpPr>
          <p:grpSp>
            <p:nvGrpSpPr>
              <p:cNvPr id="5" name="Group 27"/>
              <p:cNvGrpSpPr>
                <a:grpSpLocks/>
              </p:cNvGrpSpPr>
              <p:nvPr/>
            </p:nvGrpSpPr>
            <p:grpSpPr bwMode="auto">
              <a:xfrm>
                <a:off x="3120" y="1584"/>
                <a:ext cx="2048" cy="2502"/>
                <a:chOff x="1968" y="1392"/>
                <a:chExt cx="2048" cy="2502"/>
              </a:xfrm>
            </p:grpSpPr>
            <p:sp>
              <p:nvSpPr>
                <p:cNvPr id="62475" name="Text Box 14"/>
                <p:cNvSpPr txBox="1">
                  <a:spLocks noChangeArrowheads="1"/>
                </p:cNvSpPr>
                <p:nvPr/>
              </p:nvSpPr>
              <p:spPr bwMode="auto">
                <a:xfrm>
                  <a:off x="1968" y="1392"/>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800" dirty="0"/>
                    <a:t>salary</a:t>
                  </a:r>
                </a:p>
              </p:txBody>
            </p:sp>
            <p:sp>
              <p:nvSpPr>
                <p:cNvPr id="62476" name="Text Box 15"/>
                <p:cNvSpPr txBox="1">
                  <a:spLocks noChangeArrowheads="1"/>
                </p:cNvSpPr>
                <p:nvPr/>
              </p:nvSpPr>
              <p:spPr bwMode="auto">
                <a:xfrm>
                  <a:off x="1968" y="177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800"/>
                    <a:t>age</a:t>
                  </a:r>
                </a:p>
              </p:txBody>
            </p:sp>
            <p:sp>
              <p:nvSpPr>
                <p:cNvPr id="62477" name="Text Box 16"/>
                <p:cNvSpPr txBox="1">
                  <a:spLocks noChangeArrowheads="1"/>
                </p:cNvSpPr>
                <p:nvPr/>
              </p:nvSpPr>
              <p:spPr bwMode="auto">
                <a:xfrm>
                  <a:off x="3552" y="182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800" u="sng"/>
                    <a:t>id</a:t>
                  </a:r>
                </a:p>
              </p:txBody>
            </p:sp>
            <p:sp>
              <p:nvSpPr>
                <p:cNvPr id="62478" name="Text Box 17"/>
                <p:cNvSpPr txBox="1">
                  <a:spLocks noChangeArrowheads="1"/>
                </p:cNvSpPr>
                <p:nvPr/>
              </p:nvSpPr>
              <p:spPr bwMode="auto">
                <a:xfrm>
                  <a:off x="3344" y="146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800"/>
                    <a:t>name</a:t>
                  </a:r>
                </a:p>
              </p:txBody>
            </p:sp>
            <p:sp>
              <p:nvSpPr>
                <p:cNvPr id="62479" name="Line 22"/>
                <p:cNvSpPr>
                  <a:spLocks noChangeShapeType="1"/>
                </p:cNvSpPr>
                <p:nvPr/>
              </p:nvSpPr>
              <p:spPr bwMode="auto">
                <a:xfrm>
                  <a:off x="2544" y="1536"/>
                  <a:ext cx="33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0" name="Line 23"/>
                <p:cNvSpPr>
                  <a:spLocks noChangeShapeType="1"/>
                </p:cNvSpPr>
                <p:nvPr/>
              </p:nvSpPr>
              <p:spPr bwMode="auto">
                <a:xfrm flipV="1">
                  <a:off x="2400" y="1728"/>
                  <a:ext cx="48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1" name="Line 25"/>
                <p:cNvSpPr>
                  <a:spLocks noChangeShapeType="1"/>
                </p:cNvSpPr>
                <p:nvPr/>
              </p:nvSpPr>
              <p:spPr bwMode="auto">
                <a:xfrm>
                  <a:off x="3024" y="1728"/>
                  <a:ext cx="48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2" name="Line 26"/>
                <p:cNvSpPr>
                  <a:spLocks noChangeShapeType="1"/>
                </p:cNvSpPr>
                <p:nvPr/>
              </p:nvSpPr>
              <p:spPr bwMode="auto">
                <a:xfrm flipH="1">
                  <a:off x="2304" y="1968"/>
                  <a:ext cx="57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3" name="Line 27"/>
                <p:cNvSpPr>
                  <a:spLocks noChangeShapeType="1"/>
                </p:cNvSpPr>
                <p:nvPr/>
              </p:nvSpPr>
              <p:spPr bwMode="auto">
                <a:xfrm>
                  <a:off x="3024" y="1968"/>
                  <a:ext cx="57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4" name="Oval 10"/>
                <p:cNvSpPr>
                  <a:spLocks noChangeArrowheads="1"/>
                </p:cNvSpPr>
                <p:nvPr/>
              </p:nvSpPr>
              <p:spPr bwMode="auto">
                <a:xfrm>
                  <a:off x="2496" y="1638"/>
                  <a:ext cx="960" cy="225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grpSp>
          <p:sp>
            <p:nvSpPr>
              <p:cNvPr id="62474" name="Text Box 11"/>
              <p:cNvSpPr txBox="1">
                <a:spLocks noChangeArrowheads="1"/>
              </p:cNvSpPr>
              <p:nvPr/>
            </p:nvSpPr>
            <p:spPr bwMode="auto">
              <a:xfrm>
                <a:off x="3936" y="1776"/>
                <a:ext cx="336" cy="1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spcBef>
                    <a:spcPct val="50000"/>
                  </a:spcBef>
                </a:pPr>
                <a:r>
                  <a:rPr lang="en-US" sz="1800" dirty="0"/>
                  <a:t>e1</a:t>
                </a:r>
              </a:p>
              <a:p>
                <a:pPr eaLnBrk="1" hangingPunct="1">
                  <a:spcBef>
                    <a:spcPct val="50000"/>
                  </a:spcBef>
                </a:pPr>
                <a:r>
                  <a:rPr lang="en-US" sz="1800" dirty="0"/>
                  <a:t>e2</a:t>
                </a:r>
              </a:p>
              <a:p>
                <a:pPr eaLnBrk="1" hangingPunct="1">
                  <a:spcBef>
                    <a:spcPct val="50000"/>
                  </a:spcBef>
                </a:pPr>
                <a:r>
                  <a:rPr lang="en-US" sz="1800" dirty="0"/>
                  <a:t>e3</a:t>
                </a:r>
              </a:p>
              <a:p>
                <a:pPr eaLnBrk="1" hangingPunct="1">
                  <a:spcBef>
                    <a:spcPct val="50000"/>
                  </a:spcBef>
                </a:pPr>
                <a:r>
                  <a:rPr lang="en-US" sz="1800" dirty="0"/>
                  <a:t>e4</a:t>
                </a:r>
              </a:p>
              <a:p>
                <a:pPr eaLnBrk="1" hangingPunct="1">
                  <a:spcBef>
                    <a:spcPct val="50000"/>
                  </a:spcBef>
                </a:pPr>
                <a:r>
                  <a:rPr lang="en-US" sz="1800" dirty="0"/>
                  <a:t>e5</a:t>
                </a:r>
              </a:p>
              <a:p>
                <a:pPr eaLnBrk="1" hangingPunct="1">
                  <a:spcBef>
                    <a:spcPct val="50000"/>
                  </a:spcBef>
                </a:pPr>
                <a:r>
                  <a:rPr lang="en-US" sz="1800" dirty="0"/>
                  <a:t>e6</a:t>
                </a:r>
              </a:p>
              <a:p>
                <a:pPr eaLnBrk="1" hangingPunct="1">
                  <a:spcBef>
                    <a:spcPct val="50000"/>
                  </a:spcBef>
                </a:pPr>
                <a:r>
                  <a:rPr lang="en-US" sz="1800" dirty="0"/>
                  <a:t>…</a:t>
                </a:r>
              </a:p>
            </p:txBody>
          </p:sp>
        </p:grpSp>
      </p:grpSp>
      <p:cxnSp>
        <p:nvCxnSpPr>
          <p:cNvPr id="7" name="Curved Connector 6"/>
          <p:cNvCxnSpPr>
            <a:cxnSpLocks/>
          </p:cNvCxnSpPr>
          <p:nvPr/>
        </p:nvCxnSpPr>
        <p:spPr>
          <a:xfrm rot="10800000" flipV="1">
            <a:off x="6311275" y="2445925"/>
            <a:ext cx="1285207" cy="99446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73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4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78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5"/>
          <p:cNvSpPr>
            <a:spLocks noGrp="1" noChangeArrowheads="1"/>
          </p:cNvSpPr>
          <p:nvPr>
            <p:ph type="title"/>
          </p:nvPr>
        </p:nvSpPr>
        <p:spPr>
          <a:xfrm>
            <a:off x="1391167" y="711047"/>
            <a:ext cx="6377940" cy="914400"/>
          </a:xfrm>
          <a:noFill/>
        </p:spPr>
        <p:txBody>
          <a:bodyPr>
            <a:normAutofit/>
          </a:bodyPr>
          <a:lstStyle/>
          <a:p>
            <a:r>
              <a:rPr lang="en-US" sz="4400" dirty="0">
                <a:ln>
                  <a:noFill/>
                </a:ln>
                <a:latin typeface="Corbel" panose="020B0503020204020204" pitchFamily="34" charset="0"/>
              </a:rPr>
              <a:t>Primary Key</a:t>
            </a:r>
          </a:p>
        </p:txBody>
      </p:sp>
      <p:sp>
        <p:nvSpPr>
          <p:cNvPr id="33794" name="Rectangle 3"/>
          <p:cNvSpPr>
            <a:spLocks noGrp="1" noChangeArrowheads="1"/>
          </p:cNvSpPr>
          <p:nvPr>
            <p:ph idx="4294967295"/>
          </p:nvPr>
        </p:nvSpPr>
        <p:spPr>
          <a:xfrm>
            <a:off x="679450" y="1493838"/>
            <a:ext cx="8464550" cy="4525962"/>
          </a:xfrm>
          <a:prstGeom prst="rect">
            <a:avLst/>
          </a:prstGeom>
        </p:spPr>
        <p:txBody>
          <a:bodyPr/>
          <a:lstStyle/>
          <a:p>
            <a:pPr algn="just">
              <a:lnSpc>
                <a:spcPct val="150000"/>
              </a:lnSpc>
            </a:pPr>
            <a:r>
              <a:rPr lang="en-US" sz="2800" dirty="0">
                <a:latin typeface="Corbel" panose="020B0503020204020204" pitchFamily="34" charset="0"/>
              </a:rPr>
              <a:t>There can be multiple key attributes called </a:t>
            </a:r>
            <a:r>
              <a:rPr lang="en-US" sz="2800" b="1" dirty="0">
                <a:solidFill>
                  <a:srgbClr val="FF0066"/>
                </a:solidFill>
                <a:latin typeface="Corbel" panose="020B0503020204020204" pitchFamily="34" charset="0"/>
              </a:rPr>
              <a:t>candidate keys</a:t>
            </a:r>
            <a:r>
              <a:rPr lang="en-US" sz="2800" b="1" dirty="0">
                <a:latin typeface="Corbel" panose="020B0503020204020204" pitchFamily="34" charset="0"/>
              </a:rPr>
              <a:t> </a:t>
            </a:r>
            <a:r>
              <a:rPr lang="en-US" sz="2800" dirty="0">
                <a:latin typeface="Corbel" panose="020B0503020204020204" pitchFamily="34" charset="0"/>
              </a:rPr>
              <a:t>in a single entity.</a:t>
            </a:r>
          </a:p>
          <a:p>
            <a:pPr algn="just">
              <a:lnSpc>
                <a:spcPct val="150000"/>
              </a:lnSpc>
            </a:pPr>
            <a:r>
              <a:rPr lang="en-US" sz="2800" dirty="0">
                <a:latin typeface="Corbel" panose="020B0503020204020204" pitchFamily="34" charset="0"/>
              </a:rPr>
              <a:t>A single candidate key is designated as the           </a:t>
            </a:r>
            <a:r>
              <a:rPr lang="en-US" sz="2800" b="1" dirty="0">
                <a:solidFill>
                  <a:srgbClr val="008000"/>
                </a:solidFill>
                <a:latin typeface="Corbel" panose="020B0503020204020204" pitchFamily="34" charset="0"/>
              </a:rPr>
              <a:t>primary key.</a:t>
            </a:r>
          </a:p>
          <a:p>
            <a:endParaRPr lang="en-US" sz="2800" dirty="0">
              <a:solidFill>
                <a:srgbClr val="008000"/>
              </a:solidFill>
            </a:endParaRPr>
          </a:p>
        </p:txBody>
      </p:sp>
      <p:grpSp>
        <p:nvGrpSpPr>
          <p:cNvPr id="2" name="Group 5"/>
          <p:cNvGrpSpPr>
            <a:grpSpLocks/>
          </p:cNvGrpSpPr>
          <p:nvPr/>
        </p:nvGrpSpPr>
        <p:grpSpPr bwMode="auto">
          <a:xfrm>
            <a:off x="2057400" y="3756819"/>
            <a:ext cx="4953000" cy="2438400"/>
            <a:chOff x="1440" y="960"/>
            <a:chExt cx="3120" cy="1536"/>
          </a:xfrm>
        </p:grpSpPr>
        <p:sp>
          <p:nvSpPr>
            <p:cNvPr id="63497" name="Text Box 10"/>
            <p:cNvSpPr txBox="1">
              <a:spLocks noChangeArrowheads="1"/>
            </p:cNvSpPr>
            <p:nvPr/>
          </p:nvSpPr>
          <p:spPr bwMode="auto">
            <a:xfrm>
              <a:off x="2304" y="1440"/>
              <a:ext cx="1213" cy="294"/>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Employee</a:t>
              </a:r>
            </a:p>
          </p:txBody>
        </p:sp>
        <p:sp>
          <p:nvSpPr>
            <p:cNvPr id="63498" name="Oval 11"/>
            <p:cNvSpPr>
              <a:spLocks noChangeArrowheads="1"/>
            </p:cNvSpPr>
            <p:nvPr/>
          </p:nvSpPr>
          <p:spPr bwMode="auto">
            <a:xfrm>
              <a:off x="1440" y="1920"/>
              <a:ext cx="960" cy="57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1800" u="sng"/>
                <a:t>eid</a:t>
              </a:r>
            </a:p>
          </p:txBody>
        </p:sp>
        <p:sp>
          <p:nvSpPr>
            <p:cNvPr id="63499" name="Line 13"/>
            <p:cNvSpPr>
              <a:spLocks noChangeShapeType="1"/>
            </p:cNvSpPr>
            <p:nvPr/>
          </p:nvSpPr>
          <p:spPr bwMode="auto">
            <a:xfrm flipV="1">
              <a:off x="2304" y="1728"/>
              <a:ext cx="336" cy="288"/>
            </a:xfrm>
            <a:prstGeom prst="line">
              <a:avLst/>
            </a:prstGeom>
            <a:noFill/>
            <a:ln w="9525">
              <a:solidFill>
                <a:srgbClr val="3333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0" name="Oval 11"/>
            <p:cNvSpPr>
              <a:spLocks noChangeArrowheads="1"/>
            </p:cNvSpPr>
            <p:nvPr/>
          </p:nvSpPr>
          <p:spPr bwMode="auto">
            <a:xfrm>
              <a:off x="3360" y="1872"/>
              <a:ext cx="960" cy="57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sz="1800"/>
                <a:t>nic</a:t>
              </a:r>
            </a:p>
          </p:txBody>
        </p:sp>
        <p:sp>
          <p:nvSpPr>
            <p:cNvPr id="63501" name="Line 9"/>
            <p:cNvSpPr>
              <a:spLocks noChangeShapeType="1"/>
            </p:cNvSpPr>
            <p:nvPr/>
          </p:nvSpPr>
          <p:spPr bwMode="auto">
            <a:xfrm>
              <a:off x="3120" y="1728"/>
              <a:ext cx="384" cy="192"/>
            </a:xfrm>
            <a:prstGeom prst="line">
              <a:avLst/>
            </a:prstGeom>
            <a:noFill/>
            <a:ln w="9525">
              <a:solidFill>
                <a:srgbClr val="3333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2" name="Oval 11"/>
            <p:cNvSpPr>
              <a:spLocks noChangeArrowheads="1"/>
            </p:cNvSpPr>
            <p:nvPr/>
          </p:nvSpPr>
          <p:spPr bwMode="auto">
            <a:xfrm>
              <a:off x="3600" y="960"/>
              <a:ext cx="960" cy="57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1800"/>
                <a:t>Name</a:t>
              </a:r>
              <a:r>
                <a:rPr lang="en-US" sz="1800" b="0"/>
                <a:t> </a:t>
              </a:r>
            </a:p>
          </p:txBody>
        </p:sp>
        <p:sp>
          <p:nvSpPr>
            <p:cNvPr id="63503" name="Line 11"/>
            <p:cNvSpPr>
              <a:spLocks noChangeShapeType="1"/>
            </p:cNvSpPr>
            <p:nvPr/>
          </p:nvSpPr>
          <p:spPr bwMode="auto">
            <a:xfrm flipH="1">
              <a:off x="3264" y="1344"/>
              <a:ext cx="432" cy="96"/>
            </a:xfrm>
            <a:prstGeom prst="line">
              <a:avLst/>
            </a:prstGeom>
            <a:noFill/>
            <a:ln w="9525">
              <a:solidFill>
                <a:srgbClr val="3333CC"/>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63493" name="AutoShape 13"/>
          <p:cNvCxnSpPr>
            <a:cxnSpLocks noChangeShapeType="1"/>
            <a:stCxn id="33794" idx="1"/>
            <a:endCxn id="33794" idx="1"/>
          </p:cNvCxnSpPr>
          <p:nvPr/>
        </p:nvCxnSpPr>
        <p:spPr bwMode="auto">
          <a:xfrm>
            <a:off x="530144" y="3756819"/>
            <a:ext cx="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3807" name="Line 15"/>
          <p:cNvSpPr>
            <a:spLocks noChangeShapeType="1"/>
          </p:cNvSpPr>
          <p:nvPr/>
        </p:nvSpPr>
        <p:spPr bwMode="auto">
          <a:xfrm>
            <a:off x="2286000" y="4191000"/>
            <a:ext cx="609600" cy="914400"/>
          </a:xfrm>
          <a:prstGeom prst="line">
            <a:avLst/>
          </a:prstGeom>
          <a:noFill/>
          <a:ln w="539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8" name="Text Box 16"/>
          <p:cNvSpPr txBox="1">
            <a:spLocks noChangeArrowheads="1"/>
          </p:cNvSpPr>
          <p:nvPr/>
        </p:nvSpPr>
        <p:spPr bwMode="auto">
          <a:xfrm>
            <a:off x="7086600" y="5181600"/>
            <a:ext cx="152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spcBef>
                <a:spcPct val="50000"/>
              </a:spcBef>
            </a:pPr>
            <a:r>
              <a:rPr lang="en-US" dirty="0"/>
              <a:t>Candidate key</a:t>
            </a:r>
          </a:p>
        </p:txBody>
      </p:sp>
      <p:sp>
        <p:nvSpPr>
          <p:cNvPr id="33809" name="AutoShape 17"/>
          <p:cNvSpPr>
            <a:spLocks noChangeArrowheads="1"/>
          </p:cNvSpPr>
          <p:nvPr/>
        </p:nvSpPr>
        <p:spPr bwMode="auto">
          <a:xfrm>
            <a:off x="6934200" y="5491494"/>
            <a:ext cx="304800" cy="152400"/>
          </a:xfrm>
          <a:prstGeom prst="leftArrow">
            <a:avLst>
              <a:gd name="adj1" fmla="val 50000"/>
              <a:gd name="adj2" fmla="val 50000"/>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Tree>
    <p:extLst>
      <p:ext uri="{BB962C8B-B14F-4D97-AF65-F5344CB8AC3E}">
        <p14:creationId xmlns:p14="http://schemas.microsoft.com/office/powerpoint/2010/main" val="36963933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79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80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80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8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7" grpId="0" animBg="1"/>
      <p:bldP spid="33808" grpId="0"/>
      <p:bldP spid="3380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073670" y="479424"/>
            <a:ext cx="6377940" cy="987673"/>
          </a:xfrm>
        </p:spPr>
        <p:txBody>
          <a:bodyPr>
            <a:normAutofit/>
          </a:bodyPr>
          <a:lstStyle/>
          <a:p>
            <a:r>
              <a:rPr lang="en-US" sz="4400" dirty="0">
                <a:ln>
                  <a:noFill/>
                </a:ln>
                <a:latin typeface="Corbel" panose="020B0503020204020204" pitchFamily="34" charset="0"/>
              </a:rPr>
              <a:t>Composite Key</a:t>
            </a:r>
          </a:p>
        </p:txBody>
      </p:sp>
      <p:sp>
        <p:nvSpPr>
          <p:cNvPr id="35843" name="Rectangle 3"/>
          <p:cNvSpPr>
            <a:spLocks noGrp="1" noChangeArrowheads="1"/>
          </p:cNvSpPr>
          <p:nvPr>
            <p:ph idx="4294967295"/>
          </p:nvPr>
        </p:nvSpPr>
        <p:spPr>
          <a:xfrm>
            <a:off x="455613" y="1406525"/>
            <a:ext cx="8383587" cy="3651250"/>
          </a:xfrm>
          <a:prstGeom prst="rect">
            <a:avLst/>
          </a:prstGeom>
        </p:spPr>
        <p:txBody>
          <a:bodyPr>
            <a:normAutofit/>
          </a:bodyPr>
          <a:lstStyle/>
          <a:p>
            <a:r>
              <a:rPr lang="en-US" sz="2800" dirty="0">
                <a:latin typeface="Corbel" panose="020B0503020204020204" pitchFamily="34" charset="0"/>
              </a:rPr>
              <a:t>Sometimes, a group of attributes make up the key. This is called a </a:t>
            </a:r>
            <a:r>
              <a:rPr lang="en-US" sz="2800" b="1" dirty="0">
                <a:solidFill>
                  <a:srgbClr val="008000"/>
                </a:solidFill>
                <a:latin typeface="Corbel" panose="020B0503020204020204" pitchFamily="34" charset="0"/>
              </a:rPr>
              <a:t>composite key</a:t>
            </a:r>
            <a:r>
              <a:rPr lang="en-US" sz="2800" dirty="0">
                <a:latin typeface="Corbel" panose="020B0503020204020204" pitchFamily="34" charset="0"/>
              </a:rPr>
              <a:t>. </a:t>
            </a:r>
          </a:p>
          <a:p>
            <a:pPr marL="0" indent="0">
              <a:buNone/>
            </a:pPr>
            <a:endParaRPr lang="en-US" sz="2800" dirty="0">
              <a:latin typeface="Corbel" panose="020B0503020204020204" pitchFamily="34" charset="0"/>
            </a:endParaRPr>
          </a:p>
          <a:p>
            <a:r>
              <a:rPr lang="en-US" sz="2800" dirty="0">
                <a:latin typeface="Corbel" panose="020B0503020204020204" pitchFamily="34" charset="0"/>
              </a:rPr>
              <a:t>Example : </a:t>
            </a:r>
          </a:p>
          <a:p>
            <a:pPr>
              <a:buFont typeface="Wingdings" panose="05000000000000000000" pitchFamily="2" charset="2"/>
              <a:buNone/>
            </a:pPr>
            <a:r>
              <a:rPr lang="en-US" sz="2800" dirty="0">
                <a:latin typeface="Corbel" panose="020B0503020204020204" pitchFamily="34" charset="0"/>
              </a:rPr>
              <a:t>Composite key = (student no + Unit Number + marks)</a:t>
            </a:r>
          </a:p>
          <a:p>
            <a:pPr>
              <a:buFont typeface="Wingdings" panose="05000000000000000000" pitchFamily="2" charset="2"/>
              <a:buNone/>
            </a:pPr>
            <a:endParaRPr lang="en-US" sz="2800" dirty="0"/>
          </a:p>
          <a:p>
            <a:pPr>
              <a:buFont typeface="Wingdings" panose="05000000000000000000" pitchFamily="2" charset="2"/>
              <a:buNone/>
            </a:pPr>
            <a:endParaRPr lang="en-US" sz="2800" dirty="0"/>
          </a:p>
        </p:txBody>
      </p:sp>
      <p:graphicFrame>
        <p:nvGraphicFramePr>
          <p:cNvPr id="2" name="Table 1"/>
          <p:cNvGraphicFramePr>
            <a:graphicFrameLocks noGrp="1"/>
          </p:cNvGraphicFramePr>
          <p:nvPr>
            <p:extLst>
              <p:ext uri="{D42A27DB-BD31-4B8C-83A1-F6EECF244321}">
                <p14:modId xmlns:p14="http://schemas.microsoft.com/office/powerpoint/2010/main" val="1435075540"/>
              </p:ext>
            </p:extLst>
          </p:nvPr>
        </p:nvGraphicFramePr>
        <p:xfrm>
          <a:off x="1524000" y="4130675"/>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en-US" u="sng" dirty="0"/>
                        <a:t>ST ID</a:t>
                      </a:r>
                    </a:p>
                  </a:txBody>
                  <a:tcPr/>
                </a:tc>
                <a:tc>
                  <a:txBody>
                    <a:bodyPr/>
                    <a:lstStyle/>
                    <a:p>
                      <a:r>
                        <a:rPr lang="en-US" u="sng" dirty="0"/>
                        <a:t>Unit ID</a:t>
                      </a:r>
                    </a:p>
                  </a:txBody>
                  <a:tcPr/>
                </a:tc>
                <a:tc>
                  <a:txBody>
                    <a:bodyPr/>
                    <a:lstStyle/>
                    <a:p>
                      <a:r>
                        <a:rPr lang="en-US" dirty="0"/>
                        <a:t>Marks</a:t>
                      </a:r>
                    </a:p>
                  </a:txBody>
                  <a:tcPr/>
                </a:tc>
                <a:extLst>
                  <a:ext uri="{0D108BD9-81ED-4DB2-BD59-A6C34878D82A}">
                    <a16:rowId xmlns:a16="http://schemas.microsoft.com/office/drawing/2014/main" val="10000"/>
                  </a:ext>
                </a:extLst>
              </a:tr>
              <a:tr h="370840">
                <a:tc>
                  <a:txBody>
                    <a:bodyPr/>
                    <a:lstStyle/>
                    <a:p>
                      <a:r>
                        <a:rPr lang="en-US" dirty="0"/>
                        <a:t>IT1601</a:t>
                      </a:r>
                    </a:p>
                  </a:txBody>
                  <a:tcPr/>
                </a:tc>
                <a:tc>
                  <a:txBody>
                    <a:bodyPr/>
                    <a:lstStyle/>
                    <a:p>
                      <a:r>
                        <a:rPr lang="en-US" dirty="0"/>
                        <a:t>IT103</a:t>
                      </a:r>
                    </a:p>
                  </a:txBody>
                  <a:tcPr/>
                </a:tc>
                <a:tc>
                  <a:txBody>
                    <a:bodyPr/>
                    <a:lstStyle/>
                    <a:p>
                      <a:r>
                        <a:rPr lang="en-US" dirty="0"/>
                        <a:t>85</a:t>
                      </a:r>
                    </a:p>
                  </a:txBody>
                  <a:tcPr/>
                </a:tc>
                <a:extLst>
                  <a:ext uri="{0D108BD9-81ED-4DB2-BD59-A6C34878D82A}">
                    <a16:rowId xmlns:a16="http://schemas.microsoft.com/office/drawing/2014/main" val="10001"/>
                  </a:ext>
                </a:extLst>
              </a:tr>
              <a:tr h="370840">
                <a:tc>
                  <a:txBody>
                    <a:bodyPr/>
                    <a:lstStyle/>
                    <a:p>
                      <a:r>
                        <a:rPr lang="en-US" dirty="0"/>
                        <a:t>IT1601</a:t>
                      </a:r>
                    </a:p>
                  </a:txBody>
                  <a:tcPr/>
                </a:tc>
                <a:tc>
                  <a:txBody>
                    <a:bodyPr/>
                    <a:lstStyle/>
                    <a:p>
                      <a:r>
                        <a:rPr lang="en-US" dirty="0"/>
                        <a:t>IT104</a:t>
                      </a:r>
                    </a:p>
                  </a:txBody>
                  <a:tcPr/>
                </a:tc>
                <a:tc>
                  <a:txBody>
                    <a:bodyPr/>
                    <a:lstStyle/>
                    <a:p>
                      <a:r>
                        <a:rPr lang="en-US" dirty="0"/>
                        <a:t>78</a:t>
                      </a:r>
                    </a:p>
                  </a:txBody>
                  <a:tcPr/>
                </a:tc>
                <a:extLst>
                  <a:ext uri="{0D108BD9-81ED-4DB2-BD59-A6C34878D82A}">
                    <a16:rowId xmlns:a16="http://schemas.microsoft.com/office/drawing/2014/main" val="10002"/>
                  </a:ext>
                </a:extLst>
              </a:tr>
              <a:tr h="370840">
                <a:tc>
                  <a:txBody>
                    <a:bodyPr/>
                    <a:lstStyle/>
                    <a:p>
                      <a:r>
                        <a:rPr lang="en-US" dirty="0"/>
                        <a:t>IT1602</a:t>
                      </a:r>
                    </a:p>
                  </a:txBody>
                  <a:tcPr/>
                </a:tc>
                <a:tc>
                  <a:txBody>
                    <a:bodyPr/>
                    <a:lstStyle/>
                    <a:p>
                      <a:r>
                        <a:rPr lang="en-US" dirty="0"/>
                        <a:t>IT103</a:t>
                      </a:r>
                    </a:p>
                  </a:txBody>
                  <a:tcPr/>
                </a:tc>
                <a:tc>
                  <a:txBody>
                    <a:bodyPr/>
                    <a:lstStyle/>
                    <a:p>
                      <a:r>
                        <a:rPr lang="en-US" dirty="0"/>
                        <a:t>72</a:t>
                      </a:r>
                    </a:p>
                  </a:txBody>
                  <a:tcPr/>
                </a:tc>
                <a:extLst>
                  <a:ext uri="{0D108BD9-81ED-4DB2-BD59-A6C34878D82A}">
                    <a16:rowId xmlns:a16="http://schemas.microsoft.com/office/drawing/2014/main" val="10003"/>
                  </a:ext>
                </a:extLst>
              </a:tr>
              <a:tr h="370840">
                <a:tc>
                  <a:txBody>
                    <a:bodyPr/>
                    <a:lstStyle/>
                    <a:p>
                      <a:r>
                        <a:rPr lang="en-US" dirty="0"/>
                        <a:t>IT1603</a:t>
                      </a:r>
                    </a:p>
                  </a:txBody>
                  <a:tcPr/>
                </a:tc>
                <a:tc>
                  <a:txBody>
                    <a:bodyPr/>
                    <a:lstStyle/>
                    <a:p>
                      <a:r>
                        <a:rPr lang="en-US" dirty="0"/>
                        <a:t>IT104</a:t>
                      </a:r>
                    </a:p>
                  </a:txBody>
                  <a:tcPr/>
                </a:tc>
                <a:tc>
                  <a:txBody>
                    <a:bodyPr/>
                    <a:lstStyle/>
                    <a:p>
                      <a:r>
                        <a:rPr lang="en-US" dirty="0"/>
                        <a:t>82</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493206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214778" y="304800"/>
            <a:ext cx="6377940" cy="906410"/>
          </a:xfrm>
        </p:spPr>
        <p:txBody>
          <a:bodyPr>
            <a:normAutofit/>
          </a:bodyPr>
          <a:lstStyle/>
          <a:p>
            <a:r>
              <a:rPr lang="en-US" sz="4400" dirty="0">
                <a:ln>
                  <a:noFill/>
                </a:ln>
                <a:latin typeface="Corbel" panose="020B0503020204020204" pitchFamily="34" charset="0"/>
              </a:rPr>
              <a:t>Super Key</a:t>
            </a:r>
          </a:p>
        </p:txBody>
      </p:sp>
      <p:sp>
        <p:nvSpPr>
          <p:cNvPr id="35843" name="Rectangle 3"/>
          <p:cNvSpPr>
            <a:spLocks noGrp="1" noChangeArrowheads="1"/>
          </p:cNvSpPr>
          <p:nvPr>
            <p:ph idx="4294967295"/>
          </p:nvPr>
        </p:nvSpPr>
        <p:spPr>
          <a:xfrm>
            <a:off x="470370" y="1447800"/>
            <a:ext cx="8407871" cy="5105400"/>
          </a:xfrm>
          <a:prstGeom prst="rect">
            <a:avLst/>
          </a:prstGeom>
        </p:spPr>
        <p:txBody>
          <a:bodyPr>
            <a:normAutofit fontScale="85000" lnSpcReduction="20000"/>
          </a:bodyPr>
          <a:lstStyle/>
          <a:p>
            <a:pPr algn="just">
              <a:buFont typeface="Arial"/>
              <a:buChar char="•"/>
              <a:defRPr/>
            </a:pPr>
            <a:r>
              <a:rPr lang="en-US" sz="3600" dirty="0">
                <a:solidFill>
                  <a:schemeClr val="tx1">
                    <a:lumMod val="85000"/>
                    <a:lumOff val="15000"/>
                  </a:schemeClr>
                </a:solidFill>
                <a:latin typeface="Corbel" panose="020B0503020204020204" pitchFamily="34" charset="0"/>
              </a:rPr>
              <a:t>Any other set of attributes that uniquely identify a tuple is called the </a:t>
            </a:r>
            <a:r>
              <a:rPr lang="en-US" sz="3600" b="1" dirty="0" err="1">
                <a:solidFill>
                  <a:srgbClr val="FF0066"/>
                </a:solidFill>
                <a:latin typeface="Corbel" panose="020B0503020204020204" pitchFamily="34" charset="0"/>
              </a:rPr>
              <a:t>superkey</a:t>
            </a:r>
            <a:r>
              <a:rPr lang="en-US" sz="3600" dirty="0">
                <a:solidFill>
                  <a:schemeClr val="tx1">
                    <a:lumMod val="85000"/>
                    <a:lumOff val="15000"/>
                  </a:schemeClr>
                </a:solidFill>
                <a:latin typeface="Corbel" panose="020B0503020204020204" pitchFamily="34" charset="0"/>
              </a:rPr>
              <a:t> of a relation.</a:t>
            </a:r>
          </a:p>
          <a:p>
            <a:pPr algn="just">
              <a:buNone/>
              <a:defRPr/>
            </a:pPr>
            <a:r>
              <a:rPr lang="en-US" sz="3600" dirty="0">
                <a:solidFill>
                  <a:srgbClr val="800080"/>
                </a:solidFill>
                <a:latin typeface="Corbel" panose="020B0503020204020204" pitchFamily="34" charset="0"/>
              </a:rPr>
              <a:t>    Student ( SID, Name, Address, Contact, GPA)</a:t>
            </a:r>
          </a:p>
          <a:p>
            <a:pPr algn="just">
              <a:buNone/>
              <a:defRPr/>
            </a:pPr>
            <a:endParaRPr lang="en-US" sz="3600" dirty="0">
              <a:solidFill>
                <a:schemeClr val="tx1">
                  <a:lumMod val="85000"/>
                  <a:lumOff val="15000"/>
                </a:schemeClr>
              </a:solidFill>
              <a:latin typeface="Corbel" panose="020B0503020204020204" pitchFamily="34" charset="0"/>
            </a:endParaRPr>
          </a:p>
          <a:p>
            <a:pPr algn="just">
              <a:buFont typeface="Arial"/>
              <a:buChar char="•"/>
              <a:defRPr/>
            </a:pPr>
            <a:r>
              <a:rPr lang="en-US" sz="3600" dirty="0">
                <a:solidFill>
                  <a:schemeClr val="tx1">
                    <a:lumMod val="85000"/>
                    <a:lumOff val="15000"/>
                  </a:schemeClr>
                </a:solidFill>
                <a:latin typeface="Corbel" panose="020B0503020204020204" pitchFamily="34" charset="0"/>
              </a:rPr>
              <a:t>What is the minimal set of attributes that uniquely identify the relation ?</a:t>
            </a:r>
          </a:p>
          <a:p>
            <a:pPr lvl="1" algn="just">
              <a:buFont typeface="Arial"/>
              <a:buChar char="•"/>
              <a:defRPr/>
            </a:pPr>
            <a:r>
              <a:rPr lang="en-US" sz="3600" dirty="0">
                <a:solidFill>
                  <a:schemeClr val="tx1">
                    <a:lumMod val="85000"/>
                    <a:lumOff val="15000"/>
                  </a:schemeClr>
                </a:solidFill>
                <a:latin typeface="Corbel" panose="020B0503020204020204" pitchFamily="34" charset="0"/>
              </a:rPr>
              <a:t>SID = Referred to as  Primary Key</a:t>
            </a:r>
          </a:p>
          <a:p>
            <a:pPr algn="just">
              <a:buFont typeface="Arial"/>
              <a:buChar char="•"/>
              <a:defRPr/>
            </a:pPr>
            <a:endParaRPr lang="en-US" sz="3600" dirty="0">
              <a:solidFill>
                <a:schemeClr val="tx1">
                  <a:lumMod val="85000"/>
                  <a:lumOff val="15000"/>
                </a:schemeClr>
              </a:solidFill>
              <a:latin typeface="Corbel" panose="020B0503020204020204" pitchFamily="34" charset="0"/>
            </a:endParaRPr>
          </a:p>
          <a:p>
            <a:pPr algn="just">
              <a:buFont typeface="Arial"/>
              <a:buChar char="•"/>
              <a:defRPr/>
            </a:pPr>
            <a:r>
              <a:rPr lang="en-US" sz="3600" dirty="0">
                <a:solidFill>
                  <a:schemeClr val="tx1">
                    <a:lumMod val="85000"/>
                    <a:lumOff val="15000"/>
                  </a:schemeClr>
                </a:solidFill>
                <a:latin typeface="Corbel" panose="020B0503020204020204" pitchFamily="34" charset="0"/>
              </a:rPr>
              <a:t>(SID + Name)     Is this unique?</a:t>
            </a:r>
          </a:p>
          <a:p>
            <a:pPr lvl="2" algn="just">
              <a:buFont typeface="Arial"/>
              <a:buChar char="•"/>
              <a:defRPr/>
            </a:pPr>
            <a:r>
              <a:rPr lang="en-US" sz="3600" dirty="0">
                <a:solidFill>
                  <a:schemeClr val="tx1">
                    <a:lumMod val="85000"/>
                    <a:lumOff val="15000"/>
                  </a:schemeClr>
                </a:solidFill>
                <a:latin typeface="Corbel" panose="020B0503020204020204" pitchFamily="34" charset="0"/>
              </a:rPr>
              <a:t>Yes, but NOT the minimal set </a:t>
            </a:r>
          </a:p>
          <a:p>
            <a:pPr algn="just">
              <a:buFont typeface="Arial"/>
              <a:buChar char="•"/>
              <a:defRPr/>
            </a:pPr>
            <a:r>
              <a:rPr lang="en-US" sz="3600" dirty="0">
                <a:solidFill>
                  <a:schemeClr val="tx1">
                    <a:lumMod val="85000"/>
                    <a:lumOff val="15000"/>
                  </a:schemeClr>
                </a:solidFill>
                <a:latin typeface="Corbel" panose="020B0503020204020204" pitchFamily="34" charset="0"/>
              </a:rPr>
              <a:t>Referred to as </a:t>
            </a:r>
            <a:r>
              <a:rPr lang="en-US" sz="3600" dirty="0">
                <a:solidFill>
                  <a:srgbClr val="FF0000"/>
                </a:solidFill>
                <a:latin typeface="Corbel" panose="020B0503020204020204" pitchFamily="34" charset="0"/>
              </a:rPr>
              <a:t>Super Key </a:t>
            </a:r>
          </a:p>
          <a:p>
            <a:pPr algn="just">
              <a:buFont typeface="Arial"/>
              <a:buChar char="•"/>
              <a:defRPr/>
            </a:pPr>
            <a:endParaRPr lang="en-US" sz="2600" dirty="0">
              <a:solidFill>
                <a:srgbClr val="FF0000"/>
              </a:solidFill>
            </a:endParaRPr>
          </a:p>
        </p:txBody>
      </p:sp>
    </p:spTree>
    <p:extLst>
      <p:ext uri="{BB962C8B-B14F-4D97-AF65-F5344CB8AC3E}">
        <p14:creationId xmlns:p14="http://schemas.microsoft.com/office/powerpoint/2010/main" val="3287818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84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84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8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4294967295"/>
          </p:nvPr>
        </p:nvSpPr>
        <p:spPr>
          <a:xfrm>
            <a:off x="258705" y="1700213"/>
            <a:ext cx="8642350" cy="4249737"/>
          </a:xfrm>
          <a:prstGeom prst="rect">
            <a:avLst/>
          </a:prstGeom>
        </p:spPr>
        <p:txBody>
          <a:bodyPr>
            <a:normAutofit/>
          </a:bodyPr>
          <a:lstStyle/>
          <a:p>
            <a:pPr algn="just">
              <a:buFont typeface="Wingdings" panose="05000000000000000000" pitchFamily="2" charset="2"/>
              <a:buNone/>
            </a:pPr>
            <a:r>
              <a:rPr lang="en-US" sz="2800" dirty="0">
                <a:latin typeface="Corbel" panose="020B0503020204020204" pitchFamily="34" charset="0"/>
              </a:rPr>
              <a:t>   	Students should enroll for courses. Student need to provide </a:t>
            </a:r>
            <a:r>
              <a:rPr lang="en-US" sz="2800" dirty="0" err="1">
                <a:latin typeface="Corbel" panose="020B0503020204020204" pitchFamily="34" charset="0"/>
              </a:rPr>
              <a:t>studentID</a:t>
            </a:r>
            <a:r>
              <a:rPr lang="en-US" sz="2800" dirty="0">
                <a:latin typeface="Corbel" panose="020B0503020204020204" pitchFamily="34" charset="0"/>
              </a:rPr>
              <a:t> number, name, address , date of birth, gender, contact number when he/she is going to register for a course. University keeps track of course number , course name , offering faculty ,duration and course fee of each course.</a:t>
            </a:r>
          </a:p>
          <a:p>
            <a:pPr algn="just">
              <a:buFont typeface="Wingdings" panose="05000000000000000000" pitchFamily="2" charset="2"/>
              <a:buNone/>
            </a:pPr>
            <a:endParaRPr lang="en-US" sz="2800" dirty="0">
              <a:latin typeface="Corbel" panose="020B0503020204020204" pitchFamily="34" charset="0"/>
            </a:endParaRPr>
          </a:p>
          <a:p>
            <a:pPr algn="just">
              <a:buFont typeface="Wingdings" panose="05000000000000000000" pitchFamily="2" charset="2"/>
              <a:buNone/>
            </a:pPr>
            <a:r>
              <a:rPr lang="en-US" sz="2800" dirty="0">
                <a:latin typeface="Corbel" panose="020B0503020204020204" pitchFamily="34" charset="0"/>
              </a:rPr>
              <a:t>  How do you represent this scenario ?</a:t>
            </a:r>
          </a:p>
          <a:p>
            <a:pPr>
              <a:buFont typeface="Wingdings" panose="05000000000000000000" pitchFamily="2" charset="2"/>
              <a:buNone/>
            </a:pPr>
            <a:endParaRPr lang="en-US" sz="2800" dirty="0">
              <a:latin typeface="Corbel" panose="020B0503020204020204" pitchFamily="34" charset="0"/>
            </a:endParaRPr>
          </a:p>
          <a:p>
            <a:pPr>
              <a:buFont typeface="Wingdings" panose="05000000000000000000" pitchFamily="2" charset="2"/>
              <a:buNone/>
            </a:pPr>
            <a:endParaRPr lang="en-US" sz="2800" dirty="0">
              <a:latin typeface="Corbel" panose="020B0503020204020204" pitchFamily="34" charset="0"/>
            </a:endParaRPr>
          </a:p>
        </p:txBody>
      </p:sp>
    </p:spTree>
    <p:extLst>
      <p:ext uri="{BB962C8B-B14F-4D97-AF65-F5344CB8AC3E}">
        <p14:creationId xmlns:p14="http://schemas.microsoft.com/office/powerpoint/2010/main" val="972458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192485" y="1318172"/>
            <a:ext cx="6567488" cy="2970213"/>
            <a:chOff x="38100" y="647700"/>
            <a:chExt cx="6567488" cy="2970213"/>
          </a:xfrm>
        </p:grpSpPr>
        <p:cxnSp>
          <p:nvCxnSpPr>
            <p:cNvPr id="16" name="Straight Connector 15"/>
            <p:cNvCxnSpPr>
              <a:endCxn id="2" idx="2"/>
            </p:cNvCxnSpPr>
            <p:nvPr/>
          </p:nvCxnSpPr>
          <p:spPr>
            <a:xfrm flipV="1">
              <a:off x="2667000" y="1543050"/>
              <a:ext cx="1500188" cy="361950"/>
            </a:xfrm>
            <a:prstGeom prst="line">
              <a:avLst/>
            </a:prstGeom>
          </p:spPr>
          <p:style>
            <a:lnRef idx="1">
              <a:schemeClr val="dk1"/>
            </a:lnRef>
            <a:fillRef idx="0">
              <a:schemeClr val="dk1"/>
            </a:fillRef>
            <a:effectRef idx="0">
              <a:schemeClr val="dk1"/>
            </a:effectRef>
            <a:fontRef idx="minor">
              <a:schemeClr val="tx1"/>
            </a:fontRef>
          </p:style>
        </p:cxnSp>
        <p:grpSp>
          <p:nvGrpSpPr>
            <p:cNvPr id="3" name="Group 35"/>
            <p:cNvGrpSpPr>
              <a:grpSpLocks/>
            </p:cNvGrpSpPr>
            <p:nvPr/>
          </p:nvGrpSpPr>
          <p:grpSpPr bwMode="auto">
            <a:xfrm>
              <a:off x="38100" y="647700"/>
              <a:ext cx="6567488" cy="2970213"/>
              <a:chOff x="38100" y="647700"/>
              <a:chExt cx="6567237" cy="2969794"/>
            </a:xfrm>
          </p:grpSpPr>
          <p:grpSp>
            <p:nvGrpSpPr>
              <p:cNvPr id="4" name="Group 7"/>
              <p:cNvGrpSpPr>
                <a:grpSpLocks/>
              </p:cNvGrpSpPr>
              <p:nvPr/>
            </p:nvGrpSpPr>
            <p:grpSpPr bwMode="auto">
              <a:xfrm>
                <a:off x="990600" y="914400"/>
                <a:ext cx="4419600" cy="2667000"/>
                <a:chOff x="2352" y="2448"/>
                <a:chExt cx="2784" cy="1680"/>
              </a:xfrm>
            </p:grpSpPr>
            <p:sp>
              <p:nvSpPr>
                <p:cNvPr id="66586" name="Rectangle 8"/>
                <p:cNvSpPr>
                  <a:spLocks noChangeArrowheads="1"/>
                </p:cNvSpPr>
                <p:nvPr/>
              </p:nvSpPr>
              <p:spPr bwMode="auto">
                <a:xfrm>
                  <a:off x="2352" y="3072"/>
                  <a:ext cx="1043" cy="317"/>
                </a:xfrm>
                <a:prstGeom prst="rect">
                  <a:avLst/>
                </a:prstGeom>
                <a:solidFill>
                  <a:srgbClr val="9999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800" dirty="0"/>
                    <a:t>student</a:t>
                  </a:r>
                </a:p>
              </p:txBody>
            </p:sp>
            <p:sp>
              <p:nvSpPr>
                <p:cNvPr id="66587" name="Oval 9"/>
                <p:cNvSpPr>
                  <a:spLocks noChangeArrowheads="1"/>
                </p:cNvSpPr>
                <p:nvPr/>
              </p:nvSpPr>
              <p:spPr bwMode="auto">
                <a:xfrm>
                  <a:off x="3168" y="2448"/>
                  <a:ext cx="1200" cy="33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address</a:t>
                  </a:r>
                </a:p>
              </p:txBody>
            </p:sp>
            <p:sp>
              <p:nvSpPr>
                <p:cNvPr id="66588" name="Line 10"/>
                <p:cNvSpPr>
                  <a:spLocks noChangeShapeType="1"/>
                </p:cNvSpPr>
                <p:nvPr/>
              </p:nvSpPr>
              <p:spPr bwMode="auto">
                <a:xfrm flipH="1">
                  <a:off x="3024" y="2736"/>
                  <a:ext cx="336"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89" name="Oval 11"/>
                <p:cNvSpPr>
                  <a:spLocks noChangeArrowheads="1"/>
                </p:cNvSpPr>
                <p:nvPr/>
              </p:nvSpPr>
              <p:spPr bwMode="auto">
                <a:xfrm>
                  <a:off x="3792" y="3072"/>
                  <a:ext cx="1344" cy="384"/>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gender</a:t>
                  </a:r>
                </a:p>
              </p:txBody>
            </p:sp>
            <p:sp>
              <p:nvSpPr>
                <p:cNvPr id="66590" name="Line 12"/>
                <p:cNvSpPr>
                  <a:spLocks noChangeShapeType="1"/>
                </p:cNvSpPr>
                <p:nvPr/>
              </p:nvSpPr>
              <p:spPr bwMode="auto">
                <a:xfrm>
                  <a:off x="3408" y="3264"/>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1" name="Oval 13"/>
                <p:cNvSpPr>
                  <a:spLocks noChangeArrowheads="1"/>
                </p:cNvSpPr>
                <p:nvPr/>
              </p:nvSpPr>
              <p:spPr bwMode="auto">
                <a:xfrm>
                  <a:off x="3072" y="3696"/>
                  <a:ext cx="1296" cy="432"/>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dob</a:t>
                  </a:r>
                </a:p>
              </p:txBody>
            </p:sp>
            <p:sp>
              <p:nvSpPr>
                <p:cNvPr id="66592" name="Line 14"/>
                <p:cNvSpPr>
                  <a:spLocks noChangeShapeType="1"/>
                </p:cNvSpPr>
                <p:nvPr/>
              </p:nvSpPr>
              <p:spPr bwMode="auto">
                <a:xfrm>
                  <a:off x="2928" y="3408"/>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6580" name="Oval 9"/>
              <p:cNvSpPr>
                <a:spLocks noChangeArrowheads="1"/>
              </p:cNvSpPr>
              <p:nvPr/>
            </p:nvSpPr>
            <p:spPr bwMode="auto">
              <a:xfrm>
                <a:off x="38100" y="3084094"/>
                <a:ext cx="1905000" cy="533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u="sng"/>
                  <a:t>studentID</a:t>
                </a:r>
              </a:p>
            </p:txBody>
          </p:sp>
          <p:sp>
            <p:nvSpPr>
              <p:cNvPr id="66581" name="Oval 9"/>
              <p:cNvSpPr>
                <a:spLocks noChangeArrowheads="1"/>
              </p:cNvSpPr>
              <p:nvPr/>
            </p:nvSpPr>
            <p:spPr bwMode="auto">
              <a:xfrm>
                <a:off x="38100" y="647700"/>
                <a:ext cx="1905000" cy="533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name</a:t>
                </a:r>
              </a:p>
            </p:txBody>
          </p:sp>
          <p:sp>
            <p:nvSpPr>
              <p:cNvPr id="66582" name="Oval 9"/>
              <p:cNvSpPr>
                <a:spLocks noChangeArrowheads="1"/>
              </p:cNvSpPr>
              <p:nvPr/>
            </p:nvSpPr>
            <p:spPr bwMode="auto">
              <a:xfrm>
                <a:off x="4355432" y="1257300"/>
                <a:ext cx="1905000" cy="533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phone</a:t>
                </a:r>
              </a:p>
            </p:txBody>
          </p:sp>
          <p:sp>
            <p:nvSpPr>
              <p:cNvPr id="2" name="Oval 1"/>
              <p:cNvSpPr/>
              <p:nvPr/>
            </p:nvSpPr>
            <p:spPr>
              <a:xfrm>
                <a:off x="4167030" y="1181025"/>
                <a:ext cx="2438307" cy="72379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8" name="Straight Connector 17"/>
              <p:cNvCxnSpPr>
                <a:stCxn id="66586" idx="0"/>
                <a:endCxn id="66581" idx="4"/>
              </p:cNvCxnSpPr>
              <p:nvPr/>
            </p:nvCxnSpPr>
            <p:spPr>
              <a:xfrm flipH="1" flipV="1">
                <a:off x="990564" y="1181025"/>
                <a:ext cx="828643" cy="723798"/>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a:stCxn id="66586" idx="2"/>
                <a:endCxn id="66580" idx="0"/>
              </p:cNvCxnSpPr>
              <p:nvPr/>
            </p:nvCxnSpPr>
            <p:spPr>
              <a:xfrm flipH="1">
                <a:off x="990564" y="2407990"/>
                <a:ext cx="828643" cy="676180"/>
              </a:xfrm>
              <a:prstGeom prst="line">
                <a:avLst/>
              </a:prstGeom>
            </p:spPr>
            <p:style>
              <a:lnRef idx="1">
                <a:schemeClr val="dk1"/>
              </a:lnRef>
              <a:fillRef idx="0">
                <a:schemeClr val="dk1"/>
              </a:fillRef>
              <a:effectRef idx="0">
                <a:schemeClr val="dk1"/>
              </a:effectRef>
              <a:fontRef idx="minor">
                <a:schemeClr val="tx1"/>
              </a:fontRef>
            </p:style>
          </p:cxnSp>
        </p:grpSp>
      </p:grpSp>
      <p:grpSp>
        <p:nvGrpSpPr>
          <p:cNvPr id="5" name="Group 36"/>
          <p:cNvGrpSpPr>
            <a:grpSpLocks/>
          </p:cNvGrpSpPr>
          <p:nvPr/>
        </p:nvGrpSpPr>
        <p:grpSpPr bwMode="auto">
          <a:xfrm>
            <a:off x="2988469" y="3731966"/>
            <a:ext cx="6019403" cy="2667000"/>
            <a:chOff x="2286396" y="3585410"/>
            <a:chExt cx="6019404" cy="2667000"/>
          </a:xfrm>
        </p:grpSpPr>
        <p:grpSp>
          <p:nvGrpSpPr>
            <p:cNvPr id="6" name="Group 7"/>
            <p:cNvGrpSpPr>
              <a:grpSpLocks/>
            </p:cNvGrpSpPr>
            <p:nvPr/>
          </p:nvGrpSpPr>
          <p:grpSpPr bwMode="auto">
            <a:xfrm>
              <a:off x="3886200" y="3585410"/>
              <a:ext cx="4419600" cy="2667000"/>
              <a:chOff x="2352" y="2448"/>
              <a:chExt cx="2784" cy="1680"/>
            </a:xfrm>
          </p:grpSpPr>
          <p:sp>
            <p:nvSpPr>
              <p:cNvPr id="66572" name="Rectangle 8"/>
              <p:cNvSpPr>
                <a:spLocks noChangeArrowheads="1"/>
              </p:cNvSpPr>
              <p:nvPr/>
            </p:nvSpPr>
            <p:spPr bwMode="auto">
              <a:xfrm>
                <a:off x="2352" y="3072"/>
                <a:ext cx="1043" cy="317"/>
              </a:xfrm>
              <a:prstGeom prst="rect">
                <a:avLst/>
              </a:prstGeom>
              <a:solidFill>
                <a:srgbClr val="9999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1800"/>
                  <a:t>course</a:t>
                </a:r>
              </a:p>
            </p:txBody>
          </p:sp>
          <p:sp>
            <p:nvSpPr>
              <p:cNvPr id="66573" name="Oval 9"/>
              <p:cNvSpPr>
                <a:spLocks noChangeArrowheads="1"/>
              </p:cNvSpPr>
              <p:nvPr/>
            </p:nvSpPr>
            <p:spPr bwMode="auto">
              <a:xfrm>
                <a:off x="3168" y="2448"/>
                <a:ext cx="1200" cy="336"/>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u="sng"/>
                  <a:t>courseNo</a:t>
                </a:r>
              </a:p>
            </p:txBody>
          </p:sp>
          <p:sp>
            <p:nvSpPr>
              <p:cNvPr id="66574" name="Line 10"/>
              <p:cNvSpPr>
                <a:spLocks noChangeShapeType="1"/>
              </p:cNvSpPr>
              <p:nvPr/>
            </p:nvSpPr>
            <p:spPr bwMode="auto">
              <a:xfrm flipH="1">
                <a:off x="3024" y="2736"/>
                <a:ext cx="336"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5" name="Oval 11"/>
              <p:cNvSpPr>
                <a:spLocks noChangeArrowheads="1"/>
              </p:cNvSpPr>
              <p:nvPr/>
            </p:nvSpPr>
            <p:spPr bwMode="auto">
              <a:xfrm>
                <a:off x="3792" y="3072"/>
                <a:ext cx="1344" cy="384"/>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coursename</a:t>
                </a:r>
              </a:p>
            </p:txBody>
          </p:sp>
          <p:sp>
            <p:nvSpPr>
              <p:cNvPr id="66576" name="Line 12"/>
              <p:cNvSpPr>
                <a:spLocks noChangeShapeType="1"/>
              </p:cNvSpPr>
              <p:nvPr/>
            </p:nvSpPr>
            <p:spPr bwMode="auto">
              <a:xfrm>
                <a:off x="3408" y="3264"/>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7" name="Oval 13"/>
              <p:cNvSpPr>
                <a:spLocks noChangeArrowheads="1"/>
              </p:cNvSpPr>
              <p:nvPr/>
            </p:nvSpPr>
            <p:spPr bwMode="auto">
              <a:xfrm>
                <a:off x="3072" y="3696"/>
                <a:ext cx="1296" cy="432"/>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faculty</a:t>
                </a:r>
              </a:p>
            </p:txBody>
          </p:sp>
          <p:sp>
            <p:nvSpPr>
              <p:cNvPr id="66578" name="Line 14"/>
              <p:cNvSpPr>
                <a:spLocks noChangeShapeType="1"/>
              </p:cNvSpPr>
              <p:nvPr/>
            </p:nvSpPr>
            <p:spPr bwMode="auto">
              <a:xfrm>
                <a:off x="2928" y="3408"/>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6568" name="Oval 11"/>
            <p:cNvSpPr>
              <a:spLocks noChangeArrowheads="1"/>
            </p:cNvSpPr>
            <p:nvPr/>
          </p:nvSpPr>
          <p:spPr bwMode="auto">
            <a:xfrm>
              <a:off x="2286396" y="4545698"/>
              <a:ext cx="1252141" cy="6096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fee</a:t>
              </a:r>
            </a:p>
          </p:txBody>
        </p:sp>
        <p:sp>
          <p:nvSpPr>
            <p:cNvPr id="66569" name="Oval 11"/>
            <p:cNvSpPr>
              <a:spLocks noChangeArrowheads="1"/>
            </p:cNvSpPr>
            <p:nvPr/>
          </p:nvSpPr>
          <p:spPr bwMode="auto">
            <a:xfrm>
              <a:off x="2514600" y="5612648"/>
              <a:ext cx="2133600" cy="6096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duration</a:t>
              </a:r>
            </a:p>
          </p:txBody>
        </p:sp>
        <p:cxnSp>
          <p:nvCxnSpPr>
            <p:cNvPr id="33" name="Straight Connector 32"/>
            <p:cNvCxnSpPr>
              <a:stCxn id="66572" idx="1"/>
              <a:endCxn id="66568" idx="6"/>
            </p:cNvCxnSpPr>
            <p:nvPr/>
          </p:nvCxnSpPr>
          <p:spPr>
            <a:xfrm flipH="1">
              <a:off x="3538537" y="4827629"/>
              <a:ext cx="347663" cy="22869"/>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p:cNvCxnSpPr>
              <a:cxnSpLocks/>
              <a:endCxn id="66569" idx="0"/>
            </p:cNvCxnSpPr>
            <p:nvPr/>
          </p:nvCxnSpPr>
          <p:spPr>
            <a:xfrm flipH="1">
              <a:off x="3581400" y="5056229"/>
              <a:ext cx="707429" cy="556419"/>
            </a:xfrm>
            <a:prstGeom prst="line">
              <a:avLst/>
            </a:prstGeom>
          </p:spPr>
          <p:style>
            <a:lnRef idx="1">
              <a:schemeClr val="dk1"/>
            </a:lnRef>
            <a:fillRef idx="0">
              <a:schemeClr val="dk1"/>
            </a:fillRef>
            <a:effectRef idx="0">
              <a:schemeClr val="dk1"/>
            </a:effectRef>
            <a:fontRef idx="minor">
              <a:schemeClr val="tx1"/>
            </a:fontRef>
          </p:style>
        </p:cxnSp>
      </p:grpSp>
      <p:sp>
        <p:nvSpPr>
          <p:cNvPr id="38" name="TextBox 37"/>
          <p:cNvSpPr txBox="1"/>
          <p:nvPr/>
        </p:nvSpPr>
        <p:spPr>
          <a:xfrm>
            <a:off x="312968" y="620516"/>
            <a:ext cx="8619364" cy="523220"/>
          </a:xfrm>
          <a:prstGeom prst="rect">
            <a:avLst/>
          </a:prstGeom>
          <a:noFill/>
        </p:spPr>
        <p:txBody>
          <a:bodyPr wrap="square">
            <a:spAutoFit/>
          </a:bodyPr>
          <a:lstStyle/>
          <a:p>
            <a:pPr>
              <a:defRPr/>
            </a:pPr>
            <a:r>
              <a:rPr lang="en-US" sz="2800" dirty="0">
                <a:solidFill>
                  <a:srgbClr val="FF0000"/>
                </a:solidFill>
                <a:latin typeface="Corbel" panose="020B0503020204020204" pitchFamily="34" charset="0"/>
              </a:rPr>
              <a:t>How do we find the course name of the student IT160001</a:t>
            </a:r>
          </a:p>
        </p:txBody>
      </p:sp>
    </p:spTree>
    <p:extLst>
      <p:ext uri="{BB962C8B-B14F-4D97-AF65-F5344CB8AC3E}">
        <p14:creationId xmlns:p14="http://schemas.microsoft.com/office/powerpoint/2010/main" val="24032153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297427" y="503237"/>
            <a:ext cx="6377940" cy="944561"/>
          </a:xfrm>
        </p:spPr>
        <p:txBody>
          <a:bodyPr>
            <a:normAutofit/>
          </a:bodyPr>
          <a:lstStyle/>
          <a:p>
            <a:r>
              <a:rPr lang="en-GB" sz="4400" dirty="0">
                <a:ln>
                  <a:noFill/>
                </a:ln>
                <a:latin typeface="Corbel" panose="020B0503020204020204" pitchFamily="34" charset="0"/>
              </a:rPr>
              <a:t>Relationship</a:t>
            </a:r>
            <a:r>
              <a:rPr lang="en-GB" dirty="0">
                <a:ln>
                  <a:noFill/>
                </a:ln>
              </a:rPr>
              <a:t> </a:t>
            </a:r>
          </a:p>
        </p:txBody>
      </p:sp>
      <p:sp>
        <p:nvSpPr>
          <p:cNvPr id="41987" name="Rectangle 3"/>
          <p:cNvSpPr>
            <a:spLocks noGrp="1" noChangeArrowheads="1"/>
          </p:cNvSpPr>
          <p:nvPr>
            <p:ph idx="4294967295"/>
          </p:nvPr>
        </p:nvSpPr>
        <p:spPr>
          <a:xfrm>
            <a:off x="435093" y="1141939"/>
            <a:ext cx="8708907" cy="5212824"/>
          </a:xfrm>
          <a:prstGeom prst="rect">
            <a:avLst/>
          </a:prstGeom>
        </p:spPr>
        <p:txBody>
          <a:bodyPr rtlCol="0">
            <a:normAutofit/>
          </a:bodyPr>
          <a:lstStyle/>
          <a:p>
            <a:pPr>
              <a:lnSpc>
                <a:spcPct val="90000"/>
              </a:lnSpc>
              <a:defRPr/>
            </a:pPr>
            <a:endParaRPr lang="en-US" sz="2800" b="1" dirty="0">
              <a:solidFill>
                <a:srgbClr val="FF6600"/>
              </a:solidFill>
              <a:latin typeface="Corbel" panose="020B0503020204020204" pitchFamily="34" charset="0"/>
            </a:endParaRPr>
          </a:p>
          <a:p>
            <a:pPr>
              <a:lnSpc>
                <a:spcPct val="90000"/>
              </a:lnSpc>
              <a:defRPr/>
            </a:pPr>
            <a:r>
              <a:rPr lang="en-US" sz="2800" b="1" dirty="0">
                <a:solidFill>
                  <a:srgbClr val="FF6600"/>
                </a:solidFill>
                <a:latin typeface="Corbel" panose="020B0503020204020204" pitchFamily="34" charset="0"/>
              </a:rPr>
              <a:t>Relationship</a:t>
            </a:r>
            <a:r>
              <a:rPr lang="en-US" sz="2800" dirty="0">
                <a:solidFill>
                  <a:schemeClr val="tx1">
                    <a:lumMod val="85000"/>
                    <a:lumOff val="15000"/>
                  </a:schemeClr>
                </a:solidFill>
                <a:latin typeface="Corbel" panose="020B0503020204020204" pitchFamily="34" charset="0"/>
              </a:rPr>
              <a:t>  is an association among two or more entities. </a:t>
            </a:r>
          </a:p>
          <a:p>
            <a:pPr fontAlgn="auto">
              <a:lnSpc>
                <a:spcPct val="90000"/>
              </a:lnSpc>
              <a:buFont typeface="Arial"/>
              <a:buChar char="•"/>
              <a:defRPr/>
            </a:pPr>
            <a:r>
              <a:rPr lang="en-US" sz="2800" dirty="0">
                <a:solidFill>
                  <a:schemeClr val="tx1">
                    <a:lumMod val="85000"/>
                    <a:lumOff val="15000"/>
                  </a:schemeClr>
                </a:solidFill>
                <a:latin typeface="Corbel" panose="020B0503020204020204" pitchFamily="34" charset="0"/>
              </a:rPr>
              <a:t>Collection of similar relationships - </a:t>
            </a:r>
            <a:r>
              <a:rPr lang="en-US" sz="2800" b="1" dirty="0">
                <a:solidFill>
                  <a:srgbClr val="FF6600"/>
                </a:solidFill>
                <a:latin typeface="Corbel" panose="020B0503020204020204" pitchFamily="34" charset="0"/>
              </a:rPr>
              <a:t>relationship set</a:t>
            </a:r>
            <a:r>
              <a:rPr lang="en-US" sz="2800" dirty="0">
                <a:solidFill>
                  <a:schemeClr val="tx1">
                    <a:lumMod val="85000"/>
                    <a:lumOff val="15000"/>
                  </a:schemeClr>
                </a:solidFill>
                <a:latin typeface="Corbel" panose="020B0503020204020204" pitchFamily="34" charset="0"/>
              </a:rPr>
              <a:t> .</a:t>
            </a:r>
          </a:p>
          <a:p>
            <a:pPr fontAlgn="auto">
              <a:lnSpc>
                <a:spcPct val="90000"/>
              </a:lnSpc>
              <a:buFont typeface="Arial"/>
              <a:buChar char="•"/>
              <a:defRPr/>
            </a:pPr>
            <a:r>
              <a:rPr lang="en-GB" sz="2800" dirty="0">
                <a:solidFill>
                  <a:schemeClr val="tx1">
                    <a:lumMod val="85000"/>
                    <a:lumOff val="15000"/>
                  </a:schemeClr>
                </a:solidFill>
                <a:latin typeface="Corbel" panose="020B0503020204020204" pitchFamily="34" charset="0"/>
              </a:rPr>
              <a:t>Shown as a line connecting the associated entities, labelled with the name of the relationship.</a:t>
            </a:r>
          </a:p>
          <a:p>
            <a:pPr marL="0" indent="0" fontAlgn="auto">
              <a:lnSpc>
                <a:spcPct val="90000"/>
              </a:lnSpc>
              <a:buNone/>
              <a:defRPr/>
            </a:pPr>
            <a:endParaRPr lang="en-GB" sz="2800" dirty="0">
              <a:solidFill>
                <a:schemeClr val="tx1">
                  <a:lumMod val="85000"/>
                  <a:lumOff val="15000"/>
                </a:schemeClr>
              </a:solidFill>
              <a:latin typeface="Corbel" panose="020B0503020204020204" pitchFamily="34" charset="0"/>
            </a:endParaRPr>
          </a:p>
          <a:p>
            <a:pPr lvl="1" fontAlgn="auto">
              <a:lnSpc>
                <a:spcPct val="90000"/>
              </a:lnSpc>
              <a:buFont typeface="Arial"/>
              <a:buChar char="•"/>
              <a:defRPr/>
            </a:pPr>
            <a:r>
              <a:rPr lang="en-GB" sz="2800" dirty="0">
                <a:solidFill>
                  <a:schemeClr val="tx1">
                    <a:lumMod val="85000"/>
                    <a:lumOff val="15000"/>
                  </a:schemeClr>
                </a:solidFill>
                <a:latin typeface="Corbel" panose="020B0503020204020204" pitchFamily="34" charset="0"/>
              </a:rPr>
              <a:t>Normally a relationship is named using a </a:t>
            </a:r>
            <a:r>
              <a:rPr lang="en-GB" sz="2800" dirty="0">
                <a:solidFill>
                  <a:srgbClr val="FF6600"/>
                </a:solidFill>
                <a:latin typeface="Corbel" panose="020B0503020204020204" pitchFamily="34" charset="0"/>
              </a:rPr>
              <a:t>‘verb’ or ‘verb group’.</a:t>
            </a:r>
          </a:p>
          <a:p>
            <a:pPr lvl="1" fontAlgn="auto">
              <a:lnSpc>
                <a:spcPct val="90000"/>
              </a:lnSpc>
              <a:buFont typeface="Arial"/>
              <a:buChar char="•"/>
              <a:defRPr/>
            </a:pPr>
            <a:endParaRPr lang="en-GB" dirty="0">
              <a:solidFill>
                <a:schemeClr val="tx1">
                  <a:lumMod val="85000"/>
                  <a:lumOff val="15000"/>
                </a:schemeClr>
              </a:solidFill>
            </a:endParaRPr>
          </a:p>
        </p:txBody>
      </p:sp>
      <p:grpSp>
        <p:nvGrpSpPr>
          <p:cNvPr id="2" name="Group 11"/>
          <p:cNvGrpSpPr>
            <a:grpSpLocks/>
          </p:cNvGrpSpPr>
          <p:nvPr/>
        </p:nvGrpSpPr>
        <p:grpSpPr bwMode="auto">
          <a:xfrm>
            <a:off x="1017646" y="5022587"/>
            <a:ext cx="7543800" cy="1371600"/>
            <a:chOff x="480" y="1920"/>
            <a:chExt cx="4752" cy="864"/>
          </a:xfrm>
        </p:grpSpPr>
        <p:sp>
          <p:nvSpPr>
            <p:cNvPr id="67593" name="Text Box 9"/>
            <p:cNvSpPr txBox="1">
              <a:spLocks noChangeArrowheads="1"/>
            </p:cNvSpPr>
            <p:nvPr/>
          </p:nvSpPr>
          <p:spPr bwMode="auto">
            <a:xfrm>
              <a:off x="480" y="2256"/>
              <a:ext cx="1213" cy="294"/>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Student</a:t>
              </a:r>
            </a:p>
          </p:txBody>
        </p:sp>
        <p:sp>
          <p:nvSpPr>
            <p:cNvPr id="67594" name="Text Box 10"/>
            <p:cNvSpPr txBox="1">
              <a:spLocks noChangeArrowheads="1"/>
            </p:cNvSpPr>
            <p:nvPr/>
          </p:nvSpPr>
          <p:spPr bwMode="auto">
            <a:xfrm>
              <a:off x="3792" y="2256"/>
              <a:ext cx="1440" cy="294"/>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Course</a:t>
              </a:r>
            </a:p>
          </p:txBody>
        </p:sp>
        <p:sp>
          <p:nvSpPr>
            <p:cNvPr id="67595" name="Line 11"/>
            <p:cNvSpPr>
              <a:spLocks noChangeShapeType="1"/>
            </p:cNvSpPr>
            <p:nvPr/>
          </p:nvSpPr>
          <p:spPr bwMode="auto">
            <a:xfrm>
              <a:off x="1680" y="2352"/>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6" name="Line 12"/>
            <p:cNvSpPr>
              <a:spLocks noChangeShapeType="1"/>
            </p:cNvSpPr>
            <p:nvPr/>
          </p:nvSpPr>
          <p:spPr bwMode="auto">
            <a:xfrm>
              <a:off x="3216" y="2352"/>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7" name="AutoShape 16"/>
            <p:cNvSpPr>
              <a:spLocks noChangeArrowheads="1"/>
            </p:cNvSpPr>
            <p:nvPr/>
          </p:nvSpPr>
          <p:spPr bwMode="auto">
            <a:xfrm>
              <a:off x="2208" y="1920"/>
              <a:ext cx="1008" cy="864"/>
            </a:xfrm>
            <a:prstGeom prst="diamond">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registers</a:t>
              </a:r>
            </a:p>
          </p:txBody>
        </p:sp>
      </p:grpSp>
      <p:sp>
        <p:nvSpPr>
          <p:cNvPr id="67589" name="Text Box 17"/>
          <p:cNvSpPr txBox="1">
            <a:spLocks noChangeArrowheads="1"/>
          </p:cNvSpPr>
          <p:nvPr/>
        </p:nvSpPr>
        <p:spPr bwMode="auto">
          <a:xfrm>
            <a:off x="3155949" y="5355962"/>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dirty="0"/>
              <a:t>N</a:t>
            </a:r>
          </a:p>
        </p:txBody>
      </p:sp>
      <p:sp>
        <p:nvSpPr>
          <p:cNvPr id="67590" name="Text Box 18"/>
          <p:cNvSpPr txBox="1">
            <a:spLocks noChangeArrowheads="1"/>
          </p:cNvSpPr>
          <p:nvPr/>
        </p:nvSpPr>
        <p:spPr bwMode="auto">
          <a:xfrm>
            <a:off x="5602681" y="5355962"/>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dirty="0"/>
              <a:t>1</a:t>
            </a:r>
          </a:p>
        </p:txBody>
      </p:sp>
      <p:sp>
        <p:nvSpPr>
          <p:cNvPr id="202771" name="Text Box 19"/>
          <p:cNvSpPr txBox="1">
            <a:spLocks noChangeArrowheads="1"/>
          </p:cNvSpPr>
          <p:nvPr/>
        </p:nvSpPr>
        <p:spPr bwMode="auto">
          <a:xfrm>
            <a:off x="2529680" y="6313488"/>
            <a:ext cx="162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dirty="0">
                <a:solidFill>
                  <a:srgbClr val="FF0066"/>
                </a:solidFill>
              </a:rPr>
              <a:t>relationship</a:t>
            </a:r>
          </a:p>
        </p:txBody>
      </p:sp>
      <p:sp>
        <p:nvSpPr>
          <p:cNvPr id="202773" name="Line 21"/>
          <p:cNvSpPr>
            <a:spLocks noChangeShapeType="1"/>
          </p:cNvSpPr>
          <p:nvPr/>
        </p:nvSpPr>
        <p:spPr bwMode="auto">
          <a:xfrm flipV="1">
            <a:off x="3308467" y="5858201"/>
            <a:ext cx="549217" cy="496562"/>
          </a:xfrm>
          <a:prstGeom prst="line">
            <a:avLst/>
          </a:prstGeom>
          <a:noFill/>
          <a:ln w="9525">
            <a:solidFill>
              <a:srgbClr val="FF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4570927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2771"/>
                                        </p:tgtEl>
                                        <p:attrNameLst>
                                          <p:attrName>style.visibility</p:attrName>
                                        </p:attrNameLst>
                                      </p:cBhvr>
                                      <p:to>
                                        <p:strVal val="visible"/>
                                      </p:to>
                                    </p:set>
                                    <p:anim calcmode="lin" valueType="num">
                                      <p:cBhvr additive="base">
                                        <p:cTn id="7" dur="500" fill="hold"/>
                                        <p:tgtEl>
                                          <p:spTgt spid="202771"/>
                                        </p:tgtEl>
                                        <p:attrNameLst>
                                          <p:attrName>ppt_x</p:attrName>
                                        </p:attrNameLst>
                                      </p:cBhvr>
                                      <p:tavLst>
                                        <p:tav tm="0">
                                          <p:val>
                                            <p:strVal val="#ppt_x"/>
                                          </p:val>
                                        </p:tav>
                                        <p:tav tm="100000">
                                          <p:val>
                                            <p:strVal val="#ppt_x"/>
                                          </p:val>
                                        </p:tav>
                                      </p:tavLst>
                                    </p:anim>
                                    <p:anim calcmode="lin" valueType="num">
                                      <p:cBhvr additive="base">
                                        <p:cTn id="8" dur="500" fill="hold"/>
                                        <p:tgtEl>
                                          <p:spTgt spid="20277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2773"/>
                                        </p:tgtEl>
                                        <p:attrNameLst>
                                          <p:attrName>style.visibility</p:attrName>
                                        </p:attrNameLst>
                                      </p:cBhvr>
                                      <p:to>
                                        <p:strVal val="visible"/>
                                      </p:to>
                                    </p:set>
                                    <p:anim calcmode="lin" valueType="num">
                                      <p:cBhvr additive="base">
                                        <p:cTn id="11" dur="500" fill="hold"/>
                                        <p:tgtEl>
                                          <p:spTgt spid="202773"/>
                                        </p:tgtEl>
                                        <p:attrNameLst>
                                          <p:attrName>ppt_x</p:attrName>
                                        </p:attrNameLst>
                                      </p:cBhvr>
                                      <p:tavLst>
                                        <p:tav tm="0">
                                          <p:val>
                                            <p:strVal val="#ppt_x"/>
                                          </p:val>
                                        </p:tav>
                                        <p:tav tm="100000">
                                          <p:val>
                                            <p:strVal val="#ppt_x"/>
                                          </p:val>
                                        </p:tav>
                                      </p:tavLst>
                                    </p:anim>
                                    <p:anim calcmode="lin" valueType="num">
                                      <p:cBhvr additive="base">
                                        <p:cTn id="12" dur="500" fill="hold"/>
                                        <p:tgtEl>
                                          <p:spTgt spid="2027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1" grpId="0"/>
      <p:bldP spid="20277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697368" y="761999"/>
            <a:ext cx="7778116" cy="673953"/>
          </a:xfrm>
        </p:spPr>
        <p:txBody>
          <a:bodyPr>
            <a:noAutofit/>
          </a:bodyPr>
          <a:lstStyle/>
          <a:p>
            <a:r>
              <a:rPr lang="en-US" altLang="en-US" sz="4400" dirty="0">
                <a:solidFill>
                  <a:srgbClr val="33CC33"/>
                </a:solidFill>
                <a:latin typeface="Corbel" panose="020B0503020204020204" pitchFamily="34" charset="0"/>
              </a:rPr>
              <a:t>Example</a:t>
            </a:r>
            <a:r>
              <a:rPr lang="en-US" altLang="en-US" sz="4400" dirty="0">
                <a:latin typeface="Corbel" panose="020B0503020204020204" pitchFamily="34" charset="0"/>
              </a:rPr>
              <a:t>: Relationships</a:t>
            </a:r>
          </a:p>
        </p:txBody>
      </p:sp>
      <p:grpSp>
        <p:nvGrpSpPr>
          <p:cNvPr id="10244" name="Group 52"/>
          <p:cNvGrpSpPr>
            <a:grpSpLocks/>
          </p:cNvGrpSpPr>
          <p:nvPr/>
        </p:nvGrpSpPr>
        <p:grpSpPr bwMode="auto">
          <a:xfrm>
            <a:off x="1066800" y="5334000"/>
            <a:ext cx="4191000" cy="914400"/>
            <a:chOff x="672" y="3360"/>
            <a:chExt cx="2640" cy="576"/>
          </a:xfrm>
        </p:grpSpPr>
        <p:sp>
          <p:nvSpPr>
            <p:cNvPr id="10276" name="Rectangle 4"/>
            <p:cNvSpPr>
              <a:spLocks noChangeArrowheads="1"/>
            </p:cNvSpPr>
            <p:nvPr/>
          </p:nvSpPr>
          <p:spPr bwMode="auto">
            <a:xfrm>
              <a:off x="1680" y="3360"/>
              <a:ext cx="720"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Drinker</a:t>
              </a:r>
            </a:p>
          </p:txBody>
        </p:sp>
        <p:sp>
          <p:nvSpPr>
            <p:cNvPr id="10277" name="Oval 30"/>
            <p:cNvSpPr>
              <a:spLocks noChangeArrowheads="1"/>
            </p:cNvSpPr>
            <p:nvPr/>
          </p:nvSpPr>
          <p:spPr bwMode="auto">
            <a:xfrm>
              <a:off x="2688" y="3600"/>
              <a:ext cx="624" cy="33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err="1"/>
                <a:t>addr</a:t>
              </a:r>
              <a:endParaRPr lang="en-US" altLang="en-US" dirty="0"/>
            </a:p>
          </p:txBody>
        </p:sp>
        <p:sp>
          <p:nvSpPr>
            <p:cNvPr id="10278" name="Oval 31"/>
            <p:cNvSpPr>
              <a:spLocks noChangeArrowheads="1"/>
            </p:cNvSpPr>
            <p:nvPr/>
          </p:nvSpPr>
          <p:spPr bwMode="auto">
            <a:xfrm>
              <a:off x="672" y="3600"/>
              <a:ext cx="720" cy="33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t>name</a:t>
              </a:r>
            </a:p>
          </p:txBody>
        </p:sp>
        <p:sp>
          <p:nvSpPr>
            <p:cNvPr id="10279" name="Line 42"/>
            <p:cNvSpPr>
              <a:spLocks noChangeShapeType="1"/>
            </p:cNvSpPr>
            <p:nvPr/>
          </p:nvSpPr>
          <p:spPr bwMode="auto">
            <a:xfrm flipV="1">
              <a:off x="1392" y="3648"/>
              <a:ext cx="288"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80" name="Line 43"/>
            <p:cNvSpPr>
              <a:spLocks noChangeShapeType="1"/>
            </p:cNvSpPr>
            <p:nvPr/>
          </p:nvSpPr>
          <p:spPr bwMode="auto">
            <a:xfrm flipH="1" flipV="1">
              <a:off x="2400" y="3648"/>
              <a:ext cx="28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0245" name="Group 51"/>
          <p:cNvGrpSpPr>
            <a:grpSpLocks/>
          </p:cNvGrpSpPr>
          <p:nvPr/>
        </p:nvGrpSpPr>
        <p:grpSpPr bwMode="auto">
          <a:xfrm>
            <a:off x="3962400" y="1600200"/>
            <a:ext cx="2514600" cy="1828800"/>
            <a:chOff x="2496" y="1008"/>
            <a:chExt cx="1584" cy="1152"/>
          </a:xfrm>
        </p:grpSpPr>
        <p:sp>
          <p:nvSpPr>
            <p:cNvPr id="10271" name="Rectangle 5"/>
            <p:cNvSpPr>
              <a:spLocks noChangeArrowheads="1"/>
            </p:cNvSpPr>
            <p:nvPr/>
          </p:nvSpPr>
          <p:spPr bwMode="auto">
            <a:xfrm>
              <a:off x="2928" y="1584"/>
              <a:ext cx="720"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Juice</a:t>
              </a:r>
            </a:p>
          </p:txBody>
        </p:sp>
        <p:sp>
          <p:nvSpPr>
            <p:cNvPr id="10272" name="Oval 28"/>
            <p:cNvSpPr>
              <a:spLocks noChangeArrowheads="1"/>
            </p:cNvSpPr>
            <p:nvPr/>
          </p:nvSpPr>
          <p:spPr bwMode="auto">
            <a:xfrm>
              <a:off x="3456" y="1008"/>
              <a:ext cx="624" cy="33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err="1"/>
                <a:t>manf</a:t>
              </a:r>
              <a:endParaRPr lang="en-US" altLang="en-US" dirty="0"/>
            </a:p>
          </p:txBody>
        </p:sp>
        <p:sp>
          <p:nvSpPr>
            <p:cNvPr id="10273" name="Oval 29"/>
            <p:cNvSpPr>
              <a:spLocks noChangeArrowheads="1"/>
            </p:cNvSpPr>
            <p:nvPr/>
          </p:nvSpPr>
          <p:spPr bwMode="auto">
            <a:xfrm>
              <a:off x="2496" y="1008"/>
              <a:ext cx="624" cy="33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name</a:t>
              </a:r>
            </a:p>
          </p:txBody>
        </p:sp>
        <p:sp>
          <p:nvSpPr>
            <p:cNvPr id="10274" name="Line 44"/>
            <p:cNvSpPr>
              <a:spLocks noChangeShapeType="1"/>
            </p:cNvSpPr>
            <p:nvPr/>
          </p:nvSpPr>
          <p:spPr bwMode="auto">
            <a:xfrm>
              <a:off x="2880" y="1344"/>
              <a:ext cx="19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75" name="Line 45"/>
            <p:cNvSpPr>
              <a:spLocks noChangeShapeType="1"/>
            </p:cNvSpPr>
            <p:nvPr/>
          </p:nvSpPr>
          <p:spPr bwMode="auto">
            <a:xfrm flipH="1">
              <a:off x="3504" y="1344"/>
              <a:ext cx="19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0262" name="Group 50"/>
          <p:cNvGrpSpPr>
            <a:grpSpLocks/>
          </p:cNvGrpSpPr>
          <p:nvPr/>
        </p:nvGrpSpPr>
        <p:grpSpPr bwMode="auto">
          <a:xfrm>
            <a:off x="76200" y="1600200"/>
            <a:ext cx="2667000" cy="2590800"/>
            <a:chOff x="48" y="1008"/>
            <a:chExt cx="1680" cy="1632"/>
          </a:xfrm>
        </p:grpSpPr>
        <p:sp>
          <p:nvSpPr>
            <p:cNvPr id="10264" name="Rectangle 3"/>
            <p:cNvSpPr>
              <a:spLocks noChangeArrowheads="1"/>
            </p:cNvSpPr>
            <p:nvPr/>
          </p:nvSpPr>
          <p:spPr bwMode="auto">
            <a:xfrm>
              <a:off x="528" y="1584"/>
              <a:ext cx="720"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Bar</a:t>
              </a:r>
            </a:p>
          </p:txBody>
        </p:sp>
        <p:sp>
          <p:nvSpPr>
            <p:cNvPr id="10265" name="Oval 25"/>
            <p:cNvSpPr>
              <a:spLocks noChangeArrowheads="1"/>
            </p:cNvSpPr>
            <p:nvPr/>
          </p:nvSpPr>
          <p:spPr bwMode="auto">
            <a:xfrm>
              <a:off x="144" y="1008"/>
              <a:ext cx="624" cy="33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name</a:t>
              </a:r>
            </a:p>
          </p:txBody>
        </p:sp>
        <p:sp>
          <p:nvSpPr>
            <p:cNvPr id="10266" name="Oval 26"/>
            <p:cNvSpPr>
              <a:spLocks noChangeArrowheads="1"/>
            </p:cNvSpPr>
            <p:nvPr/>
          </p:nvSpPr>
          <p:spPr bwMode="auto">
            <a:xfrm>
              <a:off x="48" y="2304"/>
              <a:ext cx="720" cy="33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err="1"/>
                <a:t>regNo</a:t>
              </a:r>
              <a:endParaRPr lang="en-US" altLang="en-US" dirty="0"/>
            </a:p>
          </p:txBody>
        </p:sp>
        <p:sp>
          <p:nvSpPr>
            <p:cNvPr id="10267" name="Oval 27"/>
            <p:cNvSpPr>
              <a:spLocks noChangeArrowheads="1"/>
            </p:cNvSpPr>
            <p:nvPr/>
          </p:nvSpPr>
          <p:spPr bwMode="auto">
            <a:xfrm>
              <a:off x="1056" y="1008"/>
              <a:ext cx="672" cy="33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err="1"/>
                <a:t>addr</a:t>
              </a:r>
              <a:endParaRPr lang="en-US" altLang="en-US" dirty="0"/>
            </a:p>
          </p:txBody>
        </p:sp>
        <p:sp>
          <p:nvSpPr>
            <p:cNvPr id="10268" name="Line 39"/>
            <p:cNvSpPr>
              <a:spLocks noChangeShapeType="1"/>
            </p:cNvSpPr>
            <p:nvPr/>
          </p:nvSpPr>
          <p:spPr bwMode="auto">
            <a:xfrm>
              <a:off x="528" y="1344"/>
              <a:ext cx="14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9" name="Line 40"/>
            <p:cNvSpPr>
              <a:spLocks noChangeShapeType="1"/>
            </p:cNvSpPr>
            <p:nvPr/>
          </p:nvSpPr>
          <p:spPr bwMode="auto">
            <a:xfrm flipH="1">
              <a:off x="1056" y="1344"/>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70" name="Line 41"/>
            <p:cNvSpPr>
              <a:spLocks noChangeShapeType="1"/>
            </p:cNvSpPr>
            <p:nvPr/>
          </p:nvSpPr>
          <p:spPr bwMode="auto">
            <a:xfrm flipV="1">
              <a:off x="432" y="2160"/>
              <a:ext cx="9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3552" name="Group 64"/>
          <p:cNvGrpSpPr>
            <a:grpSpLocks/>
          </p:cNvGrpSpPr>
          <p:nvPr/>
        </p:nvGrpSpPr>
        <p:grpSpPr bwMode="auto">
          <a:xfrm>
            <a:off x="1981200" y="2438400"/>
            <a:ext cx="6483350" cy="1074738"/>
            <a:chOff x="1248" y="1536"/>
            <a:chExt cx="4084" cy="677"/>
          </a:xfrm>
        </p:grpSpPr>
        <p:sp>
          <p:nvSpPr>
            <p:cNvPr id="10258" name="AutoShape 10"/>
            <p:cNvSpPr>
              <a:spLocks noChangeArrowheads="1"/>
            </p:cNvSpPr>
            <p:nvPr/>
          </p:nvSpPr>
          <p:spPr bwMode="auto">
            <a:xfrm>
              <a:off x="1680" y="1536"/>
              <a:ext cx="768" cy="677"/>
            </a:xfrm>
            <a:prstGeom prst="diamond">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Sells</a:t>
              </a:r>
            </a:p>
          </p:txBody>
        </p:sp>
        <p:sp>
          <p:nvSpPr>
            <p:cNvPr id="10259" name="Line 16"/>
            <p:cNvSpPr>
              <a:spLocks noChangeShapeType="1"/>
            </p:cNvSpPr>
            <p:nvPr/>
          </p:nvSpPr>
          <p:spPr bwMode="auto">
            <a:xfrm flipH="1">
              <a:off x="1248" y="1877"/>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0" name="Line 17"/>
            <p:cNvSpPr>
              <a:spLocks noChangeShapeType="1"/>
            </p:cNvSpPr>
            <p:nvPr/>
          </p:nvSpPr>
          <p:spPr bwMode="auto">
            <a:xfrm>
              <a:off x="2448" y="1877"/>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1" name="Text Box 47"/>
            <p:cNvSpPr txBox="1">
              <a:spLocks noChangeArrowheads="1"/>
            </p:cNvSpPr>
            <p:nvPr/>
          </p:nvSpPr>
          <p:spPr bwMode="auto">
            <a:xfrm>
              <a:off x="4080" y="1680"/>
              <a:ext cx="125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latin typeface="Corbel" panose="020B0503020204020204" pitchFamily="34" charset="0"/>
                </a:rPr>
                <a:t>Bars sell some</a:t>
              </a:r>
            </a:p>
            <a:p>
              <a:r>
                <a:rPr lang="en-US" altLang="en-US" dirty="0">
                  <a:latin typeface="Corbel" panose="020B0503020204020204" pitchFamily="34" charset="0"/>
                </a:rPr>
                <a:t>juices.</a:t>
              </a:r>
            </a:p>
          </p:txBody>
        </p:sp>
      </p:grpSp>
      <p:grpSp>
        <p:nvGrpSpPr>
          <p:cNvPr id="63543" name="Group 55"/>
          <p:cNvGrpSpPr>
            <a:grpSpLocks/>
          </p:cNvGrpSpPr>
          <p:nvPr/>
        </p:nvGrpSpPr>
        <p:grpSpPr bwMode="auto">
          <a:xfrm>
            <a:off x="3657600" y="3429000"/>
            <a:ext cx="4573588" cy="1905000"/>
            <a:chOff x="2304" y="2160"/>
            <a:chExt cx="2881" cy="1200"/>
          </a:xfrm>
        </p:grpSpPr>
        <p:sp>
          <p:nvSpPr>
            <p:cNvPr id="10254" name="AutoShape 12"/>
            <p:cNvSpPr>
              <a:spLocks noChangeArrowheads="1"/>
            </p:cNvSpPr>
            <p:nvPr/>
          </p:nvSpPr>
          <p:spPr bwMode="auto">
            <a:xfrm>
              <a:off x="2328" y="2496"/>
              <a:ext cx="912" cy="624"/>
            </a:xfrm>
            <a:prstGeom prst="diamond">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t>Likes</a:t>
              </a:r>
            </a:p>
          </p:txBody>
        </p:sp>
        <p:sp>
          <p:nvSpPr>
            <p:cNvPr id="10255" name="Line 20"/>
            <p:cNvSpPr>
              <a:spLocks noChangeShapeType="1"/>
            </p:cNvSpPr>
            <p:nvPr/>
          </p:nvSpPr>
          <p:spPr bwMode="auto">
            <a:xfrm flipV="1">
              <a:off x="2304" y="3120"/>
              <a:ext cx="48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6" name="Line 21"/>
            <p:cNvSpPr>
              <a:spLocks noChangeShapeType="1"/>
            </p:cNvSpPr>
            <p:nvPr/>
          </p:nvSpPr>
          <p:spPr bwMode="auto">
            <a:xfrm flipV="1">
              <a:off x="2784" y="2160"/>
              <a:ext cx="528"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7" name="Text Box 48"/>
            <p:cNvSpPr txBox="1">
              <a:spLocks noChangeArrowheads="1"/>
            </p:cNvSpPr>
            <p:nvPr/>
          </p:nvSpPr>
          <p:spPr bwMode="auto">
            <a:xfrm>
              <a:off x="4080" y="2395"/>
              <a:ext cx="110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latin typeface="Corbel" panose="020B0503020204020204" pitchFamily="34" charset="0"/>
                </a:rPr>
                <a:t>Drinkers like</a:t>
              </a:r>
            </a:p>
            <a:p>
              <a:r>
                <a:rPr lang="en-US" altLang="en-US" dirty="0">
                  <a:latin typeface="Corbel" panose="020B0503020204020204" pitchFamily="34" charset="0"/>
                </a:rPr>
                <a:t>some juices.</a:t>
              </a:r>
            </a:p>
          </p:txBody>
        </p:sp>
      </p:grpSp>
      <p:grpSp>
        <p:nvGrpSpPr>
          <p:cNvPr id="63544" name="Group 56"/>
          <p:cNvGrpSpPr>
            <a:grpSpLocks/>
          </p:cNvGrpSpPr>
          <p:nvPr/>
        </p:nvGrpSpPr>
        <p:grpSpPr bwMode="auto">
          <a:xfrm>
            <a:off x="1066800" y="3429001"/>
            <a:ext cx="7821613" cy="2346326"/>
            <a:chOff x="672" y="2160"/>
            <a:chExt cx="4927" cy="1478"/>
          </a:xfrm>
        </p:grpSpPr>
        <p:sp>
          <p:nvSpPr>
            <p:cNvPr id="10250" name="AutoShape 11"/>
            <p:cNvSpPr>
              <a:spLocks noChangeArrowheads="1"/>
            </p:cNvSpPr>
            <p:nvPr/>
          </p:nvSpPr>
          <p:spPr bwMode="auto">
            <a:xfrm>
              <a:off x="672" y="2496"/>
              <a:ext cx="1392" cy="624"/>
            </a:xfrm>
            <a:prstGeom prst="diamond">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Frequents</a:t>
              </a:r>
            </a:p>
          </p:txBody>
        </p:sp>
        <p:sp>
          <p:nvSpPr>
            <p:cNvPr id="10251" name="Line 22"/>
            <p:cNvSpPr>
              <a:spLocks noChangeShapeType="1"/>
            </p:cNvSpPr>
            <p:nvPr/>
          </p:nvSpPr>
          <p:spPr bwMode="auto">
            <a:xfrm flipH="1" flipV="1">
              <a:off x="864" y="2160"/>
              <a:ext cx="504" cy="34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0252" name="Line 24"/>
            <p:cNvSpPr>
              <a:spLocks noChangeShapeType="1"/>
            </p:cNvSpPr>
            <p:nvPr/>
          </p:nvSpPr>
          <p:spPr bwMode="auto">
            <a:xfrm flipH="1" flipV="1">
              <a:off x="1440" y="3115"/>
              <a:ext cx="288" cy="2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0253" name="Text Box 49"/>
            <p:cNvSpPr txBox="1">
              <a:spLocks noChangeArrowheads="1"/>
            </p:cNvSpPr>
            <p:nvPr/>
          </p:nvSpPr>
          <p:spPr bwMode="auto">
            <a:xfrm>
              <a:off x="4080" y="3115"/>
              <a:ext cx="1519"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latin typeface="Corbel" panose="020B0503020204020204" pitchFamily="34" charset="0"/>
                </a:rPr>
                <a:t>Drinkers frequent</a:t>
              </a:r>
            </a:p>
            <a:p>
              <a:r>
                <a:rPr lang="en-US" altLang="en-US" dirty="0">
                  <a:latin typeface="Corbel" panose="020B0503020204020204" pitchFamily="34" charset="0"/>
                </a:rPr>
                <a:t>some bars.</a:t>
              </a:r>
            </a:p>
          </p:txBody>
        </p:sp>
      </p:grpSp>
    </p:spTree>
    <p:extLst>
      <p:ext uri="{BB962C8B-B14F-4D97-AF65-F5344CB8AC3E}">
        <p14:creationId xmlns:p14="http://schemas.microsoft.com/office/powerpoint/2010/main" val="17595544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35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354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35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796791" y="761999"/>
            <a:ext cx="7416824" cy="914400"/>
          </a:xfrm>
        </p:spPr>
        <p:txBody>
          <a:bodyPr>
            <a:normAutofit/>
          </a:bodyPr>
          <a:lstStyle/>
          <a:p>
            <a:r>
              <a:rPr lang="en-GB" sz="4400" dirty="0">
                <a:latin typeface="Corbel" panose="020B0503020204020204" pitchFamily="34" charset="0"/>
              </a:rPr>
              <a:t>Degree of a Relationship</a:t>
            </a:r>
            <a:r>
              <a:rPr lang="en-GB" dirty="0"/>
              <a:t> </a:t>
            </a:r>
            <a:endParaRPr lang="en-GB" dirty="0">
              <a:ln>
                <a:noFill/>
              </a:ln>
            </a:endParaRPr>
          </a:p>
        </p:txBody>
      </p:sp>
      <p:sp>
        <p:nvSpPr>
          <p:cNvPr id="41987" name="Rectangle 3"/>
          <p:cNvSpPr>
            <a:spLocks noGrp="1" noChangeArrowheads="1"/>
          </p:cNvSpPr>
          <p:nvPr>
            <p:ph idx="4294967295"/>
          </p:nvPr>
        </p:nvSpPr>
        <p:spPr>
          <a:xfrm>
            <a:off x="792163" y="1676400"/>
            <a:ext cx="8351837" cy="4800600"/>
          </a:xfrm>
          <a:prstGeom prst="rect">
            <a:avLst/>
          </a:prstGeom>
        </p:spPr>
        <p:txBody>
          <a:bodyPr rtlCol="0">
            <a:normAutofit/>
          </a:bodyPr>
          <a:lstStyle/>
          <a:p>
            <a:pPr marL="0" indent="0">
              <a:lnSpc>
                <a:spcPct val="90000"/>
              </a:lnSpc>
              <a:buNone/>
              <a:defRPr/>
            </a:pPr>
            <a:r>
              <a:rPr lang="en-US" sz="2800" b="1" dirty="0">
                <a:solidFill>
                  <a:srgbClr val="FF0066"/>
                </a:solidFill>
                <a:latin typeface="Corbel" panose="020B0503020204020204" pitchFamily="34" charset="0"/>
              </a:rPr>
              <a:t>Degree</a:t>
            </a:r>
            <a:r>
              <a:rPr lang="en-US" sz="2800" dirty="0">
                <a:latin typeface="Corbel" panose="020B0503020204020204" pitchFamily="34" charset="0"/>
              </a:rPr>
              <a:t>  of a relationship is the number of participating entities in the relationship.</a:t>
            </a:r>
          </a:p>
          <a:p>
            <a:pPr marL="0" indent="0" fontAlgn="auto">
              <a:lnSpc>
                <a:spcPct val="90000"/>
              </a:lnSpc>
              <a:buNone/>
              <a:defRPr/>
            </a:pPr>
            <a:endParaRPr lang="en-GB" sz="2800" dirty="0">
              <a:solidFill>
                <a:schemeClr val="tx1">
                  <a:lumMod val="85000"/>
                  <a:lumOff val="15000"/>
                </a:schemeClr>
              </a:solidFill>
              <a:latin typeface="Corbel" panose="020B0503020204020204" pitchFamily="34" charset="0"/>
            </a:endParaRPr>
          </a:p>
          <a:p>
            <a:pPr lvl="1" fontAlgn="auto">
              <a:lnSpc>
                <a:spcPct val="90000"/>
              </a:lnSpc>
              <a:buFont typeface="Arial"/>
              <a:buChar char="•"/>
              <a:defRPr/>
            </a:pPr>
            <a:r>
              <a:rPr lang="en-GB" sz="2800" dirty="0">
                <a:solidFill>
                  <a:schemeClr val="tx1">
                    <a:lumMod val="85000"/>
                    <a:lumOff val="15000"/>
                  </a:schemeClr>
                </a:solidFill>
                <a:latin typeface="Corbel" panose="020B0503020204020204" pitchFamily="34" charset="0"/>
              </a:rPr>
              <a:t>Degree / Number of Entities = 2  Or  binary</a:t>
            </a:r>
          </a:p>
        </p:txBody>
      </p:sp>
      <p:grpSp>
        <p:nvGrpSpPr>
          <p:cNvPr id="2" name="Group 11"/>
          <p:cNvGrpSpPr>
            <a:grpSpLocks/>
          </p:cNvGrpSpPr>
          <p:nvPr/>
        </p:nvGrpSpPr>
        <p:grpSpPr bwMode="auto">
          <a:xfrm>
            <a:off x="762000" y="3962400"/>
            <a:ext cx="7543800" cy="1371600"/>
            <a:chOff x="480" y="1920"/>
            <a:chExt cx="4752" cy="864"/>
          </a:xfrm>
        </p:grpSpPr>
        <p:sp>
          <p:nvSpPr>
            <p:cNvPr id="67593" name="Text Box 9"/>
            <p:cNvSpPr txBox="1">
              <a:spLocks noChangeArrowheads="1"/>
            </p:cNvSpPr>
            <p:nvPr/>
          </p:nvSpPr>
          <p:spPr bwMode="auto">
            <a:xfrm>
              <a:off x="480" y="2256"/>
              <a:ext cx="1213" cy="294"/>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Student</a:t>
              </a:r>
            </a:p>
          </p:txBody>
        </p:sp>
        <p:sp>
          <p:nvSpPr>
            <p:cNvPr id="67594" name="Text Box 10"/>
            <p:cNvSpPr txBox="1">
              <a:spLocks noChangeArrowheads="1"/>
            </p:cNvSpPr>
            <p:nvPr/>
          </p:nvSpPr>
          <p:spPr bwMode="auto">
            <a:xfrm>
              <a:off x="3792" y="2256"/>
              <a:ext cx="1440" cy="294"/>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Course</a:t>
              </a:r>
            </a:p>
          </p:txBody>
        </p:sp>
        <p:sp>
          <p:nvSpPr>
            <p:cNvPr id="67595" name="Line 11"/>
            <p:cNvSpPr>
              <a:spLocks noChangeShapeType="1"/>
            </p:cNvSpPr>
            <p:nvPr/>
          </p:nvSpPr>
          <p:spPr bwMode="auto">
            <a:xfrm>
              <a:off x="1680" y="2352"/>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6" name="Line 12"/>
            <p:cNvSpPr>
              <a:spLocks noChangeShapeType="1"/>
            </p:cNvSpPr>
            <p:nvPr/>
          </p:nvSpPr>
          <p:spPr bwMode="auto">
            <a:xfrm>
              <a:off x="3216" y="2352"/>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7" name="AutoShape 16"/>
            <p:cNvSpPr>
              <a:spLocks noChangeArrowheads="1"/>
            </p:cNvSpPr>
            <p:nvPr/>
          </p:nvSpPr>
          <p:spPr bwMode="auto">
            <a:xfrm>
              <a:off x="2208" y="1920"/>
              <a:ext cx="1008" cy="864"/>
            </a:xfrm>
            <a:prstGeom prst="diamond">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registers</a:t>
              </a:r>
            </a:p>
          </p:txBody>
        </p:sp>
      </p:grpSp>
      <p:sp>
        <p:nvSpPr>
          <p:cNvPr id="67589" name="Text Box 17"/>
          <p:cNvSpPr txBox="1">
            <a:spLocks noChangeArrowheads="1"/>
          </p:cNvSpPr>
          <p:nvPr/>
        </p:nvSpPr>
        <p:spPr bwMode="auto">
          <a:xfrm>
            <a:off x="2955925" y="4202113"/>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dirty="0"/>
              <a:t>N</a:t>
            </a:r>
          </a:p>
        </p:txBody>
      </p:sp>
      <p:sp>
        <p:nvSpPr>
          <p:cNvPr id="67590" name="Text Box 18"/>
          <p:cNvSpPr txBox="1">
            <a:spLocks noChangeArrowheads="1"/>
          </p:cNvSpPr>
          <p:nvPr/>
        </p:nvSpPr>
        <p:spPr bwMode="auto">
          <a:xfrm>
            <a:off x="5264943" y="4274862"/>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1</a:t>
            </a:r>
          </a:p>
        </p:txBody>
      </p:sp>
      <p:sp>
        <p:nvSpPr>
          <p:cNvPr id="202771" name="Text Box 19"/>
          <p:cNvSpPr txBox="1">
            <a:spLocks noChangeArrowheads="1"/>
          </p:cNvSpPr>
          <p:nvPr/>
        </p:nvSpPr>
        <p:spPr bwMode="auto">
          <a:xfrm>
            <a:off x="3260725" y="6030913"/>
            <a:ext cx="162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solidFill>
                  <a:srgbClr val="FF0066"/>
                </a:solidFill>
              </a:rPr>
              <a:t>relationship</a:t>
            </a:r>
          </a:p>
        </p:txBody>
      </p:sp>
      <p:sp>
        <p:nvSpPr>
          <p:cNvPr id="202773" name="Line 21"/>
          <p:cNvSpPr>
            <a:spLocks noChangeShapeType="1"/>
          </p:cNvSpPr>
          <p:nvPr/>
        </p:nvSpPr>
        <p:spPr bwMode="auto">
          <a:xfrm flipV="1">
            <a:off x="4038600" y="5334000"/>
            <a:ext cx="152400" cy="762000"/>
          </a:xfrm>
          <a:prstGeom prst="line">
            <a:avLst/>
          </a:prstGeom>
          <a:noFill/>
          <a:ln w="9525">
            <a:solidFill>
              <a:srgbClr val="FF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578334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2771"/>
                                        </p:tgtEl>
                                        <p:attrNameLst>
                                          <p:attrName>style.visibility</p:attrName>
                                        </p:attrNameLst>
                                      </p:cBhvr>
                                      <p:to>
                                        <p:strVal val="visible"/>
                                      </p:to>
                                    </p:set>
                                    <p:anim calcmode="lin" valueType="num">
                                      <p:cBhvr additive="base">
                                        <p:cTn id="7" dur="500" fill="hold"/>
                                        <p:tgtEl>
                                          <p:spTgt spid="202771"/>
                                        </p:tgtEl>
                                        <p:attrNameLst>
                                          <p:attrName>ppt_x</p:attrName>
                                        </p:attrNameLst>
                                      </p:cBhvr>
                                      <p:tavLst>
                                        <p:tav tm="0">
                                          <p:val>
                                            <p:strVal val="#ppt_x"/>
                                          </p:val>
                                        </p:tav>
                                        <p:tav tm="100000">
                                          <p:val>
                                            <p:strVal val="#ppt_x"/>
                                          </p:val>
                                        </p:tav>
                                      </p:tavLst>
                                    </p:anim>
                                    <p:anim calcmode="lin" valueType="num">
                                      <p:cBhvr additive="base">
                                        <p:cTn id="8" dur="500" fill="hold"/>
                                        <p:tgtEl>
                                          <p:spTgt spid="20277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2773"/>
                                        </p:tgtEl>
                                        <p:attrNameLst>
                                          <p:attrName>style.visibility</p:attrName>
                                        </p:attrNameLst>
                                      </p:cBhvr>
                                      <p:to>
                                        <p:strVal val="visible"/>
                                      </p:to>
                                    </p:set>
                                    <p:anim calcmode="lin" valueType="num">
                                      <p:cBhvr additive="base">
                                        <p:cTn id="11" dur="500" fill="hold"/>
                                        <p:tgtEl>
                                          <p:spTgt spid="202773"/>
                                        </p:tgtEl>
                                        <p:attrNameLst>
                                          <p:attrName>ppt_x</p:attrName>
                                        </p:attrNameLst>
                                      </p:cBhvr>
                                      <p:tavLst>
                                        <p:tav tm="0">
                                          <p:val>
                                            <p:strVal val="#ppt_x"/>
                                          </p:val>
                                        </p:tav>
                                        <p:tav tm="100000">
                                          <p:val>
                                            <p:strVal val="#ppt_x"/>
                                          </p:val>
                                        </p:tav>
                                      </p:tavLst>
                                    </p:anim>
                                    <p:anim calcmode="lin" valueType="num">
                                      <p:cBhvr additive="base">
                                        <p:cTn id="12" dur="500" fill="hold"/>
                                        <p:tgtEl>
                                          <p:spTgt spid="2027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1" grpId="0"/>
      <p:bldP spid="20277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080480" y="990600"/>
            <a:ext cx="7344816" cy="762000"/>
          </a:xfrm>
        </p:spPr>
        <p:txBody>
          <a:bodyPr>
            <a:normAutofit/>
          </a:bodyPr>
          <a:lstStyle/>
          <a:p>
            <a:r>
              <a:rPr lang="en-GB" sz="4400" dirty="0">
                <a:ln>
                  <a:noFill/>
                </a:ln>
                <a:latin typeface="Corbel" panose="020B0503020204020204" pitchFamily="34" charset="0"/>
              </a:rPr>
              <a:t>Degree of Relationship</a:t>
            </a:r>
            <a:r>
              <a:rPr lang="en-GB" dirty="0">
                <a:ln>
                  <a:noFill/>
                </a:ln>
              </a:rPr>
              <a:t>  </a:t>
            </a:r>
          </a:p>
        </p:txBody>
      </p:sp>
      <p:sp>
        <p:nvSpPr>
          <p:cNvPr id="203779" name="Rectangle 3"/>
          <p:cNvSpPr>
            <a:spLocks noGrp="1" noChangeArrowheads="1"/>
          </p:cNvSpPr>
          <p:nvPr>
            <p:ph idx="4294967295"/>
          </p:nvPr>
        </p:nvSpPr>
        <p:spPr>
          <a:xfrm>
            <a:off x="282222" y="2133599"/>
            <a:ext cx="8631297" cy="4189413"/>
          </a:xfrm>
          <a:prstGeom prst="rect">
            <a:avLst/>
          </a:prstGeom>
        </p:spPr>
        <p:txBody>
          <a:bodyPr>
            <a:normAutofit fontScale="92500"/>
          </a:bodyPr>
          <a:lstStyle/>
          <a:p>
            <a:pPr>
              <a:lnSpc>
                <a:spcPct val="90000"/>
              </a:lnSpc>
            </a:pPr>
            <a:r>
              <a:rPr lang="en-GB" sz="3000" dirty="0">
                <a:latin typeface="Corbel" panose="020B0503020204020204" pitchFamily="34" charset="0"/>
              </a:rPr>
              <a:t>= no of participating entities </a:t>
            </a:r>
          </a:p>
          <a:p>
            <a:pPr>
              <a:lnSpc>
                <a:spcPct val="90000"/>
              </a:lnSpc>
            </a:pPr>
            <a:r>
              <a:rPr lang="en-GB" sz="3000" dirty="0">
                <a:latin typeface="Corbel" panose="020B0503020204020204" pitchFamily="34" charset="0"/>
              </a:rPr>
              <a:t>Relationships can be classified based on their degree into</a:t>
            </a:r>
          </a:p>
          <a:p>
            <a:pPr lvl="1">
              <a:lnSpc>
                <a:spcPct val="90000"/>
              </a:lnSpc>
            </a:pPr>
            <a:r>
              <a:rPr lang="en-GB" sz="3000" b="1" dirty="0">
                <a:solidFill>
                  <a:srgbClr val="FF6600"/>
                </a:solidFill>
                <a:latin typeface="Corbel" panose="020B0503020204020204" pitchFamily="34" charset="0"/>
              </a:rPr>
              <a:t>Binary</a:t>
            </a:r>
            <a:r>
              <a:rPr lang="en-GB" sz="3000" b="1" dirty="0">
                <a:latin typeface="Corbel" panose="020B0503020204020204" pitchFamily="34" charset="0"/>
              </a:rPr>
              <a:t> – relationship with </a:t>
            </a:r>
            <a:r>
              <a:rPr lang="en-GB" sz="3000" b="1" u="sng" dirty="0">
                <a:latin typeface="Corbel" panose="020B0503020204020204" pitchFamily="34" charset="0"/>
              </a:rPr>
              <a:t>two</a:t>
            </a:r>
            <a:r>
              <a:rPr lang="en-GB" sz="3000" b="1" dirty="0">
                <a:latin typeface="Corbel" panose="020B0503020204020204" pitchFamily="34" charset="0"/>
              </a:rPr>
              <a:t> participants- </a:t>
            </a:r>
          </a:p>
          <a:p>
            <a:pPr marL="400050" lvl="1" indent="0">
              <a:lnSpc>
                <a:spcPct val="90000"/>
              </a:lnSpc>
              <a:buNone/>
            </a:pPr>
            <a:r>
              <a:rPr lang="en-GB" sz="3000" b="1" dirty="0">
                <a:solidFill>
                  <a:srgbClr val="FF0000"/>
                </a:solidFill>
                <a:latin typeface="Corbel" panose="020B0503020204020204" pitchFamily="34" charset="0"/>
              </a:rPr>
              <a:t>					Degree/No of Entities = 2</a:t>
            </a:r>
          </a:p>
          <a:p>
            <a:pPr lvl="1">
              <a:lnSpc>
                <a:spcPct val="90000"/>
              </a:lnSpc>
            </a:pPr>
            <a:r>
              <a:rPr lang="en-GB" sz="3000" b="1" dirty="0">
                <a:solidFill>
                  <a:srgbClr val="FF6600"/>
                </a:solidFill>
                <a:latin typeface="Corbel" panose="020B0503020204020204" pitchFamily="34" charset="0"/>
              </a:rPr>
              <a:t>Ternary </a:t>
            </a:r>
            <a:r>
              <a:rPr lang="en-GB" sz="3000" b="1" dirty="0">
                <a:latin typeface="Corbel" panose="020B0503020204020204" pitchFamily="34" charset="0"/>
              </a:rPr>
              <a:t>– relationship with </a:t>
            </a:r>
            <a:r>
              <a:rPr lang="en-GB" sz="3000" b="1" u="sng" dirty="0">
                <a:latin typeface="Corbel" panose="020B0503020204020204" pitchFamily="34" charset="0"/>
              </a:rPr>
              <a:t>three</a:t>
            </a:r>
            <a:r>
              <a:rPr lang="en-GB" sz="3000" b="1" dirty="0">
                <a:latin typeface="Corbel" panose="020B0503020204020204" pitchFamily="34" charset="0"/>
              </a:rPr>
              <a:t> participants</a:t>
            </a:r>
          </a:p>
          <a:p>
            <a:pPr marL="457200" lvl="1" indent="0">
              <a:lnSpc>
                <a:spcPct val="90000"/>
              </a:lnSpc>
              <a:buNone/>
            </a:pPr>
            <a:r>
              <a:rPr lang="en-GB" sz="3000" b="1" dirty="0">
                <a:latin typeface="Corbel" panose="020B0503020204020204" pitchFamily="34" charset="0"/>
              </a:rPr>
              <a:t>					</a:t>
            </a:r>
            <a:r>
              <a:rPr lang="en-GB" sz="3000" b="1" dirty="0">
                <a:solidFill>
                  <a:srgbClr val="FF0000"/>
                </a:solidFill>
                <a:latin typeface="Corbel" panose="020B0503020204020204" pitchFamily="34" charset="0"/>
              </a:rPr>
              <a:t>Degree/No of Entities = 3</a:t>
            </a:r>
            <a:endParaRPr lang="en-GB" sz="3000" b="1" dirty="0">
              <a:latin typeface="Corbel" panose="020B0503020204020204" pitchFamily="34" charset="0"/>
            </a:endParaRPr>
          </a:p>
          <a:p>
            <a:pPr lvl="1">
              <a:lnSpc>
                <a:spcPct val="90000"/>
              </a:lnSpc>
            </a:pPr>
            <a:r>
              <a:rPr lang="en-GB" sz="3000" b="1" dirty="0">
                <a:solidFill>
                  <a:srgbClr val="FF6600"/>
                </a:solidFill>
                <a:latin typeface="Corbel" panose="020B0503020204020204" pitchFamily="34" charset="0"/>
              </a:rPr>
              <a:t>Quaternary</a:t>
            </a:r>
            <a:r>
              <a:rPr lang="en-GB" sz="3000" b="1" dirty="0">
                <a:latin typeface="Corbel" panose="020B0503020204020204" pitchFamily="34" charset="0"/>
              </a:rPr>
              <a:t> – relationship with </a:t>
            </a:r>
            <a:r>
              <a:rPr lang="en-GB" sz="3000" b="1" u="sng" dirty="0">
                <a:latin typeface="Corbel" panose="020B0503020204020204" pitchFamily="34" charset="0"/>
              </a:rPr>
              <a:t>four</a:t>
            </a:r>
            <a:r>
              <a:rPr lang="en-GB" sz="3000" b="1" dirty="0">
                <a:latin typeface="Corbel" panose="020B0503020204020204" pitchFamily="34" charset="0"/>
              </a:rPr>
              <a:t> participants</a:t>
            </a:r>
          </a:p>
          <a:p>
            <a:pPr marL="457200" lvl="1" indent="0">
              <a:lnSpc>
                <a:spcPct val="90000"/>
              </a:lnSpc>
              <a:buNone/>
            </a:pPr>
            <a:r>
              <a:rPr lang="en-GB" sz="3000" b="1" dirty="0">
                <a:latin typeface="Corbel" panose="020B0503020204020204" pitchFamily="34" charset="0"/>
              </a:rPr>
              <a:t>					</a:t>
            </a:r>
            <a:r>
              <a:rPr lang="en-GB" sz="3000" b="1" dirty="0">
                <a:solidFill>
                  <a:srgbClr val="FF0000"/>
                </a:solidFill>
                <a:latin typeface="Corbel" panose="020B0503020204020204" pitchFamily="34" charset="0"/>
              </a:rPr>
              <a:t>Degree/No of Entities = 4</a:t>
            </a:r>
          </a:p>
          <a:p>
            <a:pPr marL="457200" lvl="1" indent="0">
              <a:lnSpc>
                <a:spcPct val="90000"/>
              </a:lnSpc>
              <a:buNone/>
            </a:pPr>
            <a:endParaRPr lang="en-GB" b="1" dirty="0"/>
          </a:p>
          <a:p>
            <a:pPr>
              <a:lnSpc>
                <a:spcPct val="90000"/>
              </a:lnSpc>
            </a:pPr>
            <a:endParaRPr lang="en-GB" sz="1900" dirty="0"/>
          </a:p>
        </p:txBody>
      </p:sp>
    </p:spTree>
    <p:extLst>
      <p:ext uri="{BB962C8B-B14F-4D97-AF65-F5344CB8AC3E}">
        <p14:creationId xmlns:p14="http://schemas.microsoft.com/office/powerpoint/2010/main" val="115369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77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377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377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377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377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37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073735" y="990600"/>
            <a:ext cx="7028396" cy="838200"/>
          </a:xfrm>
        </p:spPr>
        <p:txBody>
          <a:bodyPr>
            <a:noAutofit/>
          </a:bodyPr>
          <a:lstStyle/>
          <a:p>
            <a:r>
              <a:rPr lang="en-US" altLang="en-US" sz="4400" dirty="0">
                <a:latin typeface="Corbel" panose="020B0503020204020204" pitchFamily="34" charset="0"/>
              </a:rPr>
              <a:t>Ternary Relationships</a:t>
            </a:r>
          </a:p>
        </p:txBody>
      </p:sp>
      <p:sp>
        <p:nvSpPr>
          <p:cNvPr id="13316" name="Rectangle 3"/>
          <p:cNvSpPr>
            <a:spLocks noGrp="1" noChangeArrowheads="1"/>
          </p:cNvSpPr>
          <p:nvPr>
            <p:ph type="body" idx="4294967295"/>
          </p:nvPr>
        </p:nvSpPr>
        <p:spPr>
          <a:xfrm>
            <a:off x="647700" y="2286000"/>
            <a:ext cx="8496300" cy="3998913"/>
          </a:xfrm>
          <a:prstGeom prst="rect">
            <a:avLst/>
          </a:prstGeom>
        </p:spPr>
        <p:txBody>
          <a:bodyPr>
            <a:normAutofit/>
          </a:bodyPr>
          <a:lstStyle/>
          <a:p>
            <a:r>
              <a:rPr lang="en-US" altLang="en-US" sz="2800" dirty="0">
                <a:latin typeface="Corbel" panose="020B0503020204020204" pitchFamily="34" charset="0"/>
              </a:rPr>
              <a:t>Sometimes, we need a relationship that connects more than two entity sets.</a:t>
            </a:r>
          </a:p>
          <a:p>
            <a:r>
              <a:rPr lang="en-US" altLang="en-US" sz="2800" dirty="0">
                <a:latin typeface="Corbel" panose="020B0503020204020204" pitchFamily="34" charset="0"/>
              </a:rPr>
              <a:t>Suppose that drinkers will only drink certain juices at certain bars.</a:t>
            </a:r>
          </a:p>
          <a:p>
            <a:pPr lvl="1"/>
            <a:r>
              <a:rPr lang="en-US" altLang="en-US" sz="2800" dirty="0">
                <a:latin typeface="Corbel" panose="020B0503020204020204" pitchFamily="34" charset="0"/>
              </a:rPr>
              <a:t>Our three binary relationships </a:t>
            </a:r>
            <a:r>
              <a:rPr lang="en-US" altLang="en-US" sz="2800" dirty="0">
                <a:solidFill>
                  <a:srgbClr val="CC00CC"/>
                </a:solidFill>
                <a:latin typeface="Corbel" panose="020B0503020204020204" pitchFamily="34" charset="0"/>
              </a:rPr>
              <a:t>Likes</a:t>
            </a:r>
            <a:r>
              <a:rPr lang="en-US" altLang="en-US" sz="2800" dirty="0">
                <a:latin typeface="Corbel" panose="020B0503020204020204" pitchFamily="34" charset="0"/>
              </a:rPr>
              <a:t>, </a:t>
            </a:r>
            <a:r>
              <a:rPr lang="en-US" altLang="en-US" sz="2800" dirty="0">
                <a:solidFill>
                  <a:srgbClr val="CC00CC"/>
                </a:solidFill>
                <a:latin typeface="Corbel" panose="020B0503020204020204" pitchFamily="34" charset="0"/>
              </a:rPr>
              <a:t>Sells</a:t>
            </a:r>
            <a:r>
              <a:rPr lang="en-US" altLang="en-US" sz="2800" dirty="0">
                <a:latin typeface="Corbel" panose="020B0503020204020204" pitchFamily="34" charset="0"/>
              </a:rPr>
              <a:t>, and </a:t>
            </a:r>
            <a:r>
              <a:rPr lang="en-US" altLang="en-US" sz="2800" dirty="0">
                <a:solidFill>
                  <a:srgbClr val="CC00CC"/>
                </a:solidFill>
                <a:latin typeface="Corbel" panose="020B0503020204020204" pitchFamily="34" charset="0"/>
              </a:rPr>
              <a:t>Frequents</a:t>
            </a:r>
            <a:r>
              <a:rPr lang="en-US" altLang="en-US" sz="2800" dirty="0">
                <a:latin typeface="Corbel" panose="020B0503020204020204" pitchFamily="34" charset="0"/>
              </a:rPr>
              <a:t> do not allow us to make this distinction.</a:t>
            </a:r>
          </a:p>
          <a:p>
            <a:pPr lvl="1"/>
            <a:r>
              <a:rPr lang="en-US" altLang="en-US" sz="2800" dirty="0">
                <a:latin typeface="Corbel" panose="020B0503020204020204" pitchFamily="34" charset="0"/>
              </a:rPr>
              <a:t>But a 3-way/ ternary relationship would.</a:t>
            </a:r>
          </a:p>
        </p:txBody>
      </p:sp>
    </p:spTree>
    <p:extLst>
      <p:ext uri="{BB962C8B-B14F-4D97-AF65-F5344CB8AC3E}">
        <p14:creationId xmlns:p14="http://schemas.microsoft.com/office/powerpoint/2010/main" val="3276483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704178" y="990600"/>
            <a:ext cx="7880078" cy="990600"/>
          </a:xfrm>
        </p:spPr>
        <p:txBody>
          <a:bodyPr>
            <a:noAutofit/>
          </a:bodyPr>
          <a:lstStyle/>
          <a:p>
            <a:r>
              <a:rPr lang="en-US" altLang="en-US" sz="4400" dirty="0">
                <a:latin typeface="Corbel" panose="020B0503020204020204" pitchFamily="34" charset="0"/>
              </a:rPr>
              <a:t>A Typical Relationship Set</a:t>
            </a:r>
          </a:p>
        </p:txBody>
      </p:sp>
      <p:sp>
        <p:nvSpPr>
          <p:cNvPr id="15364" name="Text Box 4"/>
          <p:cNvSpPr txBox="1">
            <a:spLocks noChangeArrowheads="1"/>
          </p:cNvSpPr>
          <p:nvPr/>
        </p:nvSpPr>
        <p:spPr bwMode="auto">
          <a:xfrm>
            <a:off x="1987433" y="2243138"/>
            <a:ext cx="580620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solidFill>
                  <a:srgbClr val="CC9900"/>
                </a:solidFill>
              </a:rPr>
              <a:t>Bar		Drinker	Juice</a:t>
            </a:r>
          </a:p>
          <a:p>
            <a:r>
              <a:rPr lang="en-US" altLang="en-US" dirty="0"/>
              <a:t>Joe’s Bar	Ann	      Avocado super</a:t>
            </a:r>
          </a:p>
          <a:p>
            <a:r>
              <a:rPr lang="en-US" altLang="en-US" dirty="0"/>
              <a:t>Sue’s Bar	Ann	      Apple Lite</a:t>
            </a:r>
          </a:p>
          <a:p>
            <a:r>
              <a:rPr lang="en-US" altLang="en-US" dirty="0"/>
              <a:t>Sue’s Bar	Ann	      Watermelon cool</a:t>
            </a:r>
          </a:p>
          <a:p>
            <a:r>
              <a:rPr lang="en-US" altLang="en-US" dirty="0"/>
              <a:t>Joe’s Bar	Bob	      Mango Lite</a:t>
            </a:r>
          </a:p>
          <a:p>
            <a:r>
              <a:rPr lang="en-US" altLang="en-US" dirty="0"/>
              <a:t>Joe’s Bar	Bob	      Avocado super </a:t>
            </a:r>
          </a:p>
          <a:p>
            <a:r>
              <a:rPr lang="en-US" altLang="en-US" dirty="0"/>
              <a:t>Joe’s Bar	Cal	      Avocado super</a:t>
            </a:r>
          </a:p>
          <a:p>
            <a:r>
              <a:rPr lang="en-US" altLang="en-US" dirty="0"/>
              <a:t>Sue’s Bar	Cal	      Apple Lite</a:t>
            </a:r>
          </a:p>
        </p:txBody>
      </p:sp>
      <p:sp>
        <p:nvSpPr>
          <p:cNvPr id="15365" name="Rectangle 5"/>
          <p:cNvSpPr>
            <a:spLocks noChangeArrowheads="1"/>
          </p:cNvSpPr>
          <p:nvPr/>
        </p:nvSpPr>
        <p:spPr bwMode="auto">
          <a:xfrm>
            <a:off x="1809511" y="2286000"/>
            <a:ext cx="5917762" cy="3048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endParaRPr lang="en-US" altLang="en-US"/>
          </a:p>
        </p:txBody>
      </p:sp>
      <p:sp>
        <p:nvSpPr>
          <p:cNvPr id="15366" name="Line 6"/>
          <p:cNvSpPr>
            <a:spLocks noChangeShapeType="1"/>
          </p:cNvSpPr>
          <p:nvPr/>
        </p:nvSpPr>
        <p:spPr bwMode="auto">
          <a:xfrm flipV="1">
            <a:off x="1821286" y="2636912"/>
            <a:ext cx="5917762" cy="300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7" name="Line 7"/>
          <p:cNvSpPr>
            <a:spLocks noChangeShapeType="1"/>
          </p:cNvSpPr>
          <p:nvPr/>
        </p:nvSpPr>
        <p:spPr bwMode="auto">
          <a:xfrm>
            <a:off x="3539064" y="2286000"/>
            <a:ext cx="0" cy="3048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8" name="Line 8"/>
          <p:cNvSpPr>
            <a:spLocks noChangeShapeType="1"/>
          </p:cNvSpPr>
          <p:nvPr/>
        </p:nvSpPr>
        <p:spPr bwMode="auto">
          <a:xfrm>
            <a:off x="5044719" y="2286000"/>
            <a:ext cx="0" cy="3048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894091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857170" y="327095"/>
            <a:ext cx="7384504" cy="1143000"/>
          </a:xfrm>
        </p:spPr>
        <p:txBody>
          <a:bodyPr>
            <a:noAutofit/>
          </a:bodyPr>
          <a:lstStyle/>
          <a:p>
            <a:r>
              <a:rPr lang="en-US" altLang="en-US" sz="4400" dirty="0">
                <a:latin typeface="Corbel" panose="020B0503020204020204" pitchFamily="34" charset="0"/>
              </a:rPr>
              <a:t>Ternary</a:t>
            </a:r>
            <a:r>
              <a:rPr lang="en-US" altLang="en-US" sz="4400" dirty="0">
                <a:solidFill>
                  <a:srgbClr val="33CC33"/>
                </a:solidFill>
                <a:latin typeface="Corbel" panose="020B0503020204020204" pitchFamily="34" charset="0"/>
              </a:rPr>
              <a:t> </a:t>
            </a:r>
            <a:r>
              <a:rPr lang="en-US" altLang="en-US" sz="4400" dirty="0">
                <a:latin typeface="Corbel" panose="020B0503020204020204" pitchFamily="34" charset="0"/>
              </a:rPr>
              <a:t>Relationship</a:t>
            </a:r>
          </a:p>
        </p:txBody>
      </p:sp>
      <p:sp>
        <p:nvSpPr>
          <p:cNvPr id="14340" name="Rectangle 3"/>
          <p:cNvSpPr>
            <a:spLocks noChangeArrowheads="1"/>
          </p:cNvSpPr>
          <p:nvPr/>
        </p:nvSpPr>
        <p:spPr bwMode="auto">
          <a:xfrm>
            <a:off x="1524000" y="2362200"/>
            <a:ext cx="1066800" cy="990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Bar</a:t>
            </a:r>
          </a:p>
        </p:txBody>
      </p:sp>
      <p:sp>
        <p:nvSpPr>
          <p:cNvPr id="14341" name="Rectangle 4"/>
          <p:cNvSpPr>
            <a:spLocks noChangeArrowheads="1"/>
          </p:cNvSpPr>
          <p:nvPr/>
        </p:nvSpPr>
        <p:spPr bwMode="auto">
          <a:xfrm>
            <a:off x="6172200" y="2438400"/>
            <a:ext cx="10668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Juice</a:t>
            </a:r>
          </a:p>
        </p:txBody>
      </p:sp>
      <p:sp>
        <p:nvSpPr>
          <p:cNvPr id="14342" name="Rectangle 5"/>
          <p:cNvSpPr>
            <a:spLocks noChangeArrowheads="1"/>
          </p:cNvSpPr>
          <p:nvPr/>
        </p:nvSpPr>
        <p:spPr bwMode="auto">
          <a:xfrm>
            <a:off x="3581400" y="5029200"/>
            <a:ext cx="13716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Drinker</a:t>
            </a:r>
          </a:p>
        </p:txBody>
      </p:sp>
      <p:sp>
        <p:nvSpPr>
          <p:cNvPr id="14343" name="Oval 6"/>
          <p:cNvSpPr>
            <a:spLocks noChangeArrowheads="1"/>
          </p:cNvSpPr>
          <p:nvPr/>
        </p:nvSpPr>
        <p:spPr bwMode="auto">
          <a:xfrm>
            <a:off x="914400" y="1470095"/>
            <a:ext cx="1066800" cy="66350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t>name</a:t>
            </a:r>
          </a:p>
        </p:txBody>
      </p:sp>
      <p:sp>
        <p:nvSpPr>
          <p:cNvPr id="14344" name="Oval 7"/>
          <p:cNvSpPr>
            <a:spLocks noChangeArrowheads="1"/>
          </p:cNvSpPr>
          <p:nvPr/>
        </p:nvSpPr>
        <p:spPr bwMode="auto">
          <a:xfrm>
            <a:off x="5562600" y="1600200"/>
            <a:ext cx="1066800" cy="6096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name</a:t>
            </a:r>
          </a:p>
        </p:txBody>
      </p:sp>
      <p:sp>
        <p:nvSpPr>
          <p:cNvPr id="14345" name="Oval 8"/>
          <p:cNvSpPr>
            <a:spLocks noChangeArrowheads="1"/>
          </p:cNvSpPr>
          <p:nvPr/>
        </p:nvSpPr>
        <p:spPr bwMode="auto">
          <a:xfrm>
            <a:off x="2514600" y="1524000"/>
            <a:ext cx="1066800" cy="6096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err="1"/>
              <a:t>addr</a:t>
            </a:r>
            <a:endParaRPr lang="en-US" altLang="en-US" dirty="0"/>
          </a:p>
        </p:txBody>
      </p:sp>
      <p:sp>
        <p:nvSpPr>
          <p:cNvPr id="14346" name="Oval 9"/>
          <p:cNvSpPr>
            <a:spLocks noChangeArrowheads="1"/>
          </p:cNvSpPr>
          <p:nvPr/>
        </p:nvSpPr>
        <p:spPr bwMode="auto">
          <a:xfrm>
            <a:off x="7162800" y="1600200"/>
            <a:ext cx="1219200" cy="6096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err="1"/>
              <a:t>manf</a:t>
            </a:r>
            <a:endParaRPr lang="en-US" altLang="en-US" dirty="0"/>
          </a:p>
        </p:txBody>
      </p:sp>
      <p:sp>
        <p:nvSpPr>
          <p:cNvPr id="14347" name="Oval 10"/>
          <p:cNvSpPr>
            <a:spLocks noChangeArrowheads="1"/>
          </p:cNvSpPr>
          <p:nvPr/>
        </p:nvSpPr>
        <p:spPr bwMode="auto">
          <a:xfrm>
            <a:off x="2209800" y="5791199"/>
            <a:ext cx="1143000" cy="533401"/>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t>name</a:t>
            </a:r>
          </a:p>
        </p:txBody>
      </p:sp>
      <p:sp>
        <p:nvSpPr>
          <p:cNvPr id="14348" name="Oval 11"/>
          <p:cNvSpPr>
            <a:spLocks noChangeArrowheads="1"/>
          </p:cNvSpPr>
          <p:nvPr/>
        </p:nvSpPr>
        <p:spPr bwMode="auto">
          <a:xfrm>
            <a:off x="5334000" y="5791200"/>
            <a:ext cx="1143000" cy="533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err="1"/>
              <a:t>addr</a:t>
            </a:r>
            <a:endParaRPr lang="en-US" altLang="en-US" dirty="0"/>
          </a:p>
        </p:txBody>
      </p:sp>
      <p:sp>
        <p:nvSpPr>
          <p:cNvPr id="14349" name="Oval 12"/>
          <p:cNvSpPr>
            <a:spLocks noChangeArrowheads="1"/>
          </p:cNvSpPr>
          <p:nvPr/>
        </p:nvSpPr>
        <p:spPr bwMode="auto">
          <a:xfrm>
            <a:off x="152400" y="2666999"/>
            <a:ext cx="1066800" cy="66350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err="1"/>
              <a:t>regNo</a:t>
            </a:r>
            <a:endParaRPr lang="en-US" altLang="en-US" dirty="0"/>
          </a:p>
        </p:txBody>
      </p:sp>
      <p:sp>
        <p:nvSpPr>
          <p:cNvPr id="14350" name="Line 13"/>
          <p:cNvSpPr>
            <a:spLocks noChangeShapeType="1"/>
          </p:cNvSpPr>
          <p:nvPr/>
        </p:nvSpPr>
        <p:spPr bwMode="auto">
          <a:xfrm flipV="1">
            <a:off x="1219200" y="2895600"/>
            <a:ext cx="304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1" name="Line 14"/>
          <p:cNvSpPr>
            <a:spLocks noChangeShapeType="1"/>
          </p:cNvSpPr>
          <p:nvPr/>
        </p:nvSpPr>
        <p:spPr bwMode="auto">
          <a:xfrm>
            <a:off x="1524000" y="21336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2" name="Line 15"/>
          <p:cNvSpPr>
            <a:spLocks noChangeShapeType="1"/>
          </p:cNvSpPr>
          <p:nvPr/>
        </p:nvSpPr>
        <p:spPr bwMode="auto">
          <a:xfrm flipH="1">
            <a:off x="2286000" y="2133600"/>
            <a:ext cx="685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3" name="Line 16"/>
          <p:cNvSpPr>
            <a:spLocks noChangeShapeType="1"/>
          </p:cNvSpPr>
          <p:nvPr/>
        </p:nvSpPr>
        <p:spPr bwMode="auto">
          <a:xfrm flipV="1">
            <a:off x="2895600" y="5562600"/>
            <a:ext cx="685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4" name="Line 17"/>
          <p:cNvSpPr>
            <a:spLocks noChangeShapeType="1"/>
          </p:cNvSpPr>
          <p:nvPr/>
        </p:nvSpPr>
        <p:spPr bwMode="auto">
          <a:xfrm flipH="1" flipV="1">
            <a:off x="4953000" y="5486400"/>
            <a:ext cx="838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5" name="Line 18"/>
          <p:cNvSpPr>
            <a:spLocks noChangeShapeType="1"/>
          </p:cNvSpPr>
          <p:nvPr/>
        </p:nvSpPr>
        <p:spPr bwMode="auto">
          <a:xfrm>
            <a:off x="6172200" y="22098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6" name="Line 19"/>
          <p:cNvSpPr>
            <a:spLocks noChangeShapeType="1"/>
          </p:cNvSpPr>
          <p:nvPr/>
        </p:nvSpPr>
        <p:spPr bwMode="auto">
          <a:xfrm flipH="1">
            <a:off x="7010400" y="2209800"/>
            <a:ext cx="609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7" name="AutoShape 31"/>
          <p:cNvSpPr>
            <a:spLocks noChangeArrowheads="1"/>
          </p:cNvSpPr>
          <p:nvPr/>
        </p:nvSpPr>
        <p:spPr bwMode="auto">
          <a:xfrm>
            <a:off x="3187148" y="3259138"/>
            <a:ext cx="2209800" cy="1066800"/>
          </a:xfrm>
          <a:prstGeom prst="diamond">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Preferences</a:t>
            </a:r>
          </a:p>
        </p:txBody>
      </p:sp>
      <p:sp>
        <p:nvSpPr>
          <p:cNvPr id="14358" name="Line 33"/>
          <p:cNvSpPr>
            <a:spLocks noChangeShapeType="1"/>
          </p:cNvSpPr>
          <p:nvPr/>
        </p:nvSpPr>
        <p:spPr bwMode="auto">
          <a:xfrm flipH="1" flipV="1">
            <a:off x="2590800" y="3352800"/>
            <a:ext cx="596348"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9" name="Line 34"/>
          <p:cNvSpPr>
            <a:spLocks noChangeShapeType="1"/>
          </p:cNvSpPr>
          <p:nvPr/>
        </p:nvSpPr>
        <p:spPr bwMode="auto">
          <a:xfrm>
            <a:off x="4267200" y="4325938"/>
            <a:ext cx="0" cy="703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60" name="Line 35"/>
          <p:cNvSpPr>
            <a:spLocks noChangeShapeType="1"/>
          </p:cNvSpPr>
          <p:nvPr/>
        </p:nvSpPr>
        <p:spPr bwMode="auto">
          <a:xfrm flipV="1">
            <a:off x="5396948" y="3352800"/>
            <a:ext cx="775252"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827216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5363"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5364" name="Rectangle 4"/>
          <p:cNvSpPr>
            <a:spLocks noGrp="1" noChangeArrowheads="1"/>
          </p:cNvSpPr>
          <p:nvPr>
            <p:ph type="title"/>
          </p:nvPr>
        </p:nvSpPr>
        <p:spPr>
          <a:xfrm>
            <a:off x="686504" y="122655"/>
            <a:ext cx="7772400" cy="1104900"/>
          </a:xfrm>
          <a:noFill/>
        </p:spPr>
        <p:txBody>
          <a:bodyPr>
            <a:normAutofit/>
          </a:bodyPr>
          <a:lstStyle/>
          <a:p>
            <a:r>
              <a:rPr lang="es-ES_tradnl" altLang="en-US" sz="4400" dirty="0" err="1">
                <a:latin typeface="Corbel" panose="020B0503020204020204" pitchFamily="34" charset="0"/>
              </a:rPr>
              <a:t>Ternary</a:t>
            </a:r>
            <a:r>
              <a:rPr lang="es-ES_tradnl" altLang="en-US" sz="4400" dirty="0">
                <a:latin typeface="Corbel" panose="020B0503020204020204" pitchFamily="34" charset="0"/>
              </a:rPr>
              <a:t> </a:t>
            </a:r>
            <a:r>
              <a:rPr lang="es-ES_tradnl" altLang="en-US" sz="4400" dirty="0" err="1">
                <a:latin typeface="Corbel" panose="020B0503020204020204" pitchFamily="34" charset="0"/>
              </a:rPr>
              <a:t>relationship</a:t>
            </a:r>
            <a:endParaRPr lang="es-ES_tradnl" altLang="en-US" sz="4400" dirty="0">
              <a:latin typeface="Corbel" panose="020B0503020204020204" pitchFamily="34" charset="0"/>
            </a:endParaRPr>
          </a:p>
        </p:txBody>
      </p:sp>
      <p:sp>
        <p:nvSpPr>
          <p:cNvPr id="15365" name="Freeform 77"/>
          <p:cNvSpPr>
            <a:spLocks/>
          </p:cNvSpPr>
          <p:nvPr/>
        </p:nvSpPr>
        <p:spPr bwMode="auto">
          <a:xfrm>
            <a:off x="6846888" y="1655763"/>
            <a:ext cx="720725" cy="519112"/>
          </a:xfrm>
          <a:custGeom>
            <a:avLst/>
            <a:gdLst>
              <a:gd name="T0" fmla="*/ 715963 w 454"/>
              <a:gd name="T1" fmla="*/ 234950 h 327"/>
              <a:gd name="T2" fmla="*/ 706438 w 454"/>
              <a:gd name="T3" fmla="*/ 190500 h 327"/>
              <a:gd name="T4" fmla="*/ 684213 w 454"/>
              <a:gd name="T5" fmla="*/ 149225 h 327"/>
              <a:gd name="T6" fmla="*/ 652463 w 454"/>
              <a:gd name="T7" fmla="*/ 107950 h 327"/>
              <a:gd name="T8" fmla="*/ 612775 w 454"/>
              <a:gd name="T9" fmla="*/ 74612 h 327"/>
              <a:gd name="T10" fmla="*/ 565150 w 454"/>
              <a:gd name="T11" fmla="*/ 46037 h 327"/>
              <a:gd name="T12" fmla="*/ 511175 w 454"/>
              <a:gd name="T13" fmla="*/ 23812 h 327"/>
              <a:gd name="T14" fmla="*/ 452438 w 454"/>
              <a:gd name="T15" fmla="*/ 7937 h 327"/>
              <a:gd name="T16" fmla="*/ 390525 w 454"/>
              <a:gd name="T17" fmla="*/ 0 h 327"/>
              <a:gd name="T18" fmla="*/ 327025 w 454"/>
              <a:gd name="T19" fmla="*/ 0 h 327"/>
              <a:gd name="T20" fmla="*/ 265113 w 454"/>
              <a:gd name="T21" fmla="*/ 7937 h 327"/>
              <a:gd name="T22" fmla="*/ 206375 w 454"/>
              <a:gd name="T23" fmla="*/ 23812 h 327"/>
              <a:gd name="T24" fmla="*/ 152400 w 454"/>
              <a:gd name="T25" fmla="*/ 46037 h 327"/>
              <a:gd name="T26" fmla="*/ 103188 w 454"/>
              <a:gd name="T27" fmla="*/ 74612 h 327"/>
              <a:gd name="T28" fmla="*/ 63500 w 454"/>
              <a:gd name="T29" fmla="*/ 107950 h 327"/>
              <a:gd name="T30" fmla="*/ 33338 w 454"/>
              <a:gd name="T31" fmla="*/ 149225 h 327"/>
              <a:gd name="T32" fmla="*/ 11113 w 454"/>
              <a:gd name="T33" fmla="*/ 190500 h 327"/>
              <a:gd name="T34" fmla="*/ 1588 w 454"/>
              <a:gd name="T35" fmla="*/ 234950 h 327"/>
              <a:gd name="T36" fmla="*/ 1588 w 454"/>
              <a:gd name="T37" fmla="*/ 280987 h 327"/>
              <a:gd name="T38" fmla="*/ 11113 w 454"/>
              <a:gd name="T39" fmla="*/ 325437 h 327"/>
              <a:gd name="T40" fmla="*/ 33338 w 454"/>
              <a:gd name="T41" fmla="*/ 366712 h 327"/>
              <a:gd name="T42" fmla="*/ 63500 w 454"/>
              <a:gd name="T43" fmla="*/ 404812 h 327"/>
              <a:gd name="T44" fmla="*/ 103188 w 454"/>
              <a:gd name="T45" fmla="*/ 441325 h 327"/>
              <a:gd name="T46" fmla="*/ 152400 w 454"/>
              <a:gd name="T47" fmla="*/ 469900 h 327"/>
              <a:gd name="T48" fmla="*/ 206375 w 454"/>
              <a:gd name="T49" fmla="*/ 492125 h 327"/>
              <a:gd name="T50" fmla="*/ 265113 w 454"/>
              <a:gd name="T51" fmla="*/ 508000 h 327"/>
              <a:gd name="T52" fmla="*/ 327025 w 454"/>
              <a:gd name="T53" fmla="*/ 517525 h 327"/>
              <a:gd name="T54" fmla="*/ 390525 w 454"/>
              <a:gd name="T55" fmla="*/ 517525 h 327"/>
              <a:gd name="T56" fmla="*/ 452438 w 454"/>
              <a:gd name="T57" fmla="*/ 508000 h 327"/>
              <a:gd name="T58" fmla="*/ 511175 w 454"/>
              <a:gd name="T59" fmla="*/ 492125 h 327"/>
              <a:gd name="T60" fmla="*/ 565150 w 454"/>
              <a:gd name="T61" fmla="*/ 469900 h 327"/>
              <a:gd name="T62" fmla="*/ 612775 w 454"/>
              <a:gd name="T63" fmla="*/ 441325 h 327"/>
              <a:gd name="T64" fmla="*/ 652463 w 454"/>
              <a:gd name="T65" fmla="*/ 404812 h 327"/>
              <a:gd name="T66" fmla="*/ 684213 w 454"/>
              <a:gd name="T67" fmla="*/ 366712 h 327"/>
              <a:gd name="T68" fmla="*/ 706438 w 454"/>
              <a:gd name="T69" fmla="*/ 325437 h 327"/>
              <a:gd name="T70" fmla="*/ 715963 w 454"/>
              <a:gd name="T71" fmla="*/ 28098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54" h="327">
                <a:moveTo>
                  <a:pt x="453" y="163"/>
                </a:moveTo>
                <a:lnTo>
                  <a:pt x="451" y="148"/>
                </a:lnTo>
                <a:lnTo>
                  <a:pt x="448" y="134"/>
                </a:lnTo>
                <a:lnTo>
                  <a:pt x="445" y="120"/>
                </a:lnTo>
                <a:lnTo>
                  <a:pt x="439" y="106"/>
                </a:lnTo>
                <a:lnTo>
                  <a:pt x="431" y="94"/>
                </a:lnTo>
                <a:lnTo>
                  <a:pt x="422" y="80"/>
                </a:lnTo>
                <a:lnTo>
                  <a:pt x="411" y="68"/>
                </a:lnTo>
                <a:lnTo>
                  <a:pt x="399" y="57"/>
                </a:lnTo>
                <a:lnTo>
                  <a:pt x="386" y="47"/>
                </a:lnTo>
                <a:lnTo>
                  <a:pt x="372" y="37"/>
                </a:lnTo>
                <a:lnTo>
                  <a:pt x="356" y="29"/>
                </a:lnTo>
                <a:lnTo>
                  <a:pt x="339" y="21"/>
                </a:lnTo>
                <a:lnTo>
                  <a:pt x="322" y="15"/>
                </a:lnTo>
                <a:lnTo>
                  <a:pt x="303" y="9"/>
                </a:lnTo>
                <a:lnTo>
                  <a:pt x="285" y="5"/>
                </a:lnTo>
                <a:lnTo>
                  <a:pt x="265" y="1"/>
                </a:lnTo>
                <a:lnTo>
                  <a:pt x="246" y="0"/>
                </a:lnTo>
                <a:lnTo>
                  <a:pt x="225" y="0"/>
                </a:lnTo>
                <a:lnTo>
                  <a:pt x="206" y="0"/>
                </a:lnTo>
                <a:lnTo>
                  <a:pt x="186" y="1"/>
                </a:lnTo>
                <a:lnTo>
                  <a:pt x="167" y="5"/>
                </a:lnTo>
                <a:lnTo>
                  <a:pt x="148" y="9"/>
                </a:lnTo>
                <a:lnTo>
                  <a:pt x="130" y="15"/>
                </a:lnTo>
                <a:lnTo>
                  <a:pt x="113" y="21"/>
                </a:lnTo>
                <a:lnTo>
                  <a:pt x="96" y="29"/>
                </a:lnTo>
                <a:lnTo>
                  <a:pt x="80" y="37"/>
                </a:lnTo>
                <a:lnTo>
                  <a:pt x="65" y="47"/>
                </a:lnTo>
                <a:lnTo>
                  <a:pt x="53" y="57"/>
                </a:lnTo>
                <a:lnTo>
                  <a:pt x="40" y="68"/>
                </a:lnTo>
                <a:lnTo>
                  <a:pt x="29" y="80"/>
                </a:lnTo>
                <a:lnTo>
                  <a:pt x="21" y="94"/>
                </a:lnTo>
                <a:lnTo>
                  <a:pt x="13" y="106"/>
                </a:lnTo>
                <a:lnTo>
                  <a:pt x="7" y="120"/>
                </a:lnTo>
                <a:lnTo>
                  <a:pt x="3" y="134"/>
                </a:lnTo>
                <a:lnTo>
                  <a:pt x="1" y="148"/>
                </a:lnTo>
                <a:lnTo>
                  <a:pt x="0" y="163"/>
                </a:lnTo>
                <a:lnTo>
                  <a:pt x="1" y="177"/>
                </a:lnTo>
                <a:lnTo>
                  <a:pt x="3" y="191"/>
                </a:lnTo>
                <a:lnTo>
                  <a:pt x="7" y="205"/>
                </a:lnTo>
                <a:lnTo>
                  <a:pt x="13" y="217"/>
                </a:lnTo>
                <a:lnTo>
                  <a:pt x="21" y="231"/>
                </a:lnTo>
                <a:lnTo>
                  <a:pt x="29" y="244"/>
                </a:lnTo>
                <a:lnTo>
                  <a:pt x="40" y="255"/>
                </a:lnTo>
                <a:lnTo>
                  <a:pt x="53" y="266"/>
                </a:lnTo>
                <a:lnTo>
                  <a:pt x="65" y="278"/>
                </a:lnTo>
                <a:lnTo>
                  <a:pt x="80" y="288"/>
                </a:lnTo>
                <a:lnTo>
                  <a:pt x="96" y="296"/>
                </a:lnTo>
                <a:lnTo>
                  <a:pt x="113" y="303"/>
                </a:lnTo>
                <a:lnTo>
                  <a:pt x="130" y="310"/>
                </a:lnTo>
                <a:lnTo>
                  <a:pt x="148" y="316"/>
                </a:lnTo>
                <a:lnTo>
                  <a:pt x="167" y="320"/>
                </a:lnTo>
                <a:lnTo>
                  <a:pt x="186" y="323"/>
                </a:lnTo>
                <a:lnTo>
                  <a:pt x="206" y="326"/>
                </a:lnTo>
                <a:lnTo>
                  <a:pt x="225" y="326"/>
                </a:lnTo>
                <a:lnTo>
                  <a:pt x="246" y="326"/>
                </a:lnTo>
                <a:lnTo>
                  <a:pt x="265" y="323"/>
                </a:lnTo>
                <a:lnTo>
                  <a:pt x="285" y="320"/>
                </a:lnTo>
                <a:lnTo>
                  <a:pt x="303" y="316"/>
                </a:lnTo>
                <a:lnTo>
                  <a:pt x="322" y="310"/>
                </a:lnTo>
                <a:lnTo>
                  <a:pt x="339" y="303"/>
                </a:lnTo>
                <a:lnTo>
                  <a:pt x="356" y="296"/>
                </a:lnTo>
                <a:lnTo>
                  <a:pt x="372" y="288"/>
                </a:lnTo>
                <a:lnTo>
                  <a:pt x="386" y="278"/>
                </a:lnTo>
                <a:lnTo>
                  <a:pt x="399" y="266"/>
                </a:lnTo>
                <a:lnTo>
                  <a:pt x="411" y="255"/>
                </a:lnTo>
                <a:lnTo>
                  <a:pt x="422" y="244"/>
                </a:lnTo>
                <a:lnTo>
                  <a:pt x="431" y="231"/>
                </a:lnTo>
                <a:lnTo>
                  <a:pt x="439" y="217"/>
                </a:lnTo>
                <a:lnTo>
                  <a:pt x="445" y="205"/>
                </a:lnTo>
                <a:lnTo>
                  <a:pt x="448" y="191"/>
                </a:lnTo>
                <a:lnTo>
                  <a:pt x="451" y="177"/>
                </a:lnTo>
                <a:lnTo>
                  <a:pt x="453" y="163"/>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6" name="Freeform 78"/>
          <p:cNvSpPr>
            <a:spLocks/>
          </p:cNvSpPr>
          <p:nvPr/>
        </p:nvSpPr>
        <p:spPr bwMode="auto">
          <a:xfrm>
            <a:off x="8166100" y="1677988"/>
            <a:ext cx="912813" cy="496887"/>
          </a:xfrm>
          <a:custGeom>
            <a:avLst/>
            <a:gdLst>
              <a:gd name="T0" fmla="*/ 1588 w 575"/>
              <a:gd name="T1" fmla="*/ 268287 h 313"/>
              <a:gd name="T2" fmla="*/ 14288 w 575"/>
              <a:gd name="T3" fmla="*/ 311150 h 313"/>
              <a:gd name="T4" fmla="*/ 44450 w 575"/>
              <a:gd name="T5" fmla="*/ 350837 h 313"/>
              <a:gd name="T6" fmla="*/ 82550 w 575"/>
              <a:gd name="T7" fmla="*/ 387350 h 313"/>
              <a:gd name="T8" fmla="*/ 133350 w 575"/>
              <a:gd name="T9" fmla="*/ 422275 h 313"/>
              <a:gd name="T10" fmla="*/ 195263 w 575"/>
              <a:gd name="T11" fmla="*/ 449262 h 313"/>
              <a:gd name="T12" fmla="*/ 261938 w 575"/>
              <a:gd name="T13" fmla="*/ 471487 h 313"/>
              <a:gd name="T14" fmla="*/ 338138 w 575"/>
              <a:gd name="T15" fmla="*/ 485775 h 313"/>
              <a:gd name="T16" fmla="*/ 415925 w 575"/>
              <a:gd name="T17" fmla="*/ 495300 h 313"/>
              <a:gd name="T18" fmla="*/ 493713 w 575"/>
              <a:gd name="T19" fmla="*/ 495300 h 313"/>
              <a:gd name="T20" fmla="*/ 573088 w 575"/>
              <a:gd name="T21" fmla="*/ 485775 h 313"/>
              <a:gd name="T22" fmla="*/ 647700 w 575"/>
              <a:gd name="T23" fmla="*/ 471487 h 313"/>
              <a:gd name="T24" fmla="*/ 715963 w 575"/>
              <a:gd name="T25" fmla="*/ 449262 h 313"/>
              <a:gd name="T26" fmla="*/ 777875 w 575"/>
              <a:gd name="T27" fmla="*/ 422275 h 313"/>
              <a:gd name="T28" fmla="*/ 828675 w 575"/>
              <a:gd name="T29" fmla="*/ 387350 h 313"/>
              <a:gd name="T30" fmla="*/ 868363 w 575"/>
              <a:gd name="T31" fmla="*/ 350837 h 313"/>
              <a:gd name="T32" fmla="*/ 895350 w 575"/>
              <a:gd name="T33" fmla="*/ 311150 h 313"/>
              <a:gd name="T34" fmla="*/ 908050 w 575"/>
              <a:gd name="T35" fmla="*/ 268287 h 313"/>
              <a:gd name="T36" fmla="*/ 908050 w 575"/>
              <a:gd name="T37" fmla="*/ 223837 h 313"/>
              <a:gd name="T38" fmla="*/ 895350 w 575"/>
              <a:gd name="T39" fmla="*/ 180975 h 313"/>
              <a:gd name="T40" fmla="*/ 868363 w 575"/>
              <a:gd name="T41" fmla="*/ 142875 h 313"/>
              <a:gd name="T42" fmla="*/ 828675 w 575"/>
              <a:gd name="T43" fmla="*/ 103187 h 313"/>
              <a:gd name="T44" fmla="*/ 777875 w 575"/>
              <a:gd name="T45" fmla="*/ 71437 h 313"/>
              <a:gd name="T46" fmla="*/ 715963 w 575"/>
              <a:gd name="T47" fmla="*/ 41275 h 313"/>
              <a:gd name="T48" fmla="*/ 647700 w 575"/>
              <a:gd name="T49" fmla="*/ 22225 h 313"/>
              <a:gd name="T50" fmla="*/ 573088 w 575"/>
              <a:gd name="T51" fmla="*/ 7937 h 313"/>
              <a:gd name="T52" fmla="*/ 493713 w 575"/>
              <a:gd name="T53" fmla="*/ 0 h 313"/>
              <a:gd name="T54" fmla="*/ 415925 w 575"/>
              <a:gd name="T55" fmla="*/ 0 h 313"/>
              <a:gd name="T56" fmla="*/ 336550 w 575"/>
              <a:gd name="T57" fmla="*/ 7937 h 313"/>
              <a:gd name="T58" fmla="*/ 261938 w 575"/>
              <a:gd name="T59" fmla="*/ 22225 h 313"/>
              <a:gd name="T60" fmla="*/ 195263 w 575"/>
              <a:gd name="T61" fmla="*/ 44450 h 313"/>
              <a:gd name="T62" fmla="*/ 133350 w 575"/>
              <a:gd name="T63" fmla="*/ 71437 h 313"/>
              <a:gd name="T64" fmla="*/ 82550 w 575"/>
              <a:gd name="T65" fmla="*/ 103187 h 313"/>
              <a:gd name="T66" fmla="*/ 44450 w 575"/>
              <a:gd name="T67" fmla="*/ 142875 h 313"/>
              <a:gd name="T68" fmla="*/ 14288 w 575"/>
              <a:gd name="T69" fmla="*/ 182562 h 313"/>
              <a:gd name="T70" fmla="*/ 1588 w 575"/>
              <a:gd name="T71" fmla="*/ 225425 h 3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75" h="313">
                <a:moveTo>
                  <a:pt x="0" y="156"/>
                </a:moveTo>
                <a:lnTo>
                  <a:pt x="1" y="169"/>
                </a:lnTo>
                <a:lnTo>
                  <a:pt x="5" y="182"/>
                </a:lnTo>
                <a:lnTo>
                  <a:pt x="9" y="196"/>
                </a:lnTo>
                <a:lnTo>
                  <a:pt x="17" y="208"/>
                </a:lnTo>
                <a:lnTo>
                  <a:pt x="28" y="221"/>
                </a:lnTo>
                <a:lnTo>
                  <a:pt x="38" y="234"/>
                </a:lnTo>
                <a:lnTo>
                  <a:pt x="52" y="244"/>
                </a:lnTo>
                <a:lnTo>
                  <a:pt x="67" y="255"/>
                </a:lnTo>
                <a:lnTo>
                  <a:pt x="84" y="266"/>
                </a:lnTo>
                <a:lnTo>
                  <a:pt x="103" y="275"/>
                </a:lnTo>
                <a:lnTo>
                  <a:pt x="123" y="283"/>
                </a:lnTo>
                <a:lnTo>
                  <a:pt x="143" y="290"/>
                </a:lnTo>
                <a:lnTo>
                  <a:pt x="165" y="297"/>
                </a:lnTo>
                <a:lnTo>
                  <a:pt x="189" y="302"/>
                </a:lnTo>
                <a:lnTo>
                  <a:pt x="213" y="306"/>
                </a:lnTo>
                <a:lnTo>
                  <a:pt x="237" y="309"/>
                </a:lnTo>
                <a:lnTo>
                  <a:pt x="262" y="312"/>
                </a:lnTo>
                <a:lnTo>
                  <a:pt x="287" y="312"/>
                </a:lnTo>
                <a:lnTo>
                  <a:pt x="311" y="312"/>
                </a:lnTo>
                <a:lnTo>
                  <a:pt x="337" y="309"/>
                </a:lnTo>
                <a:lnTo>
                  <a:pt x="361" y="306"/>
                </a:lnTo>
                <a:lnTo>
                  <a:pt x="385" y="302"/>
                </a:lnTo>
                <a:lnTo>
                  <a:pt x="408" y="297"/>
                </a:lnTo>
                <a:lnTo>
                  <a:pt x="431" y="290"/>
                </a:lnTo>
                <a:lnTo>
                  <a:pt x="451" y="283"/>
                </a:lnTo>
                <a:lnTo>
                  <a:pt x="471" y="275"/>
                </a:lnTo>
                <a:lnTo>
                  <a:pt x="490" y="266"/>
                </a:lnTo>
                <a:lnTo>
                  <a:pt x="506" y="255"/>
                </a:lnTo>
                <a:lnTo>
                  <a:pt x="522" y="244"/>
                </a:lnTo>
                <a:lnTo>
                  <a:pt x="536" y="234"/>
                </a:lnTo>
                <a:lnTo>
                  <a:pt x="547" y="221"/>
                </a:lnTo>
                <a:lnTo>
                  <a:pt x="556" y="208"/>
                </a:lnTo>
                <a:lnTo>
                  <a:pt x="564" y="196"/>
                </a:lnTo>
                <a:lnTo>
                  <a:pt x="569" y="182"/>
                </a:lnTo>
                <a:lnTo>
                  <a:pt x="572" y="169"/>
                </a:lnTo>
                <a:lnTo>
                  <a:pt x="574" y="156"/>
                </a:lnTo>
                <a:lnTo>
                  <a:pt x="572" y="141"/>
                </a:lnTo>
                <a:lnTo>
                  <a:pt x="569" y="129"/>
                </a:lnTo>
                <a:lnTo>
                  <a:pt x="564" y="114"/>
                </a:lnTo>
                <a:lnTo>
                  <a:pt x="556" y="102"/>
                </a:lnTo>
                <a:lnTo>
                  <a:pt x="547" y="90"/>
                </a:lnTo>
                <a:lnTo>
                  <a:pt x="536" y="76"/>
                </a:lnTo>
                <a:lnTo>
                  <a:pt x="522" y="65"/>
                </a:lnTo>
                <a:lnTo>
                  <a:pt x="506" y="55"/>
                </a:lnTo>
                <a:lnTo>
                  <a:pt x="490" y="45"/>
                </a:lnTo>
                <a:lnTo>
                  <a:pt x="471" y="36"/>
                </a:lnTo>
                <a:lnTo>
                  <a:pt x="451" y="26"/>
                </a:lnTo>
                <a:lnTo>
                  <a:pt x="431" y="20"/>
                </a:lnTo>
                <a:lnTo>
                  <a:pt x="408" y="14"/>
                </a:lnTo>
                <a:lnTo>
                  <a:pt x="385" y="8"/>
                </a:lnTo>
                <a:lnTo>
                  <a:pt x="361" y="5"/>
                </a:lnTo>
                <a:lnTo>
                  <a:pt x="337" y="1"/>
                </a:lnTo>
                <a:lnTo>
                  <a:pt x="311" y="0"/>
                </a:lnTo>
                <a:lnTo>
                  <a:pt x="287" y="0"/>
                </a:lnTo>
                <a:lnTo>
                  <a:pt x="262" y="0"/>
                </a:lnTo>
                <a:lnTo>
                  <a:pt x="237" y="1"/>
                </a:lnTo>
                <a:lnTo>
                  <a:pt x="212" y="5"/>
                </a:lnTo>
                <a:lnTo>
                  <a:pt x="189" y="9"/>
                </a:lnTo>
                <a:lnTo>
                  <a:pt x="165" y="14"/>
                </a:lnTo>
                <a:lnTo>
                  <a:pt x="143" y="20"/>
                </a:lnTo>
                <a:lnTo>
                  <a:pt x="123" y="28"/>
                </a:lnTo>
                <a:lnTo>
                  <a:pt x="102" y="36"/>
                </a:lnTo>
                <a:lnTo>
                  <a:pt x="84" y="45"/>
                </a:lnTo>
                <a:lnTo>
                  <a:pt x="67" y="55"/>
                </a:lnTo>
                <a:lnTo>
                  <a:pt x="52" y="65"/>
                </a:lnTo>
                <a:lnTo>
                  <a:pt x="38" y="78"/>
                </a:lnTo>
                <a:lnTo>
                  <a:pt x="28" y="90"/>
                </a:lnTo>
                <a:lnTo>
                  <a:pt x="17" y="102"/>
                </a:lnTo>
                <a:lnTo>
                  <a:pt x="9" y="115"/>
                </a:lnTo>
                <a:lnTo>
                  <a:pt x="5" y="129"/>
                </a:lnTo>
                <a:lnTo>
                  <a:pt x="1" y="142"/>
                </a:lnTo>
                <a:lnTo>
                  <a:pt x="0" y="15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5367" name="Group 79"/>
          <p:cNvGrpSpPr>
            <a:grpSpLocks/>
          </p:cNvGrpSpPr>
          <p:nvPr/>
        </p:nvGrpSpPr>
        <p:grpSpPr bwMode="auto">
          <a:xfrm>
            <a:off x="7416800" y="1274763"/>
            <a:ext cx="939800" cy="519112"/>
            <a:chOff x="4672" y="468"/>
            <a:chExt cx="592" cy="327"/>
          </a:xfrm>
        </p:grpSpPr>
        <p:sp>
          <p:nvSpPr>
            <p:cNvPr id="15430" name="Freeform 80"/>
            <p:cNvSpPr>
              <a:spLocks/>
            </p:cNvSpPr>
            <p:nvPr/>
          </p:nvSpPr>
          <p:spPr bwMode="auto">
            <a:xfrm>
              <a:off x="4672" y="468"/>
              <a:ext cx="592" cy="327"/>
            </a:xfrm>
            <a:custGeom>
              <a:avLst/>
              <a:gdLst>
                <a:gd name="T0" fmla="*/ 589 w 592"/>
                <a:gd name="T1" fmla="*/ 148 h 327"/>
                <a:gd name="T2" fmla="*/ 581 w 592"/>
                <a:gd name="T3" fmla="*/ 120 h 327"/>
                <a:gd name="T4" fmla="*/ 563 w 592"/>
                <a:gd name="T5" fmla="*/ 94 h 327"/>
                <a:gd name="T6" fmla="*/ 538 w 592"/>
                <a:gd name="T7" fmla="*/ 68 h 327"/>
                <a:gd name="T8" fmla="*/ 505 w 592"/>
                <a:gd name="T9" fmla="*/ 46 h 327"/>
                <a:gd name="T10" fmla="*/ 465 w 592"/>
                <a:gd name="T11" fmla="*/ 29 h 327"/>
                <a:gd name="T12" fmla="*/ 420 w 592"/>
                <a:gd name="T13" fmla="*/ 14 h 327"/>
                <a:gd name="T14" fmla="*/ 372 w 592"/>
                <a:gd name="T15" fmla="*/ 4 h 327"/>
                <a:gd name="T16" fmla="*/ 321 w 592"/>
                <a:gd name="T17" fmla="*/ 0 h 327"/>
                <a:gd name="T18" fmla="*/ 269 w 592"/>
                <a:gd name="T19" fmla="*/ 0 h 327"/>
                <a:gd name="T20" fmla="*/ 218 w 592"/>
                <a:gd name="T21" fmla="*/ 4 h 327"/>
                <a:gd name="T22" fmla="*/ 170 w 592"/>
                <a:gd name="T23" fmla="*/ 14 h 327"/>
                <a:gd name="T24" fmla="*/ 125 w 592"/>
                <a:gd name="T25" fmla="*/ 29 h 327"/>
                <a:gd name="T26" fmla="*/ 85 w 592"/>
                <a:gd name="T27" fmla="*/ 46 h 327"/>
                <a:gd name="T28" fmla="*/ 53 w 592"/>
                <a:gd name="T29" fmla="*/ 68 h 327"/>
                <a:gd name="T30" fmla="*/ 27 w 592"/>
                <a:gd name="T31" fmla="*/ 94 h 327"/>
                <a:gd name="T32" fmla="*/ 9 w 592"/>
                <a:gd name="T33" fmla="*/ 120 h 327"/>
                <a:gd name="T34" fmla="*/ 1 w 592"/>
                <a:gd name="T35" fmla="*/ 148 h 327"/>
                <a:gd name="T36" fmla="*/ 1 w 592"/>
                <a:gd name="T37" fmla="*/ 177 h 327"/>
                <a:gd name="T38" fmla="*/ 9 w 592"/>
                <a:gd name="T39" fmla="*/ 205 h 327"/>
                <a:gd name="T40" fmla="*/ 27 w 592"/>
                <a:gd name="T41" fmla="*/ 231 h 327"/>
                <a:gd name="T42" fmla="*/ 53 w 592"/>
                <a:gd name="T43" fmla="*/ 257 h 327"/>
                <a:gd name="T44" fmla="*/ 85 w 592"/>
                <a:gd name="T45" fmla="*/ 278 h 327"/>
                <a:gd name="T46" fmla="*/ 125 w 592"/>
                <a:gd name="T47" fmla="*/ 296 h 327"/>
                <a:gd name="T48" fmla="*/ 170 w 592"/>
                <a:gd name="T49" fmla="*/ 310 h 327"/>
                <a:gd name="T50" fmla="*/ 218 w 592"/>
                <a:gd name="T51" fmla="*/ 320 h 327"/>
                <a:gd name="T52" fmla="*/ 269 w 592"/>
                <a:gd name="T53" fmla="*/ 326 h 327"/>
                <a:gd name="T54" fmla="*/ 321 w 592"/>
                <a:gd name="T55" fmla="*/ 326 h 327"/>
                <a:gd name="T56" fmla="*/ 372 w 592"/>
                <a:gd name="T57" fmla="*/ 320 h 327"/>
                <a:gd name="T58" fmla="*/ 420 w 592"/>
                <a:gd name="T59" fmla="*/ 310 h 327"/>
                <a:gd name="T60" fmla="*/ 465 w 592"/>
                <a:gd name="T61" fmla="*/ 296 h 327"/>
                <a:gd name="T62" fmla="*/ 505 w 592"/>
                <a:gd name="T63" fmla="*/ 278 h 327"/>
                <a:gd name="T64" fmla="*/ 538 w 592"/>
                <a:gd name="T65" fmla="*/ 257 h 327"/>
                <a:gd name="T66" fmla="*/ 563 w 592"/>
                <a:gd name="T67" fmla="*/ 231 h 327"/>
                <a:gd name="T68" fmla="*/ 581 w 592"/>
                <a:gd name="T69" fmla="*/ 205 h 327"/>
                <a:gd name="T70" fmla="*/ 589 w 592"/>
                <a:gd name="T71" fmla="*/ 17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92" h="327">
                  <a:moveTo>
                    <a:pt x="591" y="163"/>
                  </a:moveTo>
                  <a:lnTo>
                    <a:pt x="589" y="148"/>
                  </a:lnTo>
                  <a:lnTo>
                    <a:pt x="586" y="133"/>
                  </a:lnTo>
                  <a:lnTo>
                    <a:pt x="581" y="120"/>
                  </a:lnTo>
                  <a:lnTo>
                    <a:pt x="573" y="106"/>
                  </a:lnTo>
                  <a:lnTo>
                    <a:pt x="563" y="94"/>
                  </a:lnTo>
                  <a:lnTo>
                    <a:pt x="550" y="81"/>
                  </a:lnTo>
                  <a:lnTo>
                    <a:pt x="538" y="68"/>
                  </a:lnTo>
                  <a:lnTo>
                    <a:pt x="521" y="57"/>
                  </a:lnTo>
                  <a:lnTo>
                    <a:pt x="505" y="46"/>
                  </a:lnTo>
                  <a:lnTo>
                    <a:pt x="485" y="37"/>
                  </a:lnTo>
                  <a:lnTo>
                    <a:pt x="465" y="29"/>
                  </a:lnTo>
                  <a:lnTo>
                    <a:pt x="442" y="21"/>
                  </a:lnTo>
                  <a:lnTo>
                    <a:pt x="420" y="14"/>
                  </a:lnTo>
                  <a:lnTo>
                    <a:pt x="395" y="9"/>
                  </a:lnTo>
                  <a:lnTo>
                    <a:pt x="372" y="4"/>
                  </a:lnTo>
                  <a:lnTo>
                    <a:pt x="347" y="1"/>
                  </a:lnTo>
                  <a:lnTo>
                    <a:pt x="321" y="0"/>
                  </a:lnTo>
                  <a:lnTo>
                    <a:pt x="294" y="0"/>
                  </a:lnTo>
                  <a:lnTo>
                    <a:pt x="269" y="0"/>
                  </a:lnTo>
                  <a:lnTo>
                    <a:pt x="243" y="1"/>
                  </a:lnTo>
                  <a:lnTo>
                    <a:pt x="218" y="4"/>
                  </a:lnTo>
                  <a:lnTo>
                    <a:pt x="195" y="9"/>
                  </a:lnTo>
                  <a:lnTo>
                    <a:pt x="170" y="14"/>
                  </a:lnTo>
                  <a:lnTo>
                    <a:pt x="148" y="21"/>
                  </a:lnTo>
                  <a:lnTo>
                    <a:pt x="125" y="29"/>
                  </a:lnTo>
                  <a:lnTo>
                    <a:pt x="105" y="37"/>
                  </a:lnTo>
                  <a:lnTo>
                    <a:pt x="85" y="46"/>
                  </a:lnTo>
                  <a:lnTo>
                    <a:pt x="69" y="57"/>
                  </a:lnTo>
                  <a:lnTo>
                    <a:pt x="53" y="68"/>
                  </a:lnTo>
                  <a:lnTo>
                    <a:pt x="40" y="81"/>
                  </a:lnTo>
                  <a:lnTo>
                    <a:pt x="27" y="94"/>
                  </a:lnTo>
                  <a:lnTo>
                    <a:pt x="17" y="106"/>
                  </a:lnTo>
                  <a:lnTo>
                    <a:pt x="9" y="120"/>
                  </a:lnTo>
                  <a:lnTo>
                    <a:pt x="4" y="133"/>
                  </a:lnTo>
                  <a:lnTo>
                    <a:pt x="1" y="148"/>
                  </a:lnTo>
                  <a:lnTo>
                    <a:pt x="0" y="163"/>
                  </a:lnTo>
                  <a:lnTo>
                    <a:pt x="1" y="177"/>
                  </a:lnTo>
                  <a:lnTo>
                    <a:pt x="4" y="191"/>
                  </a:lnTo>
                  <a:lnTo>
                    <a:pt x="9" y="205"/>
                  </a:lnTo>
                  <a:lnTo>
                    <a:pt x="17" y="219"/>
                  </a:lnTo>
                  <a:lnTo>
                    <a:pt x="27" y="231"/>
                  </a:lnTo>
                  <a:lnTo>
                    <a:pt x="40" y="244"/>
                  </a:lnTo>
                  <a:lnTo>
                    <a:pt x="53" y="257"/>
                  </a:lnTo>
                  <a:lnTo>
                    <a:pt x="69" y="268"/>
                  </a:lnTo>
                  <a:lnTo>
                    <a:pt x="85" y="278"/>
                  </a:lnTo>
                  <a:lnTo>
                    <a:pt x="105" y="288"/>
                  </a:lnTo>
                  <a:lnTo>
                    <a:pt x="125" y="296"/>
                  </a:lnTo>
                  <a:lnTo>
                    <a:pt x="148" y="304"/>
                  </a:lnTo>
                  <a:lnTo>
                    <a:pt x="170" y="310"/>
                  </a:lnTo>
                  <a:lnTo>
                    <a:pt x="195" y="316"/>
                  </a:lnTo>
                  <a:lnTo>
                    <a:pt x="218" y="320"/>
                  </a:lnTo>
                  <a:lnTo>
                    <a:pt x="243" y="324"/>
                  </a:lnTo>
                  <a:lnTo>
                    <a:pt x="269" y="326"/>
                  </a:lnTo>
                  <a:lnTo>
                    <a:pt x="294" y="326"/>
                  </a:lnTo>
                  <a:lnTo>
                    <a:pt x="321" y="326"/>
                  </a:lnTo>
                  <a:lnTo>
                    <a:pt x="347" y="324"/>
                  </a:lnTo>
                  <a:lnTo>
                    <a:pt x="372" y="320"/>
                  </a:lnTo>
                  <a:lnTo>
                    <a:pt x="395" y="316"/>
                  </a:lnTo>
                  <a:lnTo>
                    <a:pt x="420" y="310"/>
                  </a:lnTo>
                  <a:lnTo>
                    <a:pt x="442" y="304"/>
                  </a:lnTo>
                  <a:lnTo>
                    <a:pt x="465" y="296"/>
                  </a:lnTo>
                  <a:lnTo>
                    <a:pt x="485" y="288"/>
                  </a:lnTo>
                  <a:lnTo>
                    <a:pt x="505" y="278"/>
                  </a:lnTo>
                  <a:lnTo>
                    <a:pt x="521" y="268"/>
                  </a:lnTo>
                  <a:lnTo>
                    <a:pt x="538" y="257"/>
                  </a:lnTo>
                  <a:lnTo>
                    <a:pt x="550" y="244"/>
                  </a:lnTo>
                  <a:lnTo>
                    <a:pt x="563" y="231"/>
                  </a:lnTo>
                  <a:lnTo>
                    <a:pt x="573" y="219"/>
                  </a:lnTo>
                  <a:lnTo>
                    <a:pt x="581" y="205"/>
                  </a:lnTo>
                  <a:lnTo>
                    <a:pt x="586" y="191"/>
                  </a:lnTo>
                  <a:lnTo>
                    <a:pt x="589" y="177"/>
                  </a:lnTo>
                  <a:lnTo>
                    <a:pt x="591" y="163"/>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431" name="Rectangle 81"/>
            <p:cNvSpPr>
              <a:spLocks noChangeArrowheads="1"/>
            </p:cNvSpPr>
            <p:nvPr/>
          </p:nvSpPr>
          <p:spPr bwMode="auto">
            <a:xfrm>
              <a:off x="4696" y="507"/>
              <a:ext cx="5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dname</a:t>
              </a:r>
            </a:p>
          </p:txBody>
        </p:sp>
      </p:grpSp>
      <p:sp>
        <p:nvSpPr>
          <p:cNvPr id="15368" name="Rectangle 82"/>
          <p:cNvSpPr>
            <a:spLocks noChangeArrowheads="1"/>
          </p:cNvSpPr>
          <p:nvPr/>
        </p:nvSpPr>
        <p:spPr bwMode="auto">
          <a:xfrm>
            <a:off x="8221663" y="1733550"/>
            <a:ext cx="86562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budget</a:t>
            </a:r>
          </a:p>
        </p:txBody>
      </p:sp>
      <p:sp>
        <p:nvSpPr>
          <p:cNvPr id="15369" name="Rectangle 83"/>
          <p:cNvSpPr>
            <a:spLocks noChangeArrowheads="1"/>
          </p:cNvSpPr>
          <p:nvPr/>
        </p:nvSpPr>
        <p:spPr bwMode="auto">
          <a:xfrm>
            <a:off x="6945313" y="1733550"/>
            <a:ext cx="49052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u="sng" dirty="0" err="1">
                <a:latin typeface="Arial" panose="020B0604020202020204" pitchFamily="34" charset="0"/>
              </a:rPr>
              <a:t>did</a:t>
            </a:r>
            <a:endParaRPr lang="es-ES_tradnl" altLang="en-US" sz="1600" b="1" u="sng" dirty="0">
              <a:latin typeface="Arial" panose="020B0604020202020204" pitchFamily="34" charset="0"/>
            </a:endParaRPr>
          </a:p>
        </p:txBody>
      </p:sp>
      <p:grpSp>
        <p:nvGrpSpPr>
          <p:cNvPr id="15370" name="Group 84"/>
          <p:cNvGrpSpPr>
            <a:grpSpLocks/>
          </p:cNvGrpSpPr>
          <p:nvPr/>
        </p:nvGrpSpPr>
        <p:grpSpPr bwMode="auto">
          <a:xfrm>
            <a:off x="6772271" y="865188"/>
            <a:ext cx="720726" cy="525462"/>
            <a:chOff x="3622" y="276"/>
            <a:chExt cx="454" cy="327"/>
          </a:xfrm>
        </p:grpSpPr>
        <p:sp>
          <p:nvSpPr>
            <p:cNvPr id="15428" name="Freeform 85"/>
            <p:cNvSpPr>
              <a:spLocks/>
            </p:cNvSpPr>
            <p:nvPr/>
          </p:nvSpPr>
          <p:spPr bwMode="auto">
            <a:xfrm>
              <a:off x="3622" y="276"/>
              <a:ext cx="454" cy="327"/>
            </a:xfrm>
            <a:custGeom>
              <a:avLst/>
              <a:gdLst>
                <a:gd name="T0" fmla="*/ 1 w 454"/>
                <a:gd name="T1" fmla="*/ 177 h 327"/>
                <a:gd name="T2" fmla="*/ 8 w 454"/>
                <a:gd name="T3" fmla="*/ 205 h 327"/>
                <a:gd name="T4" fmla="*/ 21 w 454"/>
                <a:gd name="T5" fmla="*/ 231 h 327"/>
                <a:gd name="T6" fmla="*/ 41 w 454"/>
                <a:gd name="T7" fmla="*/ 257 h 327"/>
                <a:gd name="T8" fmla="*/ 66 w 454"/>
                <a:gd name="T9" fmla="*/ 278 h 327"/>
                <a:gd name="T10" fmla="*/ 96 w 454"/>
                <a:gd name="T11" fmla="*/ 296 h 327"/>
                <a:gd name="T12" fmla="*/ 131 w 454"/>
                <a:gd name="T13" fmla="*/ 311 h 327"/>
                <a:gd name="T14" fmla="*/ 167 w 454"/>
                <a:gd name="T15" fmla="*/ 320 h 327"/>
                <a:gd name="T16" fmla="*/ 206 w 454"/>
                <a:gd name="T17" fmla="*/ 326 h 327"/>
                <a:gd name="T18" fmla="*/ 246 w 454"/>
                <a:gd name="T19" fmla="*/ 326 h 327"/>
                <a:gd name="T20" fmla="*/ 285 w 454"/>
                <a:gd name="T21" fmla="*/ 320 h 327"/>
                <a:gd name="T22" fmla="*/ 322 w 454"/>
                <a:gd name="T23" fmla="*/ 310 h 327"/>
                <a:gd name="T24" fmla="*/ 356 w 454"/>
                <a:gd name="T25" fmla="*/ 296 h 327"/>
                <a:gd name="T26" fmla="*/ 387 w 454"/>
                <a:gd name="T27" fmla="*/ 278 h 327"/>
                <a:gd name="T28" fmla="*/ 412 w 454"/>
                <a:gd name="T29" fmla="*/ 257 h 327"/>
                <a:gd name="T30" fmla="*/ 431 w 454"/>
                <a:gd name="T31" fmla="*/ 231 h 327"/>
                <a:gd name="T32" fmla="*/ 445 w 454"/>
                <a:gd name="T33" fmla="*/ 205 h 327"/>
                <a:gd name="T34" fmla="*/ 453 w 454"/>
                <a:gd name="T35" fmla="*/ 177 h 327"/>
                <a:gd name="T36" fmla="*/ 453 w 454"/>
                <a:gd name="T37" fmla="*/ 148 h 327"/>
                <a:gd name="T38" fmla="*/ 445 w 454"/>
                <a:gd name="T39" fmla="*/ 120 h 327"/>
                <a:gd name="T40" fmla="*/ 431 w 454"/>
                <a:gd name="T41" fmla="*/ 94 h 327"/>
                <a:gd name="T42" fmla="*/ 412 w 454"/>
                <a:gd name="T43" fmla="*/ 68 h 327"/>
                <a:gd name="T44" fmla="*/ 387 w 454"/>
                <a:gd name="T45" fmla="*/ 47 h 327"/>
                <a:gd name="T46" fmla="*/ 356 w 454"/>
                <a:gd name="T47" fmla="*/ 29 h 327"/>
                <a:gd name="T48" fmla="*/ 322 w 454"/>
                <a:gd name="T49" fmla="*/ 15 h 327"/>
                <a:gd name="T50" fmla="*/ 285 w 454"/>
                <a:gd name="T51" fmla="*/ 5 h 327"/>
                <a:gd name="T52" fmla="*/ 246 w 454"/>
                <a:gd name="T53" fmla="*/ 0 h 327"/>
                <a:gd name="T54" fmla="*/ 206 w 454"/>
                <a:gd name="T55" fmla="*/ 0 h 327"/>
                <a:gd name="T56" fmla="*/ 167 w 454"/>
                <a:gd name="T57" fmla="*/ 5 h 327"/>
                <a:gd name="T58" fmla="*/ 131 w 454"/>
                <a:gd name="T59" fmla="*/ 15 h 327"/>
                <a:gd name="T60" fmla="*/ 96 w 454"/>
                <a:gd name="T61" fmla="*/ 29 h 327"/>
                <a:gd name="T62" fmla="*/ 66 w 454"/>
                <a:gd name="T63" fmla="*/ 47 h 327"/>
                <a:gd name="T64" fmla="*/ 41 w 454"/>
                <a:gd name="T65" fmla="*/ 68 h 327"/>
                <a:gd name="T66" fmla="*/ 21 w 454"/>
                <a:gd name="T67" fmla="*/ 94 h 327"/>
                <a:gd name="T68" fmla="*/ 8 w 454"/>
                <a:gd name="T69" fmla="*/ 120 h 327"/>
                <a:gd name="T70" fmla="*/ 1 w 454"/>
                <a:gd name="T71" fmla="*/ 148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54" h="327">
                  <a:moveTo>
                    <a:pt x="0" y="163"/>
                  </a:moveTo>
                  <a:lnTo>
                    <a:pt x="1" y="177"/>
                  </a:lnTo>
                  <a:lnTo>
                    <a:pt x="3" y="192"/>
                  </a:lnTo>
                  <a:lnTo>
                    <a:pt x="8" y="205"/>
                  </a:lnTo>
                  <a:lnTo>
                    <a:pt x="13" y="219"/>
                  </a:lnTo>
                  <a:lnTo>
                    <a:pt x="21" y="231"/>
                  </a:lnTo>
                  <a:lnTo>
                    <a:pt x="30" y="244"/>
                  </a:lnTo>
                  <a:lnTo>
                    <a:pt x="41" y="257"/>
                  </a:lnTo>
                  <a:lnTo>
                    <a:pt x="53" y="268"/>
                  </a:lnTo>
                  <a:lnTo>
                    <a:pt x="66" y="278"/>
                  </a:lnTo>
                  <a:lnTo>
                    <a:pt x="80" y="288"/>
                  </a:lnTo>
                  <a:lnTo>
                    <a:pt x="96" y="296"/>
                  </a:lnTo>
                  <a:lnTo>
                    <a:pt x="113" y="304"/>
                  </a:lnTo>
                  <a:lnTo>
                    <a:pt x="131" y="311"/>
                  </a:lnTo>
                  <a:lnTo>
                    <a:pt x="149" y="316"/>
                  </a:lnTo>
                  <a:lnTo>
                    <a:pt x="167" y="320"/>
                  </a:lnTo>
                  <a:lnTo>
                    <a:pt x="186" y="324"/>
                  </a:lnTo>
                  <a:lnTo>
                    <a:pt x="206" y="326"/>
                  </a:lnTo>
                  <a:lnTo>
                    <a:pt x="227" y="326"/>
                  </a:lnTo>
                  <a:lnTo>
                    <a:pt x="246" y="326"/>
                  </a:lnTo>
                  <a:lnTo>
                    <a:pt x="266" y="323"/>
                  </a:lnTo>
                  <a:lnTo>
                    <a:pt x="285" y="320"/>
                  </a:lnTo>
                  <a:lnTo>
                    <a:pt x="304" y="316"/>
                  </a:lnTo>
                  <a:lnTo>
                    <a:pt x="322" y="310"/>
                  </a:lnTo>
                  <a:lnTo>
                    <a:pt x="340" y="304"/>
                  </a:lnTo>
                  <a:lnTo>
                    <a:pt x="356" y="296"/>
                  </a:lnTo>
                  <a:lnTo>
                    <a:pt x="372" y="288"/>
                  </a:lnTo>
                  <a:lnTo>
                    <a:pt x="387" y="278"/>
                  </a:lnTo>
                  <a:lnTo>
                    <a:pt x="399" y="266"/>
                  </a:lnTo>
                  <a:lnTo>
                    <a:pt x="412" y="257"/>
                  </a:lnTo>
                  <a:lnTo>
                    <a:pt x="423" y="244"/>
                  </a:lnTo>
                  <a:lnTo>
                    <a:pt x="431" y="231"/>
                  </a:lnTo>
                  <a:lnTo>
                    <a:pt x="439" y="219"/>
                  </a:lnTo>
                  <a:lnTo>
                    <a:pt x="445" y="205"/>
                  </a:lnTo>
                  <a:lnTo>
                    <a:pt x="449" y="191"/>
                  </a:lnTo>
                  <a:lnTo>
                    <a:pt x="453" y="177"/>
                  </a:lnTo>
                  <a:lnTo>
                    <a:pt x="453" y="163"/>
                  </a:lnTo>
                  <a:lnTo>
                    <a:pt x="453" y="148"/>
                  </a:lnTo>
                  <a:lnTo>
                    <a:pt x="449" y="134"/>
                  </a:lnTo>
                  <a:lnTo>
                    <a:pt x="445" y="120"/>
                  </a:lnTo>
                  <a:lnTo>
                    <a:pt x="439" y="106"/>
                  </a:lnTo>
                  <a:lnTo>
                    <a:pt x="431" y="94"/>
                  </a:lnTo>
                  <a:lnTo>
                    <a:pt x="422" y="81"/>
                  </a:lnTo>
                  <a:lnTo>
                    <a:pt x="412" y="68"/>
                  </a:lnTo>
                  <a:lnTo>
                    <a:pt x="399" y="57"/>
                  </a:lnTo>
                  <a:lnTo>
                    <a:pt x="387" y="47"/>
                  </a:lnTo>
                  <a:lnTo>
                    <a:pt x="372" y="37"/>
                  </a:lnTo>
                  <a:lnTo>
                    <a:pt x="356" y="29"/>
                  </a:lnTo>
                  <a:lnTo>
                    <a:pt x="339" y="21"/>
                  </a:lnTo>
                  <a:lnTo>
                    <a:pt x="322" y="15"/>
                  </a:lnTo>
                  <a:lnTo>
                    <a:pt x="304" y="9"/>
                  </a:lnTo>
                  <a:lnTo>
                    <a:pt x="285" y="5"/>
                  </a:lnTo>
                  <a:lnTo>
                    <a:pt x="266" y="1"/>
                  </a:lnTo>
                  <a:lnTo>
                    <a:pt x="246" y="0"/>
                  </a:lnTo>
                  <a:lnTo>
                    <a:pt x="225" y="0"/>
                  </a:lnTo>
                  <a:lnTo>
                    <a:pt x="206" y="0"/>
                  </a:lnTo>
                  <a:lnTo>
                    <a:pt x="186" y="1"/>
                  </a:lnTo>
                  <a:lnTo>
                    <a:pt x="167" y="5"/>
                  </a:lnTo>
                  <a:lnTo>
                    <a:pt x="149" y="9"/>
                  </a:lnTo>
                  <a:lnTo>
                    <a:pt x="131" y="15"/>
                  </a:lnTo>
                  <a:lnTo>
                    <a:pt x="113" y="21"/>
                  </a:lnTo>
                  <a:lnTo>
                    <a:pt x="96" y="29"/>
                  </a:lnTo>
                  <a:lnTo>
                    <a:pt x="80" y="37"/>
                  </a:lnTo>
                  <a:lnTo>
                    <a:pt x="66" y="47"/>
                  </a:lnTo>
                  <a:lnTo>
                    <a:pt x="53" y="57"/>
                  </a:lnTo>
                  <a:lnTo>
                    <a:pt x="41" y="68"/>
                  </a:lnTo>
                  <a:lnTo>
                    <a:pt x="30" y="81"/>
                  </a:lnTo>
                  <a:lnTo>
                    <a:pt x="21" y="94"/>
                  </a:lnTo>
                  <a:lnTo>
                    <a:pt x="13" y="106"/>
                  </a:lnTo>
                  <a:lnTo>
                    <a:pt x="8" y="120"/>
                  </a:lnTo>
                  <a:lnTo>
                    <a:pt x="3" y="134"/>
                  </a:lnTo>
                  <a:lnTo>
                    <a:pt x="1" y="148"/>
                  </a:lnTo>
                  <a:lnTo>
                    <a:pt x="0" y="163"/>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429" name="Rectangle 86"/>
            <p:cNvSpPr>
              <a:spLocks noChangeArrowheads="1"/>
            </p:cNvSpPr>
            <p:nvPr/>
          </p:nvSpPr>
          <p:spPr bwMode="auto">
            <a:xfrm>
              <a:off x="3628" y="327"/>
              <a:ext cx="44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dirty="0" err="1">
                  <a:latin typeface="Arial" panose="020B0604020202020204" pitchFamily="34" charset="0"/>
                </a:rPr>
                <a:t>name</a:t>
              </a:r>
              <a:endParaRPr lang="es-ES_tradnl" altLang="en-US" sz="1600" b="1" dirty="0">
                <a:latin typeface="Arial" panose="020B0604020202020204" pitchFamily="34" charset="0"/>
              </a:endParaRPr>
            </a:p>
          </p:txBody>
        </p:sp>
      </p:grpSp>
      <p:grpSp>
        <p:nvGrpSpPr>
          <p:cNvPr id="15371" name="Group 87"/>
          <p:cNvGrpSpPr>
            <a:grpSpLocks/>
          </p:cNvGrpSpPr>
          <p:nvPr/>
        </p:nvGrpSpPr>
        <p:grpSpPr bwMode="auto">
          <a:xfrm>
            <a:off x="3284538" y="1258888"/>
            <a:ext cx="2039937" cy="900112"/>
            <a:chOff x="2069" y="458"/>
            <a:chExt cx="1285" cy="567"/>
          </a:xfrm>
        </p:grpSpPr>
        <p:sp>
          <p:nvSpPr>
            <p:cNvPr id="15422" name="Freeform 88"/>
            <p:cNvSpPr>
              <a:spLocks/>
            </p:cNvSpPr>
            <p:nvPr/>
          </p:nvSpPr>
          <p:spPr bwMode="auto">
            <a:xfrm>
              <a:off x="2476" y="458"/>
              <a:ext cx="454" cy="327"/>
            </a:xfrm>
            <a:custGeom>
              <a:avLst/>
              <a:gdLst>
                <a:gd name="T0" fmla="*/ 453 w 454"/>
                <a:gd name="T1" fmla="*/ 148 h 327"/>
                <a:gd name="T2" fmla="*/ 445 w 454"/>
                <a:gd name="T3" fmla="*/ 120 h 327"/>
                <a:gd name="T4" fmla="*/ 431 w 454"/>
                <a:gd name="T5" fmla="*/ 94 h 327"/>
                <a:gd name="T6" fmla="*/ 412 w 454"/>
                <a:gd name="T7" fmla="*/ 68 h 327"/>
                <a:gd name="T8" fmla="*/ 387 w 454"/>
                <a:gd name="T9" fmla="*/ 47 h 327"/>
                <a:gd name="T10" fmla="*/ 356 w 454"/>
                <a:gd name="T11" fmla="*/ 29 h 327"/>
                <a:gd name="T12" fmla="*/ 322 w 454"/>
                <a:gd name="T13" fmla="*/ 15 h 327"/>
                <a:gd name="T14" fmla="*/ 285 w 454"/>
                <a:gd name="T15" fmla="*/ 5 h 327"/>
                <a:gd name="T16" fmla="*/ 246 w 454"/>
                <a:gd name="T17" fmla="*/ 0 h 327"/>
                <a:gd name="T18" fmla="*/ 206 w 454"/>
                <a:gd name="T19" fmla="*/ 0 h 327"/>
                <a:gd name="T20" fmla="*/ 167 w 454"/>
                <a:gd name="T21" fmla="*/ 5 h 327"/>
                <a:gd name="T22" fmla="*/ 131 w 454"/>
                <a:gd name="T23" fmla="*/ 15 h 327"/>
                <a:gd name="T24" fmla="*/ 96 w 454"/>
                <a:gd name="T25" fmla="*/ 29 h 327"/>
                <a:gd name="T26" fmla="*/ 66 w 454"/>
                <a:gd name="T27" fmla="*/ 47 h 327"/>
                <a:gd name="T28" fmla="*/ 41 w 454"/>
                <a:gd name="T29" fmla="*/ 68 h 327"/>
                <a:gd name="T30" fmla="*/ 21 w 454"/>
                <a:gd name="T31" fmla="*/ 94 h 327"/>
                <a:gd name="T32" fmla="*/ 8 w 454"/>
                <a:gd name="T33" fmla="*/ 120 h 327"/>
                <a:gd name="T34" fmla="*/ 1 w 454"/>
                <a:gd name="T35" fmla="*/ 148 h 327"/>
                <a:gd name="T36" fmla="*/ 1 w 454"/>
                <a:gd name="T37" fmla="*/ 177 h 327"/>
                <a:gd name="T38" fmla="*/ 8 w 454"/>
                <a:gd name="T39" fmla="*/ 205 h 327"/>
                <a:gd name="T40" fmla="*/ 21 w 454"/>
                <a:gd name="T41" fmla="*/ 231 h 327"/>
                <a:gd name="T42" fmla="*/ 41 w 454"/>
                <a:gd name="T43" fmla="*/ 257 h 327"/>
                <a:gd name="T44" fmla="*/ 66 w 454"/>
                <a:gd name="T45" fmla="*/ 278 h 327"/>
                <a:gd name="T46" fmla="*/ 96 w 454"/>
                <a:gd name="T47" fmla="*/ 296 h 327"/>
                <a:gd name="T48" fmla="*/ 131 w 454"/>
                <a:gd name="T49" fmla="*/ 310 h 327"/>
                <a:gd name="T50" fmla="*/ 167 w 454"/>
                <a:gd name="T51" fmla="*/ 320 h 327"/>
                <a:gd name="T52" fmla="*/ 206 w 454"/>
                <a:gd name="T53" fmla="*/ 326 h 327"/>
                <a:gd name="T54" fmla="*/ 246 w 454"/>
                <a:gd name="T55" fmla="*/ 326 h 327"/>
                <a:gd name="T56" fmla="*/ 285 w 454"/>
                <a:gd name="T57" fmla="*/ 320 h 327"/>
                <a:gd name="T58" fmla="*/ 322 w 454"/>
                <a:gd name="T59" fmla="*/ 310 h 327"/>
                <a:gd name="T60" fmla="*/ 356 w 454"/>
                <a:gd name="T61" fmla="*/ 296 h 327"/>
                <a:gd name="T62" fmla="*/ 387 w 454"/>
                <a:gd name="T63" fmla="*/ 278 h 327"/>
                <a:gd name="T64" fmla="*/ 412 w 454"/>
                <a:gd name="T65" fmla="*/ 257 h 327"/>
                <a:gd name="T66" fmla="*/ 431 w 454"/>
                <a:gd name="T67" fmla="*/ 231 h 327"/>
                <a:gd name="T68" fmla="*/ 445 w 454"/>
                <a:gd name="T69" fmla="*/ 205 h 327"/>
                <a:gd name="T70" fmla="*/ 453 w 454"/>
                <a:gd name="T71" fmla="*/ 177 h 3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54" h="327">
                  <a:moveTo>
                    <a:pt x="453" y="163"/>
                  </a:moveTo>
                  <a:lnTo>
                    <a:pt x="453" y="148"/>
                  </a:lnTo>
                  <a:lnTo>
                    <a:pt x="449" y="134"/>
                  </a:lnTo>
                  <a:lnTo>
                    <a:pt x="445" y="120"/>
                  </a:lnTo>
                  <a:lnTo>
                    <a:pt x="439" y="106"/>
                  </a:lnTo>
                  <a:lnTo>
                    <a:pt x="431" y="94"/>
                  </a:lnTo>
                  <a:lnTo>
                    <a:pt x="422" y="81"/>
                  </a:lnTo>
                  <a:lnTo>
                    <a:pt x="412" y="68"/>
                  </a:lnTo>
                  <a:lnTo>
                    <a:pt x="399" y="57"/>
                  </a:lnTo>
                  <a:lnTo>
                    <a:pt x="387" y="47"/>
                  </a:lnTo>
                  <a:lnTo>
                    <a:pt x="372" y="37"/>
                  </a:lnTo>
                  <a:lnTo>
                    <a:pt x="356" y="29"/>
                  </a:lnTo>
                  <a:lnTo>
                    <a:pt x="339" y="21"/>
                  </a:lnTo>
                  <a:lnTo>
                    <a:pt x="322" y="15"/>
                  </a:lnTo>
                  <a:lnTo>
                    <a:pt x="304" y="9"/>
                  </a:lnTo>
                  <a:lnTo>
                    <a:pt x="285" y="5"/>
                  </a:lnTo>
                  <a:lnTo>
                    <a:pt x="266" y="2"/>
                  </a:lnTo>
                  <a:lnTo>
                    <a:pt x="246" y="0"/>
                  </a:lnTo>
                  <a:lnTo>
                    <a:pt x="227" y="0"/>
                  </a:lnTo>
                  <a:lnTo>
                    <a:pt x="206" y="0"/>
                  </a:lnTo>
                  <a:lnTo>
                    <a:pt x="187" y="2"/>
                  </a:lnTo>
                  <a:lnTo>
                    <a:pt x="167" y="5"/>
                  </a:lnTo>
                  <a:lnTo>
                    <a:pt x="149" y="9"/>
                  </a:lnTo>
                  <a:lnTo>
                    <a:pt x="131" y="15"/>
                  </a:lnTo>
                  <a:lnTo>
                    <a:pt x="113" y="21"/>
                  </a:lnTo>
                  <a:lnTo>
                    <a:pt x="96" y="29"/>
                  </a:lnTo>
                  <a:lnTo>
                    <a:pt x="81" y="37"/>
                  </a:lnTo>
                  <a:lnTo>
                    <a:pt x="66" y="47"/>
                  </a:lnTo>
                  <a:lnTo>
                    <a:pt x="53" y="57"/>
                  </a:lnTo>
                  <a:lnTo>
                    <a:pt x="41" y="68"/>
                  </a:lnTo>
                  <a:lnTo>
                    <a:pt x="30" y="81"/>
                  </a:lnTo>
                  <a:lnTo>
                    <a:pt x="21" y="94"/>
                  </a:lnTo>
                  <a:lnTo>
                    <a:pt x="13" y="106"/>
                  </a:lnTo>
                  <a:lnTo>
                    <a:pt x="8" y="120"/>
                  </a:lnTo>
                  <a:lnTo>
                    <a:pt x="3" y="134"/>
                  </a:lnTo>
                  <a:lnTo>
                    <a:pt x="1" y="148"/>
                  </a:lnTo>
                  <a:lnTo>
                    <a:pt x="0" y="163"/>
                  </a:lnTo>
                  <a:lnTo>
                    <a:pt x="1" y="177"/>
                  </a:lnTo>
                  <a:lnTo>
                    <a:pt x="3" y="191"/>
                  </a:lnTo>
                  <a:lnTo>
                    <a:pt x="8" y="205"/>
                  </a:lnTo>
                  <a:lnTo>
                    <a:pt x="13" y="219"/>
                  </a:lnTo>
                  <a:lnTo>
                    <a:pt x="21" y="231"/>
                  </a:lnTo>
                  <a:lnTo>
                    <a:pt x="30" y="244"/>
                  </a:lnTo>
                  <a:lnTo>
                    <a:pt x="41" y="257"/>
                  </a:lnTo>
                  <a:lnTo>
                    <a:pt x="53" y="268"/>
                  </a:lnTo>
                  <a:lnTo>
                    <a:pt x="66" y="278"/>
                  </a:lnTo>
                  <a:lnTo>
                    <a:pt x="81" y="288"/>
                  </a:lnTo>
                  <a:lnTo>
                    <a:pt x="96" y="296"/>
                  </a:lnTo>
                  <a:lnTo>
                    <a:pt x="113" y="304"/>
                  </a:lnTo>
                  <a:lnTo>
                    <a:pt x="131" y="310"/>
                  </a:lnTo>
                  <a:lnTo>
                    <a:pt x="149" y="316"/>
                  </a:lnTo>
                  <a:lnTo>
                    <a:pt x="167" y="320"/>
                  </a:lnTo>
                  <a:lnTo>
                    <a:pt x="187" y="324"/>
                  </a:lnTo>
                  <a:lnTo>
                    <a:pt x="206" y="326"/>
                  </a:lnTo>
                  <a:lnTo>
                    <a:pt x="227" y="326"/>
                  </a:lnTo>
                  <a:lnTo>
                    <a:pt x="246" y="326"/>
                  </a:lnTo>
                  <a:lnTo>
                    <a:pt x="266" y="324"/>
                  </a:lnTo>
                  <a:lnTo>
                    <a:pt x="285" y="320"/>
                  </a:lnTo>
                  <a:lnTo>
                    <a:pt x="304" y="316"/>
                  </a:lnTo>
                  <a:lnTo>
                    <a:pt x="322" y="310"/>
                  </a:lnTo>
                  <a:lnTo>
                    <a:pt x="339" y="304"/>
                  </a:lnTo>
                  <a:lnTo>
                    <a:pt x="356" y="296"/>
                  </a:lnTo>
                  <a:lnTo>
                    <a:pt x="372" y="288"/>
                  </a:lnTo>
                  <a:lnTo>
                    <a:pt x="387" y="278"/>
                  </a:lnTo>
                  <a:lnTo>
                    <a:pt x="399" y="268"/>
                  </a:lnTo>
                  <a:lnTo>
                    <a:pt x="412" y="257"/>
                  </a:lnTo>
                  <a:lnTo>
                    <a:pt x="422" y="244"/>
                  </a:lnTo>
                  <a:lnTo>
                    <a:pt x="431" y="231"/>
                  </a:lnTo>
                  <a:lnTo>
                    <a:pt x="439" y="219"/>
                  </a:lnTo>
                  <a:lnTo>
                    <a:pt x="445" y="205"/>
                  </a:lnTo>
                  <a:lnTo>
                    <a:pt x="449" y="191"/>
                  </a:lnTo>
                  <a:lnTo>
                    <a:pt x="453" y="177"/>
                  </a:lnTo>
                  <a:lnTo>
                    <a:pt x="453" y="163"/>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423" name="Freeform 89"/>
            <p:cNvSpPr>
              <a:spLocks/>
            </p:cNvSpPr>
            <p:nvPr/>
          </p:nvSpPr>
          <p:spPr bwMode="auto">
            <a:xfrm>
              <a:off x="2069" y="699"/>
              <a:ext cx="454" cy="326"/>
            </a:xfrm>
            <a:custGeom>
              <a:avLst/>
              <a:gdLst>
                <a:gd name="T0" fmla="*/ 451 w 454"/>
                <a:gd name="T1" fmla="*/ 148 h 326"/>
                <a:gd name="T2" fmla="*/ 445 w 454"/>
                <a:gd name="T3" fmla="*/ 120 h 326"/>
                <a:gd name="T4" fmla="*/ 431 w 454"/>
                <a:gd name="T5" fmla="*/ 93 h 326"/>
                <a:gd name="T6" fmla="*/ 411 w 454"/>
                <a:gd name="T7" fmla="*/ 68 h 326"/>
                <a:gd name="T8" fmla="*/ 386 w 454"/>
                <a:gd name="T9" fmla="*/ 47 h 326"/>
                <a:gd name="T10" fmla="*/ 356 w 454"/>
                <a:gd name="T11" fmla="*/ 29 h 326"/>
                <a:gd name="T12" fmla="*/ 322 w 454"/>
                <a:gd name="T13" fmla="*/ 15 h 326"/>
                <a:gd name="T14" fmla="*/ 285 w 454"/>
                <a:gd name="T15" fmla="*/ 5 h 326"/>
                <a:gd name="T16" fmla="*/ 246 w 454"/>
                <a:gd name="T17" fmla="*/ 0 h 326"/>
                <a:gd name="T18" fmla="*/ 206 w 454"/>
                <a:gd name="T19" fmla="*/ 0 h 326"/>
                <a:gd name="T20" fmla="*/ 167 w 454"/>
                <a:gd name="T21" fmla="*/ 5 h 326"/>
                <a:gd name="T22" fmla="*/ 130 w 454"/>
                <a:gd name="T23" fmla="*/ 15 h 326"/>
                <a:gd name="T24" fmla="*/ 96 w 454"/>
                <a:gd name="T25" fmla="*/ 29 h 326"/>
                <a:gd name="T26" fmla="*/ 66 w 454"/>
                <a:gd name="T27" fmla="*/ 47 h 326"/>
                <a:gd name="T28" fmla="*/ 41 w 454"/>
                <a:gd name="T29" fmla="*/ 68 h 326"/>
                <a:gd name="T30" fmla="*/ 21 w 454"/>
                <a:gd name="T31" fmla="*/ 93 h 326"/>
                <a:gd name="T32" fmla="*/ 7 w 454"/>
                <a:gd name="T33" fmla="*/ 120 h 326"/>
                <a:gd name="T34" fmla="*/ 1 w 454"/>
                <a:gd name="T35" fmla="*/ 148 h 326"/>
                <a:gd name="T36" fmla="*/ 1 w 454"/>
                <a:gd name="T37" fmla="*/ 176 h 326"/>
                <a:gd name="T38" fmla="*/ 7 w 454"/>
                <a:gd name="T39" fmla="*/ 204 h 326"/>
                <a:gd name="T40" fmla="*/ 21 w 454"/>
                <a:gd name="T41" fmla="*/ 231 h 326"/>
                <a:gd name="T42" fmla="*/ 41 w 454"/>
                <a:gd name="T43" fmla="*/ 256 h 326"/>
                <a:gd name="T44" fmla="*/ 66 w 454"/>
                <a:gd name="T45" fmla="*/ 277 h 326"/>
                <a:gd name="T46" fmla="*/ 96 w 454"/>
                <a:gd name="T47" fmla="*/ 295 h 326"/>
                <a:gd name="T48" fmla="*/ 130 w 454"/>
                <a:gd name="T49" fmla="*/ 309 h 326"/>
                <a:gd name="T50" fmla="*/ 167 w 454"/>
                <a:gd name="T51" fmla="*/ 319 h 326"/>
                <a:gd name="T52" fmla="*/ 206 w 454"/>
                <a:gd name="T53" fmla="*/ 325 h 326"/>
                <a:gd name="T54" fmla="*/ 246 w 454"/>
                <a:gd name="T55" fmla="*/ 325 h 326"/>
                <a:gd name="T56" fmla="*/ 285 w 454"/>
                <a:gd name="T57" fmla="*/ 319 h 326"/>
                <a:gd name="T58" fmla="*/ 322 w 454"/>
                <a:gd name="T59" fmla="*/ 309 h 326"/>
                <a:gd name="T60" fmla="*/ 356 w 454"/>
                <a:gd name="T61" fmla="*/ 295 h 326"/>
                <a:gd name="T62" fmla="*/ 386 w 454"/>
                <a:gd name="T63" fmla="*/ 277 h 326"/>
                <a:gd name="T64" fmla="*/ 411 w 454"/>
                <a:gd name="T65" fmla="*/ 256 h 326"/>
                <a:gd name="T66" fmla="*/ 431 w 454"/>
                <a:gd name="T67" fmla="*/ 231 h 326"/>
                <a:gd name="T68" fmla="*/ 445 w 454"/>
                <a:gd name="T69" fmla="*/ 204 h 326"/>
                <a:gd name="T70" fmla="*/ 451 w 454"/>
                <a:gd name="T71" fmla="*/ 176 h 32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54" h="326">
                  <a:moveTo>
                    <a:pt x="453" y="162"/>
                  </a:moveTo>
                  <a:lnTo>
                    <a:pt x="451" y="148"/>
                  </a:lnTo>
                  <a:lnTo>
                    <a:pt x="449" y="134"/>
                  </a:lnTo>
                  <a:lnTo>
                    <a:pt x="445" y="120"/>
                  </a:lnTo>
                  <a:lnTo>
                    <a:pt x="439" y="106"/>
                  </a:lnTo>
                  <a:lnTo>
                    <a:pt x="431" y="93"/>
                  </a:lnTo>
                  <a:lnTo>
                    <a:pt x="422" y="81"/>
                  </a:lnTo>
                  <a:lnTo>
                    <a:pt x="411" y="68"/>
                  </a:lnTo>
                  <a:lnTo>
                    <a:pt x="399" y="57"/>
                  </a:lnTo>
                  <a:lnTo>
                    <a:pt x="386" y="47"/>
                  </a:lnTo>
                  <a:lnTo>
                    <a:pt x="372" y="37"/>
                  </a:lnTo>
                  <a:lnTo>
                    <a:pt x="356" y="29"/>
                  </a:lnTo>
                  <a:lnTo>
                    <a:pt x="339" y="21"/>
                  </a:lnTo>
                  <a:lnTo>
                    <a:pt x="322" y="15"/>
                  </a:lnTo>
                  <a:lnTo>
                    <a:pt x="304" y="9"/>
                  </a:lnTo>
                  <a:lnTo>
                    <a:pt x="285" y="5"/>
                  </a:lnTo>
                  <a:lnTo>
                    <a:pt x="265" y="1"/>
                  </a:lnTo>
                  <a:lnTo>
                    <a:pt x="246" y="0"/>
                  </a:lnTo>
                  <a:lnTo>
                    <a:pt x="225" y="0"/>
                  </a:lnTo>
                  <a:lnTo>
                    <a:pt x="206" y="0"/>
                  </a:lnTo>
                  <a:lnTo>
                    <a:pt x="186" y="1"/>
                  </a:lnTo>
                  <a:lnTo>
                    <a:pt x="167" y="5"/>
                  </a:lnTo>
                  <a:lnTo>
                    <a:pt x="148" y="9"/>
                  </a:lnTo>
                  <a:lnTo>
                    <a:pt x="130" y="15"/>
                  </a:lnTo>
                  <a:lnTo>
                    <a:pt x="113" y="21"/>
                  </a:lnTo>
                  <a:lnTo>
                    <a:pt x="96" y="29"/>
                  </a:lnTo>
                  <a:lnTo>
                    <a:pt x="80" y="37"/>
                  </a:lnTo>
                  <a:lnTo>
                    <a:pt x="66" y="47"/>
                  </a:lnTo>
                  <a:lnTo>
                    <a:pt x="53" y="57"/>
                  </a:lnTo>
                  <a:lnTo>
                    <a:pt x="41" y="68"/>
                  </a:lnTo>
                  <a:lnTo>
                    <a:pt x="30" y="81"/>
                  </a:lnTo>
                  <a:lnTo>
                    <a:pt x="21" y="93"/>
                  </a:lnTo>
                  <a:lnTo>
                    <a:pt x="13" y="106"/>
                  </a:lnTo>
                  <a:lnTo>
                    <a:pt x="7" y="120"/>
                  </a:lnTo>
                  <a:lnTo>
                    <a:pt x="3" y="134"/>
                  </a:lnTo>
                  <a:lnTo>
                    <a:pt x="1" y="148"/>
                  </a:lnTo>
                  <a:lnTo>
                    <a:pt x="0" y="162"/>
                  </a:lnTo>
                  <a:lnTo>
                    <a:pt x="1" y="176"/>
                  </a:lnTo>
                  <a:lnTo>
                    <a:pt x="3" y="190"/>
                  </a:lnTo>
                  <a:lnTo>
                    <a:pt x="7" y="204"/>
                  </a:lnTo>
                  <a:lnTo>
                    <a:pt x="13" y="218"/>
                  </a:lnTo>
                  <a:lnTo>
                    <a:pt x="21" y="231"/>
                  </a:lnTo>
                  <a:lnTo>
                    <a:pt x="30" y="243"/>
                  </a:lnTo>
                  <a:lnTo>
                    <a:pt x="41" y="256"/>
                  </a:lnTo>
                  <a:lnTo>
                    <a:pt x="53" y="266"/>
                  </a:lnTo>
                  <a:lnTo>
                    <a:pt x="66" y="277"/>
                  </a:lnTo>
                  <a:lnTo>
                    <a:pt x="80" y="287"/>
                  </a:lnTo>
                  <a:lnTo>
                    <a:pt x="96" y="295"/>
                  </a:lnTo>
                  <a:lnTo>
                    <a:pt x="113" y="303"/>
                  </a:lnTo>
                  <a:lnTo>
                    <a:pt x="130" y="309"/>
                  </a:lnTo>
                  <a:lnTo>
                    <a:pt x="148" y="315"/>
                  </a:lnTo>
                  <a:lnTo>
                    <a:pt x="167" y="319"/>
                  </a:lnTo>
                  <a:lnTo>
                    <a:pt x="186" y="322"/>
                  </a:lnTo>
                  <a:lnTo>
                    <a:pt x="206" y="325"/>
                  </a:lnTo>
                  <a:lnTo>
                    <a:pt x="225" y="325"/>
                  </a:lnTo>
                  <a:lnTo>
                    <a:pt x="246" y="325"/>
                  </a:lnTo>
                  <a:lnTo>
                    <a:pt x="265" y="322"/>
                  </a:lnTo>
                  <a:lnTo>
                    <a:pt x="285" y="319"/>
                  </a:lnTo>
                  <a:lnTo>
                    <a:pt x="304" y="315"/>
                  </a:lnTo>
                  <a:lnTo>
                    <a:pt x="322" y="309"/>
                  </a:lnTo>
                  <a:lnTo>
                    <a:pt x="339" y="303"/>
                  </a:lnTo>
                  <a:lnTo>
                    <a:pt x="356" y="295"/>
                  </a:lnTo>
                  <a:lnTo>
                    <a:pt x="372" y="287"/>
                  </a:lnTo>
                  <a:lnTo>
                    <a:pt x="386" y="277"/>
                  </a:lnTo>
                  <a:lnTo>
                    <a:pt x="399" y="266"/>
                  </a:lnTo>
                  <a:lnTo>
                    <a:pt x="411" y="256"/>
                  </a:lnTo>
                  <a:lnTo>
                    <a:pt x="422" y="243"/>
                  </a:lnTo>
                  <a:lnTo>
                    <a:pt x="431" y="231"/>
                  </a:lnTo>
                  <a:lnTo>
                    <a:pt x="439" y="218"/>
                  </a:lnTo>
                  <a:lnTo>
                    <a:pt x="445" y="204"/>
                  </a:lnTo>
                  <a:lnTo>
                    <a:pt x="449" y="190"/>
                  </a:lnTo>
                  <a:lnTo>
                    <a:pt x="451" y="176"/>
                  </a:lnTo>
                  <a:lnTo>
                    <a:pt x="453" y="162"/>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424" name="Freeform 90"/>
            <p:cNvSpPr>
              <a:spLocks/>
            </p:cNvSpPr>
            <p:nvPr/>
          </p:nvSpPr>
          <p:spPr bwMode="auto">
            <a:xfrm>
              <a:off x="2902" y="699"/>
              <a:ext cx="452" cy="326"/>
            </a:xfrm>
            <a:custGeom>
              <a:avLst/>
              <a:gdLst>
                <a:gd name="T0" fmla="*/ 0 w 452"/>
                <a:gd name="T1" fmla="*/ 176 h 326"/>
                <a:gd name="T2" fmla="*/ 7 w 452"/>
                <a:gd name="T3" fmla="*/ 204 h 326"/>
                <a:gd name="T4" fmla="*/ 21 w 452"/>
                <a:gd name="T5" fmla="*/ 231 h 326"/>
                <a:gd name="T6" fmla="*/ 40 w 452"/>
                <a:gd name="T7" fmla="*/ 256 h 326"/>
                <a:gd name="T8" fmla="*/ 65 w 452"/>
                <a:gd name="T9" fmla="*/ 278 h 326"/>
                <a:gd name="T10" fmla="*/ 96 w 452"/>
                <a:gd name="T11" fmla="*/ 295 h 326"/>
                <a:gd name="T12" fmla="*/ 130 w 452"/>
                <a:gd name="T13" fmla="*/ 309 h 326"/>
                <a:gd name="T14" fmla="*/ 167 w 452"/>
                <a:gd name="T15" fmla="*/ 319 h 326"/>
                <a:gd name="T16" fmla="*/ 206 w 452"/>
                <a:gd name="T17" fmla="*/ 325 h 326"/>
                <a:gd name="T18" fmla="*/ 245 w 452"/>
                <a:gd name="T19" fmla="*/ 325 h 326"/>
                <a:gd name="T20" fmla="*/ 283 w 452"/>
                <a:gd name="T21" fmla="*/ 319 h 326"/>
                <a:gd name="T22" fmla="*/ 320 w 452"/>
                <a:gd name="T23" fmla="*/ 309 h 326"/>
                <a:gd name="T24" fmla="*/ 354 w 452"/>
                <a:gd name="T25" fmla="*/ 295 h 326"/>
                <a:gd name="T26" fmla="*/ 385 w 452"/>
                <a:gd name="T27" fmla="*/ 277 h 326"/>
                <a:gd name="T28" fmla="*/ 410 w 452"/>
                <a:gd name="T29" fmla="*/ 254 h 326"/>
                <a:gd name="T30" fmla="*/ 429 w 452"/>
                <a:gd name="T31" fmla="*/ 231 h 326"/>
                <a:gd name="T32" fmla="*/ 443 w 452"/>
                <a:gd name="T33" fmla="*/ 204 h 326"/>
                <a:gd name="T34" fmla="*/ 451 w 452"/>
                <a:gd name="T35" fmla="*/ 176 h 326"/>
                <a:gd name="T36" fmla="*/ 451 w 452"/>
                <a:gd name="T37" fmla="*/ 148 h 326"/>
                <a:gd name="T38" fmla="*/ 443 w 452"/>
                <a:gd name="T39" fmla="*/ 120 h 326"/>
                <a:gd name="T40" fmla="*/ 429 w 452"/>
                <a:gd name="T41" fmla="*/ 93 h 326"/>
                <a:gd name="T42" fmla="*/ 410 w 452"/>
                <a:gd name="T43" fmla="*/ 68 h 326"/>
                <a:gd name="T44" fmla="*/ 385 w 452"/>
                <a:gd name="T45" fmla="*/ 47 h 326"/>
                <a:gd name="T46" fmla="*/ 354 w 452"/>
                <a:gd name="T47" fmla="*/ 29 h 326"/>
                <a:gd name="T48" fmla="*/ 320 w 452"/>
                <a:gd name="T49" fmla="*/ 15 h 326"/>
                <a:gd name="T50" fmla="*/ 283 w 452"/>
                <a:gd name="T51" fmla="*/ 5 h 326"/>
                <a:gd name="T52" fmla="*/ 245 w 452"/>
                <a:gd name="T53" fmla="*/ 0 h 326"/>
                <a:gd name="T54" fmla="*/ 206 w 452"/>
                <a:gd name="T55" fmla="*/ 0 h 326"/>
                <a:gd name="T56" fmla="*/ 167 w 452"/>
                <a:gd name="T57" fmla="*/ 5 h 326"/>
                <a:gd name="T58" fmla="*/ 130 w 452"/>
                <a:gd name="T59" fmla="*/ 15 h 326"/>
                <a:gd name="T60" fmla="*/ 96 w 452"/>
                <a:gd name="T61" fmla="*/ 29 h 326"/>
                <a:gd name="T62" fmla="*/ 65 w 452"/>
                <a:gd name="T63" fmla="*/ 47 h 326"/>
                <a:gd name="T64" fmla="*/ 40 w 452"/>
                <a:gd name="T65" fmla="*/ 68 h 326"/>
                <a:gd name="T66" fmla="*/ 21 w 452"/>
                <a:gd name="T67" fmla="*/ 93 h 326"/>
                <a:gd name="T68" fmla="*/ 7 w 452"/>
                <a:gd name="T69" fmla="*/ 120 h 326"/>
                <a:gd name="T70" fmla="*/ 0 w 452"/>
                <a:gd name="T71" fmla="*/ 148 h 32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52" h="326">
                  <a:moveTo>
                    <a:pt x="0" y="162"/>
                  </a:moveTo>
                  <a:lnTo>
                    <a:pt x="0" y="176"/>
                  </a:lnTo>
                  <a:lnTo>
                    <a:pt x="3" y="190"/>
                  </a:lnTo>
                  <a:lnTo>
                    <a:pt x="7" y="204"/>
                  </a:lnTo>
                  <a:lnTo>
                    <a:pt x="13" y="218"/>
                  </a:lnTo>
                  <a:lnTo>
                    <a:pt x="21" y="231"/>
                  </a:lnTo>
                  <a:lnTo>
                    <a:pt x="29" y="243"/>
                  </a:lnTo>
                  <a:lnTo>
                    <a:pt x="40" y="256"/>
                  </a:lnTo>
                  <a:lnTo>
                    <a:pt x="52" y="267"/>
                  </a:lnTo>
                  <a:lnTo>
                    <a:pt x="65" y="278"/>
                  </a:lnTo>
                  <a:lnTo>
                    <a:pt x="80" y="287"/>
                  </a:lnTo>
                  <a:lnTo>
                    <a:pt x="96" y="295"/>
                  </a:lnTo>
                  <a:lnTo>
                    <a:pt x="112" y="303"/>
                  </a:lnTo>
                  <a:lnTo>
                    <a:pt x="130" y="309"/>
                  </a:lnTo>
                  <a:lnTo>
                    <a:pt x="148" y="315"/>
                  </a:lnTo>
                  <a:lnTo>
                    <a:pt x="167" y="319"/>
                  </a:lnTo>
                  <a:lnTo>
                    <a:pt x="186" y="322"/>
                  </a:lnTo>
                  <a:lnTo>
                    <a:pt x="206" y="325"/>
                  </a:lnTo>
                  <a:lnTo>
                    <a:pt x="225" y="325"/>
                  </a:lnTo>
                  <a:lnTo>
                    <a:pt x="245" y="325"/>
                  </a:lnTo>
                  <a:lnTo>
                    <a:pt x="264" y="322"/>
                  </a:lnTo>
                  <a:lnTo>
                    <a:pt x="283" y="319"/>
                  </a:lnTo>
                  <a:lnTo>
                    <a:pt x="302" y="315"/>
                  </a:lnTo>
                  <a:lnTo>
                    <a:pt x="320" y="309"/>
                  </a:lnTo>
                  <a:lnTo>
                    <a:pt x="338" y="303"/>
                  </a:lnTo>
                  <a:lnTo>
                    <a:pt x="354" y="295"/>
                  </a:lnTo>
                  <a:lnTo>
                    <a:pt x="370" y="287"/>
                  </a:lnTo>
                  <a:lnTo>
                    <a:pt x="385" y="277"/>
                  </a:lnTo>
                  <a:lnTo>
                    <a:pt x="398" y="266"/>
                  </a:lnTo>
                  <a:lnTo>
                    <a:pt x="410" y="254"/>
                  </a:lnTo>
                  <a:lnTo>
                    <a:pt x="421" y="243"/>
                  </a:lnTo>
                  <a:lnTo>
                    <a:pt x="429" y="231"/>
                  </a:lnTo>
                  <a:lnTo>
                    <a:pt x="437" y="217"/>
                  </a:lnTo>
                  <a:lnTo>
                    <a:pt x="443" y="204"/>
                  </a:lnTo>
                  <a:lnTo>
                    <a:pt x="447" y="190"/>
                  </a:lnTo>
                  <a:lnTo>
                    <a:pt x="451" y="176"/>
                  </a:lnTo>
                  <a:lnTo>
                    <a:pt x="451" y="162"/>
                  </a:lnTo>
                  <a:lnTo>
                    <a:pt x="451" y="148"/>
                  </a:lnTo>
                  <a:lnTo>
                    <a:pt x="447" y="134"/>
                  </a:lnTo>
                  <a:lnTo>
                    <a:pt x="443" y="120"/>
                  </a:lnTo>
                  <a:lnTo>
                    <a:pt x="437" y="106"/>
                  </a:lnTo>
                  <a:lnTo>
                    <a:pt x="429" y="93"/>
                  </a:lnTo>
                  <a:lnTo>
                    <a:pt x="421" y="81"/>
                  </a:lnTo>
                  <a:lnTo>
                    <a:pt x="410" y="68"/>
                  </a:lnTo>
                  <a:lnTo>
                    <a:pt x="398" y="57"/>
                  </a:lnTo>
                  <a:lnTo>
                    <a:pt x="385" y="47"/>
                  </a:lnTo>
                  <a:lnTo>
                    <a:pt x="370" y="37"/>
                  </a:lnTo>
                  <a:lnTo>
                    <a:pt x="354" y="29"/>
                  </a:lnTo>
                  <a:lnTo>
                    <a:pt x="338" y="21"/>
                  </a:lnTo>
                  <a:lnTo>
                    <a:pt x="320" y="15"/>
                  </a:lnTo>
                  <a:lnTo>
                    <a:pt x="302" y="9"/>
                  </a:lnTo>
                  <a:lnTo>
                    <a:pt x="283" y="5"/>
                  </a:lnTo>
                  <a:lnTo>
                    <a:pt x="264" y="1"/>
                  </a:lnTo>
                  <a:lnTo>
                    <a:pt x="245" y="0"/>
                  </a:lnTo>
                  <a:lnTo>
                    <a:pt x="225" y="0"/>
                  </a:lnTo>
                  <a:lnTo>
                    <a:pt x="206" y="0"/>
                  </a:lnTo>
                  <a:lnTo>
                    <a:pt x="186" y="1"/>
                  </a:lnTo>
                  <a:lnTo>
                    <a:pt x="167" y="5"/>
                  </a:lnTo>
                  <a:lnTo>
                    <a:pt x="148" y="9"/>
                  </a:lnTo>
                  <a:lnTo>
                    <a:pt x="130" y="15"/>
                  </a:lnTo>
                  <a:lnTo>
                    <a:pt x="112" y="21"/>
                  </a:lnTo>
                  <a:lnTo>
                    <a:pt x="96" y="29"/>
                  </a:lnTo>
                  <a:lnTo>
                    <a:pt x="80" y="37"/>
                  </a:lnTo>
                  <a:lnTo>
                    <a:pt x="65" y="47"/>
                  </a:lnTo>
                  <a:lnTo>
                    <a:pt x="52" y="57"/>
                  </a:lnTo>
                  <a:lnTo>
                    <a:pt x="40" y="68"/>
                  </a:lnTo>
                  <a:lnTo>
                    <a:pt x="29" y="81"/>
                  </a:lnTo>
                  <a:lnTo>
                    <a:pt x="21" y="93"/>
                  </a:lnTo>
                  <a:lnTo>
                    <a:pt x="13" y="106"/>
                  </a:lnTo>
                  <a:lnTo>
                    <a:pt x="7" y="120"/>
                  </a:lnTo>
                  <a:lnTo>
                    <a:pt x="3" y="134"/>
                  </a:lnTo>
                  <a:lnTo>
                    <a:pt x="0" y="148"/>
                  </a:lnTo>
                  <a:lnTo>
                    <a:pt x="0" y="162"/>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425" name="Rectangle 91"/>
            <p:cNvSpPr>
              <a:spLocks noChangeArrowheads="1"/>
            </p:cNvSpPr>
            <p:nvPr/>
          </p:nvSpPr>
          <p:spPr bwMode="auto">
            <a:xfrm>
              <a:off x="2976" y="757"/>
              <a:ext cx="2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lot</a:t>
              </a:r>
            </a:p>
          </p:txBody>
        </p:sp>
        <p:sp>
          <p:nvSpPr>
            <p:cNvPr id="15426" name="Rectangle 92"/>
            <p:cNvSpPr>
              <a:spLocks noChangeArrowheads="1"/>
            </p:cNvSpPr>
            <p:nvPr/>
          </p:nvSpPr>
          <p:spPr bwMode="auto">
            <a:xfrm>
              <a:off x="2470" y="497"/>
              <a:ext cx="4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dirty="0">
                  <a:latin typeface="Arial" panose="020B0604020202020204" pitchFamily="34" charset="0"/>
                </a:rPr>
                <a:t>name</a:t>
              </a:r>
            </a:p>
          </p:txBody>
        </p:sp>
        <p:sp>
          <p:nvSpPr>
            <p:cNvPr id="15427" name="Rectangle 93"/>
            <p:cNvSpPr>
              <a:spLocks noChangeArrowheads="1"/>
            </p:cNvSpPr>
            <p:nvPr/>
          </p:nvSpPr>
          <p:spPr bwMode="auto">
            <a:xfrm>
              <a:off x="2121" y="750"/>
              <a:ext cx="33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u="sng" dirty="0">
                  <a:latin typeface="Arial" panose="020B0604020202020204" pitchFamily="34" charset="0"/>
                </a:rPr>
                <a:t>ssn</a:t>
              </a:r>
            </a:p>
          </p:txBody>
        </p:sp>
      </p:grpSp>
      <p:grpSp>
        <p:nvGrpSpPr>
          <p:cNvPr id="15372" name="Group 94"/>
          <p:cNvGrpSpPr>
            <a:grpSpLocks/>
          </p:cNvGrpSpPr>
          <p:nvPr/>
        </p:nvGrpSpPr>
        <p:grpSpPr bwMode="auto">
          <a:xfrm>
            <a:off x="5486400" y="2203450"/>
            <a:ext cx="1220788" cy="920750"/>
            <a:chOff x="3456" y="1053"/>
            <a:chExt cx="769" cy="580"/>
          </a:xfrm>
        </p:grpSpPr>
        <p:sp>
          <p:nvSpPr>
            <p:cNvPr id="15420" name="Rectangle 95"/>
            <p:cNvSpPr>
              <a:spLocks noChangeArrowheads="1"/>
            </p:cNvSpPr>
            <p:nvPr/>
          </p:nvSpPr>
          <p:spPr bwMode="auto">
            <a:xfrm>
              <a:off x="3522" y="1266"/>
              <a:ext cx="6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works_In</a:t>
              </a:r>
            </a:p>
          </p:txBody>
        </p:sp>
        <p:sp>
          <p:nvSpPr>
            <p:cNvPr id="15421" name="Freeform 96"/>
            <p:cNvSpPr>
              <a:spLocks/>
            </p:cNvSpPr>
            <p:nvPr/>
          </p:nvSpPr>
          <p:spPr bwMode="auto">
            <a:xfrm>
              <a:off x="3456" y="1053"/>
              <a:ext cx="769" cy="580"/>
            </a:xfrm>
            <a:custGeom>
              <a:avLst/>
              <a:gdLst>
                <a:gd name="T0" fmla="*/ 0 w 769"/>
                <a:gd name="T1" fmla="*/ 290 h 580"/>
                <a:gd name="T2" fmla="*/ 378 w 769"/>
                <a:gd name="T3" fmla="*/ 0 h 580"/>
                <a:gd name="T4" fmla="*/ 768 w 769"/>
                <a:gd name="T5" fmla="*/ 300 h 580"/>
                <a:gd name="T6" fmla="*/ 378 w 769"/>
                <a:gd name="T7" fmla="*/ 579 h 580"/>
                <a:gd name="T8" fmla="*/ 0 w 769"/>
                <a:gd name="T9" fmla="*/ 290 h 5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9" h="580">
                  <a:moveTo>
                    <a:pt x="0" y="290"/>
                  </a:moveTo>
                  <a:lnTo>
                    <a:pt x="378" y="0"/>
                  </a:lnTo>
                  <a:lnTo>
                    <a:pt x="768" y="300"/>
                  </a:lnTo>
                  <a:lnTo>
                    <a:pt x="378" y="579"/>
                  </a:lnTo>
                  <a:lnTo>
                    <a:pt x="0" y="290"/>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5373" name="Freeform 97"/>
          <p:cNvSpPr>
            <a:spLocks/>
          </p:cNvSpPr>
          <p:nvPr/>
        </p:nvSpPr>
        <p:spPr bwMode="auto">
          <a:xfrm>
            <a:off x="7264400" y="2493963"/>
            <a:ext cx="1295400" cy="479425"/>
          </a:xfrm>
          <a:custGeom>
            <a:avLst/>
            <a:gdLst>
              <a:gd name="T0" fmla="*/ 1293813 w 816"/>
              <a:gd name="T1" fmla="*/ 477838 h 302"/>
              <a:gd name="T2" fmla="*/ 1293813 w 816"/>
              <a:gd name="T3" fmla="*/ 0 h 302"/>
              <a:gd name="T4" fmla="*/ 0 w 816"/>
              <a:gd name="T5" fmla="*/ 0 h 302"/>
              <a:gd name="T6" fmla="*/ 0 w 816"/>
              <a:gd name="T7" fmla="*/ 477838 h 302"/>
              <a:gd name="T8" fmla="*/ 1293813 w 816"/>
              <a:gd name="T9" fmla="*/ 477838 h 3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6" h="302">
                <a:moveTo>
                  <a:pt x="815" y="301"/>
                </a:moveTo>
                <a:lnTo>
                  <a:pt x="815" y="0"/>
                </a:lnTo>
                <a:lnTo>
                  <a:pt x="0" y="0"/>
                </a:lnTo>
                <a:lnTo>
                  <a:pt x="0" y="301"/>
                </a:lnTo>
                <a:lnTo>
                  <a:pt x="815" y="301"/>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5374" name="Group 98"/>
          <p:cNvGrpSpPr>
            <a:grpSpLocks/>
          </p:cNvGrpSpPr>
          <p:nvPr/>
        </p:nvGrpSpPr>
        <p:grpSpPr bwMode="auto">
          <a:xfrm>
            <a:off x="3695700" y="2478088"/>
            <a:ext cx="1292225" cy="468312"/>
            <a:chOff x="2328" y="1226"/>
            <a:chExt cx="814" cy="295"/>
          </a:xfrm>
        </p:grpSpPr>
        <p:sp>
          <p:nvSpPr>
            <p:cNvPr id="15418" name="Freeform 99"/>
            <p:cNvSpPr>
              <a:spLocks/>
            </p:cNvSpPr>
            <p:nvPr/>
          </p:nvSpPr>
          <p:spPr bwMode="auto">
            <a:xfrm>
              <a:off x="2328" y="1226"/>
              <a:ext cx="814" cy="295"/>
            </a:xfrm>
            <a:custGeom>
              <a:avLst/>
              <a:gdLst>
                <a:gd name="T0" fmla="*/ 813 w 814"/>
                <a:gd name="T1" fmla="*/ 294 h 295"/>
                <a:gd name="T2" fmla="*/ 813 w 814"/>
                <a:gd name="T3" fmla="*/ 0 h 295"/>
                <a:gd name="T4" fmla="*/ 0 w 814"/>
                <a:gd name="T5" fmla="*/ 0 h 295"/>
                <a:gd name="T6" fmla="*/ 0 w 814"/>
                <a:gd name="T7" fmla="*/ 294 h 295"/>
                <a:gd name="T8" fmla="*/ 813 w 814"/>
                <a:gd name="T9" fmla="*/ 294 h 2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4" h="295">
                  <a:moveTo>
                    <a:pt x="813" y="294"/>
                  </a:moveTo>
                  <a:lnTo>
                    <a:pt x="813" y="0"/>
                  </a:lnTo>
                  <a:lnTo>
                    <a:pt x="0" y="0"/>
                  </a:lnTo>
                  <a:lnTo>
                    <a:pt x="0" y="294"/>
                  </a:lnTo>
                  <a:lnTo>
                    <a:pt x="813" y="294"/>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419" name="Rectangle 100"/>
            <p:cNvSpPr>
              <a:spLocks noChangeArrowheads="1"/>
            </p:cNvSpPr>
            <p:nvPr/>
          </p:nvSpPr>
          <p:spPr bwMode="auto">
            <a:xfrm>
              <a:off x="2336" y="1266"/>
              <a:ext cx="79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Employees</a:t>
              </a:r>
            </a:p>
          </p:txBody>
        </p:sp>
      </p:grpSp>
      <p:sp>
        <p:nvSpPr>
          <p:cNvPr id="15375" name="Rectangle 101"/>
          <p:cNvSpPr>
            <a:spLocks noChangeArrowheads="1"/>
          </p:cNvSpPr>
          <p:nvPr/>
        </p:nvSpPr>
        <p:spPr bwMode="auto">
          <a:xfrm>
            <a:off x="7177088" y="2557463"/>
            <a:ext cx="143629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Departments</a:t>
            </a:r>
          </a:p>
        </p:txBody>
      </p:sp>
      <p:sp>
        <p:nvSpPr>
          <p:cNvPr id="15376" name="Line 102"/>
          <p:cNvSpPr>
            <a:spLocks noChangeShapeType="1"/>
          </p:cNvSpPr>
          <p:nvPr/>
        </p:nvSpPr>
        <p:spPr bwMode="auto">
          <a:xfrm flipH="1">
            <a:off x="5029200" y="2667000"/>
            <a:ext cx="469900" cy="0"/>
          </a:xfrm>
          <a:prstGeom prst="line">
            <a:avLst/>
          </a:prstGeom>
          <a:noFill/>
          <a:ln w="22225">
            <a:solidFill>
              <a:schemeClr val="tx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7" name="Line 103"/>
          <p:cNvSpPr>
            <a:spLocks noChangeShapeType="1"/>
          </p:cNvSpPr>
          <p:nvPr/>
        </p:nvSpPr>
        <p:spPr bwMode="auto">
          <a:xfrm>
            <a:off x="6711950" y="2665413"/>
            <a:ext cx="520700" cy="0"/>
          </a:xfrm>
          <a:prstGeom prst="line">
            <a:avLst/>
          </a:prstGeom>
          <a:noFill/>
          <a:ln w="12700">
            <a:solidFill>
              <a:schemeClr val="tx2"/>
            </a:solidFill>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8" name="Line 104"/>
          <p:cNvSpPr>
            <a:spLocks noChangeShapeType="1"/>
          </p:cNvSpPr>
          <p:nvPr/>
        </p:nvSpPr>
        <p:spPr bwMode="auto">
          <a:xfrm flipH="1">
            <a:off x="4718050" y="2138363"/>
            <a:ext cx="241300" cy="2921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9" name="Line 105"/>
          <p:cNvSpPr>
            <a:spLocks noChangeShapeType="1"/>
          </p:cNvSpPr>
          <p:nvPr/>
        </p:nvSpPr>
        <p:spPr bwMode="auto">
          <a:xfrm>
            <a:off x="4267200" y="1757363"/>
            <a:ext cx="0" cy="6731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80" name="Line 106"/>
          <p:cNvSpPr>
            <a:spLocks noChangeShapeType="1"/>
          </p:cNvSpPr>
          <p:nvPr/>
        </p:nvSpPr>
        <p:spPr bwMode="auto">
          <a:xfrm>
            <a:off x="3740150" y="2138363"/>
            <a:ext cx="139700" cy="2921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81" name="Line 107"/>
          <p:cNvSpPr>
            <a:spLocks noChangeShapeType="1"/>
          </p:cNvSpPr>
          <p:nvPr/>
        </p:nvSpPr>
        <p:spPr bwMode="auto">
          <a:xfrm>
            <a:off x="6096000" y="1528763"/>
            <a:ext cx="0" cy="6731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82" name="Line 108"/>
          <p:cNvSpPr>
            <a:spLocks noChangeShapeType="1"/>
          </p:cNvSpPr>
          <p:nvPr/>
        </p:nvSpPr>
        <p:spPr bwMode="auto">
          <a:xfrm>
            <a:off x="7321550" y="2138363"/>
            <a:ext cx="215900" cy="3683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83" name="Line 109"/>
          <p:cNvSpPr>
            <a:spLocks noChangeShapeType="1"/>
          </p:cNvSpPr>
          <p:nvPr/>
        </p:nvSpPr>
        <p:spPr bwMode="auto">
          <a:xfrm>
            <a:off x="7848600" y="1833563"/>
            <a:ext cx="0" cy="6731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84" name="Line 110"/>
          <p:cNvSpPr>
            <a:spLocks noChangeShapeType="1"/>
          </p:cNvSpPr>
          <p:nvPr/>
        </p:nvSpPr>
        <p:spPr bwMode="auto">
          <a:xfrm flipH="1">
            <a:off x="8223250" y="2138363"/>
            <a:ext cx="165100" cy="3683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385" name="Group 112"/>
          <p:cNvGrpSpPr>
            <a:grpSpLocks/>
          </p:cNvGrpSpPr>
          <p:nvPr/>
        </p:nvGrpSpPr>
        <p:grpSpPr bwMode="auto">
          <a:xfrm>
            <a:off x="5334000" y="1066800"/>
            <a:ext cx="1292225" cy="468313"/>
            <a:chOff x="2328" y="1226"/>
            <a:chExt cx="814" cy="295"/>
          </a:xfrm>
        </p:grpSpPr>
        <p:sp>
          <p:nvSpPr>
            <p:cNvPr id="15416" name="Freeform 113"/>
            <p:cNvSpPr>
              <a:spLocks/>
            </p:cNvSpPr>
            <p:nvPr/>
          </p:nvSpPr>
          <p:spPr bwMode="auto">
            <a:xfrm>
              <a:off x="2328" y="1226"/>
              <a:ext cx="814" cy="295"/>
            </a:xfrm>
            <a:custGeom>
              <a:avLst/>
              <a:gdLst>
                <a:gd name="T0" fmla="*/ 813 w 814"/>
                <a:gd name="T1" fmla="*/ 294 h 295"/>
                <a:gd name="T2" fmla="*/ 813 w 814"/>
                <a:gd name="T3" fmla="*/ 0 h 295"/>
                <a:gd name="T4" fmla="*/ 0 w 814"/>
                <a:gd name="T5" fmla="*/ 0 h 295"/>
                <a:gd name="T6" fmla="*/ 0 w 814"/>
                <a:gd name="T7" fmla="*/ 294 h 295"/>
                <a:gd name="T8" fmla="*/ 813 w 814"/>
                <a:gd name="T9" fmla="*/ 294 h 2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4" h="295">
                  <a:moveTo>
                    <a:pt x="813" y="294"/>
                  </a:moveTo>
                  <a:lnTo>
                    <a:pt x="813" y="0"/>
                  </a:lnTo>
                  <a:lnTo>
                    <a:pt x="0" y="0"/>
                  </a:lnTo>
                  <a:lnTo>
                    <a:pt x="0" y="294"/>
                  </a:lnTo>
                  <a:lnTo>
                    <a:pt x="813" y="294"/>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417" name="Rectangle 114"/>
            <p:cNvSpPr>
              <a:spLocks noChangeArrowheads="1"/>
            </p:cNvSpPr>
            <p:nvPr/>
          </p:nvSpPr>
          <p:spPr bwMode="auto">
            <a:xfrm>
              <a:off x="2336" y="1266"/>
              <a:ext cx="6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 Location</a:t>
              </a:r>
            </a:p>
          </p:txBody>
        </p:sp>
      </p:grpSp>
      <p:sp>
        <p:nvSpPr>
          <p:cNvPr id="15386" name="Line 115"/>
          <p:cNvSpPr>
            <a:spLocks noChangeShapeType="1"/>
          </p:cNvSpPr>
          <p:nvPr/>
        </p:nvSpPr>
        <p:spPr bwMode="auto">
          <a:xfrm flipH="1">
            <a:off x="6609555" y="1029989"/>
            <a:ext cx="162581" cy="16849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87" name="Oval 117"/>
          <p:cNvSpPr>
            <a:spLocks noChangeArrowheads="1"/>
          </p:cNvSpPr>
          <p:nvPr/>
        </p:nvSpPr>
        <p:spPr bwMode="auto">
          <a:xfrm>
            <a:off x="7315200" y="3200400"/>
            <a:ext cx="1219200" cy="2362200"/>
          </a:xfrm>
          <a:prstGeom prst="ellipse">
            <a:avLst/>
          </a:prstGeom>
          <a:noFill/>
          <a:ln w="12700">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5388" name="Oval 118"/>
          <p:cNvSpPr>
            <a:spLocks noChangeArrowheads="1"/>
          </p:cNvSpPr>
          <p:nvPr/>
        </p:nvSpPr>
        <p:spPr bwMode="auto">
          <a:xfrm>
            <a:off x="5410200" y="4495800"/>
            <a:ext cx="1219200" cy="2362200"/>
          </a:xfrm>
          <a:prstGeom prst="ellipse">
            <a:avLst/>
          </a:prstGeom>
          <a:noFill/>
          <a:ln w="12700">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5389" name="Oval 119"/>
          <p:cNvSpPr>
            <a:spLocks noChangeArrowheads="1"/>
          </p:cNvSpPr>
          <p:nvPr/>
        </p:nvSpPr>
        <p:spPr bwMode="auto">
          <a:xfrm>
            <a:off x="1676400" y="3200400"/>
            <a:ext cx="1219200" cy="2362200"/>
          </a:xfrm>
          <a:prstGeom prst="ellipse">
            <a:avLst/>
          </a:prstGeom>
          <a:noFill/>
          <a:ln w="12700">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5390" name="Oval 120"/>
          <p:cNvSpPr>
            <a:spLocks noChangeArrowheads="1"/>
          </p:cNvSpPr>
          <p:nvPr/>
        </p:nvSpPr>
        <p:spPr bwMode="auto">
          <a:xfrm>
            <a:off x="3505200" y="3505200"/>
            <a:ext cx="1219200" cy="2362200"/>
          </a:xfrm>
          <a:prstGeom prst="ellipse">
            <a:avLst/>
          </a:prstGeom>
          <a:noFill/>
          <a:ln w="12700">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5391" name="Text Box 121"/>
          <p:cNvSpPr txBox="1">
            <a:spLocks noChangeArrowheads="1"/>
          </p:cNvSpPr>
          <p:nvPr/>
        </p:nvSpPr>
        <p:spPr bwMode="auto">
          <a:xfrm>
            <a:off x="1911350" y="3543300"/>
            <a:ext cx="831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a:t>12-233</a:t>
            </a:r>
          </a:p>
        </p:txBody>
      </p:sp>
      <p:sp>
        <p:nvSpPr>
          <p:cNvPr id="15392" name="Text Box 123"/>
          <p:cNvSpPr txBox="1">
            <a:spLocks noChangeArrowheads="1"/>
          </p:cNvSpPr>
          <p:nvPr/>
        </p:nvSpPr>
        <p:spPr bwMode="auto">
          <a:xfrm>
            <a:off x="1905000" y="4586288"/>
            <a:ext cx="831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a:t>12-243</a:t>
            </a:r>
          </a:p>
        </p:txBody>
      </p:sp>
      <p:sp>
        <p:nvSpPr>
          <p:cNvPr id="15393" name="Text Box 124"/>
          <p:cNvSpPr txBox="1">
            <a:spLocks noChangeArrowheads="1"/>
          </p:cNvSpPr>
          <p:nvPr/>
        </p:nvSpPr>
        <p:spPr bwMode="auto">
          <a:xfrm>
            <a:off x="1911350" y="4000500"/>
            <a:ext cx="831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a:t>12-354</a:t>
            </a:r>
          </a:p>
        </p:txBody>
      </p:sp>
      <p:sp>
        <p:nvSpPr>
          <p:cNvPr id="15394" name="Text Box 125"/>
          <p:cNvSpPr txBox="1">
            <a:spLocks noChangeArrowheads="1"/>
          </p:cNvSpPr>
          <p:nvPr/>
        </p:nvSpPr>
        <p:spPr bwMode="auto">
          <a:xfrm>
            <a:off x="1911350" y="5029200"/>
            <a:ext cx="831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dirty="0"/>
              <a:t>12-299</a:t>
            </a:r>
          </a:p>
        </p:txBody>
      </p:sp>
      <p:sp>
        <p:nvSpPr>
          <p:cNvPr id="15395" name="Text Box 126"/>
          <p:cNvSpPr txBox="1">
            <a:spLocks noChangeArrowheads="1"/>
          </p:cNvSpPr>
          <p:nvPr/>
        </p:nvSpPr>
        <p:spPr bwMode="auto">
          <a:xfrm>
            <a:off x="3717925" y="36988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sz="2400"/>
          </a:p>
        </p:txBody>
      </p:sp>
      <p:sp>
        <p:nvSpPr>
          <p:cNvPr id="15396" name="Text Box 127"/>
          <p:cNvSpPr txBox="1">
            <a:spLocks noChangeArrowheads="1"/>
          </p:cNvSpPr>
          <p:nvPr/>
        </p:nvSpPr>
        <p:spPr bwMode="auto">
          <a:xfrm>
            <a:off x="5638800" y="4953000"/>
            <a:ext cx="730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a:t>Rome</a:t>
            </a:r>
          </a:p>
        </p:txBody>
      </p:sp>
      <p:sp>
        <p:nvSpPr>
          <p:cNvPr id="15397" name="Text Box 128"/>
          <p:cNvSpPr txBox="1">
            <a:spLocks noChangeArrowheads="1"/>
          </p:cNvSpPr>
          <p:nvPr/>
        </p:nvSpPr>
        <p:spPr bwMode="auto">
          <a:xfrm>
            <a:off x="5715000" y="601980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a:t>Paris</a:t>
            </a:r>
          </a:p>
        </p:txBody>
      </p:sp>
      <p:sp>
        <p:nvSpPr>
          <p:cNvPr id="15398" name="Text Box 129"/>
          <p:cNvSpPr txBox="1">
            <a:spLocks noChangeArrowheads="1"/>
          </p:cNvSpPr>
          <p:nvPr/>
        </p:nvSpPr>
        <p:spPr bwMode="auto">
          <a:xfrm>
            <a:off x="5638800" y="5486400"/>
            <a:ext cx="895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a:t>London</a:t>
            </a:r>
          </a:p>
        </p:txBody>
      </p:sp>
      <p:sp>
        <p:nvSpPr>
          <p:cNvPr id="15399" name="Text Box 130"/>
          <p:cNvSpPr txBox="1">
            <a:spLocks noChangeArrowheads="1"/>
          </p:cNvSpPr>
          <p:nvPr/>
        </p:nvSpPr>
        <p:spPr bwMode="auto">
          <a:xfrm>
            <a:off x="7620000" y="3505200"/>
            <a:ext cx="577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a:t>D10</a:t>
            </a:r>
            <a:endParaRPr lang="es-ES_tradnl" altLang="en-US"/>
          </a:p>
        </p:txBody>
      </p:sp>
      <p:sp>
        <p:nvSpPr>
          <p:cNvPr id="15400" name="Text Box 131"/>
          <p:cNvSpPr txBox="1">
            <a:spLocks noChangeArrowheads="1"/>
          </p:cNvSpPr>
          <p:nvPr/>
        </p:nvSpPr>
        <p:spPr bwMode="auto">
          <a:xfrm>
            <a:off x="7620000" y="4648200"/>
            <a:ext cx="577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a:t>D13</a:t>
            </a:r>
            <a:endParaRPr lang="es-ES_tradnl" altLang="en-US"/>
          </a:p>
        </p:txBody>
      </p:sp>
      <p:sp>
        <p:nvSpPr>
          <p:cNvPr id="15401" name="Text Box 132"/>
          <p:cNvSpPr txBox="1">
            <a:spLocks noChangeArrowheads="1"/>
          </p:cNvSpPr>
          <p:nvPr/>
        </p:nvSpPr>
        <p:spPr bwMode="auto">
          <a:xfrm>
            <a:off x="7620000" y="4114800"/>
            <a:ext cx="577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800"/>
              <a:t>D12</a:t>
            </a:r>
            <a:endParaRPr lang="es-ES_tradnl" altLang="en-US"/>
          </a:p>
        </p:txBody>
      </p:sp>
      <p:sp>
        <p:nvSpPr>
          <p:cNvPr id="15402" name="Text Box 133"/>
          <p:cNvSpPr txBox="1">
            <a:spLocks noChangeArrowheads="1"/>
          </p:cNvSpPr>
          <p:nvPr/>
        </p:nvSpPr>
        <p:spPr bwMode="auto">
          <a:xfrm>
            <a:off x="3962400" y="3927475"/>
            <a:ext cx="42862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buSzPct val="160000"/>
              <a:buFontTx/>
              <a:buChar char="•"/>
            </a:pPr>
            <a:r>
              <a:rPr lang="es-ES_tradnl" altLang="en-US" sz="2400"/>
              <a:t> </a:t>
            </a:r>
          </a:p>
          <a:p>
            <a:pPr>
              <a:buSzPct val="160000"/>
              <a:buFontTx/>
              <a:buChar char="•"/>
            </a:pPr>
            <a:r>
              <a:rPr lang="es-ES_tradnl" altLang="en-US" sz="2400"/>
              <a:t> </a:t>
            </a:r>
          </a:p>
          <a:p>
            <a:pPr>
              <a:buSzPct val="160000"/>
              <a:buFontTx/>
              <a:buChar char="•"/>
            </a:pPr>
            <a:r>
              <a:rPr lang="es-ES_tradnl" altLang="en-US" sz="2400"/>
              <a:t> </a:t>
            </a:r>
          </a:p>
          <a:p>
            <a:pPr>
              <a:buSzPct val="160000"/>
              <a:buFontTx/>
              <a:buChar char="•"/>
            </a:pPr>
            <a:r>
              <a:rPr lang="es-ES_tradnl" altLang="en-US" sz="2400"/>
              <a:t> </a:t>
            </a:r>
          </a:p>
          <a:p>
            <a:pPr>
              <a:buSzPct val="160000"/>
              <a:buFontTx/>
              <a:buChar char="•"/>
            </a:pPr>
            <a:endParaRPr lang="es-ES_tradnl" altLang="en-US" sz="2400"/>
          </a:p>
          <a:p>
            <a:pPr>
              <a:buSzPct val="160000"/>
              <a:buFontTx/>
              <a:buChar char="•"/>
            </a:pPr>
            <a:endParaRPr lang="es-ES_tradnl" altLang="en-US" sz="2400"/>
          </a:p>
          <a:p>
            <a:pPr>
              <a:buSzPct val="160000"/>
              <a:buFontTx/>
              <a:buChar char="•"/>
            </a:pPr>
            <a:endParaRPr lang="es-ES_tradnl" altLang="en-US" sz="2400"/>
          </a:p>
        </p:txBody>
      </p:sp>
      <p:sp>
        <p:nvSpPr>
          <p:cNvPr id="15403" name="Line 134"/>
          <p:cNvSpPr>
            <a:spLocks noChangeShapeType="1"/>
          </p:cNvSpPr>
          <p:nvPr/>
        </p:nvSpPr>
        <p:spPr bwMode="auto">
          <a:xfrm>
            <a:off x="2667000" y="3733800"/>
            <a:ext cx="1447800" cy="3810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04" name="Line 136"/>
          <p:cNvSpPr>
            <a:spLocks noChangeShapeType="1"/>
          </p:cNvSpPr>
          <p:nvPr/>
        </p:nvSpPr>
        <p:spPr bwMode="auto">
          <a:xfrm>
            <a:off x="2743200" y="4191000"/>
            <a:ext cx="1371600" cy="3048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05" name="Line 137"/>
          <p:cNvSpPr>
            <a:spLocks noChangeShapeType="1"/>
          </p:cNvSpPr>
          <p:nvPr/>
        </p:nvSpPr>
        <p:spPr bwMode="auto">
          <a:xfrm>
            <a:off x="2667000" y="4800600"/>
            <a:ext cx="1447800"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06" name="Line 138"/>
          <p:cNvSpPr>
            <a:spLocks noChangeShapeType="1"/>
          </p:cNvSpPr>
          <p:nvPr/>
        </p:nvSpPr>
        <p:spPr bwMode="auto">
          <a:xfrm>
            <a:off x="2667000" y="5181600"/>
            <a:ext cx="1447800"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07" name="Line 139"/>
          <p:cNvSpPr>
            <a:spLocks noChangeShapeType="1"/>
          </p:cNvSpPr>
          <p:nvPr/>
        </p:nvSpPr>
        <p:spPr bwMode="auto">
          <a:xfrm flipV="1">
            <a:off x="4191000" y="3657600"/>
            <a:ext cx="3429000" cy="4572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08" name="Line 140"/>
          <p:cNvSpPr>
            <a:spLocks noChangeShapeType="1"/>
          </p:cNvSpPr>
          <p:nvPr/>
        </p:nvSpPr>
        <p:spPr bwMode="auto">
          <a:xfrm>
            <a:off x="4191000" y="4114800"/>
            <a:ext cx="1447800" cy="9906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09" name="Line 141"/>
          <p:cNvSpPr>
            <a:spLocks noChangeShapeType="1"/>
          </p:cNvSpPr>
          <p:nvPr/>
        </p:nvSpPr>
        <p:spPr bwMode="auto">
          <a:xfrm flipH="1">
            <a:off x="4191000" y="4191000"/>
            <a:ext cx="3352800" cy="3048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10" name="Line 142"/>
          <p:cNvSpPr>
            <a:spLocks noChangeShapeType="1"/>
          </p:cNvSpPr>
          <p:nvPr/>
        </p:nvSpPr>
        <p:spPr bwMode="auto">
          <a:xfrm>
            <a:off x="4267200" y="4495800"/>
            <a:ext cx="1371600" cy="6096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11" name="Line 143"/>
          <p:cNvSpPr>
            <a:spLocks noChangeShapeType="1"/>
          </p:cNvSpPr>
          <p:nvPr/>
        </p:nvSpPr>
        <p:spPr bwMode="auto">
          <a:xfrm flipH="1">
            <a:off x="4191000" y="4267200"/>
            <a:ext cx="3276600" cy="5334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12" name="Line 144"/>
          <p:cNvSpPr>
            <a:spLocks noChangeShapeType="1"/>
          </p:cNvSpPr>
          <p:nvPr/>
        </p:nvSpPr>
        <p:spPr bwMode="auto">
          <a:xfrm>
            <a:off x="4191000" y="4876800"/>
            <a:ext cx="1447800" cy="8382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13" name="Line 145"/>
          <p:cNvSpPr>
            <a:spLocks noChangeShapeType="1"/>
          </p:cNvSpPr>
          <p:nvPr/>
        </p:nvSpPr>
        <p:spPr bwMode="auto">
          <a:xfrm flipV="1">
            <a:off x="4114800" y="4800600"/>
            <a:ext cx="3352800" cy="3810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14" name="Line 146"/>
          <p:cNvSpPr>
            <a:spLocks noChangeShapeType="1"/>
          </p:cNvSpPr>
          <p:nvPr/>
        </p:nvSpPr>
        <p:spPr bwMode="auto">
          <a:xfrm>
            <a:off x="4114800" y="5181600"/>
            <a:ext cx="1447800" cy="53340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415" name="Text Box 148"/>
          <p:cNvSpPr txBox="1">
            <a:spLocks noChangeArrowheads="1"/>
          </p:cNvSpPr>
          <p:nvPr/>
        </p:nvSpPr>
        <p:spPr bwMode="auto">
          <a:xfrm>
            <a:off x="311415" y="2110857"/>
            <a:ext cx="359886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2200" dirty="0" err="1">
                <a:latin typeface="Corbel" panose="020B0503020204020204" pitchFamily="34" charset="0"/>
              </a:rPr>
              <a:t>Each</a:t>
            </a:r>
            <a:r>
              <a:rPr lang="es-ES_tradnl" altLang="en-US" sz="2200" dirty="0">
                <a:latin typeface="Corbel" panose="020B0503020204020204" pitchFamily="34" charset="0"/>
              </a:rPr>
              <a:t> </a:t>
            </a:r>
            <a:r>
              <a:rPr lang="es-ES_tradnl" altLang="en-US" sz="2200" dirty="0" err="1">
                <a:latin typeface="Corbel" panose="020B0503020204020204" pitchFamily="34" charset="0"/>
              </a:rPr>
              <a:t>employee</a:t>
            </a:r>
            <a:r>
              <a:rPr lang="es-ES_tradnl" altLang="en-US" sz="2200" dirty="0">
                <a:latin typeface="Corbel" panose="020B0503020204020204" pitchFamily="34" charset="0"/>
              </a:rPr>
              <a:t> can </a:t>
            </a:r>
            <a:r>
              <a:rPr lang="es-ES_tradnl" altLang="en-US" sz="2200" dirty="0" err="1">
                <a:latin typeface="Corbel" panose="020B0503020204020204" pitchFamily="34" charset="0"/>
              </a:rPr>
              <a:t>work</a:t>
            </a:r>
            <a:r>
              <a:rPr lang="es-ES_tradnl" altLang="en-US" sz="2200" dirty="0">
                <a:latin typeface="Corbel" panose="020B0503020204020204" pitchFamily="34" charset="0"/>
              </a:rPr>
              <a:t> at</a:t>
            </a:r>
          </a:p>
          <a:p>
            <a:r>
              <a:rPr lang="es-ES_tradnl" altLang="en-US" sz="2200" dirty="0" err="1">
                <a:latin typeface="Corbel" panose="020B0503020204020204" pitchFamily="34" charset="0"/>
              </a:rPr>
              <a:t>most</a:t>
            </a:r>
            <a:r>
              <a:rPr lang="es-ES_tradnl" altLang="en-US" sz="2200" dirty="0">
                <a:latin typeface="Corbel" panose="020B0503020204020204" pitchFamily="34" charset="0"/>
              </a:rPr>
              <a:t> in </a:t>
            </a:r>
            <a:r>
              <a:rPr lang="es-ES_tradnl" altLang="en-US" sz="2200" dirty="0" err="1">
                <a:latin typeface="Corbel" panose="020B0503020204020204" pitchFamily="34" charset="0"/>
              </a:rPr>
              <a:t>one</a:t>
            </a:r>
            <a:r>
              <a:rPr lang="es-ES_tradnl" altLang="en-US" sz="2200" dirty="0">
                <a:latin typeface="Corbel" panose="020B0503020204020204" pitchFamily="34" charset="0"/>
              </a:rPr>
              <a:t> </a:t>
            </a:r>
            <a:r>
              <a:rPr lang="es-ES_tradnl" altLang="en-US" sz="2200" dirty="0" err="1">
                <a:latin typeface="Corbel" panose="020B0503020204020204" pitchFamily="34" charset="0"/>
              </a:rPr>
              <a:t>department</a:t>
            </a:r>
            <a:r>
              <a:rPr lang="es-ES_tradnl" altLang="en-US" sz="2200" dirty="0">
                <a:latin typeface="Corbel" panose="020B0503020204020204" pitchFamily="34" charset="0"/>
              </a:rPr>
              <a:t> at</a:t>
            </a:r>
          </a:p>
          <a:p>
            <a:r>
              <a:rPr lang="es-ES_tradnl" altLang="en-US" sz="2200" dirty="0">
                <a:latin typeface="Corbel" panose="020B0503020204020204" pitchFamily="34" charset="0"/>
              </a:rPr>
              <a:t>a single </a:t>
            </a:r>
            <a:r>
              <a:rPr lang="es-ES_tradnl" altLang="en-US" sz="2200" dirty="0" err="1">
                <a:latin typeface="Corbel" panose="020B0503020204020204" pitchFamily="34" charset="0"/>
              </a:rPr>
              <a:t>location</a:t>
            </a:r>
            <a:endParaRPr lang="es-ES_tradnl" altLang="en-US" sz="2200" dirty="0">
              <a:latin typeface="Corbel" panose="020B0503020204020204" pitchFamily="34" charset="0"/>
            </a:endParaRPr>
          </a:p>
        </p:txBody>
      </p:sp>
    </p:spTree>
    <p:extLst>
      <p:ext uri="{BB962C8B-B14F-4D97-AF65-F5344CB8AC3E}">
        <p14:creationId xmlns:p14="http://schemas.microsoft.com/office/powerpoint/2010/main" val="3718666964"/>
      </p:ext>
    </p:extLst>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191261" y="533400"/>
            <a:ext cx="6377940" cy="1143000"/>
          </a:xfrm>
        </p:spPr>
        <p:txBody>
          <a:bodyPr>
            <a:normAutofit/>
          </a:bodyPr>
          <a:lstStyle/>
          <a:p>
            <a:r>
              <a:rPr lang="en-US" sz="4400" dirty="0">
                <a:ln>
                  <a:noFill/>
                </a:ln>
                <a:latin typeface="Corbel" panose="020B0503020204020204" pitchFamily="34" charset="0"/>
              </a:rPr>
              <a:t>Cardinality</a:t>
            </a:r>
          </a:p>
        </p:txBody>
      </p:sp>
      <p:sp>
        <p:nvSpPr>
          <p:cNvPr id="329731" name="Rectangle 3"/>
          <p:cNvSpPr>
            <a:spLocks noGrp="1" noChangeArrowheads="1"/>
          </p:cNvSpPr>
          <p:nvPr>
            <p:ph idx="4294967295"/>
          </p:nvPr>
        </p:nvSpPr>
        <p:spPr>
          <a:xfrm>
            <a:off x="411574" y="1676400"/>
            <a:ext cx="8360834" cy="4267200"/>
          </a:xfrm>
          <a:prstGeom prst="rect">
            <a:avLst/>
          </a:prstGeom>
        </p:spPr>
        <p:txBody>
          <a:bodyPr rtlCol="0">
            <a:noAutofit/>
          </a:bodyPr>
          <a:lstStyle/>
          <a:p>
            <a:pPr algn="just" fontAlgn="auto">
              <a:buFont typeface="Wingdings" panose="05000000000000000000" pitchFamily="2" charset="2"/>
              <a:buNone/>
              <a:defRPr/>
            </a:pPr>
            <a:r>
              <a:rPr lang="en-US" sz="2800" dirty="0">
                <a:solidFill>
                  <a:schemeClr val="tx1">
                    <a:lumMod val="85000"/>
                    <a:lumOff val="15000"/>
                  </a:schemeClr>
                </a:solidFill>
                <a:latin typeface="Corbel" panose="020B0503020204020204" pitchFamily="34" charset="0"/>
              </a:rPr>
              <a:t>The </a:t>
            </a:r>
            <a:r>
              <a:rPr lang="en-US" sz="2800" b="1" dirty="0">
                <a:solidFill>
                  <a:srgbClr val="FF0066"/>
                </a:solidFill>
                <a:latin typeface="Corbel" panose="020B0503020204020204" pitchFamily="34" charset="0"/>
              </a:rPr>
              <a:t>cardinality ratio</a:t>
            </a:r>
            <a:r>
              <a:rPr lang="en-US" sz="2800" dirty="0">
                <a:solidFill>
                  <a:schemeClr val="tx1">
                    <a:lumMod val="85000"/>
                    <a:lumOff val="15000"/>
                  </a:schemeClr>
                </a:solidFill>
                <a:latin typeface="Corbel" panose="020B0503020204020204" pitchFamily="34" charset="0"/>
              </a:rPr>
              <a:t> for a binary relationship specifies the number of relationship instances that an entity can participate in.</a:t>
            </a:r>
          </a:p>
          <a:p>
            <a:pPr algn="just" fontAlgn="auto">
              <a:buFont typeface="Arial"/>
              <a:buChar char="•"/>
              <a:defRPr/>
            </a:pPr>
            <a:r>
              <a:rPr lang="en-US" sz="2800" dirty="0">
                <a:solidFill>
                  <a:schemeClr val="tx1">
                    <a:lumMod val="85000"/>
                    <a:lumOff val="15000"/>
                  </a:schemeClr>
                </a:solidFill>
                <a:latin typeface="Corbel" panose="020B0503020204020204" pitchFamily="34" charset="0"/>
              </a:rPr>
              <a:t>There are three types of cardinality ratios for binary relationships. </a:t>
            </a:r>
          </a:p>
          <a:p>
            <a:pPr fontAlgn="auto">
              <a:buFont typeface="Arial"/>
              <a:buChar char="•"/>
              <a:defRPr/>
            </a:pPr>
            <a:endParaRPr lang="en-US" sz="2800" dirty="0">
              <a:solidFill>
                <a:schemeClr val="tx1">
                  <a:lumMod val="85000"/>
                  <a:lumOff val="15000"/>
                </a:schemeClr>
              </a:solidFill>
              <a:latin typeface="Corbel" panose="020B0503020204020204" pitchFamily="34" charset="0"/>
            </a:endParaRPr>
          </a:p>
          <a:p>
            <a:pPr lvl="1" fontAlgn="auto">
              <a:buFont typeface="Arial"/>
              <a:buChar char="•"/>
              <a:defRPr/>
            </a:pPr>
            <a:r>
              <a:rPr lang="en-US" sz="2800" dirty="0">
                <a:latin typeface="Corbel" panose="020B0503020204020204" pitchFamily="34" charset="0"/>
              </a:rPr>
              <a:t> </a:t>
            </a:r>
            <a:r>
              <a:rPr lang="en-US" sz="2800" b="1" dirty="0">
                <a:latin typeface="Corbel" panose="020B0503020204020204" pitchFamily="34" charset="0"/>
              </a:rPr>
              <a:t>one-to-one          (1: 1)</a:t>
            </a:r>
            <a:r>
              <a:rPr lang="en-US" sz="2800" dirty="0">
                <a:latin typeface="Corbel" panose="020B0503020204020204" pitchFamily="34" charset="0"/>
              </a:rPr>
              <a:t> </a:t>
            </a:r>
          </a:p>
          <a:p>
            <a:pPr lvl="1" fontAlgn="auto">
              <a:buFont typeface="Arial"/>
              <a:buChar char="•"/>
              <a:defRPr/>
            </a:pPr>
            <a:r>
              <a:rPr lang="en-US" sz="2800" b="1" dirty="0">
                <a:latin typeface="Corbel" panose="020B0503020204020204" pitchFamily="34" charset="0"/>
              </a:rPr>
              <a:t> one-to-many</a:t>
            </a:r>
            <a:r>
              <a:rPr lang="en-US" sz="2800" dirty="0">
                <a:latin typeface="Corbel" panose="020B0503020204020204" pitchFamily="34" charset="0"/>
              </a:rPr>
              <a:t>        </a:t>
            </a:r>
            <a:r>
              <a:rPr lang="en-US" sz="2800" b="1" dirty="0">
                <a:latin typeface="Corbel" panose="020B0503020204020204" pitchFamily="34" charset="0"/>
              </a:rPr>
              <a:t>(1 : N)</a:t>
            </a:r>
          </a:p>
          <a:p>
            <a:pPr lvl="1" fontAlgn="auto">
              <a:buFont typeface="Arial"/>
              <a:buChar char="•"/>
              <a:defRPr/>
            </a:pPr>
            <a:r>
              <a:rPr lang="en-US" sz="2800" dirty="0">
                <a:latin typeface="Corbel" panose="020B0503020204020204" pitchFamily="34" charset="0"/>
              </a:rPr>
              <a:t> </a:t>
            </a:r>
            <a:r>
              <a:rPr lang="en-US" sz="2800" b="1" dirty="0">
                <a:latin typeface="Corbel" panose="020B0503020204020204" pitchFamily="34" charset="0"/>
              </a:rPr>
              <a:t>many-to-many</a:t>
            </a:r>
            <a:r>
              <a:rPr lang="en-US" sz="2800" dirty="0">
                <a:latin typeface="Corbel" panose="020B0503020204020204" pitchFamily="34" charset="0"/>
              </a:rPr>
              <a:t>.   </a:t>
            </a:r>
            <a:r>
              <a:rPr lang="en-US" sz="2800" b="1" dirty="0">
                <a:latin typeface="Corbel" panose="020B0503020204020204" pitchFamily="34" charset="0"/>
              </a:rPr>
              <a:t>(N : M) </a:t>
            </a:r>
          </a:p>
        </p:txBody>
      </p:sp>
    </p:spTree>
    <p:extLst>
      <p:ext uri="{BB962C8B-B14F-4D97-AF65-F5344CB8AC3E}">
        <p14:creationId xmlns:p14="http://schemas.microsoft.com/office/powerpoint/2010/main" val="32938180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29731">
                                            <p:txEl>
                                              <p:pRg st="3" end="3"/>
                                            </p:txEl>
                                          </p:spTgt>
                                        </p:tgtEl>
                                        <p:attrNameLst>
                                          <p:attrName>style.visibility</p:attrName>
                                        </p:attrNameLst>
                                      </p:cBhvr>
                                      <p:to>
                                        <p:strVal val="visible"/>
                                      </p:to>
                                    </p:set>
                                    <p:anim calcmode="lin" valueType="num">
                                      <p:cBhvr additive="base">
                                        <p:cTn id="7" dur="500" fill="hold"/>
                                        <p:tgtEl>
                                          <p:spTgt spid="329731">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97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29731">
                                            <p:txEl>
                                              <p:pRg st="4" end="4"/>
                                            </p:txEl>
                                          </p:spTgt>
                                        </p:tgtEl>
                                        <p:attrNameLst>
                                          <p:attrName>style.visibility</p:attrName>
                                        </p:attrNameLst>
                                      </p:cBhvr>
                                      <p:to>
                                        <p:strVal val="visible"/>
                                      </p:to>
                                    </p:set>
                                    <p:anim calcmode="lin" valueType="num">
                                      <p:cBhvr additive="base">
                                        <p:cTn id="13" dur="500" fill="hold"/>
                                        <p:tgtEl>
                                          <p:spTgt spid="329731">
                                            <p:txEl>
                                              <p:pRg st="4" end="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97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29731">
                                            <p:txEl>
                                              <p:pRg st="5" end="5"/>
                                            </p:txEl>
                                          </p:spTgt>
                                        </p:tgtEl>
                                        <p:attrNameLst>
                                          <p:attrName>style.visibility</p:attrName>
                                        </p:attrNameLst>
                                      </p:cBhvr>
                                      <p:to>
                                        <p:strVal val="visible"/>
                                      </p:to>
                                    </p:set>
                                    <p:anim calcmode="lin" valueType="num">
                                      <p:cBhvr additive="base">
                                        <p:cTn id="19" dur="500" fill="hold"/>
                                        <p:tgtEl>
                                          <p:spTgt spid="329731">
                                            <p:txEl>
                                              <p:pRg st="5" end="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973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90291" y="598889"/>
            <a:ext cx="7935171" cy="880456"/>
          </a:xfrm>
        </p:spPr>
        <p:txBody>
          <a:bodyPr>
            <a:noAutofit/>
          </a:bodyPr>
          <a:lstStyle/>
          <a:p>
            <a:r>
              <a:rPr lang="en-US" sz="4400" dirty="0">
                <a:ln>
                  <a:noFill/>
                </a:ln>
                <a:solidFill>
                  <a:srgbClr val="FF0066"/>
                </a:solidFill>
                <a:latin typeface="Corbel" panose="020B0503020204020204" pitchFamily="34" charset="0"/>
              </a:rPr>
              <a:t>One-to-One</a:t>
            </a:r>
            <a:r>
              <a:rPr lang="en-US" sz="4400" dirty="0">
                <a:ln>
                  <a:noFill/>
                </a:ln>
                <a:latin typeface="Corbel" panose="020B0503020204020204" pitchFamily="34" charset="0"/>
              </a:rPr>
              <a:t> Relationship</a:t>
            </a:r>
          </a:p>
        </p:txBody>
      </p:sp>
      <p:sp>
        <p:nvSpPr>
          <p:cNvPr id="73731" name="Rectangle 3"/>
          <p:cNvSpPr>
            <a:spLocks noGrp="1" noChangeArrowheads="1"/>
          </p:cNvSpPr>
          <p:nvPr>
            <p:ph idx="4294967295"/>
          </p:nvPr>
        </p:nvSpPr>
        <p:spPr>
          <a:xfrm>
            <a:off x="560388" y="3429000"/>
            <a:ext cx="8202612" cy="3377496"/>
          </a:xfrm>
          <a:prstGeom prst="rect">
            <a:avLst/>
          </a:prstGeom>
        </p:spPr>
        <p:txBody>
          <a:bodyPr/>
          <a:lstStyle/>
          <a:p>
            <a:pPr marL="0" indent="0" algn="just">
              <a:buNone/>
            </a:pPr>
            <a:r>
              <a:rPr lang="en-US" sz="2800" dirty="0">
                <a:latin typeface="Corbel" panose="020B0503020204020204" pitchFamily="34" charset="0"/>
              </a:rPr>
              <a:t> An employee manages at most one department. A department can have only one manager managing it.</a:t>
            </a:r>
          </a:p>
          <a:p>
            <a:pPr>
              <a:buFont typeface="Wingdings" panose="05000000000000000000" pitchFamily="2" charset="2"/>
              <a:buNone/>
            </a:pPr>
            <a:endParaRPr lang="en-US" dirty="0"/>
          </a:p>
          <a:p>
            <a:pPr>
              <a:buFont typeface="Wingdings" panose="05000000000000000000" pitchFamily="2" charset="2"/>
              <a:buNone/>
            </a:pPr>
            <a:endParaRPr lang="en-US" dirty="0"/>
          </a:p>
        </p:txBody>
      </p:sp>
      <p:sp>
        <p:nvSpPr>
          <p:cNvPr id="73732" name="Text Box 9"/>
          <p:cNvSpPr txBox="1">
            <a:spLocks noChangeArrowheads="1"/>
          </p:cNvSpPr>
          <p:nvPr/>
        </p:nvSpPr>
        <p:spPr bwMode="auto">
          <a:xfrm>
            <a:off x="838200" y="5040030"/>
            <a:ext cx="1925638" cy="461963"/>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Employee</a:t>
            </a:r>
          </a:p>
        </p:txBody>
      </p:sp>
      <p:sp>
        <p:nvSpPr>
          <p:cNvPr id="73733" name="Text Box 10"/>
          <p:cNvSpPr txBox="1">
            <a:spLocks noChangeArrowheads="1"/>
          </p:cNvSpPr>
          <p:nvPr/>
        </p:nvSpPr>
        <p:spPr bwMode="auto">
          <a:xfrm>
            <a:off x="6096000" y="5110584"/>
            <a:ext cx="2286000" cy="461963"/>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Department</a:t>
            </a:r>
          </a:p>
        </p:txBody>
      </p:sp>
      <p:cxnSp>
        <p:nvCxnSpPr>
          <p:cNvPr id="73734" name="Straight Arrow Connector 14"/>
          <p:cNvCxnSpPr>
            <a:cxnSpLocks noChangeShapeType="1"/>
            <a:stCxn id="73732" idx="3"/>
          </p:cNvCxnSpPr>
          <p:nvPr/>
        </p:nvCxnSpPr>
        <p:spPr bwMode="auto">
          <a:xfrm flipV="1">
            <a:off x="2763838" y="5268630"/>
            <a:ext cx="1046162" cy="1588"/>
          </a:xfrm>
          <a:prstGeom prst="straightConnector1">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3735" name="Straight Arrow Connector 19"/>
          <p:cNvCxnSpPr>
            <a:cxnSpLocks noChangeShapeType="1"/>
            <a:stCxn id="73733" idx="1"/>
          </p:cNvCxnSpPr>
          <p:nvPr/>
        </p:nvCxnSpPr>
        <p:spPr bwMode="auto">
          <a:xfrm rot="10800000">
            <a:off x="5181600" y="5339184"/>
            <a:ext cx="914400" cy="1588"/>
          </a:xfrm>
          <a:prstGeom prst="straightConnector1">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3736" name="AutoShape 8"/>
          <p:cNvSpPr>
            <a:spLocks noChangeArrowheads="1"/>
          </p:cNvSpPr>
          <p:nvPr/>
        </p:nvSpPr>
        <p:spPr bwMode="auto">
          <a:xfrm>
            <a:off x="3810000" y="4620930"/>
            <a:ext cx="1371600" cy="1295400"/>
          </a:xfrm>
          <a:prstGeom prst="diamond">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Manages</a:t>
            </a:r>
          </a:p>
        </p:txBody>
      </p:sp>
      <p:sp>
        <p:nvSpPr>
          <p:cNvPr id="73737" name="Text Box 9"/>
          <p:cNvSpPr txBox="1">
            <a:spLocks noChangeArrowheads="1"/>
          </p:cNvSpPr>
          <p:nvPr/>
        </p:nvSpPr>
        <p:spPr bwMode="auto">
          <a:xfrm>
            <a:off x="3124200" y="4843884"/>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1</a:t>
            </a:r>
          </a:p>
        </p:txBody>
      </p:sp>
      <p:sp>
        <p:nvSpPr>
          <p:cNvPr id="73738" name="Text Box 10"/>
          <p:cNvSpPr txBox="1">
            <a:spLocks noChangeArrowheads="1"/>
          </p:cNvSpPr>
          <p:nvPr/>
        </p:nvSpPr>
        <p:spPr bwMode="auto">
          <a:xfrm>
            <a:off x="5410200" y="4843884"/>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1</a:t>
            </a:r>
          </a:p>
        </p:txBody>
      </p:sp>
      <p:pic>
        <p:nvPicPr>
          <p:cNvPr id="2" name="Picture 1"/>
          <p:cNvPicPr>
            <a:picLocks noChangeAspect="1"/>
          </p:cNvPicPr>
          <p:nvPr/>
        </p:nvPicPr>
        <p:blipFill>
          <a:blip r:embed="rId2"/>
          <a:stretch>
            <a:fillRect/>
          </a:stretch>
        </p:blipFill>
        <p:spPr>
          <a:xfrm>
            <a:off x="3723441" y="1489055"/>
            <a:ext cx="1295535" cy="1702319"/>
          </a:xfrm>
          <a:prstGeom prst="rect">
            <a:avLst/>
          </a:prstGeom>
        </p:spPr>
      </p:pic>
    </p:spTree>
    <p:extLst>
      <p:ext uri="{BB962C8B-B14F-4D97-AF65-F5344CB8AC3E}">
        <p14:creationId xmlns:p14="http://schemas.microsoft.com/office/powerpoint/2010/main" val="2028367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591078" y="260648"/>
            <a:ext cx="6377940" cy="1293028"/>
          </a:xfrm>
        </p:spPr>
        <p:txBody>
          <a:bodyPr>
            <a:normAutofit/>
          </a:bodyPr>
          <a:lstStyle/>
          <a:p>
            <a:r>
              <a:rPr lang="en-US" sz="4400" dirty="0">
                <a:ln>
                  <a:noFill/>
                </a:ln>
                <a:latin typeface="Corbel" panose="020B0503020204020204" pitchFamily="34" charset="0"/>
              </a:rPr>
              <a:t>Your Turn !!</a:t>
            </a:r>
          </a:p>
        </p:txBody>
      </p:sp>
      <p:sp>
        <p:nvSpPr>
          <p:cNvPr id="74755" name="Rectangle 3"/>
          <p:cNvSpPr>
            <a:spLocks noGrp="1" noChangeArrowheads="1"/>
          </p:cNvSpPr>
          <p:nvPr>
            <p:ph idx="4294967295"/>
          </p:nvPr>
        </p:nvSpPr>
        <p:spPr>
          <a:xfrm>
            <a:off x="395288" y="1412875"/>
            <a:ext cx="8283045" cy="4676775"/>
          </a:xfrm>
          <a:prstGeom prst="rect">
            <a:avLst/>
          </a:prstGeom>
        </p:spPr>
        <p:txBody>
          <a:bodyPr/>
          <a:lstStyle/>
          <a:p>
            <a:pPr>
              <a:buNone/>
            </a:pPr>
            <a:endParaRPr lang="en-US" dirty="0"/>
          </a:p>
          <a:p>
            <a:r>
              <a:rPr lang="en-US" sz="2800" dirty="0">
                <a:latin typeface="Corbel" panose="020B0503020204020204" pitchFamily="34" charset="0"/>
              </a:rPr>
              <a:t>Think about the Library database and give an example of a 1:1 relationship</a:t>
            </a:r>
          </a:p>
        </p:txBody>
      </p:sp>
    </p:spTree>
    <p:extLst>
      <p:ext uri="{BB962C8B-B14F-4D97-AF65-F5344CB8AC3E}">
        <p14:creationId xmlns:p14="http://schemas.microsoft.com/office/powerpoint/2010/main" val="1758924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4294967295"/>
          </p:nvPr>
        </p:nvSpPr>
        <p:spPr>
          <a:xfrm>
            <a:off x="506413" y="3810000"/>
            <a:ext cx="8408987" cy="2209800"/>
          </a:xfrm>
          <a:prstGeom prst="rect">
            <a:avLst/>
          </a:prstGeom>
        </p:spPr>
        <p:txBody>
          <a:bodyPr>
            <a:noAutofit/>
          </a:bodyPr>
          <a:lstStyle/>
          <a:p>
            <a:pPr>
              <a:lnSpc>
                <a:spcPct val="90000"/>
              </a:lnSpc>
            </a:pPr>
            <a:r>
              <a:rPr lang="en-US" sz="2800" dirty="0">
                <a:latin typeface="Corbel" panose="020B0503020204020204" pitchFamily="34" charset="0"/>
              </a:rPr>
              <a:t>An employee works in at most one department.</a:t>
            </a:r>
          </a:p>
          <a:p>
            <a:pPr>
              <a:lnSpc>
                <a:spcPct val="90000"/>
              </a:lnSpc>
              <a:buFont typeface="Wingdings" panose="05000000000000000000" pitchFamily="2" charset="2"/>
              <a:buNone/>
            </a:pPr>
            <a:r>
              <a:rPr lang="en-US" sz="2800" dirty="0">
                <a:latin typeface="Corbel" panose="020B0503020204020204" pitchFamily="34" charset="0"/>
              </a:rPr>
              <a:t> </a:t>
            </a:r>
          </a:p>
          <a:p>
            <a:pPr>
              <a:lnSpc>
                <a:spcPct val="90000"/>
              </a:lnSpc>
              <a:buFont typeface="Wingdings" panose="05000000000000000000" pitchFamily="2" charset="2"/>
              <a:buNone/>
            </a:pPr>
            <a:endParaRPr lang="en-US" sz="2800" dirty="0">
              <a:latin typeface="Corbel" panose="020B0503020204020204" pitchFamily="34" charset="0"/>
            </a:endParaRPr>
          </a:p>
          <a:p>
            <a:pPr marL="0" indent="0">
              <a:lnSpc>
                <a:spcPct val="90000"/>
              </a:lnSpc>
              <a:buNone/>
            </a:pPr>
            <a:endParaRPr lang="en-US" sz="2800" dirty="0">
              <a:latin typeface="Corbel" panose="020B0503020204020204" pitchFamily="34" charset="0"/>
            </a:endParaRPr>
          </a:p>
          <a:p>
            <a:pPr>
              <a:lnSpc>
                <a:spcPct val="90000"/>
              </a:lnSpc>
            </a:pPr>
            <a:r>
              <a:rPr lang="en-US" sz="2800" dirty="0">
                <a:latin typeface="Corbel" panose="020B0503020204020204" pitchFamily="34" charset="0"/>
              </a:rPr>
              <a:t>This is a </a:t>
            </a:r>
            <a:r>
              <a:rPr lang="en-US" sz="2800" b="1" dirty="0">
                <a:solidFill>
                  <a:srgbClr val="FF0066"/>
                </a:solidFill>
                <a:latin typeface="Corbel" panose="020B0503020204020204" pitchFamily="34" charset="0"/>
              </a:rPr>
              <a:t>one-to-many</a:t>
            </a:r>
            <a:r>
              <a:rPr lang="en-US" sz="2800" b="1" dirty="0">
                <a:latin typeface="Corbel" panose="020B0503020204020204" pitchFamily="34" charset="0"/>
              </a:rPr>
              <a:t> </a:t>
            </a:r>
            <a:r>
              <a:rPr lang="en-US" sz="2800" dirty="0">
                <a:latin typeface="Corbel" panose="020B0503020204020204" pitchFamily="34" charset="0"/>
              </a:rPr>
              <a:t>(or</a:t>
            </a:r>
            <a:r>
              <a:rPr lang="en-US" sz="2800" b="1" dirty="0">
                <a:latin typeface="Corbel" panose="020B0503020204020204" pitchFamily="34" charset="0"/>
              </a:rPr>
              <a:t> many-to-one</a:t>
            </a:r>
            <a:r>
              <a:rPr lang="en-US" sz="2800" dirty="0">
                <a:latin typeface="Corbel" panose="020B0503020204020204" pitchFamily="34" charset="0"/>
              </a:rPr>
              <a:t>) relationship</a:t>
            </a:r>
          </a:p>
        </p:txBody>
      </p:sp>
      <p:sp>
        <p:nvSpPr>
          <p:cNvPr id="75779" name="Text Box 9"/>
          <p:cNvSpPr txBox="1">
            <a:spLocks noChangeArrowheads="1"/>
          </p:cNvSpPr>
          <p:nvPr/>
        </p:nvSpPr>
        <p:spPr bwMode="auto">
          <a:xfrm>
            <a:off x="1076334" y="4779688"/>
            <a:ext cx="1925638"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Employee</a:t>
            </a:r>
          </a:p>
        </p:txBody>
      </p:sp>
      <p:sp>
        <p:nvSpPr>
          <p:cNvPr id="75780" name="Text Box 10"/>
          <p:cNvSpPr txBox="1">
            <a:spLocks noChangeArrowheads="1"/>
          </p:cNvSpPr>
          <p:nvPr/>
        </p:nvSpPr>
        <p:spPr bwMode="auto">
          <a:xfrm>
            <a:off x="6334134" y="4855888"/>
            <a:ext cx="2286000"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Department</a:t>
            </a:r>
          </a:p>
        </p:txBody>
      </p:sp>
      <p:sp>
        <p:nvSpPr>
          <p:cNvPr id="75781" name="Line 12"/>
          <p:cNvSpPr>
            <a:spLocks noChangeShapeType="1"/>
          </p:cNvSpPr>
          <p:nvPr/>
        </p:nvSpPr>
        <p:spPr bwMode="auto">
          <a:xfrm>
            <a:off x="5419734" y="5008288"/>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75782" name="Straight Arrow Connector 19"/>
          <p:cNvCxnSpPr>
            <a:cxnSpLocks noChangeShapeType="1"/>
          </p:cNvCxnSpPr>
          <p:nvPr/>
        </p:nvCxnSpPr>
        <p:spPr bwMode="auto">
          <a:xfrm>
            <a:off x="2981334" y="5006701"/>
            <a:ext cx="1066800" cy="1587"/>
          </a:xfrm>
          <a:prstGeom prst="straightConnector1">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5783" name="AutoShape 8"/>
          <p:cNvSpPr>
            <a:spLocks noChangeArrowheads="1"/>
          </p:cNvSpPr>
          <p:nvPr/>
        </p:nvSpPr>
        <p:spPr bwMode="auto">
          <a:xfrm>
            <a:off x="4052897" y="4398688"/>
            <a:ext cx="1366837" cy="1214438"/>
          </a:xfrm>
          <a:prstGeom prst="diamond">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Works in</a:t>
            </a:r>
          </a:p>
        </p:txBody>
      </p:sp>
      <p:sp>
        <p:nvSpPr>
          <p:cNvPr id="75784" name="Text Box 9"/>
          <p:cNvSpPr txBox="1">
            <a:spLocks noChangeArrowheads="1"/>
          </p:cNvSpPr>
          <p:nvPr/>
        </p:nvSpPr>
        <p:spPr bwMode="auto">
          <a:xfrm>
            <a:off x="3194059" y="4486001"/>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N</a:t>
            </a:r>
          </a:p>
        </p:txBody>
      </p:sp>
      <p:sp>
        <p:nvSpPr>
          <p:cNvPr id="75785" name="Text Box 10"/>
          <p:cNvSpPr txBox="1">
            <a:spLocks noChangeArrowheads="1"/>
          </p:cNvSpPr>
          <p:nvPr/>
        </p:nvSpPr>
        <p:spPr bwMode="auto">
          <a:xfrm>
            <a:off x="5556259" y="447488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1</a:t>
            </a:r>
          </a:p>
        </p:txBody>
      </p:sp>
      <p:sp>
        <p:nvSpPr>
          <p:cNvPr id="75786" name="Rectangle 2"/>
          <p:cNvSpPr>
            <a:spLocks noChangeArrowheads="1"/>
          </p:cNvSpPr>
          <p:nvPr/>
        </p:nvSpPr>
        <p:spPr bwMode="auto">
          <a:xfrm>
            <a:off x="558845" y="457200"/>
            <a:ext cx="8001000" cy="1254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sz="4400" b="0" dirty="0">
                <a:solidFill>
                  <a:srgbClr val="FF0066"/>
                </a:solidFill>
                <a:latin typeface="Corbel" panose="020B0503020204020204" pitchFamily="34" charset="0"/>
              </a:rPr>
              <a:t>One-to-Many</a:t>
            </a:r>
            <a:r>
              <a:rPr lang="en-US" sz="4400" b="0" dirty="0">
                <a:latin typeface="Corbel" panose="020B0503020204020204" pitchFamily="34" charset="0"/>
              </a:rPr>
              <a:t> Relationship</a:t>
            </a:r>
          </a:p>
        </p:txBody>
      </p:sp>
      <p:pic>
        <p:nvPicPr>
          <p:cNvPr id="3" name="Picture 2"/>
          <p:cNvPicPr>
            <a:picLocks noChangeAspect="1"/>
          </p:cNvPicPr>
          <p:nvPr/>
        </p:nvPicPr>
        <p:blipFill>
          <a:blip r:embed="rId2"/>
          <a:stretch>
            <a:fillRect/>
          </a:stretch>
        </p:blipFill>
        <p:spPr>
          <a:xfrm>
            <a:off x="3562359" y="1835376"/>
            <a:ext cx="1232170" cy="1918172"/>
          </a:xfrm>
          <a:prstGeom prst="rect">
            <a:avLst/>
          </a:prstGeom>
        </p:spPr>
      </p:pic>
    </p:spTree>
    <p:extLst>
      <p:ext uri="{BB962C8B-B14F-4D97-AF65-F5344CB8AC3E}">
        <p14:creationId xmlns:p14="http://schemas.microsoft.com/office/powerpoint/2010/main" val="401755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406342" y="762000"/>
            <a:ext cx="8424861" cy="832252"/>
          </a:xfrm>
        </p:spPr>
        <p:txBody>
          <a:bodyPr>
            <a:noAutofit/>
          </a:bodyPr>
          <a:lstStyle/>
          <a:p>
            <a:r>
              <a:rPr lang="en-US" altLang="en-US" sz="4400" dirty="0">
                <a:solidFill>
                  <a:srgbClr val="33CC33"/>
                </a:solidFill>
                <a:latin typeface="Corbel" panose="020B0503020204020204" pitchFamily="34" charset="0"/>
              </a:rPr>
              <a:t>Example</a:t>
            </a:r>
            <a:r>
              <a:rPr lang="en-US" altLang="en-US" sz="4400" dirty="0">
                <a:latin typeface="Corbel" panose="020B0503020204020204" pitchFamily="34" charset="0"/>
              </a:rPr>
              <a:t>: One - Many Relationship</a:t>
            </a:r>
          </a:p>
        </p:txBody>
      </p:sp>
      <p:sp>
        <p:nvSpPr>
          <p:cNvPr id="20484" name="Rectangle 3"/>
          <p:cNvSpPr>
            <a:spLocks noGrp="1" noChangeArrowheads="1"/>
          </p:cNvSpPr>
          <p:nvPr>
            <p:ph type="body" idx="4294967295"/>
          </p:nvPr>
        </p:nvSpPr>
        <p:spPr>
          <a:xfrm>
            <a:off x="719138" y="2057400"/>
            <a:ext cx="8112065" cy="3913188"/>
          </a:xfrm>
          <a:prstGeom prst="rect">
            <a:avLst/>
          </a:prstGeom>
        </p:spPr>
        <p:txBody>
          <a:bodyPr/>
          <a:lstStyle/>
          <a:p>
            <a:r>
              <a:rPr lang="en-US" altLang="en-US" sz="2800" dirty="0">
                <a:solidFill>
                  <a:srgbClr val="CC00CC"/>
                </a:solidFill>
                <a:latin typeface="Corbel" panose="020B0503020204020204" pitchFamily="34" charset="0"/>
              </a:rPr>
              <a:t>Favorite</a:t>
            </a:r>
            <a:r>
              <a:rPr lang="en-US" altLang="en-US" sz="2800" dirty="0">
                <a:latin typeface="Corbel" panose="020B0503020204020204" pitchFamily="34" charset="0"/>
              </a:rPr>
              <a:t>, from </a:t>
            </a:r>
            <a:r>
              <a:rPr lang="en-US" altLang="en-US" sz="2800" dirty="0">
                <a:solidFill>
                  <a:srgbClr val="009900"/>
                </a:solidFill>
                <a:latin typeface="Corbel" panose="020B0503020204020204" pitchFamily="34" charset="0"/>
              </a:rPr>
              <a:t>Drinker</a:t>
            </a:r>
            <a:r>
              <a:rPr lang="en-US" altLang="en-US" sz="2800" dirty="0">
                <a:latin typeface="Corbel" panose="020B0503020204020204" pitchFamily="34" charset="0"/>
              </a:rPr>
              <a:t> to </a:t>
            </a:r>
            <a:r>
              <a:rPr lang="en-US" altLang="en-US" sz="2800" dirty="0">
                <a:solidFill>
                  <a:srgbClr val="009900"/>
                </a:solidFill>
                <a:latin typeface="Corbel" panose="020B0503020204020204" pitchFamily="34" charset="0"/>
              </a:rPr>
              <a:t>Juice</a:t>
            </a:r>
            <a:r>
              <a:rPr lang="en-US" altLang="en-US" sz="2800" dirty="0">
                <a:latin typeface="Corbel" panose="020B0503020204020204" pitchFamily="34" charset="0"/>
              </a:rPr>
              <a:t> is one-many.</a:t>
            </a:r>
          </a:p>
          <a:p>
            <a:r>
              <a:rPr lang="en-US" altLang="en-US" sz="2800" dirty="0">
                <a:latin typeface="Corbel" panose="020B0503020204020204" pitchFamily="34" charset="0"/>
              </a:rPr>
              <a:t>A drinker has at most one favorite juice.</a:t>
            </a:r>
          </a:p>
          <a:p>
            <a:r>
              <a:rPr lang="en-US" altLang="en-US" sz="2800" dirty="0">
                <a:latin typeface="Corbel" panose="020B0503020204020204" pitchFamily="34" charset="0"/>
              </a:rPr>
              <a:t>But a juice can be the favorite of any number of drinkers, including zero.</a:t>
            </a:r>
          </a:p>
          <a:p>
            <a:endParaRPr lang="en-US" altLang="en-US" dirty="0"/>
          </a:p>
          <a:p>
            <a:pPr marL="0" indent="0">
              <a:buNone/>
            </a:pPr>
            <a:r>
              <a:rPr lang="en-US" altLang="en-US" dirty="0"/>
              <a:t>                  N                               1</a:t>
            </a:r>
          </a:p>
          <a:p>
            <a:pPr marL="0" indent="0">
              <a:buNone/>
            </a:pPr>
            <a:endParaRPr lang="en-US" altLang="en-US" dirty="0"/>
          </a:p>
        </p:txBody>
      </p:sp>
      <p:sp>
        <p:nvSpPr>
          <p:cNvPr id="6" name="Rectangle 3"/>
          <p:cNvSpPr>
            <a:spLocks noChangeArrowheads="1"/>
          </p:cNvSpPr>
          <p:nvPr/>
        </p:nvSpPr>
        <p:spPr bwMode="auto">
          <a:xfrm>
            <a:off x="878856" y="4779065"/>
            <a:ext cx="1066800" cy="838200"/>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ahoma" panose="020B0604030504040204" pitchFamily="34" charset="0"/>
              </a:rPr>
              <a:t>Drinker</a:t>
            </a:r>
          </a:p>
        </p:txBody>
      </p:sp>
      <p:sp>
        <p:nvSpPr>
          <p:cNvPr id="7" name="Rectangle 4"/>
          <p:cNvSpPr>
            <a:spLocks noChangeArrowheads="1"/>
          </p:cNvSpPr>
          <p:nvPr/>
        </p:nvSpPr>
        <p:spPr bwMode="auto">
          <a:xfrm>
            <a:off x="6559826" y="4791144"/>
            <a:ext cx="1066800" cy="838200"/>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ahoma" panose="020B0604030504040204" pitchFamily="34" charset="0"/>
              </a:rPr>
              <a:t>Juice</a:t>
            </a:r>
          </a:p>
        </p:txBody>
      </p:sp>
      <p:sp>
        <p:nvSpPr>
          <p:cNvPr id="8" name="AutoShape 5"/>
          <p:cNvSpPr>
            <a:spLocks noChangeArrowheads="1"/>
          </p:cNvSpPr>
          <p:nvPr/>
        </p:nvSpPr>
        <p:spPr bwMode="auto">
          <a:xfrm>
            <a:off x="3172172" y="4572000"/>
            <a:ext cx="1926601" cy="1219200"/>
          </a:xfrm>
          <a:prstGeom prst="diamond">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0" algn="ctr" eaLnBrk="0" fontAlgn="base" hangingPunct="0">
              <a:spcBef>
                <a:spcPct val="0"/>
              </a:spcBef>
              <a:spcAft>
                <a:spcPct val="0"/>
              </a:spcAft>
              <a:defRPr/>
            </a:pPr>
            <a:r>
              <a:rPr lang="en-US" altLang="en-US" kern="0" dirty="0">
                <a:solidFill>
                  <a:srgbClr val="000000"/>
                </a:solidFill>
              </a:rPr>
              <a:t>Favorite</a:t>
            </a:r>
          </a:p>
        </p:txBody>
      </p:sp>
      <p:sp>
        <p:nvSpPr>
          <p:cNvPr id="10" name="Line 11"/>
          <p:cNvSpPr>
            <a:spLocks noChangeShapeType="1"/>
          </p:cNvSpPr>
          <p:nvPr/>
        </p:nvSpPr>
        <p:spPr bwMode="auto">
          <a:xfrm>
            <a:off x="1945656" y="5181600"/>
            <a:ext cx="122651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 name="Line 12"/>
          <p:cNvSpPr>
            <a:spLocks noChangeShapeType="1"/>
          </p:cNvSpPr>
          <p:nvPr/>
        </p:nvSpPr>
        <p:spPr bwMode="auto">
          <a:xfrm>
            <a:off x="5105400" y="5181600"/>
            <a:ext cx="1447800" cy="1656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13173868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755708" y="776408"/>
            <a:ext cx="6377940" cy="777268"/>
          </a:xfrm>
        </p:spPr>
        <p:txBody>
          <a:bodyPr>
            <a:normAutofit/>
          </a:bodyPr>
          <a:lstStyle/>
          <a:p>
            <a:r>
              <a:rPr lang="en-US" sz="4400" dirty="0">
                <a:ln>
                  <a:noFill/>
                </a:ln>
                <a:latin typeface="Corbel" panose="020B0503020204020204" pitchFamily="34" charset="0"/>
              </a:rPr>
              <a:t>Your Turn !!</a:t>
            </a:r>
          </a:p>
        </p:txBody>
      </p:sp>
      <p:sp>
        <p:nvSpPr>
          <p:cNvPr id="76803" name="Rectangle 3"/>
          <p:cNvSpPr>
            <a:spLocks noGrp="1" noChangeArrowheads="1"/>
          </p:cNvSpPr>
          <p:nvPr>
            <p:ph idx="4294967295"/>
          </p:nvPr>
        </p:nvSpPr>
        <p:spPr>
          <a:xfrm>
            <a:off x="1099965" y="776408"/>
            <a:ext cx="8201613" cy="4795837"/>
          </a:xfrm>
          <a:prstGeom prst="rect">
            <a:avLst/>
          </a:prstGeom>
        </p:spPr>
        <p:txBody>
          <a:bodyPr/>
          <a:lstStyle/>
          <a:p>
            <a:endParaRPr lang="en-US" dirty="0"/>
          </a:p>
          <a:p>
            <a:pPr marL="0" indent="0">
              <a:buNone/>
            </a:pPr>
            <a:endParaRPr lang="en-US" dirty="0"/>
          </a:p>
          <a:p>
            <a:r>
              <a:rPr lang="en-US" sz="2800" dirty="0">
                <a:latin typeface="Corbel" panose="020B0503020204020204" pitchFamily="34" charset="0"/>
              </a:rPr>
              <a:t>Think about the Library database and give an  example of a 1:N relationship</a:t>
            </a:r>
          </a:p>
        </p:txBody>
      </p:sp>
    </p:spTree>
    <p:extLst>
      <p:ext uri="{BB962C8B-B14F-4D97-AF65-F5344CB8AC3E}">
        <p14:creationId xmlns:p14="http://schemas.microsoft.com/office/powerpoint/2010/main" val="8913791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01638" y="609600"/>
            <a:ext cx="8397718" cy="947688"/>
          </a:xfrm>
        </p:spPr>
        <p:txBody>
          <a:bodyPr>
            <a:noAutofit/>
          </a:bodyPr>
          <a:lstStyle/>
          <a:p>
            <a:r>
              <a:rPr lang="en-US" sz="4400" dirty="0">
                <a:ln>
                  <a:noFill/>
                </a:ln>
                <a:solidFill>
                  <a:srgbClr val="FF0066"/>
                </a:solidFill>
                <a:latin typeface="Corbel" panose="020B0503020204020204" pitchFamily="34" charset="0"/>
              </a:rPr>
              <a:t>Many-to-many</a:t>
            </a:r>
            <a:r>
              <a:rPr lang="en-US" sz="4400" dirty="0">
                <a:ln>
                  <a:noFill/>
                </a:ln>
                <a:latin typeface="Corbel" panose="020B0503020204020204" pitchFamily="34" charset="0"/>
              </a:rPr>
              <a:t> Relationship</a:t>
            </a:r>
          </a:p>
        </p:txBody>
      </p:sp>
      <p:sp>
        <p:nvSpPr>
          <p:cNvPr id="77827" name="Rectangle 3"/>
          <p:cNvSpPr>
            <a:spLocks noGrp="1" noChangeArrowheads="1"/>
          </p:cNvSpPr>
          <p:nvPr>
            <p:ph idx="4294967295"/>
          </p:nvPr>
        </p:nvSpPr>
        <p:spPr>
          <a:xfrm>
            <a:off x="401638" y="3716338"/>
            <a:ext cx="8742362" cy="3857625"/>
          </a:xfrm>
          <a:prstGeom prst="rect">
            <a:avLst/>
          </a:prstGeom>
        </p:spPr>
        <p:txBody>
          <a:bodyPr>
            <a:normAutofit/>
          </a:bodyPr>
          <a:lstStyle/>
          <a:p>
            <a:r>
              <a:rPr lang="en-US" sz="2800" dirty="0">
                <a:latin typeface="Corbel" panose="020B0503020204020204" pitchFamily="34" charset="0"/>
              </a:rPr>
              <a:t>An employee can work on several projects. A project can have many employees working on it.</a:t>
            </a:r>
          </a:p>
        </p:txBody>
      </p:sp>
      <p:sp>
        <p:nvSpPr>
          <p:cNvPr id="77828" name="Text Box 9"/>
          <p:cNvSpPr txBox="1">
            <a:spLocks noChangeArrowheads="1"/>
          </p:cNvSpPr>
          <p:nvPr/>
        </p:nvSpPr>
        <p:spPr bwMode="auto">
          <a:xfrm>
            <a:off x="990600" y="5178152"/>
            <a:ext cx="1925638"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Employee</a:t>
            </a:r>
          </a:p>
        </p:txBody>
      </p:sp>
      <p:sp>
        <p:nvSpPr>
          <p:cNvPr id="77829" name="Text Box 10"/>
          <p:cNvSpPr txBox="1">
            <a:spLocks noChangeArrowheads="1"/>
          </p:cNvSpPr>
          <p:nvPr/>
        </p:nvSpPr>
        <p:spPr bwMode="auto">
          <a:xfrm>
            <a:off x="6248400" y="5178152"/>
            <a:ext cx="2286000"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sz="2400" b="0">
                <a:latin typeface="Times New Roman" panose="02020603050405020304" pitchFamily="18" charset="0"/>
              </a:rPr>
              <a:t>Project</a:t>
            </a:r>
          </a:p>
        </p:txBody>
      </p:sp>
      <p:sp>
        <p:nvSpPr>
          <p:cNvPr id="77830" name="Line 11"/>
          <p:cNvSpPr>
            <a:spLocks noChangeShapeType="1"/>
          </p:cNvSpPr>
          <p:nvPr/>
        </p:nvSpPr>
        <p:spPr bwMode="auto">
          <a:xfrm>
            <a:off x="2895600" y="5406752"/>
            <a:ext cx="106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31" name="Line 12"/>
          <p:cNvSpPr>
            <a:spLocks noChangeShapeType="1"/>
          </p:cNvSpPr>
          <p:nvPr/>
        </p:nvSpPr>
        <p:spPr bwMode="auto">
          <a:xfrm>
            <a:off x="5334000" y="5406752"/>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32" name="AutoShape 8"/>
          <p:cNvSpPr>
            <a:spLocks noChangeArrowheads="1"/>
          </p:cNvSpPr>
          <p:nvPr/>
        </p:nvSpPr>
        <p:spPr bwMode="auto">
          <a:xfrm>
            <a:off x="3962400" y="4797152"/>
            <a:ext cx="1447800" cy="1219200"/>
          </a:xfrm>
          <a:prstGeom prst="diamond">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Works on</a:t>
            </a:r>
          </a:p>
        </p:txBody>
      </p:sp>
      <p:sp>
        <p:nvSpPr>
          <p:cNvPr id="77833" name="Text Box 9"/>
          <p:cNvSpPr txBox="1">
            <a:spLocks noChangeArrowheads="1"/>
          </p:cNvSpPr>
          <p:nvPr/>
        </p:nvSpPr>
        <p:spPr bwMode="auto">
          <a:xfrm>
            <a:off x="3413125" y="4884465"/>
            <a:ext cx="395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M</a:t>
            </a:r>
          </a:p>
        </p:txBody>
      </p:sp>
      <p:sp>
        <p:nvSpPr>
          <p:cNvPr id="77834" name="Text Box 10"/>
          <p:cNvSpPr txBox="1">
            <a:spLocks noChangeArrowheads="1"/>
          </p:cNvSpPr>
          <p:nvPr/>
        </p:nvSpPr>
        <p:spPr bwMode="auto">
          <a:xfrm>
            <a:off x="5548313" y="488764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N</a:t>
            </a:r>
          </a:p>
        </p:txBody>
      </p:sp>
      <p:pic>
        <p:nvPicPr>
          <p:cNvPr id="2" name="Picture 1"/>
          <p:cNvPicPr>
            <a:picLocks noChangeAspect="1"/>
          </p:cNvPicPr>
          <p:nvPr/>
        </p:nvPicPr>
        <p:blipFill>
          <a:blip r:embed="rId2"/>
          <a:stretch>
            <a:fillRect/>
          </a:stretch>
        </p:blipFill>
        <p:spPr>
          <a:xfrm>
            <a:off x="3632251" y="1619994"/>
            <a:ext cx="1104900" cy="1981200"/>
          </a:xfrm>
          <a:prstGeom prst="rect">
            <a:avLst/>
          </a:prstGeom>
        </p:spPr>
      </p:pic>
    </p:spTree>
    <p:extLst>
      <p:ext uri="{BB962C8B-B14F-4D97-AF65-F5344CB8AC3E}">
        <p14:creationId xmlns:p14="http://schemas.microsoft.com/office/powerpoint/2010/main" val="3698267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82315" y="1034043"/>
            <a:ext cx="9029569" cy="591640"/>
          </a:xfrm>
        </p:spPr>
        <p:txBody>
          <a:bodyPr>
            <a:noAutofit/>
          </a:bodyPr>
          <a:lstStyle/>
          <a:p>
            <a:r>
              <a:rPr lang="en-US" altLang="en-US" sz="4400" dirty="0">
                <a:solidFill>
                  <a:srgbClr val="33CC33"/>
                </a:solidFill>
                <a:latin typeface="Corbel" panose="020B0503020204020204" pitchFamily="34" charset="0"/>
              </a:rPr>
              <a:t>Example</a:t>
            </a:r>
            <a:r>
              <a:rPr lang="en-US" altLang="en-US" sz="4400" dirty="0">
                <a:latin typeface="Corbel" panose="020B0503020204020204" pitchFamily="34" charset="0"/>
              </a:rPr>
              <a:t>: Many - Many Relationship</a:t>
            </a:r>
          </a:p>
        </p:txBody>
      </p:sp>
      <p:sp>
        <p:nvSpPr>
          <p:cNvPr id="20484" name="Rectangle 3"/>
          <p:cNvSpPr>
            <a:spLocks noGrp="1" noChangeArrowheads="1"/>
          </p:cNvSpPr>
          <p:nvPr>
            <p:ph type="body" idx="4294967295"/>
          </p:nvPr>
        </p:nvSpPr>
        <p:spPr>
          <a:xfrm>
            <a:off x="719138" y="2438399"/>
            <a:ext cx="8196262" cy="3554413"/>
          </a:xfrm>
          <a:prstGeom prst="rect">
            <a:avLst/>
          </a:prstGeom>
        </p:spPr>
        <p:txBody>
          <a:bodyPr/>
          <a:lstStyle/>
          <a:p>
            <a:r>
              <a:rPr lang="en-US" altLang="en-US" sz="2800" dirty="0">
                <a:solidFill>
                  <a:srgbClr val="CC00CC"/>
                </a:solidFill>
                <a:latin typeface="Corbel" panose="020B0503020204020204" pitchFamily="34" charset="0"/>
              </a:rPr>
              <a:t>Likes</a:t>
            </a:r>
            <a:r>
              <a:rPr lang="en-US" altLang="en-US" sz="2800" dirty="0">
                <a:latin typeface="Corbel" panose="020B0503020204020204" pitchFamily="34" charset="0"/>
              </a:rPr>
              <a:t>, from </a:t>
            </a:r>
            <a:r>
              <a:rPr lang="en-US" altLang="en-US" sz="2800" dirty="0">
                <a:solidFill>
                  <a:srgbClr val="009900"/>
                </a:solidFill>
                <a:latin typeface="Corbel" panose="020B0503020204020204" pitchFamily="34" charset="0"/>
              </a:rPr>
              <a:t>Drinker</a:t>
            </a:r>
            <a:r>
              <a:rPr lang="en-US" altLang="en-US" sz="2800" dirty="0">
                <a:latin typeface="Corbel" panose="020B0503020204020204" pitchFamily="34" charset="0"/>
              </a:rPr>
              <a:t> to </a:t>
            </a:r>
            <a:r>
              <a:rPr lang="en-US" altLang="en-US" sz="2800" dirty="0">
                <a:solidFill>
                  <a:srgbClr val="009900"/>
                </a:solidFill>
                <a:latin typeface="Corbel" panose="020B0503020204020204" pitchFamily="34" charset="0"/>
              </a:rPr>
              <a:t>Juice</a:t>
            </a:r>
            <a:r>
              <a:rPr lang="en-US" altLang="en-US" sz="2800" dirty="0">
                <a:latin typeface="Corbel" panose="020B0503020204020204" pitchFamily="34" charset="0"/>
              </a:rPr>
              <a:t> is many-many.</a:t>
            </a:r>
          </a:p>
          <a:p>
            <a:pPr marL="0" indent="0">
              <a:buNone/>
            </a:pPr>
            <a:endParaRPr lang="en-US" altLang="en-US" dirty="0"/>
          </a:p>
          <a:p>
            <a:endParaRPr lang="en-US" altLang="en-US" dirty="0"/>
          </a:p>
          <a:p>
            <a:pPr marL="0" indent="0">
              <a:buNone/>
            </a:pPr>
            <a:r>
              <a:rPr lang="en-US" altLang="en-US" dirty="0"/>
              <a:t>                           N                         M</a:t>
            </a:r>
          </a:p>
          <a:p>
            <a:endParaRPr lang="en-US" altLang="en-US" dirty="0"/>
          </a:p>
        </p:txBody>
      </p:sp>
      <p:sp>
        <p:nvSpPr>
          <p:cNvPr id="6" name="Rectangle 3"/>
          <p:cNvSpPr>
            <a:spLocks noChangeArrowheads="1"/>
          </p:cNvSpPr>
          <p:nvPr/>
        </p:nvSpPr>
        <p:spPr bwMode="auto">
          <a:xfrm>
            <a:off x="1456928" y="4111510"/>
            <a:ext cx="1371600" cy="838200"/>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ahoma" panose="020B0604030504040204" pitchFamily="34" charset="0"/>
              </a:rPr>
              <a:t>Drinker</a:t>
            </a:r>
          </a:p>
        </p:txBody>
      </p:sp>
      <p:sp>
        <p:nvSpPr>
          <p:cNvPr id="7" name="Rectangle 4"/>
          <p:cNvSpPr>
            <a:spLocks noChangeArrowheads="1"/>
          </p:cNvSpPr>
          <p:nvPr/>
        </p:nvSpPr>
        <p:spPr bwMode="auto">
          <a:xfrm>
            <a:off x="7301948" y="4169488"/>
            <a:ext cx="1371600" cy="838200"/>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ahoma" panose="020B0604030504040204" pitchFamily="34" charset="0"/>
              </a:rPr>
              <a:t>Juice</a:t>
            </a:r>
          </a:p>
        </p:txBody>
      </p:sp>
      <p:sp>
        <p:nvSpPr>
          <p:cNvPr id="8" name="AutoShape 5"/>
          <p:cNvSpPr>
            <a:spLocks noChangeArrowheads="1"/>
          </p:cNvSpPr>
          <p:nvPr/>
        </p:nvSpPr>
        <p:spPr bwMode="auto">
          <a:xfrm>
            <a:off x="4152900" y="3978988"/>
            <a:ext cx="1371600" cy="1219200"/>
          </a:xfrm>
          <a:prstGeom prst="diamond">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0" algn="ctr" eaLnBrk="0" fontAlgn="base" hangingPunct="0">
              <a:spcBef>
                <a:spcPct val="0"/>
              </a:spcBef>
              <a:spcAft>
                <a:spcPct val="0"/>
              </a:spcAft>
              <a:defRPr/>
            </a:pPr>
            <a:r>
              <a:rPr lang="en-US" altLang="en-US" kern="0" dirty="0">
                <a:solidFill>
                  <a:srgbClr val="000000"/>
                </a:solidFill>
              </a:rPr>
              <a:t>like</a:t>
            </a:r>
          </a:p>
        </p:txBody>
      </p:sp>
      <p:sp>
        <p:nvSpPr>
          <p:cNvPr id="10" name="Line 11"/>
          <p:cNvSpPr>
            <a:spLocks noChangeShapeType="1"/>
          </p:cNvSpPr>
          <p:nvPr/>
        </p:nvSpPr>
        <p:spPr bwMode="auto">
          <a:xfrm flipV="1">
            <a:off x="2828528" y="4568688"/>
            <a:ext cx="1324372" cy="2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 name="Line 12"/>
          <p:cNvSpPr>
            <a:spLocks noChangeShapeType="1"/>
          </p:cNvSpPr>
          <p:nvPr/>
        </p:nvSpPr>
        <p:spPr bwMode="auto">
          <a:xfrm>
            <a:off x="5524500" y="4568710"/>
            <a:ext cx="1777448" cy="1974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10987574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311186" y="761999"/>
            <a:ext cx="6377940" cy="847709"/>
          </a:xfrm>
        </p:spPr>
        <p:txBody>
          <a:bodyPr>
            <a:normAutofit/>
          </a:bodyPr>
          <a:lstStyle/>
          <a:p>
            <a:r>
              <a:rPr lang="en-US" sz="4400" dirty="0">
                <a:ln>
                  <a:noFill/>
                </a:ln>
                <a:latin typeface="Corbel" panose="020B0503020204020204" pitchFamily="34" charset="0"/>
              </a:rPr>
              <a:t>Your Turn !!</a:t>
            </a:r>
          </a:p>
        </p:txBody>
      </p:sp>
      <p:sp>
        <p:nvSpPr>
          <p:cNvPr id="78851" name="Rectangle 3"/>
          <p:cNvSpPr>
            <a:spLocks noGrp="1" noChangeArrowheads="1"/>
          </p:cNvSpPr>
          <p:nvPr>
            <p:ph idx="4294967295"/>
          </p:nvPr>
        </p:nvSpPr>
        <p:spPr>
          <a:xfrm>
            <a:off x="429681" y="2057399"/>
            <a:ext cx="8483835" cy="3056229"/>
          </a:xfrm>
          <a:prstGeom prst="rect">
            <a:avLst/>
          </a:prstGeom>
        </p:spPr>
        <p:txBody>
          <a:bodyPr>
            <a:normAutofit/>
          </a:bodyPr>
          <a:lstStyle/>
          <a:p>
            <a:r>
              <a:rPr lang="en-US" sz="2800" dirty="0">
                <a:latin typeface="Corbel" panose="020B0503020204020204" pitchFamily="34" charset="0"/>
              </a:rPr>
              <a:t>Think about the Library database and give an example of a N:M relationship</a:t>
            </a:r>
          </a:p>
        </p:txBody>
      </p:sp>
    </p:spTree>
    <p:extLst>
      <p:ext uri="{BB962C8B-B14F-4D97-AF65-F5344CB8AC3E}">
        <p14:creationId xmlns:p14="http://schemas.microsoft.com/office/powerpoint/2010/main" val="3465869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9591" y="762000"/>
            <a:ext cx="6377940" cy="771140"/>
          </a:xfrm>
        </p:spPr>
        <p:txBody>
          <a:bodyPr>
            <a:normAutofit/>
          </a:bodyPr>
          <a:lstStyle/>
          <a:p>
            <a:r>
              <a:rPr lang="en-US" sz="4400" dirty="0">
                <a:latin typeface="Corbel" panose="020B0503020204020204" pitchFamily="34" charset="0"/>
              </a:rPr>
              <a:t>Exercise</a:t>
            </a:r>
          </a:p>
        </p:txBody>
      </p:sp>
      <p:sp>
        <p:nvSpPr>
          <p:cNvPr id="3" name="Content Placeholder 2"/>
          <p:cNvSpPr>
            <a:spLocks noGrp="1"/>
          </p:cNvSpPr>
          <p:nvPr>
            <p:ph idx="4294967295"/>
          </p:nvPr>
        </p:nvSpPr>
        <p:spPr>
          <a:xfrm>
            <a:off x="917224" y="1981200"/>
            <a:ext cx="7618413" cy="4292014"/>
          </a:xfrm>
          <a:prstGeom prst="rect">
            <a:avLst/>
          </a:prstGeom>
        </p:spPr>
        <p:txBody>
          <a:bodyPr/>
          <a:lstStyle/>
          <a:p>
            <a:pPr marL="0" indent="0">
              <a:buNone/>
            </a:pPr>
            <a:r>
              <a:rPr lang="en-US" sz="2800" dirty="0">
                <a:latin typeface="Corbel" panose="020B0503020204020204" pitchFamily="34" charset="0"/>
              </a:rPr>
              <a:t>Identify the Cardinality</a:t>
            </a:r>
          </a:p>
          <a:p>
            <a:pPr marL="0" indent="0">
              <a:buNone/>
            </a:pPr>
            <a:endParaRPr lang="en-US" sz="2800" dirty="0">
              <a:latin typeface="Corbel" panose="020B0503020204020204" pitchFamily="34" charset="0"/>
            </a:endParaRPr>
          </a:p>
          <a:p>
            <a:r>
              <a:rPr lang="en-US" sz="2800" dirty="0">
                <a:latin typeface="Corbel" panose="020B0503020204020204" pitchFamily="34" charset="0"/>
              </a:rPr>
              <a:t>Doctor patient  </a:t>
            </a:r>
          </a:p>
          <a:p>
            <a:r>
              <a:rPr lang="en-US" sz="2800" dirty="0">
                <a:latin typeface="Corbel" panose="020B0503020204020204" pitchFamily="34" charset="0"/>
              </a:rPr>
              <a:t>Principal School</a:t>
            </a:r>
          </a:p>
          <a:p>
            <a:r>
              <a:rPr lang="en-US" sz="2800" dirty="0">
                <a:latin typeface="Corbel" panose="020B0503020204020204" pitchFamily="34" charset="0"/>
              </a:rPr>
              <a:t>Mother  child</a:t>
            </a:r>
          </a:p>
          <a:p>
            <a:r>
              <a:rPr lang="en-US" sz="2800" dirty="0">
                <a:latin typeface="Corbel" panose="020B0503020204020204" pitchFamily="34" charset="0"/>
              </a:rPr>
              <a:t>Husband wife </a:t>
            </a:r>
          </a:p>
          <a:p>
            <a:r>
              <a:rPr lang="en-US" sz="2800" dirty="0">
                <a:latin typeface="Corbel" panose="020B0503020204020204" pitchFamily="34" charset="0"/>
              </a:rPr>
              <a:t>Teacher Student</a:t>
            </a:r>
          </a:p>
          <a:p>
            <a:endParaRPr lang="en-US" dirty="0"/>
          </a:p>
          <a:p>
            <a:endParaRPr lang="en-US" dirty="0"/>
          </a:p>
        </p:txBody>
      </p:sp>
      <p:grpSp>
        <p:nvGrpSpPr>
          <p:cNvPr id="7" name="Group 6">
            <a:extLst>
              <a:ext uri="{FF2B5EF4-FFF2-40B4-BE49-F238E27FC236}">
                <a16:creationId xmlns:a16="http://schemas.microsoft.com/office/drawing/2014/main" id="{9BA11AA5-16BC-927E-CDA7-05F9487FDB77}"/>
              </a:ext>
            </a:extLst>
          </p:cNvPr>
          <p:cNvGrpSpPr/>
          <p:nvPr/>
        </p:nvGrpSpPr>
        <p:grpSpPr>
          <a:xfrm>
            <a:off x="4079400" y="3119824"/>
            <a:ext cx="717480" cy="225000"/>
            <a:chOff x="4079400" y="3119824"/>
            <a:chExt cx="717480" cy="22500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4629048-2024-464B-8FE2-0C0694C8BAF0}"/>
                    </a:ext>
                  </a:extLst>
                </p14:cNvPr>
                <p14:cNvContentPartPr/>
                <p14:nvPr/>
              </p14:nvContentPartPr>
              <p14:xfrm>
                <a:off x="4079400" y="3119824"/>
                <a:ext cx="8280" cy="206280"/>
              </p14:xfrm>
            </p:contentPart>
          </mc:Choice>
          <mc:Fallback>
            <p:pic>
              <p:nvPicPr>
                <p:cNvPr id="4" name="Ink 3">
                  <a:extLst>
                    <a:ext uri="{FF2B5EF4-FFF2-40B4-BE49-F238E27FC236}">
                      <a16:creationId xmlns:a16="http://schemas.microsoft.com/office/drawing/2014/main" id="{C4629048-2024-464B-8FE2-0C0694C8BAF0}"/>
                    </a:ext>
                  </a:extLst>
                </p:cNvPr>
                <p:cNvPicPr/>
                <p:nvPr/>
              </p:nvPicPr>
              <p:blipFill>
                <a:blip r:embed="rId3"/>
                <a:stretch>
                  <a:fillRect/>
                </a:stretch>
              </p:blipFill>
              <p:spPr>
                <a:xfrm>
                  <a:off x="4073280" y="3113704"/>
                  <a:ext cx="2052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72204A25-B1BB-A714-54D0-EE62FB7600F6}"/>
                    </a:ext>
                  </a:extLst>
                </p14:cNvPr>
                <p14:cNvContentPartPr/>
                <p14:nvPr/>
              </p14:nvContentPartPr>
              <p14:xfrm>
                <a:off x="4275960" y="3239344"/>
                <a:ext cx="110160" cy="24120"/>
              </p14:xfrm>
            </p:contentPart>
          </mc:Choice>
          <mc:Fallback>
            <p:pic>
              <p:nvPicPr>
                <p:cNvPr id="5" name="Ink 4">
                  <a:extLst>
                    <a:ext uri="{FF2B5EF4-FFF2-40B4-BE49-F238E27FC236}">
                      <a16:creationId xmlns:a16="http://schemas.microsoft.com/office/drawing/2014/main" id="{72204A25-B1BB-A714-54D0-EE62FB7600F6}"/>
                    </a:ext>
                  </a:extLst>
                </p:cNvPr>
                <p:cNvPicPr/>
                <p:nvPr/>
              </p:nvPicPr>
              <p:blipFill>
                <a:blip r:embed="rId5"/>
                <a:stretch>
                  <a:fillRect/>
                </a:stretch>
              </p:blipFill>
              <p:spPr>
                <a:xfrm>
                  <a:off x="4269840" y="3233224"/>
                  <a:ext cx="12240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B54B7ABD-2260-5918-70B2-C28C7415CDF4}"/>
                    </a:ext>
                  </a:extLst>
                </p14:cNvPr>
                <p14:cNvContentPartPr/>
                <p14:nvPr/>
              </p14:nvContentPartPr>
              <p14:xfrm>
                <a:off x="4536240" y="3128464"/>
                <a:ext cx="260640" cy="216360"/>
              </p14:xfrm>
            </p:contentPart>
          </mc:Choice>
          <mc:Fallback>
            <p:pic>
              <p:nvPicPr>
                <p:cNvPr id="6" name="Ink 5">
                  <a:extLst>
                    <a:ext uri="{FF2B5EF4-FFF2-40B4-BE49-F238E27FC236}">
                      <a16:creationId xmlns:a16="http://schemas.microsoft.com/office/drawing/2014/main" id="{B54B7ABD-2260-5918-70B2-C28C7415CDF4}"/>
                    </a:ext>
                  </a:extLst>
                </p:cNvPr>
                <p:cNvPicPr/>
                <p:nvPr/>
              </p:nvPicPr>
              <p:blipFill>
                <a:blip r:embed="rId7"/>
                <a:stretch>
                  <a:fillRect/>
                </a:stretch>
              </p:blipFill>
              <p:spPr>
                <a:xfrm>
                  <a:off x="4530120" y="3122344"/>
                  <a:ext cx="272880" cy="228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4FED3C67-41F9-34F6-5BBA-D85F95377888}"/>
                  </a:ext>
                </a:extLst>
              </p14:cNvPr>
              <p14:cNvContentPartPr/>
              <p14:nvPr/>
            </p14:nvContentPartPr>
            <p14:xfrm>
              <a:off x="4091280" y="3702304"/>
              <a:ext cx="6120" cy="226800"/>
            </p14:xfrm>
          </p:contentPart>
        </mc:Choice>
        <mc:Fallback>
          <p:pic>
            <p:nvPicPr>
              <p:cNvPr id="8" name="Ink 7">
                <a:extLst>
                  <a:ext uri="{FF2B5EF4-FFF2-40B4-BE49-F238E27FC236}">
                    <a16:creationId xmlns:a16="http://schemas.microsoft.com/office/drawing/2014/main" id="{4FED3C67-41F9-34F6-5BBA-D85F95377888}"/>
                  </a:ext>
                </a:extLst>
              </p:cNvPr>
              <p:cNvPicPr/>
              <p:nvPr/>
            </p:nvPicPr>
            <p:blipFill>
              <a:blip r:embed="rId9"/>
              <a:stretch>
                <a:fillRect/>
              </a:stretch>
            </p:blipFill>
            <p:spPr>
              <a:xfrm>
                <a:off x="4085160" y="3696184"/>
                <a:ext cx="1836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DB58C9C1-861D-8EC2-E99E-192D0B2A7236}"/>
                  </a:ext>
                </a:extLst>
              </p14:cNvPr>
              <p14:cNvContentPartPr/>
              <p14:nvPr/>
            </p14:nvContentPartPr>
            <p14:xfrm>
              <a:off x="4320960" y="3836584"/>
              <a:ext cx="151560" cy="360"/>
            </p14:xfrm>
          </p:contentPart>
        </mc:Choice>
        <mc:Fallback>
          <p:pic>
            <p:nvPicPr>
              <p:cNvPr id="9" name="Ink 8">
                <a:extLst>
                  <a:ext uri="{FF2B5EF4-FFF2-40B4-BE49-F238E27FC236}">
                    <a16:creationId xmlns:a16="http://schemas.microsoft.com/office/drawing/2014/main" id="{DB58C9C1-861D-8EC2-E99E-192D0B2A7236}"/>
                  </a:ext>
                </a:extLst>
              </p:cNvPr>
              <p:cNvPicPr/>
              <p:nvPr/>
            </p:nvPicPr>
            <p:blipFill>
              <a:blip r:embed="rId11"/>
              <a:stretch>
                <a:fillRect/>
              </a:stretch>
            </p:blipFill>
            <p:spPr>
              <a:xfrm>
                <a:off x="4314840" y="3830464"/>
                <a:ext cx="1638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9E4DCD21-C7AA-C792-502D-F9E3C238C5EA}"/>
                  </a:ext>
                </a:extLst>
              </p14:cNvPr>
              <p14:cNvContentPartPr/>
              <p14:nvPr/>
            </p14:nvContentPartPr>
            <p14:xfrm>
              <a:off x="4616520" y="3712384"/>
              <a:ext cx="19440" cy="268920"/>
            </p14:xfrm>
          </p:contentPart>
        </mc:Choice>
        <mc:Fallback>
          <p:pic>
            <p:nvPicPr>
              <p:cNvPr id="10" name="Ink 9">
                <a:extLst>
                  <a:ext uri="{FF2B5EF4-FFF2-40B4-BE49-F238E27FC236}">
                    <a16:creationId xmlns:a16="http://schemas.microsoft.com/office/drawing/2014/main" id="{9E4DCD21-C7AA-C792-502D-F9E3C238C5EA}"/>
                  </a:ext>
                </a:extLst>
              </p:cNvPr>
              <p:cNvPicPr/>
              <p:nvPr/>
            </p:nvPicPr>
            <p:blipFill>
              <a:blip r:embed="rId13"/>
              <a:stretch>
                <a:fillRect/>
              </a:stretch>
            </p:blipFill>
            <p:spPr>
              <a:xfrm>
                <a:off x="4610400" y="3706264"/>
                <a:ext cx="3168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FF17154E-B3CE-09DC-A32F-CA59C1AA4D6A}"/>
                  </a:ext>
                </a:extLst>
              </p14:cNvPr>
              <p14:cNvContentPartPr/>
              <p14:nvPr/>
            </p14:nvContentPartPr>
            <p14:xfrm>
              <a:off x="3899400" y="4231362"/>
              <a:ext cx="360" cy="223560"/>
            </p14:xfrm>
          </p:contentPart>
        </mc:Choice>
        <mc:Fallback>
          <p:pic>
            <p:nvPicPr>
              <p:cNvPr id="11" name="Ink 10">
                <a:extLst>
                  <a:ext uri="{FF2B5EF4-FFF2-40B4-BE49-F238E27FC236}">
                    <a16:creationId xmlns:a16="http://schemas.microsoft.com/office/drawing/2014/main" id="{FF17154E-B3CE-09DC-A32F-CA59C1AA4D6A}"/>
                  </a:ext>
                </a:extLst>
              </p:cNvPr>
              <p:cNvPicPr/>
              <p:nvPr/>
            </p:nvPicPr>
            <p:blipFill>
              <a:blip r:embed="rId15"/>
              <a:stretch>
                <a:fillRect/>
              </a:stretch>
            </p:blipFill>
            <p:spPr>
              <a:xfrm>
                <a:off x="3893280" y="4225242"/>
                <a:ext cx="12600" cy="235800"/>
              </a:xfrm>
              <a:prstGeom prst="rect">
                <a:avLst/>
              </a:prstGeom>
            </p:spPr>
          </p:pic>
        </mc:Fallback>
      </mc:AlternateContent>
      <p:grpSp>
        <p:nvGrpSpPr>
          <p:cNvPr id="14" name="Group 13">
            <a:extLst>
              <a:ext uri="{FF2B5EF4-FFF2-40B4-BE49-F238E27FC236}">
                <a16:creationId xmlns:a16="http://schemas.microsoft.com/office/drawing/2014/main" id="{FF79A19E-D398-48AD-0186-BB6B6A67DB05}"/>
              </a:ext>
            </a:extLst>
          </p:cNvPr>
          <p:cNvGrpSpPr/>
          <p:nvPr/>
        </p:nvGrpSpPr>
        <p:grpSpPr>
          <a:xfrm>
            <a:off x="4132320" y="4240362"/>
            <a:ext cx="709200" cy="205560"/>
            <a:chOff x="4132320" y="4240362"/>
            <a:chExt cx="709200" cy="205560"/>
          </a:xfrm>
        </p:grpSpPr>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28B9B2AA-A0A1-712D-0CDB-BC5475D544E1}"/>
                    </a:ext>
                  </a:extLst>
                </p14:cNvPr>
                <p14:cNvContentPartPr/>
                <p14:nvPr/>
              </p14:nvContentPartPr>
              <p14:xfrm>
                <a:off x="4132320" y="4338282"/>
                <a:ext cx="232560" cy="10080"/>
              </p14:xfrm>
            </p:contentPart>
          </mc:Choice>
          <mc:Fallback>
            <p:pic>
              <p:nvPicPr>
                <p:cNvPr id="12" name="Ink 11">
                  <a:extLst>
                    <a:ext uri="{FF2B5EF4-FFF2-40B4-BE49-F238E27FC236}">
                      <a16:creationId xmlns:a16="http://schemas.microsoft.com/office/drawing/2014/main" id="{28B9B2AA-A0A1-712D-0CDB-BC5475D544E1}"/>
                    </a:ext>
                  </a:extLst>
                </p:cNvPr>
                <p:cNvPicPr/>
                <p:nvPr/>
              </p:nvPicPr>
              <p:blipFill>
                <a:blip r:embed="rId17"/>
                <a:stretch>
                  <a:fillRect/>
                </a:stretch>
              </p:blipFill>
              <p:spPr>
                <a:xfrm>
                  <a:off x="4126200" y="4332162"/>
                  <a:ext cx="2448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EE34765B-42AB-051C-7502-3B302B9B558D}"/>
                    </a:ext>
                  </a:extLst>
                </p14:cNvPr>
                <p14:cNvContentPartPr/>
                <p14:nvPr/>
              </p14:nvContentPartPr>
              <p14:xfrm>
                <a:off x="4544880" y="4240362"/>
                <a:ext cx="296640" cy="205560"/>
              </p14:xfrm>
            </p:contentPart>
          </mc:Choice>
          <mc:Fallback>
            <p:pic>
              <p:nvPicPr>
                <p:cNvPr id="13" name="Ink 12">
                  <a:extLst>
                    <a:ext uri="{FF2B5EF4-FFF2-40B4-BE49-F238E27FC236}">
                      <a16:creationId xmlns:a16="http://schemas.microsoft.com/office/drawing/2014/main" id="{EE34765B-42AB-051C-7502-3B302B9B558D}"/>
                    </a:ext>
                  </a:extLst>
                </p:cNvPr>
                <p:cNvPicPr/>
                <p:nvPr/>
              </p:nvPicPr>
              <p:blipFill>
                <a:blip r:embed="rId19"/>
                <a:stretch>
                  <a:fillRect/>
                </a:stretch>
              </p:blipFill>
              <p:spPr>
                <a:xfrm>
                  <a:off x="4538760" y="4234242"/>
                  <a:ext cx="308880" cy="217800"/>
                </a:xfrm>
                <a:prstGeom prst="rect">
                  <a:avLst/>
                </a:prstGeom>
              </p:spPr>
            </p:pic>
          </mc:Fallback>
        </mc:AlternateContent>
      </p:grpSp>
      <p:grpSp>
        <p:nvGrpSpPr>
          <p:cNvPr id="18" name="Group 17">
            <a:extLst>
              <a:ext uri="{FF2B5EF4-FFF2-40B4-BE49-F238E27FC236}">
                <a16:creationId xmlns:a16="http://schemas.microsoft.com/office/drawing/2014/main" id="{8AEA5DE3-F35C-FF06-C630-970DA34264A0}"/>
              </a:ext>
            </a:extLst>
          </p:cNvPr>
          <p:cNvGrpSpPr/>
          <p:nvPr/>
        </p:nvGrpSpPr>
        <p:grpSpPr>
          <a:xfrm>
            <a:off x="3805800" y="4760202"/>
            <a:ext cx="694800" cy="339480"/>
            <a:chOff x="3805800" y="4760202"/>
            <a:chExt cx="694800" cy="339480"/>
          </a:xfrm>
        </p:grpSpPr>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6152A37F-6B5B-3E7A-DC76-4520B4D8461C}"/>
                    </a:ext>
                  </a:extLst>
                </p14:cNvPr>
                <p14:cNvContentPartPr/>
                <p14:nvPr/>
              </p14:nvContentPartPr>
              <p14:xfrm>
                <a:off x="3805800" y="4760202"/>
                <a:ext cx="12960" cy="282240"/>
              </p14:xfrm>
            </p:contentPart>
          </mc:Choice>
          <mc:Fallback>
            <p:pic>
              <p:nvPicPr>
                <p:cNvPr id="15" name="Ink 14">
                  <a:extLst>
                    <a:ext uri="{FF2B5EF4-FFF2-40B4-BE49-F238E27FC236}">
                      <a16:creationId xmlns:a16="http://schemas.microsoft.com/office/drawing/2014/main" id="{6152A37F-6B5B-3E7A-DC76-4520B4D8461C}"/>
                    </a:ext>
                  </a:extLst>
                </p:cNvPr>
                <p:cNvPicPr/>
                <p:nvPr/>
              </p:nvPicPr>
              <p:blipFill>
                <a:blip r:embed="rId21"/>
                <a:stretch>
                  <a:fillRect/>
                </a:stretch>
              </p:blipFill>
              <p:spPr>
                <a:xfrm>
                  <a:off x="3799680" y="4754082"/>
                  <a:ext cx="2520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2EC87548-2CD8-8381-D859-DFD1DEDCA878}"/>
                    </a:ext>
                  </a:extLst>
                </p14:cNvPr>
                <p14:cNvContentPartPr/>
                <p14:nvPr/>
              </p14:nvContentPartPr>
              <p14:xfrm>
                <a:off x="3953400" y="4885482"/>
                <a:ext cx="313200" cy="360"/>
              </p14:xfrm>
            </p:contentPart>
          </mc:Choice>
          <mc:Fallback>
            <p:pic>
              <p:nvPicPr>
                <p:cNvPr id="16" name="Ink 15">
                  <a:extLst>
                    <a:ext uri="{FF2B5EF4-FFF2-40B4-BE49-F238E27FC236}">
                      <a16:creationId xmlns:a16="http://schemas.microsoft.com/office/drawing/2014/main" id="{2EC87548-2CD8-8381-D859-DFD1DEDCA878}"/>
                    </a:ext>
                  </a:extLst>
                </p:cNvPr>
                <p:cNvPicPr/>
                <p:nvPr/>
              </p:nvPicPr>
              <p:blipFill>
                <a:blip r:embed="rId23"/>
                <a:stretch>
                  <a:fillRect/>
                </a:stretch>
              </p:blipFill>
              <p:spPr>
                <a:xfrm>
                  <a:off x="3947280" y="4879362"/>
                  <a:ext cx="3254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09D8F746-015D-3DC7-0949-D056C78BB42D}"/>
                    </a:ext>
                  </a:extLst>
                </p14:cNvPr>
                <p14:cNvContentPartPr/>
                <p14:nvPr/>
              </p14:nvContentPartPr>
              <p14:xfrm>
                <a:off x="4458480" y="4786842"/>
                <a:ext cx="42120" cy="312840"/>
              </p14:xfrm>
            </p:contentPart>
          </mc:Choice>
          <mc:Fallback>
            <p:pic>
              <p:nvPicPr>
                <p:cNvPr id="17" name="Ink 16">
                  <a:extLst>
                    <a:ext uri="{FF2B5EF4-FFF2-40B4-BE49-F238E27FC236}">
                      <a16:creationId xmlns:a16="http://schemas.microsoft.com/office/drawing/2014/main" id="{09D8F746-015D-3DC7-0949-D056C78BB42D}"/>
                    </a:ext>
                  </a:extLst>
                </p:cNvPr>
                <p:cNvPicPr/>
                <p:nvPr/>
              </p:nvPicPr>
              <p:blipFill>
                <a:blip r:embed="rId25"/>
                <a:stretch>
                  <a:fillRect/>
                </a:stretch>
              </p:blipFill>
              <p:spPr>
                <a:xfrm>
                  <a:off x="4452360" y="4780722"/>
                  <a:ext cx="54360" cy="325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A063A012-E178-E6C2-7078-DB32C920ACEE}"/>
                  </a:ext>
                </a:extLst>
              </p14:cNvPr>
              <p14:cNvContentPartPr/>
              <p14:nvPr/>
            </p14:nvContentPartPr>
            <p14:xfrm>
              <a:off x="4098480" y="5307042"/>
              <a:ext cx="305640" cy="223560"/>
            </p14:xfrm>
          </p:contentPart>
        </mc:Choice>
        <mc:Fallback>
          <p:pic>
            <p:nvPicPr>
              <p:cNvPr id="19" name="Ink 18">
                <a:extLst>
                  <a:ext uri="{FF2B5EF4-FFF2-40B4-BE49-F238E27FC236}">
                    <a16:creationId xmlns:a16="http://schemas.microsoft.com/office/drawing/2014/main" id="{A063A012-E178-E6C2-7078-DB32C920ACEE}"/>
                  </a:ext>
                </a:extLst>
              </p:cNvPr>
              <p:cNvPicPr/>
              <p:nvPr/>
            </p:nvPicPr>
            <p:blipFill>
              <a:blip r:embed="rId27"/>
              <a:stretch>
                <a:fillRect/>
              </a:stretch>
            </p:blipFill>
            <p:spPr>
              <a:xfrm>
                <a:off x="4092360" y="5300922"/>
                <a:ext cx="317880" cy="235800"/>
              </a:xfrm>
              <a:prstGeom prst="rect">
                <a:avLst/>
              </a:prstGeom>
            </p:spPr>
          </p:pic>
        </mc:Fallback>
      </mc:AlternateContent>
      <p:grpSp>
        <p:nvGrpSpPr>
          <p:cNvPr id="22" name="Group 21">
            <a:extLst>
              <a:ext uri="{FF2B5EF4-FFF2-40B4-BE49-F238E27FC236}">
                <a16:creationId xmlns:a16="http://schemas.microsoft.com/office/drawing/2014/main" id="{4E6C9408-767D-022D-2A4C-9D4D301F9EEF}"/>
              </a:ext>
            </a:extLst>
          </p:cNvPr>
          <p:cNvGrpSpPr/>
          <p:nvPr/>
        </p:nvGrpSpPr>
        <p:grpSpPr>
          <a:xfrm>
            <a:off x="4634880" y="5335122"/>
            <a:ext cx="636840" cy="240480"/>
            <a:chOff x="4634880" y="5335122"/>
            <a:chExt cx="636840" cy="240480"/>
          </a:xfrm>
        </p:grpSpPr>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861DCF4B-E9E3-DC22-4B72-41E4F2B50710}"/>
                    </a:ext>
                  </a:extLst>
                </p14:cNvPr>
                <p14:cNvContentPartPr/>
                <p14:nvPr/>
              </p14:nvContentPartPr>
              <p14:xfrm>
                <a:off x="4634880" y="5352762"/>
                <a:ext cx="187920" cy="43920"/>
              </p14:xfrm>
            </p:contentPart>
          </mc:Choice>
          <mc:Fallback>
            <p:pic>
              <p:nvPicPr>
                <p:cNvPr id="20" name="Ink 19">
                  <a:extLst>
                    <a:ext uri="{FF2B5EF4-FFF2-40B4-BE49-F238E27FC236}">
                      <a16:creationId xmlns:a16="http://schemas.microsoft.com/office/drawing/2014/main" id="{861DCF4B-E9E3-DC22-4B72-41E4F2B50710}"/>
                    </a:ext>
                  </a:extLst>
                </p:cNvPr>
                <p:cNvPicPr/>
                <p:nvPr/>
              </p:nvPicPr>
              <p:blipFill>
                <a:blip r:embed="rId29"/>
                <a:stretch>
                  <a:fillRect/>
                </a:stretch>
              </p:blipFill>
              <p:spPr>
                <a:xfrm>
                  <a:off x="4628760" y="5346642"/>
                  <a:ext cx="20016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8BEC5958-B542-96FF-94B9-B37FA047D6AB}"/>
                    </a:ext>
                  </a:extLst>
                </p14:cNvPr>
                <p14:cNvContentPartPr/>
                <p14:nvPr/>
              </p14:nvContentPartPr>
              <p14:xfrm>
                <a:off x="4966440" y="5335122"/>
                <a:ext cx="305280" cy="240480"/>
              </p14:xfrm>
            </p:contentPart>
          </mc:Choice>
          <mc:Fallback>
            <p:pic>
              <p:nvPicPr>
                <p:cNvPr id="21" name="Ink 20">
                  <a:extLst>
                    <a:ext uri="{FF2B5EF4-FFF2-40B4-BE49-F238E27FC236}">
                      <a16:creationId xmlns:a16="http://schemas.microsoft.com/office/drawing/2014/main" id="{8BEC5958-B542-96FF-94B9-B37FA047D6AB}"/>
                    </a:ext>
                  </a:extLst>
                </p:cNvPr>
                <p:cNvPicPr/>
                <p:nvPr/>
              </p:nvPicPr>
              <p:blipFill>
                <a:blip r:embed="rId31"/>
                <a:stretch>
                  <a:fillRect/>
                </a:stretch>
              </p:blipFill>
              <p:spPr>
                <a:xfrm>
                  <a:off x="4960320" y="5329002"/>
                  <a:ext cx="317520" cy="252720"/>
                </a:xfrm>
                <a:prstGeom prst="rect">
                  <a:avLst/>
                </a:prstGeom>
              </p:spPr>
            </p:pic>
          </mc:Fallback>
        </mc:AlternateContent>
      </p:grpSp>
    </p:spTree>
    <p:extLst>
      <p:ext uri="{BB962C8B-B14F-4D97-AF65-F5344CB8AC3E}">
        <p14:creationId xmlns:p14="http://schemas.microsoft.com/office/powerpoint/2010/main" val="39509661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91575" y="1371600"/>
            <a:ext cx="8640762" cy="4210344"/>
          </a:xfrm>
          <a:prstGeom prst="rect">
            <a:avLst/>
          </a:prstGeom>
        </p:spPr>
        <p:txBody>
          <a:bodyPr>
            <a:noAutofit/>
          </a:bodyPr>
          <a:lstStyle/>
          <a:p>
            <a:pPr marL="0" indent="0" algn="just">
              <a:buNone/>
            </a:pPr>
            <a:r>
              <a:rPr lang="en-US" sz="2800" dirty="0" err="1">
                <a:latin typeface="Corbel" panose="020B0503020204020204" pitchFamily="34" charset="0"/>
              </a:rPr>
              <a:t>Rosell</a:t>
            </a:r>
            <a:r>
              <a:rPr lang="en-US" sz="2800" dirty="0">
                <a:latin typeface="Corbel" panose="020B0503020204020204" pitchFamily="34" charset="0"/>
              </a:rPr>
              <a:t>, 23 years old, a diploma holder joined the ‘ABC’ company as a </a:t>
            </a:r>
            <a:r>
              <a:rPr lang="en-US" sz="2800" i="1" dirty="0">
                <a:latin typeface="Corbel" panose="020B0503020204020204" pitchFamily="34" charset="0"/>
              </a:rPr>
              <a:t>management trainee</a:t>
            </a:r>
            <a:r>
              <a:rPr lang="en-US" sz="2800" dirty="0">
                <a:latin typeface="Corbel" panose="020B0503020204020204" pitchFamily="34" charset="0"/>
              </a:rPr>
              <a:t>. She joined the </a:t>
            </a:r>
            <a:r>
              <a:rPr lang="en-US" sz="2800" b="1" i="1" dirty="0">
                <a:latin typeface="Corbel" panose="020B0503020204020204" pitchFamily="34" charset="0"/>
              </a:rPr>
              <a:t>Production department </a:t>
            </a:r>
            <a:r>
              <a:rPr lang="en-US" sz="2800" dirty="0">
                <a:latin typeface="Corbel" panose="020B0503020204020204" pitchFamily="34" charset="0"/>
              </a:rPr>
              <a:t>on 01/01/2005. When </a:t>
            </a:r>
            <a:r>
              <a:rPr lang="en-US" sz="2800" dirty="0" err="1">
                <a:latin typeface="Corbel" panose="020B0503020204020204" pitchFamily="34" charset="0"/>
              </a:rPr>
              <a:t>Rosell</a:t>
            </a:r>
            <a:r>
              <a:rPr lang="en-US" sz="2800" dirty="0">
                <a:latin typeface="Corbel" panose="020B0503020204020204" pitchFamily="34" charset="0"/>
              </a:rPr>
              <a:t> successfully completed her Commerce degree, she was promoted as </a:t>
            </a:r>
            <a:r>
              <a:rPr lang="en-US" sz="2800" i="1" dirty="0">
                <a:latin typeface="Corbel" panose="020B0503020204020204" pitchFamily="34" charset="0"/>
              </a:rPr>
              <a:t>Finance Executive </a:t>
            </a:r>
            <a:r>
              <a:rPr lang="en-US" sz="2800" dirty="0">
                <a:latin typeface="Corbel" panose="020B0503020204020204" pitchFamily="34" charset="0"/>
              </a:rPr>
              <a:t>and transferred to the </a:t>
            </a:r>
            <a:r>
              <a:rPr lang="en-US" sz="2800" b="1" i="1" dirty="0">
                <a:latin typeface="Corbel" panose="020B0503020204020204" pitchFamily="34" charset="0"/>
              </a:rPr>
              <a:t>Finance department </a:t>
            </a:r>
            <a:r>
              <a:rPr lang="en-US" sz="2800" dirty="0">
                <a:latin typeface="Corbel" panose="020B0503020204020204" pitchFamily="34" charset="0"/>
              </a:rPr>
              <a:t>from 02/02/2006. </a:t>
            </a:r>
          </a:p>
          <a:p>
            <a:pPr marL="0" indent="0" algn="just">
              <a:buNone/>
            </a:pPr>
            <a:r>
              <a:rPr lang="en-US" sz="2800" dirty="0">
                <a:latin typeface="Corbel" panose="020B0503020204020204" pitchFamily="34" charset="0"/>
              </a:rPr>
              <a:t>Considering her MBA qualification, the management of the company promoted her as </a:t>
            </a:r>
            <a:r>
              <a:rPr lang="en-US" sz="2800" i="1" dirty="0">
                <a:latin typeface="Corbel" panose="020B0503020204020204" pitchFamily="34" charset="0"/>
              </a:rPr>
              <a:t>Assistant Manager - Business Development </a:t>
            </a:r>
            <a:r>
              <a:rPr lang="en-US" sz="2800" dirty="0">
                <a:latin typeface="Corbel" panose="020B0503020204020204" pitchFamily="34" charset="0"/>
              </a:rPr>
              <a:t>and transferred to the </a:t>
            </a:r>
            <a:r>
              <a:rPr lang="en-US" sz="2800" b="1" i="1" dirty="0">
                <a:latin typeface="Corbel" panose="020B0503020204020204" pitchFamily="34" charset="0"/>
              </a:rPr>
              <a:t>Business Development department</a:t>
            </a:r>
            <a:r>
              <a:rPr lang="en-US" sz="2800" i="1" dirty="0">
                <a:latin typeface="Corbel" panose="020B0503020204020204" pitchFamily="34" charset="0"/>
              </a:rPr>
              <a:t> </a:t>
            </a:r>
            <a:r>
              <a:rPr lang="en-US" sz="2800" dirty="0">
                <a:latin typeface="Corbel" panose="020B0503020204020204" pitchFamily="34" charset="0"/>
              </a:rPr>
              <a:t>with effect from 03/03/2008. </a:t>
            </a:r>
          </a:p>
        </p:txBody>
      </p:sp>
    </p:spTree>
    <p:extLst>
      <p:ext uri="{BB962C8B-B14F-4D97-AF65-F5344CB8AC3E}">
        <p14:creationId xmlns:p14="http://schemas.microsoft.com/office/powerpoint/2010/main" val="12159475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1050148" y="841375"/>
            <a:ext cx="7292340" cy="609600"/>
          </a:xfrm>
        </p:spPr>
        <p:txBody>
          <a:bodyPr>
            <a:noAutofit/>
          </a:bodyPr>
          <a:lstStyle/>
          <a:p>
            <a:r>
              <a:rPr lang="en-US" sz="4400" dirty="0">
                <a:ln>
                  <a:noFill/>
                </a:ln>
                <a:latin typeface="Corbel" panose="020B0503020204020204" pitchFamily="34" charset="0"/>
              </a:rPr>
              <a:t>Descriptive Attributes</a:t>
            </a:r>
          </a:p>
        </p:txBody>
      </p:sp>
      <p:sp>
        <p:nvSpPr>
          <p:cNvPr id="68610" name="Rectangle 3"/>
          <p:cNvSpPr>
            <a:spLocks noGrp="1" noChangeArrowheads="1"/>
          </p:cNvSpPr>
          <p:nvPr>
            <p:ph idx="4294967295"/>
          </p:nvPr>
        </p:nvSpPr>
        <p:spPr>
          <a:xfrm>
            <a:off x="411163" y="1946274"/>
            <a:ext cx="8732837" cy="3806825"/>
          </a:xfrm>
          <a:prstGeom prst="rect">
            <a:avLst/>
          </a:prstGeom>
        </p:spPr>
        <p:txBody>
          <a:bodyPr/>
          <a:lstStyle/>
          <a:p>
            <a:pPr>
              <a:lnSpc>
                <a:spcPct val="100000"/>
              </a:lnSpc>
              <a:buFont typeface="Wingdings" panose="05000000000000000000" pitchFamily="2" charset="2"/>
              <a:buNone/>
            </a:pPr>
            <a:r>
              <a:rPr lang="en-US" dirty="0"/>
              <a:t>   </a:t>
            </a:r>
            <a:r>
              <a:rPr lang="en-US" sz="2800" dirty="0">
                <a:latin typeface="Corbel" panose="020B0503020204020204" pitchFamily="34" charset="0"/>
              </a:rPr>
              <a:t>A relationships can also have  </a:t>
            </a:r>
            <a:r>
              <a:rPr lang="en-US" sz="2800" b="1" dirty="0">
                <a:solidFill>
                  <a:srgbClr val="FF0066"/>
                </a:solidFill>
                <a:latin typeface="Corbel" panose="020B0503020204020204" pitchFamily="34" charset="0"/>
              </a:rPr>
              <a:t>descriptive attributes.</a:t>
            </a:r>
            <a:r>
              <a:rPr lang="en-US" sz="2800" b="1" dirty="0">
                <a:latin typeface="Corbel" panose="020B0503020204020204" pitchFamily="34" charset="0"/>
              </a:rPr>
              <a:t> </a:t>
            </a:r>
            <a:r>
              <a:rPr lang="en-US" sz="2800" dirty="0">
                <a:latin typeface="Corbel" panose="020B0503020204020204" pitchFamily="34" charset="0"/>
              </a:rPr>
              <a:t>Used to record information about the relationship rather than any one of the participating entities.</a:t>
            </a:r>
          </a:p>
          <a:p>
            <a:pPr>
              <a:buFont typeface="Wingdings" panose="05000000000000000000" pitchFamily="2" charset="2"/>
              <a:buNone/>
            </a:pPr>
            <a:endParaRPr lang="en-US" dirty="0"/>
          </a:p>
          <a:p>
            <a:pPr>
              <a:buFont typeface="Wingdings" panose="05000000000000000000" pitchFamily="2" charset="2"/>
              <a:buNone/>
            </a:pPr>
            <a:endParaRPr lang="en-US" dirty="0"/>
          </a:p>
        </p:txBody>
      </p:sp>
      <p:grpSp>
        <p:nvGrpSpPr>
          <p:cNvPr id="2" name="Group 16"/>
          <p:cNvGrpSpPr>
            <a:grpSpLocks/>
          </p:cNvGrpSpPr>
          <p:nvPr/>
        </p:nvGrpSpPr>
        <p:grpSpPr bwMode="auto">
          <a:xfrm>
            <a:off x="1005681" y="3803148"/>
            <a:ext cx="7543800" cy="1895061"/>
            <a:chOff x="1066800" y="3362739"/>
            <a:chExt cx="7543800" cy="1895061"/>
          </a:xfrm>
        </p:grpSpPr>
        <p:grpSp>
          <p:nvGrpSpPr>
            <p:cNvPr id="3" name="Group 15"/>
            <p:cNvGrpSpPr>
              <a:grpSpLocks/>
            </p:cNvGrpSpPr>
            <p:nvPr/>
          </p:nvGrpSpPr>
          <p:grpSpPr bwMode="auto">
            <a:xfrm>
              <a:off x="1066800" y="3362739"/>
              <a:ext cx="7543800" cy="1895061"/>
              <a:chOff x="1066800" y="3362739"/>
              <a:chExt cx="7543800" cy="1895061"/>
            </a:xfrm>
          </p:grpSpPr>
          <p:sp>
            <p:nvSpPr>
              <p:cNvPr id="68619" name="Oval 14"/>
              <p:cNvSpPr>
                <a:spLocks noChangeArrowheads="1"/>
              </p:cNvSpPr>
              <p:nvPr/>
            </p:nvSpPr>
            <p:spPr bwMode="auto">
              <a:xfrm>
                <a:off x="4857044" y="3362739"/>
                <a:ext cx="1981200" cy="533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1800" b="0" dirty="0" err="1"/>
                  <a:t>startdate</a:t>
                </a:r>
                <a:endParaRPr lang="en-US" sz="1800" b="0" dirty="0"/>
              </a:p>
            </p:txBody>
          </p:sp>
          <p:sp>
            <p:nvSpPr>
              <p:cNvPr id="68620" name="Text Box 9"/>
              <p:cNvSpPr txBox="1">
                <a:spLocks noChangeArrowheads="1"/>
              </p:cNvSpPr>
              <p:nvPr/>
            </p:nvSpPr>
            <p:spPr bwMode="auto">
              <a:xfrm>
                <a:off x="1066800" y="4572000"/>
                <a:ext cx="1925638"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Employee</a:t>
                </a:r>
              </a:p>
            </p:txBody>
          </p:sp>
          <p:sp>
            <p:nvSpPr>
              <p:cNvPr id="68621" name="Text Box 10"/>
              <p:cNvSpPr txBox="1">
                <a:spLocks noChangeArrowheads="1"/>
              </p:cNvSpPr>
              <p:nvPr/>
            </p:nvSpPr>
            <p:spPr bwMode="auto">
              <a:xfrm>
                <a:off x="6324600" y="4572000"/>
                <a:ext cx="2286000"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Department</a:t>
                </a:r>
              </a:p>
            </p:txBody>
          </p:sp>
          <p:sp>
            <p:nvSpPr>
              <p:cNvPr id="68622" name="Line 11"/>
              <p:cNvSpPr>
                <a:spLocks noChangeShapeType="1"/>
              </p:cNvSpPr>
              <p:nvPr/>
            </p:nvSpPr>
            <p:spPr bwMode="auto">
              <a:xfrm>
                <a:off x="2971800" y="4724400"/>
                <a:ext cx="1066800" cy="0"/>
              </a:xfrm>
              <a:prstGeom prst="line">
                <a:avLst/>
              </a:prstGeom>
              <a:noFill/>
              <a:ln w="9525">
                <a:solidFill>
                  <a:srgbClr val="3333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3" name="Line 12"/>
              <p:cNvSpPr>
                <a:spLocks noChangeShapeType="1"/>
              </p:cNvSpPr>
              <p:nvPr/>
            </p:nvSpPr>
            <p:spPr bwMode="auto">
              <a:xfrm>
                <a:off x="5410200" y="4724400"/>
                <a:ext cx="914400" cy="0"/>
              </a:xfrm>
              <a:prstGeom prst="line">
                <a:avLst/>
              </a:prstGeom>
              <a:noFill/>
              <a:ln w="9525">
                <a:solidFill>
                  <a:srgbClr val="3333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4" name="Line 15"/>
              <p:cNvSpPr>
                <a:spLocks noChangeShapeType="1"/>
              </p:cNvSpPr>
              <p:nvPr/>
            </p:nvSpPr>
            <p:spPr bwMode="auto">
              <a:xfrm flipH="1">
                <a:off x="4953000" y="3886200"/>
                <a:ext cx="457200" cy="533400"/>
              </a:xfrm>
              <a:prstGeom prst="line">
                <a:avLst/>
              </a:prstGeom>
              <a:noFill/>
              <a:ln w="9525">
                <a:solidFill>
                  <a:srgbClr val="3333CC"/>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68625" name="AutoShape 11"/>
              <p:cNvSpPr>
                <a:spLocks noChangeArrowheads="1"/>
              </p:cNvSpPr>
              <p:nvPr/>
            </p:nvSpPr>
            <p:spPr bwMode="auto">
              <a:xfrm>
                <a:off x="3962400" y="4191000"/>
                <a:ext cx="1447800" cy="1066800"/>
              </a:xfrm>
              <a:prstGeom prst="diamond">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Works in</a:t>
                </a:r>
              </a:p>
            </p:txBody>
          </p:sp>
        </p:grpSp>
        <p:sp>
          <p:nvSpPr>
            <p:cNvPr id="68617" name="Text Box 12"/>
            <p:cNvSpPr txBox="1">
              <a:spLocks noChangeArrowheads="1"/>
            </p:cNvSpPr>
            <p:nvPr/>
          </p:nvSpPr>
          <p:spPr bwMode="auto">
            <a:xfrm>
              <a:off x="5622925" y="420211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1</a:t>
              </a:r>
            </a:p>
          </p:txBody>
        </p:sp>
        <p:sp>
          <p:nvSpPr>
            <p:cNvPr id="68618" name="Text Box 13"/>
            <p:cNvSpPr txBox="1">
              <a:spLocks noChangeArrowheads="1"/>
            </p:cNvSpPr>
            <p:nvPr/>
          </p:nvSpPr>
          <p:spPr bwMode="auto">
            <a:xfrm>
              <a:off x="3336925" y="4278313"/>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N</a:t>
              </a:r>
            </a:p>
          </p:txBody>
        </p:sp>
      </p:grpSp>
      <p:sp>
        <p:nvSpPr>
          <p:cNvPr id="68615" name="TextBox 15"/>
          <p:cNvSpPr txBox="1">
            <a:spLocks noChangeArrowheads="1"/>
          </p:cNvSpPr>
          <p:nvPr/>
        </p:nvSpPr>
        <p:spPr bwMode="auto">
          <a:xfrm>
            <a:off x="1371600" y="5753100"/>
            <a:ext cx="69708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800" dirty="0" err="1">
                <a:latin typeface="Corbel" panose="020B0503020204020204" pitchFamily="34" charset="0"/>
              </a:rPr>
              <a:t>Nimal</a:t>
            </a:r>
            <a:r>
              <a:rPr lang="en-US" sz="2800" dirty="0">
                <a:latin typeface="Corbel" panose="020B0503020204020204" pitchFamily="34" charset="0"/>
              </a:rPr>
              <a:t>    works in   accounts  </a:t>
            </a:r>
            <a:r>
              <a:rPr lang="en-US" sz="2800" dirty="0" err="1">
                <a:latin typeface="Corbel" panose="020B0503020204020204" pitchFamily="34" charset="0"/>
              </a:rPr>
              <a:t>dept</a:t>
            </a:r>
            <a:r>
              <a:rPr lang="en-US" sz="2800" dirty="0">
                <a:latin typeface="Corbel" panose="020B0503020204020204" pitchFamily="34" charset="0"/>
              </a:rPr>
              <a:t>  since 2008</a:t>
            </a:r>
          </a:p>
        </p:txBody>
      </p:sp>
      <p:cxnSp>
        <p:nvCxnSpPr>
          <p:cNvPr id="7" name="Connector: Elbow 6">
            <a:extLst>
              <a:ext uri="{FF2B5EF4-FFF2-40B4-BE49-F238E27FC236}">
                <a16:creationId xmlns:a16="http://schemas.microsoft.com/office/drawing/2014/main" id="{49ECA85C-10CE-C0DF-161A-70A9C2DF3A51}"/>
              </a:ext>
            </a:extLst>
          </p:cNvPr>
          <p:cNvCxnSpPr>
            <a:cxnSpLocks/>
          </p:cNvCxnSpPr>
          <p:nvPr/>
        </p:nvCxnSpPr>
        <p:spPr>
          <a:xfrm rot="10800000" flipV="1">
            <a:off x="6777127" y="2514601"/>
            <a:ext cx="1618247" cy="1555247"/>
          </a:xfrm>
          <a:prstGeom prst="bentConnector3">
            <a:avLst>
              <a:gd name="adj1" fmla="val -773"/>
            </a:avLst>
          </a:prstGeom>
          <a:ln w="28575">
            <a:solidFill>
              <a:schemeClr val="accent6">
                <a:lumMod val="75000"/>
              </a:schemeClr>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667823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6"/>
          <p:cNvSpPr>
            <a:spLocks noGrp="1" noChangeArrowheads="1"/>
          </p:cNvSpPr>
          <p:nvPr>
            <p:ph type="title"/>
          </p:nvPr>
        </p:nvSpPr>
        <p:spPr>
          <a:xfrm>
            <a:off x="931688" y="87066"/>
            <a:ext cx="7314975" cy="1293028"/>
          </a:xfrm>
          <a:noFill/>
        </p:spPr>
        <p:txBody>
          <a:bodyPr>
            <a:noAutofit/>
          </a:bodyPr>
          <a:lstStyle/>
          <a:p>
            <a:r>
              <a:rPr lang="en-US" sz="4400" dirty="0">
                <a:ln>
                  <a:noFill/>
                </a:ln>
                <a:latin typeface="Corbel" panose="020B0503020204020204" pitchFamily="34" charset="0"/>
              </a:rPr>
              <a:t>Descriptive Attributes</a:t>
            </a:r>
          </a:p>
        </p:txBody>
      </p:sp>
      <p:grpSp>
        <p:nvGrpSpPr>
          <p:cNvPr id="2" name="Group 55"/>
          <p:cNvGrpSpPr>
            <a:grpSpLocks/>
          </p:cNvGrpSpPr>
          <p:nvPr/>
        </p:nvGrpSpPr>
        <p:grpSpPr bwMode="auto">
          <a:xfrm>
            <a:off x="990600" y="1600200"/>
            <a:ext cx="7315200" cy="4784725"/>
            <a:chOff x="624" y="1008"/>
            <a:chExt cx="4608" cy="3014"/>
          </a:xfrm>
        </p:grpSpPr>
        <p:sp>
          <p:nvSpPr>
            <p:cNvPr id="69636" name="Oval 8"/>
            <p:cNvSpPr>
              <a:spLocks noChangeArrowheads="1"/>
            </p:cNvSpPr>
            <p:nvPr/>
          </p:nvSpPr>
          <p:spPr bwMode="auto">
            <a:xfrm>
              <a:off x="2640" y="2064"/>
              <a:ext cx="480" cy="240"/>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37" name="Oval 9"/>
            <p:cNvSpPr>
              <a:spLocks noChangeArrowheads="1"/>
            </p:cNvSpPr>
            <p:nvPr/>
          </p:nvSpPr>
          <p:spPr bwMode="auto">
            <a:xfrm>
              <a:off x="2640" y="1536"/>
              <a:ext cx="480" cy="240"/>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nvGrpSpPr>
            <p:cNvPr id="3" name="Group 12"/>
            <p:cNvGrpSpPr>
              <a:grpSpLocks/>
            </p:cNvGrpSpPr>
            <p:nvPr/>
          </p:nvGrpSpPr>
          <p:grpSpPr bwMode="auto">
            <a:xfrm>
              <a:off x="768" y="1008"/>
              <a:ext cx="4463" cy="2666"/>
              <a:chOff x="432" y="1488"/>
              <a:chExt cx="4939" cy="2544"/>
            </a:xfrm>
          </p:grpSpPr>
          <p:sp>
            <p:nvSpPr>
              <p:cNvPr id="69647" name="Line 13"/>
              <p:cNvSpPr>
                <a:spLocks noChangeShapeType="1"/>
              </p:cNvSpPr>
              <p:nvPr/>
            </p:nvSpPr>
            <p:spPr bwMode="auto">
              <a:xfrm>
                <a:off x="1296" y="3408"/>
                <a:ext cx="14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8" name="Line 14"/>
              <p:cNvSpPr>
                <a:spLocks noChangeShapeType="1"/>
              </p:cNvSpPr>
              <p:nvPr/>
            </p:nvSpPr>
            <p:spPr bwMode="auto">
              <a:xfrm flipV="1">
                <a:off x="2736" y="3264"/>
                <a:ext cx="172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9" name="Line 15"/>
              <p:cNvSpPr>
                <a:spLocks noChangeShapeType="1"/>
              </p:cNvSpPr>
              <p:nvPr/>
            </p:nvSpPr>
            <p:spPr bwMode="auto">
              <a:xfrm flipV="1">
                <a:off x="2736" y="3264"/>
                <a:ext cx="1728"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0" name="Line 16"/>
              <p:cNvSpPr>
                <a:spLocks noChangeShapeType="1"/>
              </p:cNvSpPr>
              <p:nvPr/>
            </p:nvSpPr>
            <p:spPr bwMode="auto">
              <a:xfrm>
                <a:off x="1296" y="2976"/>
                <a:ext cx="13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1" name="Line 17"/>
              <p:cNvSpPr>
                <a:spLocks noChangeShapeType="1"/>
              </p:cNvSpPr>
              <p:nvPr/>
            </p:nvSpPr>
            <p:spPr bwMode="auto">
              <a:xfrm>
                <a:off x="2736" y="2784"/>
                <a:ext cx="17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2" name="Line 18"/>
              <p:cNvSpPr>
                <a:spLocks noChangeShapeType="1"/>
              </p:cNvSpPr>
              <p:nvPr/>
            </p:nvSpPr>
            <p:spPr bwMode="auto">
              <a:xfrm>
                <a:off x="1296" y="2544"/>
                <a:ext cx="14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3" name="Line 19"/>
              <p:cNvSpPr>
                <a:spLocks noChangeShapeType="1"/>
              </p:cNvSpPr>
              <p:nvPr/>
            </p:nvSpPr>
            <p:spPr bwMode="auto">
              <a:xfrm>
                <a:off x="2736" y="2304"/>
                <a:ext cx="17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4" name="Line 20"/>
              <p:cNvSpPr>
                <a:spLocks noChangeShapeType="1"/>
              </p:cNvSpPr>
              <p:nvPr/>
            </p:nvSpPr>
            <p:spPr bwMode="auto">
              <a:xfrm flipV="1">
                <a:off x="1296" y="2304"/>
                <a:ext cx="14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5" name="Line 21"/>
              <p:cNvSpPr>
                <a:spLocks noChangeShapeType="1"/>
              </p:cNvSpPr>
              <p:nvPr/>
            </p:nvSpPr>
            <p:spPr bwMode="auto">
              <a:xfrm>
                <a:off x="2736" y="1872"/>
                <a:ext cx="172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6" name="Line 22"/>
              <p:cNvSpPr>
                <a:spLocks noChangeShapeType="1"/>
              </p:cNvSpPr>
              <p:nvPr/>
            </p:nvSpPr>
            <p:spPr bwMode="auto">
              <a:xfrm flipV="1">
                <a:off x="1344" y="1872"/>
                <a:ext cx="144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 name="Group 23"/>
              <p:cNvGrpSpPr>
                <a:grpSpLocks/>
              </p:cNvGrpSpPr>
              <p:nvPr/>
            </p:nvGrpSpPr>
            <p:grpSpPr bwMode="auto">
              <a:xfrm>
                <a:off x="4175" y="1920"/>
                <a:ext cx="1196" cy="1680"/>
                <a:chOff x="3552" y="1632"/>
                <a:chExt cx="1538" cy="1680"/>
              </a:xfrm>
            </p:grpSpPr>
            <p:sp>
              <p:nvSpPr>
                <p:cNvPr id="69674" name="Oval 24"/>
                <p:cNvSpPr>
                  <a:spLocks noChangeArrowheads="1"/>
                </p:cNvSpPr>
                <p:nvPr/>
              </p:nvSpPr>
              <p:spPr bwMode="auto">
                <a:xfrm>
                  <a:off x="3552" y="1632"/>
                  <a:ext cx="1538" cy="16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75" name="Oval 25"/>
                <p:cNvSpPr>
                  <a:spLocks noChangeArrowheads="1"/>
                </p:cNvSpPr>
                <p:nvPr/>
              </p:nvSpPr>
              <p:spPr bwMode="auto">
                <a:xfrm>
                  <a:off x="3840" y="1968"/>
                  <a:ext cx="96" cy="96"/>
                </a:xfrm>
                <a:prstGeom prst="ellipse">
                  <a:avLst/>
                </a:prstGeom>
                <a:solidFill>
                  <a:schemeClr val="tx1"/>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76" name="Oval 26"/>
                <p:cNvSpPr>
                  <a:spLocks noChangeArrowheads="1"/>
                </p:cNvSpPr>
                <p:nvPr/>
              </p:nvSpPr>
              <p:spPr bwMode="auto">
                <a:xfrm>
                  <a:off x="3840" y="2448"/>
                  <a:ext cx="96" cy="96"/>
                </a:xfrm>
                <a:prstGeom prst="ellipse">
                  <a:avLst/>
                </a:prstGeom>
                <a:solidFill>
                  <a:schemeClr val="tx1"/>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77" name="Oval 27"/>
                <p:cNvSpPr>
                  <a:spLocks noChangeArrowheads="1"/>
                </p:cNvSpPr>
                <p:nvPr/>
              </p:nvSpPr>
              <p:spPr bwMode="auto">
                <a:xfrm>
                  <a:off x="3840" y="2928"/>
                  <a:ext cx="96" cy="96"/>
                </a:xfrm>
                <a:prstGeom prst="ellipse">
                  <a:avLst/>
                </a:prstGeom>
                <a:solidFill>
                  <a:schemeClr val="tx1"/>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78" name="Rectangle 28"/>
                <p:cNvSpPr>
                  <a:spLocks noChangeArrowheads="1"/>
                </p:cNvSpPr>
                <p:nvPr/>
              </p:nvSpPr>
              <p:spPr bwMode="auto">
                <a:xfrm>
                  <a:off x="4080" y="1920"/>
                  <a:ext cx="432" cy="192"/>
                </a:xfrm>
                <a:prstGeom prst="rect">
                  <a:avLst/>
                </a:prstGeom>
                <a:solidFill>
                  <a:srgbClr val="99CC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HR</a:t>
                  </a:r>
                </a:p>
              </p:txBody>
            </p:sp>
            <p:sp>
              <p:nvSpPr>
                <p:cNvPr id="69679" name="Rectangle 29"/>
                <p:cNvSpPr>
                  <a:spLocks noChangeArrowheads="1"/>
                </p:cNvSpPr>
                <p:nvPr/>
              </p:nvSpPr>
              <p:spPr bwMode="auto">
                <a:xfrm>
                  <a:off x="4080" y="2400"/>
                  <a:ext cx="600" cy="192"/>
                </a:xfrm>
                <a:prstGeom prst="rect">
                  <a:avLst/>
                </a:prstGeom>
                <a:solidFill>
                  <a:srgbClr val="99CC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Sales</a:t>
                  </a:r>
                </a:p>
              </p:txBody>
            </p:sp>
            <p:sp>
              <p:nvSpPr>
                <p:cNvPr id="69680" name="Rectangle 30"/>
                <p:cNvSpPr>
                  <a:spLocks noChangeArrowheads="1"/>
                </p:cNvSpPr>
                <p:nvPr/>
              </p:nvSpPr>
              <p:spPr bwMode="auto">
                <a:xfrm>
                  <a:off x="3984" y="2849"/>
                  <a:ext cx="971" cy="175"/>
                </a:xfrm>
                <a:prstGeom prst="rect">
                  <a:avLst/>
                </a:prstGeom>
                <a:solidFill>
                  <a:srgbClr val="99CC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Marketing</a:t>
                  </a:r>
                </a:p>
              </p:txBody>
            </p:sp>
          </p:grpSp>
          <p:grpSp>
            <p:nvGrpSpPr>
              <p:cNvPr id="5" name="Group 31"/>
              <p:cNvGrpSpPr>
                <a:grpSpLocks/>
              </p:cNvGrpSpPr>
              <p:nvPr/>
            </p:nvGrpSpPr>
            <p:grpSpPr bwMode="auto">
              <a:xfrm>
                <a:off x="432" y="1776"/>
                <a:ext cx="1296" cy="2016"/>
                <a:chOff x="0" y="1728"/>
                <a:chExt cx="1296" cy="2016"/>
              </a:xfrm>
            </p:grpSpPr>
            <p:sp>
              <p:nvSpPr>
                <p:cNvPr id="69665" name="Oval 32"/>
                <p:cNvSpPr>
                  <a:spLocks noChangeArrowheads="1"/>
                </p:cNvSpPr>
                <p:nvPr/>
              </p:nvSpPr>
              <p:spPr bwMode="auto">
                <a:xfrm>
                  <a:off x="0" y="1728"/>
                  <a:ext cx="1296" cy="201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66" name="Oval 33"/>
                <p:cNvSpPr>
                  <a:spLocks noChangeArrowheads="1"/>
                </p:cNvSpPr>
                <p:nvPr/>
              </p:nvSpPr>
              <p:spPr bwMode="auto">
                <a:xfrm>
                  <a:off x="816" y="2064"/>
                  <a:ext cx="96" cy="96"/>
                </a:xfrm>
                <a:prstGeom prst="ellipse">
                  <a:avLst/>
                </a:prstGeom>
                <a:solidFill>
                  <a:schemeClr val="tx1"/>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67" name="Oval 34"/>
                <p:cNvSpPr>
                  <a:spLocks noChangeArrowheads="1"/>
                </p:cNvSpPr>
                <p:nvPr/>
              </p:nvSpPr>
              <p:spPr bwMode="auto">
                <a:xfrm>
                  <a:off x="816" y="2448"/>
                  <a:ext cx="96" cy="96"/>
                </a:xfrm>
                <a:prstGeom prst="ellipse">
                  <a:avLst/>
                </a:prstGeom>
                <a:solidFill>
                  <a:schemeClr val="tx1"/>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68" name="Oval 35"/>
                <p:cNvSpPr>
                  <a:spLocks noChangeArrowheads="1"/>
                </p:cNvSpPr>
                <p:nvPr/>
              </p:nvSpPr>
              <p:spPr bwMode="auto">
                <a:xfrm>
                  <a:off x="816" y="2880"/>
                  <a:ext cx="96" cy="96"/>
                </a:xfrm>
                <a:prstGeom prst="ellipse">
                  <a:avLst/>
                </a:prstGeom>
                <a:solidFill>
                  <a:schemeClr val="tx1"/>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69" name="Oval 36"/>
                <p:cNvSpPr>
                  <a:spLocks noChangeArrowheads="1"/>
                </p:cNvSpPr>
                <p:nvPr/>
              </p:nvSpPr>
              <p:spPr bwMode="auto">
                <a:xfrm>
                  <a:off x="816" y="3312"/>
                  <a:ext cx="96" cy="96"/>
                </a:xfrm>
                <a:prstGeom prst="ellipse">
                  <a:avLst/>
                </a:prstGeom>
                <a:solidFill>
                  <a:schemeClr val="tx1"/>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70" name="Rectangle 37"/>
                <p:cNvSpPr>
                  <a:spLocks noChangeArrowheads="1"/>
                </p:cNvSpPr>
                <p:nvPr/>
              </p:nvSpPr>
              <p:spPr bwMode="auto">
                <a:xfrm>
                  <a:off x="288" y="2016"/>
                  <a:ext cx="432" cy="192"/>
                </a:xfrm>
                <a:prstGeom prst="rect">
                  <a:avLst/>
                </a:prstGeom>
                <a:solidFill>
                  <a:srgbClr val="99CC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e011</a:t>
                  </a:r>
                </a:p>
              </p:txBody>
            </p:sp>
            <p:sp>
              <p:nvSpPr>
                <p:cNvPr id="69671" name="Rectangle 38"/>
                <p:cNvSpPr>
                  <a:spLocks noChangeArrowheads="1"/>
                </p:cNvSpPr>
                <p:nvPr/>
              </p:nvSpPr>
              <p:spPr bwMode="auto">
                <a:xfrm>
                  <a:off x="288" y="2400"/>
                  <a:ext cx="432" cy="192"/>
                </a:xfrm>
                <a:prstGeom prst="rect">
                  <a:avLst/>
                </a:prstGeom>
                <a:solidFill>
                  <a:srgbClr val="99CC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e022</a:t>
                  </a:r>
                </a:p>
              </p:txBody>
            </p:sp>
            <p:sp>
              <p:nvSpPr>
                <p:cNvPr id="69672" name="Rectangle 39"/>
                <p:cNvSpPr>
                  <a:spLocks noChangeArrowheads="1"/>
                </p:cNvSpPr>
                <p:nvPr/>
              </p:nvSpPr>
              <p:spPr bwMode="auto">
                <a:xfrm>
                  <a:off x="288" y="2832"/>
                  <a:ext cx="432" cy="192"/>
                </a:xfrm>
                <a:prstGeom prst="rect">
                  <a:avLst/>
                </a:prstGeom>
                <a:solidFill>
                  <a:srgbClr val="99CC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e033</a:t>
                  </a:r>
                </a:p>
              </p:txBody>
            </p:sp>
            <p:sp>
              <p:nvSpPr>
                <p:cNvPr id="69673" name="Rectangle 40"/>
                <p:cNvSpPr>
                  <a:spLocks noChangeArrowheads="1"/>
                </p:cNvSpPr>
                <p:nvPr/>
              </p:nvSpPr>
              <p:spPr bwMode="auto">
                <a:xfrm>
                  <a:off x="288" y="3264"/>
                  <a:ext cx="432" cy="192"/>
                </a:xfrm>
                <a:prstGeom prst="rect">
                  <a:avLst/>
                </a:prstGeom>
                <a:solidFill>
                  <a:srgbClr val="99CC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e044</a:t>
                  </a:r>
                </a:p>
              </p:txBody>
            </p:sp>
          </p:grpSp>
          <p:sp>
            <p:nvSpPr>
              <p:cNvPr id="69659" name="Oval 41"/>
              <p:cNvSpPr>
                <a:spLocks noChangeArrowheads="1"/>
              </p:cNvSpPr>
              <p:nvPr/>
            </p:nvSpPr>
            <p:spPr bwMode="auto">
              <a:xfrm>
                <a:off x="2352" y="1488"/>
                <a:ext cx="768" cy="25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60" name="Rectangle 42"/>
              <p:cNvSpPr>
                <a:spLocks noChangeArrowheads="1"/>
              </p:cNvSpPr>
              <p:nvPr/>
            </p:nvSpPr>
            <p:spPr bwMode="auto">
              <a:xfrm>
                <a:off x="2640" y="1776"/>
                <a:ext cx="192" cy="192"/>
              </a:xfrm>
              <a:prstGeom prst="rect">
                <a:avLst/>
              </a:prstGeom>
              <a:solidFill>
                <a:schemeClr val="bg2"/>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61" name="Rectangle 43"/>
              <p:cNvSpPr>
                <a:spLocks noChangeArrowheads="1"/>
              </p:cNvSpPr>
              <p:nvPr/>
            </p:nvSpPr>
            <p:spPr bwMode="auto">
              <a:xfrm>
                <a:off x="2640" y="2208"/>
                <a:ext cx="192" cy="192"/>
              </a:xfrm>
              <a:prstGeom prst="rect">
                <a:avLst/>
              </a:prstGeom>
              <a:solidFill>
                <a:schemeClr val="bg2"/>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62" name="Rectangle 44"/>
              <p:cNvSpPr>
                <a:spLocks noChangeArrowheads="1"/>
              </p:cNvSpPr>
              <p:nvPr/>
            </p:nvSpPr>
            <p:spPr bwMode="auto">
              <a:xfrm>
                <a:off x="2640" y="2688"/>
                <a:ext cx="192" cy="192"/>
              </a:xfrm>
              <a:prstGeom prst="rect">
                <a:avLst/>
              </a:prstGeom>
              <a:solidFill>
                <a:schemeClr val="bg2"/>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63" name="Rectangle 45"/>
              <p:cNvSpPr>
                <a:spLocks noChangeArrowheads="1"/>
              </p:cNvSpPr>
              <p:nvPr/>
            </p:nvSpPr>
            <p:spPr bwMode="auto">
              <a:xfrm>
                <a:off x="2640" y="3216"/>
                <a:ext cx="192" cy="192"/>
              </a:xfrm>
              <a:prstGeom prst="rect">
                <a:avLst/>
              </a:prstGeom>
              <a:solidFill>
                <a:schemeClr val="bg2"/>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69664" name="Rectangle 46"/>
              <p:cNvSpPr>
                <a:spLocks noChangeArrowheads="1"/>
              </p:cNvSpPr>
              <p:nvPr/>
            </p:nvSpPr>
            <p:spPr bwMode="auto">
              <a:xfrm>
                <a:off x="2640" y="3648"/>
                <a:ext cx="192" cy="192"/>
              </a:xfrm>
              <a:prstGeom prst="rect">
                <a:avLst/>
              </a:prstGeom>
              <a:solidFill>
                <a:schemeClr val="bg2"/>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grpSp>
        <p:sp>
          <p:nvSpPr>
            <p:cNvPr id="69639" name="Rectangle 47"/>
            <p:cNvSpPr>
              <a:spLocks noChangeArrowheads="1"/>
            </p:cNvSpPr>
            <p:nvPr/>
          </p:nvSpPr>
          <p:spPr bwMode="auto">
            <a:xfrm>
              <a:off x="624" y="3504"/>
              <a:ext cx="1309" cy="3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Employees</a:t>
              </a:r>
            </a:p>
          </p:txBody>
        </p:sp>
        <p:sp>
          <p:nvSpPr>
            <p:cNvPr id="69640" name="Rectangle 48"/>
            <p:cNvSpPr>
              <a:spLocks noChangeArrowheads="1"/>
            </p:cNvSpPr>
            <p:nvPr/>
          </p:nvSpPr>
          <p:spPr bwMode="auto">
            <a:xfrm>
              <a:off x="4132" y="3391"/>
              <a:ext cx="1100" cy="3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Departments</a:t>
              </a:r>
            </a:p>
          </p:txBody>
        </p:sp>
        <p:sp>
          <p:nvSpPr>
            <p:cNvPr id="69641" name="Rectangle 49"/>
            <p:cNvSpPr>
              <a:spLocks noChangeArrowheads="1"/>
            </p:cNvSpPr>
            <p:nvPr/>
          </p:nvSpPr>
          <p:spPr bwMode="auto">
            <a:xfrm>
              <a:off x="2422" y="3682"/>
              <a:ext cx="943" cy="3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err="1"/>
                <a:t>Work_in</a:t>
              </a:r>
              <a:endParaRPr lang="en-US" dirty="0"/>
            </a:p>
          </p:txBody>
        </p:sp>
        <p:sp>
          <p:nvSpPr>
            <p:cNvPr id="69642" name="Rectangle 50"/>
            <p:cNvSpPr>
              <a:spLocks noChangeArrowheads="1"/>
            </p:cNvSpPr>
            <p:nvPr/>
          </p:nvSpPr>
          <p:spPr bwMode="auto">
            <a:xfrm>
              <a:off x="2544" y="1152"/>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1/2/99</a:t>
              </a:r>
            </a:p>
          </p:txBody>
        </p:sp>
        <p:sp>
          <p:nvSpPr>
            <p:cNvPr id="69643" name="Rectangle 51"/>
            <p:cNvSpPr>
              <a:spLocks noChangeArrowheads="1"/>
            </p:cNvSpPr>
            <p:nvPr/>
          </p:nvSpPr>
          <p:spPr bwMode="auto">
            <a:xfrm>
              <a:off x="2592" y="158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1/2/09</a:t>
              </a:r>
            </a:p>
          </p:txBody>
        </p:sp>
        <p:sp>
          <p:nvSpPr>
            <p:cNvPr id="69644" name="Rectangle 52"/>
            <p:cNvSpPr>
              <a:spLocks noChangeArrowheads="1"/>
            </p:cNvSpPr>
            <p:nvPr/>
          </p:nvSpPr>
          <p:spPr bwMode="auto">
            <a:xfrm>
              <a:off x="2592" y="2112"/>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1/5/01</a:t>
              </a:r>
            </a:p>
          </p:txBody>
        </p:sp>
        <p:sp>
          <p:nvSpPr>
            <p:cNvPr id="69645" name="Rectangle 53"/>
            <p:cNvSpPr>
              <a:spLocks noChangeArrowheads="1"/>
            </p:cNvSpPr>
            <p:nvPr/>
          </p:nvSpPr>
          <p:spPr bwMode="auto">
            <a:xfrm>
              <a:off x="2592" y="254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1/2/07</a:t>
              </a:r>
            </a:p>
          </p:txBody>
        </p:sp>
        <p:sp>
          <p:nvSpPr>
            <p:cNvPr id="69646" name="Rectangle 54"/>
            <p:cNvSpPr>
              <a:spLocks noChangeArrowheads="1"/>
            </p:cNvSpPr>
            <p:nvPr/>
          </p:nvSpPr>
          <p:spPr bwMode="auto">
            <a:xfrm>
              <a:off x="2592" y="302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1/3/05</a:t>
              </a:r>
            </a:p>
          </p:txBody>
        </p:sp>
      </p:grpSp>
    </p:spTree>
    <p:extLst>
      <p:ext uri="{BB962C8B-B14F-4D97-AF65-F5344CB8AC3E}">
        <p14:creationId xmlns:p14="http://schemas.microsoft.com/office/powerpoint/2010/main" val="1453169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10106" y="932077"/>
            <a:ext cx="8010088" cy="954107"/>
          </a:xfrm>
        </p:spPr>
        <p:txBody>
          <a:bodyPr>
            <a:normAutofit/>
          </a:bodyPr>
          <a:lstStyle/>
          <a:p>
            <a:r>
              <a:rPr lang="en-US" altLang="en-US" sz="4400" dirty="0">
                <a:latin typeface="Corbel" panose="020B0503020204020204" pitchFamily="34" charset="0"/>
              </a:rPr>
              <a:t>Attribute on Relationship</a:t>
            </a:r>
          </a:p>
        </p:txBody>
      </p:sp>
      <p:sp>
        <p:nvSpPr>
          <p:cNvPr id="28676" name="Rectangle 3"/>
          <p:cNvSpPr>
            <a:spLocks noChangeArrowheads="1"/>
          </p:cNvSpPr>
          <p:nvPr/>
        </p:nvSpPr>
        <p:spPr bwMode="auto">
          <a:xfrm>
            <a:off x="1936046" y="2419586"/>
            <a:ext cx="10668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Bar</a:t>
            </a:r>
          </a:p>
        </p:txBody>
      </p:sp>
      <p:sp>
        <p:nvSpPr>
          <p:cNvPr id="28677" name="Rectangle 4"/>
          <p:cNvSpPr>
            <a:spLocks noChangeArrowheads="1"/>
          </p:cNvSpPr>
          <p:nvPr/>
        </p:nvSpPr>
        <p:spPr bwMode="auto">
          <a:xfrm>
            <a:off x="5898446" y="2419586"/>
            <a:ext cx="10668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Juice</a:t>
            </a:r>
          </a:p>
        </p:txBody>
      </p:sp>
      <p:sp>
        <p:nvSpPr>
          <p:cNvPr id="28678" name="AutoShape 5"/>
          <p:cNvSpPr>
            <a:spLocks noChangeArrowheads="1"/>
          </p:cNvSpPr>
          <p:nvPr/>
        </p:nvSpPr>
        <p:spPr bwMode="auto">
          <a:xfrm>
            <a:off x="3841046" y="2267186"/>
            <a:ext cx="1371600" cy="1219200"/>
          </a:xfrm>
          <a:prstGeom prst="diamond">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Sells</a:t>
            </a:r>
          </a:p>
        </p:txBody>
      </p:sp>
      <p:sp>
        <p:nvSpPr>
          <p:cNvPr id="28679" name="Line 6"/>
          <p:cNvSpPr>
            <a:spLocks noChangeShapeType="1"/>
          </p:cNvSpPr>
          <p:nvPr/>
        </p:nvSpPr>
        <p:spPr bwMode="auto">
          <a:xfrm>
            <a:off x="5212646" y="2876786"/>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0" name="Line 9"/>
          <p:cNvSpPr>
            <a:spLocks noChangeShapeType="1"/>
          </p:cNvSpPr>
          <p:nvPr/>
        </p:nvSpPr>
        <p:spPr bwMode="auto">
          <a:xfrm>
            <a:off x="4648200" y="32766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1" name="Line 10"/>
          <p:cNvSpPr>
            <a:spLocks noChangeShapeType="1"/>
          </p:cNvSpPr>
          <p:nvPr/>
        </p:nvSpPr>
        <p:spPr bwMode="auto">
          <a:xfrm flipH="1">
            <a:off x="3002846" y="2876786"/>
            <a:ext cx="83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2" name="Oval 11"/>
          <p:cNvSpPr>
            <a:spLocks noChangeArrowheads="1"/>
          </p:cNvSpPr>
          <p:nvPr/>
        </p:nvSpPr>
        <p:spPr bwMode="auto">
          <a:xfrm>
            <a:off x="3955348" y="3867386"/>
            <a:ext cx="1142995" cy="628414"/>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t>price</a:t>
            </a:r>
          </a:p>
        </p:txBody>
      </p:sp>
      <p:sp>
        <p:nvSpPr>
          <p:cNvPr id="28683" name="Line 13"/>
          <p:cNvSpPr>
            <a:spLocks noChangeShapeType="1"/>
          </p:cNvSpPr>
          <p:nvPr/>
        </p:nvSpPr>
        <p:spPr bwMode="auto">
          <a:xfrm>
            <a:off x="4526846" y="3486386"/>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4" name="Text Box 14"/>
          <p:cNvSpPr txBox="1">
            <a:spLocks noChangeArrowheads="1"/>
          </p:cNvSpPr>
          <p:nvPr/>
        </p:nvSpPr>
        <p:spPr bwMode="auto">
          <a:xfrm>
            <a:off x="838200" y="5064009"/>
            <a:ext cx="762846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800" dirty="0">
                <a:latin typeface="Corbel" panose="020B0503020204020204" pitchFamily="34" charset="0"/>
              </a:rPr>
              <a:t>Price is a function of both the bar and the juice,</a:t>
            </a:r>
          </a:p>
          <a:p>
            <a:r>
              <a:rPr lang="en-US" altLang="en-US" sz="2800" dirty="0">
                <a:latin typeface="Corbel" panose="020B0503020204020204" pitchFamily="34" charset="0"/>
              </a:rPr>
              <a:t>not of one alone. </a:t>
            </a:r>
          </a:p>
        </p:txBody>
      </p:sp>
    </p:spTree>
    <p:extLst>
      <p:ext uri="{BB962C8B-B14F-4D97-AF65-F5344CB8AC3E}">
        <p14:creationId xmlns:p14="http://schemas.microsoft.com/office/powerpoint/2010/main" val="5583280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379407" y="116118"/>
            <a:ext cx="6377940" cy="1293028"/>
          </a:xfrm>
        </p:spPr>
        <p:txBody>
          <a:bodyPr>
            <a:normAutofit/>
          </a:bodyPr>
          <a:lstStyle/>
          <a:p>
            <a:r>
              <a:rPr lang="en-US" sz="4400" dirty="0">
                <a:ln>
                  <a:noFill/>
                </a:ln>
                <a:latin typeface="Corbel" panose="020B0503020204020204" pitchFamily="34" charset="0"/>
              </a:rPr>
              <a:t>ER Diagram </a:t>
            </a:r>
          </a:p>
        </p:txBody>
      </p:sp>
      <p:pic>
        <p:nvPicPr>
          <p:cNvPr id="79875"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tretch>
            <a:fillRect/>
          </a:stretch>
        </p:blipFill>
        <p:spPr>
          <a:xfrm>
            <a:off x="1128892" y="1844675"/>
            <a:ext cx="7272338" cy="4152900"/>
          </a:xfrm>
          <a:prstGeom prst="rect">
            <a:avLst/>
          </a:prstGeom>
        </p:spPr>
      </p:pic>
    </p:spTree>
    <p:extLst>
      <p:ext uri="{BB962C8B-B14F-4D97-AF65-F5344CB8AC3E}">
        <p14:creationId xmlns:p14="http://schemas.microsoft.com/office/powerpoint/2010/main" val="3781941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650070" y="762000"/>
            <a:ext cx="7765321" cy="797625"/>
          </a:xfrm>
        </p:spPr>
        <p:txBody>
          <a:bodyPr>
            <a:normAutofit/>
          </a:bodyPr>
          <a:lstStyle/>
          <a:p>
            <a:r>
              <a:rPr lang="en-US" sz="4400" dirty="0">
                <a:ln>
                  <a:noFill/>
                </a:ln>
                <a:latin typeface="Corbel" panose="020B0503020204020204" pitchFamily="34" charset="0"/>
              </a:rPr>
              <a:t>Your Turn !</a:t>
            </a:r>
          </a:p>
        </p:txBody>
      </p:sp>
      <p:pic>
        <p:nvPicPr>
          <p:cNvPr id="84995"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tretch>
            <a:fillRect/>
          </a:stretch>
        </p:blipFill>
        <p:spPr>
          <a:xfrm>
            <a:off x="359774" y="1844675"/>
            <a:ext cx="8513762" cy="3667125"/>
          </a:xfrm>
          <a:prstGeom prst="rect">
            <a:avLst/>
          </a:prstGeom>
        </p:spPr>
      </p:pic>
    </p:spTree>
    <p:extLst>
      <p:ext uri="{BB962C8B-B14F-4D97-AF65-F5344CB8AC3E}">
        <p14:creationId xmlns:p14="http://schemas.microsoft.com/office/powerpoint/2010/main" val="4061613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320606" y="762000"/>
            <a:ext cx="6377940" cy="791676"/>
          </a:xfrm>
        </p:spPr>
        <p:txBody>
          <a:bodyPr>
            <a:normAutofit/>
          </a:bodyPr>
          <a:lstStyle/>
          <a:p>
            <a:r>
              <a:rPr lang="en-US" sz="4400" dirty="0">
                <a:ln>
                  <a:noFill/>
                </a:ln>
                <a:latin typeface="Corbel" panose="020B0503020204020204" pitchFamily="34" charset="0"/>
              </a:rPr>
              <a:t>Your Turn !!!</a:t>
            </a:r>
          </a:p>
        </p:txBody>
      </p:sp>
      <p:sp>
        <p:nvSpPr>
          <p:cNvPr id="86019" name="Rectangle 3"/>
          <p:cNvSpPr>
            <a:spLocks noGrp="1" noChangeArrowheads="1"/>
          </p:cNvSpPr>
          <p:nvPr>
            <p:ph idx="4294967295"/>
          </p:nvPr>
        </p:nvSpPr>
        <p:spPr>
          <a:xfrm>
            <a:off x="599722" y="1905000"/>
            <a:ext cx="8207963" cy="3810000"/>
          </a:xfrm>
          <a:prstGeom prst="rect">
            <a:avLst/>
          </a:prstGeom>
        </p:spPr>
        <p:txBody>
          <a:bodyPr>
            <a:normAutofit fontScale="25000" lnSpcReduction="20000"/>
          </a:bodyPr>
          <a:lstStyle/>
          <a:p>
            <a:r>
              <a:rPr lang="en-US" sz="11200" dirty="0">
                <a:latin typeface="Corbel" panose="020B0503020204020204" pitchFamily="34" charset="0"/>
              </a:rPr>
              <a:t>Identify the entities          -&gt; nouns</a:t>
            </a:r>
          </a:p>
          <a:p>
            <a:endParaRPr lang="en-US" sz="11200" dirty="0">
              <a:latin typeface="Corbel" panose="020B0503020204020204" pitchFamily="34" charset="0"/>
            </a:endParaRPr>
          </a:p>
          <a:p>
            <a:r>
              <a:rPr lang="en-US" sz="11200" dirty="0">
                <a:latin typeface="Corbel" panose="020B0503020204020204" pitchFamily="34" charset="0"/>
              </a:rPr>
              <a:t>Identify the relationships  -&gt;  verbs</a:t>
            </a:r>
          </a:p>
          <a:p>
            <a:endParaRPr lang="en-US" sz="11200" dirty="0">
              <a:latin typeface="Corbel" panose="020B0503020204020204" pitchFamily="34" charset="0"/>
            </a:endParaRPr>
          </a:p>
          <a:p>
            <a:r>
              <a:rPr lang="en-US" sz="11200" dirty="0">
                <a:latin typeface="Corbel" panose="020B0503020204020204" pitchFamily="34" charset="0"/>
              </a:rPr>
              <a:t>Determine </a:t>
            </a:r>
          </a:p>
          <a:p>
            <a:pPr lvl="1"/>
            <a:r>
              <a:rPr lang="en-US" sz="11200" dirty="0">
                <a:latin typeface="Corbel" panose="020B0503020204020204" pitchFamily="34" charset="0"/>
              </a:rPr>
              <a:t>Cardinality</a:t>
            </a:r>
          </a:p>
          <a:p>
            <a:endParaRPr lang="en-US" sz="11200" dirty="0">
              <a:latin typeface="Corbel" panose="020B0503020204020204" pitchFamily="34" charset="0"/>
            </a:endParaRPr>
          </a:p>
          <a:p>
            <a:pPr lvl="1"/>
            <a:r>
              <a:rPr lang="en-US" sz="11200" dirty="0">
                <a:latin typeface="Corbel" panose="020B0503020204020204" pitchFamily="34" charset="0"/>
              </a:rPr>
              <a:t>Participation  (total / partial)</a:t>
            </a:r>
          </a:p>
          <a:p>
            <a:endParaRPr lang="en-US" dirty="0"/>
          </a:p>
        </p:txBody>
      </p:sp>
    </p:spTree>
    <p:extLst>
      <p:ext uri="{BB962C8B-B14F-4D97-AF65-F5344CB8AC3E}">
        <p14:creationId xmlns:p14="http://schemas.microsoft.com/office/powerpoint/2010/main" val="318000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0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01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601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60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92" y="838200"/>
            <a:ext cx="7866072" cy="787484"/>
          </a:xfrm>
        </p:spPr>
        <p:txBody>
          <a:bodyPr>
            <a:normAutofit/>
          </a:bodyPr>
          <a:lstStyle/>
          <a:p>
            <a:r>
              <a:rPr lang="en-US" sz="4400" dirty="0">
                <a:latin typeface="Corbel" panose="020B0503020204020204" pitchFamily="34" charset="0"/>
              </a:rPr>
              <a:t>Restrictions - </a:t>
            </a:r>
            <a:r>
              <a:rPr lang="en-US" dirty="0">
                <a:latin typeface="Corbel" panose="020B0503020204020204" pitchFamily="34" charset="0"/>
              </a:rPr>
              <a:t>C</a:t>
            </a:r>
            <a:r>
              <a:rPr lang="en-US" sz="4400" dirty="0">
                <a:latin typeface="Corbel" panose="020B0503020204020204" pitchFamily="34" charset="0"/>
              </a:rPr>
              <a:t>onstraints</a:t>
            </a:r>
            <a:r>
              <a:rPr lang="en-US" dirty="0"/>
              <a:t> </a:t>
            </a:r>
          </a:p>
        </p:txBody>
      </p:sp>
      <p:sp>
        <p:nvSpPr>
          <p:cNvPr id="3" name="Content Placeholder 2"/>
          <p:cNvSpPr>
            <a:spLocks noGrp="1"/>
          </p:cNvSpPr>
          <p:nvPr>
            <p:ph idx="4294967295"/>
          </p:nvPr>
        </p:nvSpPr>
        <p:spPr>
          <a:xfrm>
            <a:off x="152400" y="1752600"/>
            <a:ext cx="8839200" cy="4419600"/>
          </a:xfrm>
          <a:prstGeom prst="rect">
            <a:avLst/>
          </a:prstGeom>
        </p:spPr>
        <p:txBody>
          <a:bodyPr>
            <a:normAutofit lnSpcReduction="10000"/>
          </a:bodyPr>
          <a:lstStyle/>
          <a:p>
            <a:pPr marL="0" indent="0">
              <a:buNone/>
            </a:pPr>
            <a:r>
              <a:rPr lang="en-US" sz="3300" dirty="0">
                <a:latin typeface="Corbel" panose="020B0503020204020204" pitchFamily="34" charset="0"/>
              </a:rPr>
              <a:t>What is the criteria to become a student at SLIIT?</a:t>
            </a:r>
          </a:p>
          <a:p>
            <a:pPr marL="0" indent="0">
              <a:buNone/>
            </a:pPr>
            <a:r>
              <a:rPr lang="en-US" sz="3300" dirty="0">
                <a:latin typeface="Corbel" panose="020B0503020204020204" pitchFamily="34" charset="0"/>
              </a:rPr>
              <a:t>Register for a degree  </a:t>
            </a:r>
          </a:p>
          <a:p>
            <a:pPr marL="0" indent="0">
              <a:buNone/>
            </a:pPr>
            <a:r>
              <a:rPr lang="en-US" sz="3300" dirty="0">
                <a:latin typeface="Corbel" panose="020B0503020204020204" pitchFamily="34" charset="0"/>
              </a:rPr>
              <a:t>		Mandatory /compulsory</a:t>
            </a:r>
          </a:p>
          <a:p>
            <a:pPr marL="0" indent="0">
              <a:buNone/>
            </a:pPr>
            <a:endParaRPr lang="en-US" sz="3300" dirty="0">
              <a:latin typeface="Corbel" panose="020B0503020204020204" pitchFamily="34" charset="0"/>
            </a:endParaRPr>
          </a:p>
          <a:p>
            <a:pPr marL="0" indent="0">
              <a:buNone/>
            </a:pPr>
            <a:r>
              <a:rPr lang="en-US" sz="3300" dirty="0">
                <a:latin typeface="Corbel" panose="020B0503020204020204" pitchFamily="34" charset="0"/>
              </a:rPr>
              <a:t>Student MUST be registered in a degree.</a:t>
            </a:r>
          </a:p>
          <a:p>
            <a:pPr marL="0" indent="0">
              <a:buNone/>
            </a:pPr>
            <a:r>
              <a:rPr lang="en-US" sz="3300" dirty="0">
                <a:solidFill>
                  <a:srgbClr val="FF0000"/>
                </a:solidFill>
                <a:latin typeface="Corbel" panose="020B0503020204020204" pitchFamily="34" charset="0"/>
              </a:rPr>
              <a:t>Restriction  - Constraint  </a:t>
            </a:r>
            <a:endParaRPr lang="en-US" sz="3300" dirty="0">
              <a:latin typeface="Corbel" panose="020B0503020204020204" pitchFamily="34" charset="0"/>
            </a:endParaRPr>
          </a:p>
          <a:p>
            <a:pPr marL="0" indent="0">
              <a:buNone/>
            </a:pPr>
            <a:r>
              <a:rPr lang="en-US" sz="3300" dirty="0">
                <a:latin typeface="Corbel" panose="020B0503020204020204" pitchFamily="34" charset="0"/>
              </a:rPr>
              <a:t>How do we present this information in the database ? </a:t>
            </a:r>
          </a:p>
          <a:p>
            <a:pPr marL="0" indent="0">
              <a:buNone/>
            </a:pPr>
            <a:endParaRPr lang="en-US" dirty="0"/>
          </a:p>
        </p:txBody>
      </p:sp>
    </p:spTree>
    <p:extLst>
      <p:ext uri="{BB962C8B-B14F-4D97-AF65-F5344CB8AC3E}">
        <p14:creationId xmlns:p14="http://schemas.microsoft.com/office/powerpoint/2010/main" val="177419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1575738"/>
            <a:ext cx="8458199" cy="3091035"/>
          </a:xfrm>
          <a:prstGeom prst="rect">
            <a:avLst/>
          </a:prstGeom>
        </p:spPr>
        <p:txBody>
          <a:bodyPr/>
          <a:lstStyle/>
          <a:p>
            <a:r>
              <a:rPr lang="en-US" sz="2800" dirty="0">
                <a:latin typeface="Corbel" panose="020B0503020204020204" pitchFamily="34" charset="0"/>
              </a:rPr>
              <a:t>Student must be registered in a degree.</a:t>
            </a:r>
          </a:p>
          <a:p>
            <a:endParaRPr lang="en-US" dirty="0"/>
          </a:p>
          <a:p>
            <a:pPr marL="0" indent="0">
              <a:buNone/>
            </a:pPr>
            <a:r>
              <a:rPr lang="en-US" dirty="0"/>
              <a:t>                            N                            1</a:t>
            </a:r>
          </a:p>
        </p:txBody>
      </p:sp>
      <p:grpSp>
        <p:nvGrpSpPr>
          <p:cNvPr id="7" name="Group 6"/>
          <p:cNvGrpSpPr/>
          <p:nvPr/>
        </p:nvGrpSpPr>
        <p:grpSpPr>
          <a:xfrm>
            <a:off x="817240" y="2891073"/>
            <a:ext cx="7715200" cy="1152128"/>
            <a:chOff x="817240" y="2891073"/>
            <a:chExt cx="7715200" cy="1152128"/>
          </a:xfrm>
        </p:grpSpPr>
        <p:sp>
          <p:nvSpPr>
            <p:cNvPr id="4" name="Rectangle 3"/>
            <p:cNvSpPr/>
            <p:nvPr/>
          </p:nvSpPr>
          <p:spPr>
            <a:xfrm>
              <a:off x="817240" y="3071093"/>
              <a:ext cx="1944216"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sp>
          <p:nvSpPr>
            <p:cNvPr id="5" name="Rectangle 4"/>
            <p:cNvSpPr/>
            <p:nvPr/>
          </p:nvSpPr>
          <p:spPr>
            <a:xfrm>
              <a:off x="6588224" y="3071093"/>
              <a:ext cx="1944216" cy="7920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Course</a:t>
              </a:r>
            </a:p>
          </p:txBody>
        </p:sp>
        <p:sp>
          <p:nvSpPr>
            <p:cNvPr id="6" name="Diamond 5"/>
            <p:cNvSpPr/>
            <p:nvPr/>
          </p:nvSpPr>
          <p:spPr>
            <a:xfrm>
              <a:off x="3779912" y="2891073"/>
              <a:ext cx="1944216" cy="1152128"/>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Register</a:t>
              </a:r>
            </a:p>
          </p:txBody>
        </p:sp>
        <p:grpSp>
          <p:nvGrpSpPr>
            <p:cNvPr id="14" name="Group 13"/>
            <p:cNvGrpSpPr/>
            <p:nvPr/>
          </p:nvGrpSpPr>
          <p:grpSpPr>
            <a:xfrm>
              <a:off x="2761456" y="3356992"/>
              <a:ext cx="1234480" cy="110145"/>
              <a:chOff x="2761456" y="3356992"/>
              <a:chExt cx="1234480" cy="110145"/>
            </a:xfrm>
          </p:grpSpPr>
          <p:cxnSp>
            <p:nvCxnSpPr>
              <p:cNvPr id="10" name="Straight Connector 9"/>
              <p:cNvCxnSpPr>
                <a:stCxn id="4" idx="3"/>
                <a:endCxn id="6" idx="1"/>
              </p:cNvCxnSpPr>
              <p:nvPr/>
            </p:nvCxnSpPr>
            <p:spPr>
              <a:xfrm>
                <a:off x="2761456" y="3467137"/>
                <a:ext cx="10184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761456" y="3356992"/>
                <a:ext cx="12344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p:cNvCxnSpPr>
              <a:stCxn id="6" idx="3"/>
              <a:endCxn id="5" idx="1"/>
            </p:cNvCxnSpPr>
            <p:nvPr/>
          </p:nvCxnSpPr>
          <p:spPr>
            <a:xfrm>
              <a:off x="5724128" y="3467137"/>
              <a:ext cx="8640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4734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539552" y="990600"/>
            <a:ext cx="8082096" cy="1371600"/>
          </a:xfrm>
        </p:spPr>
        <p:txBody>
          <a:bodyPr>
            <a:normAutofit/>
          </a:bodyPr>
          <a:lstStyle/>
          <a:p>
            <a:r>
              <a:rPr lang="en-US" sz="4400" dirty="0">
                <a:ln>
                  <a:noFill/>
                </a:ln>
                <a:latin typeface="Corbel" panose="020B0503020204020204" pitchFamily="34" charset="0"/>
              </a:rPr>
              <a:t>Participating Constraints</a:t>
            </a:r>
          </a:p>
        </p:txBody>
      </p:sp>
      <p:sp>
        <p:nvSpPr>
          <p:cNvPr id="80899" name="Rectangle 3"/>
          <p:cNvSpPr>
            <a:spLocks noGrp="1" noChangeArrowheads="1"/>
          </p:cNvSpPr>
          <p:nvPr>
            <p:ph idx="4294967295"/>
          </p:nvPr>
        </p:nvSpPr>
        <p:spPr>
          <a:xfrm>
            <a:off x="632178" y="2057400"/>
            <a:ext cx="8229600" cy="4483100"/>
          </a:xfrm>
          <a:prstGeom prst="rect">
            <a:avLst/>
          </a:prstGeom>
        </p:spPr>
        <p:txBody>
          <a:bodyPr>
            <a:normAutofit/>
          </a:bodyPr>
          <a:lstStyle/>
          <a:p>
            <a:pPr>
              <a:buFont typeface="Wingdings" panose="05000000000000000000" pitchFamily="2" charset="2"/>
              <a:buNone/>
            </a:pPr>
            <a:r>
              <a:rPr lang="en-US" sz="2800" b="1" dirty="0"/>
              <a:t>	</a:t>
            </a:r>
          </a:p>
          <a:p>
            <a:pPr algn="just"/>
            <a:r>
              <a:rPr lang="en-US" sz="2800" b="1" dirty="0">
                <a:solidFill>
                  <a:srgbClr val="FF0066"/>
                </a:solidFill>
                <a:latin typeface="Corbel" panose="020B0503020204020204" pitchFamily="34" charset="0"/>
              </a:rPr>
              <a:t>Participating constraint</a:t>
            </a:r>
            <a:r>
              <a:rPr lang="en-US" sz="2800" dirty="0">
                <a:latin typeface="Corbel" panose="020B0503020204020204" pitchFamily="34" charset="0"/>
              </a:rPr>
              <a:t> specifies whether the existence of an entity depends on its being related to another entity via the relationship type.</a:t>
            </a:r>
          </a:p>
        </p:txBody>
      </p:sp>
    </p:spTree>
    <p:extLst>
      <p:ext uri="{BB962C8B-B14F-4D97-AF65-F5344CB8AC3E}">
        <p14:creationId xmlns:p14="http://schemas.microsoft.com/office/powerpoint/2010/main" val="42605494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717317" y="515938"/>
            <a:ext cx="8025111" cy="931862"/>
          </a:xfrm>
        </p:spPr>
        <p:txBody>
          <a:bodyPr>
            <a:noAutofit/>
          </a:bodyPr>
          <a:lstStyle/>
          <a:p>
            <a:r>
              <a:rPr lang="en-US" sz="4400" dirty="0">
                <a:ln>
                  <a:noFill/>
                </a:ln>
                <a:latin typeface="Corbel" panose="020B0503020204020204" pitchFamily="34" charset="0"/>
              </a:rPr>
              <a:t>Participation Constraints</a:t>
            </a:r>
          </a:p>
        </p:txBody>
      </p:sp>
      <p:sp>
        <p:nvSpPr>
          <p:cNvPr id="51203" name="Rectangle 3"/>
          <p:cNvSpPr>
            <a:spLocks noGrp="1" noChangeArrowheads="1"/>
          </p:cNvSpPr>
          <p:nvPr>
            <p:ph idx="4294967295"/>
          </p:nvPr>
        </p:nvSpPr>
        <p:spPr>
          <a:xfrm>
            <a:off x="550863" y="1541463"/>
            <a:ext cx="8364537" cy="4505325"/>
          </a:xfrm>
          <a:prstGeom prst="rect">
            <a:avLst/>
          </a:prstGeom>
        </p:spPr>
        <p:txBody>
          <a:bodyPr>
            <a:normAutofit/>
          </a:bodyPr>
          <a:lstStyle/>
          <a:p>
            <a:pPr algn="just">
              <a:lnSpc>
                <a:spcPct val="90000"/>
              </a:lnSpc>
            </a:pPr>
            <a:r>
              <a:rPr lang="en-US" sz="2800" dirty="0">
                <a:latin typeface="Corbel" panose="020B0503020204020204" pitchFamily="34" charset="0"/>
              </a:rPr>
              <a:t>For example, if we specify that an employee </a:t>
            </a:r>
            <a:r>
              <a:rPr lang="en-US" sz="2800" b="1" dirty="0">
                <a:solidFill>
                  <a:srgbClr val="FF6600"/>
                </a:solidFill>
                <a:latin typeface="Corbel" panose="020B0503020204020204" pitchFamily="34" charset="0"/>
              </a:rPr>
              <a:t>must </a:t>
            </a:r>
            <a:r>
              <a:rPr lang="en-US" sz="2800" dirty="0">
                <a:latin typeface="Corbel" panose="020B0503020204020204" pitchFamily="34" charset="0"/>
              </a:rPr>
              <a:t>always work for a department. </a:t>
            </a:r>
          </a:p>
          <a:p>
            <a:pPr algn="just">
              <a:lnSpc>
                <a:spcPct val="90000"/>
              </a:lnSpc>
            </a:pPr>
            <a:r>
              <a:rPr lang="en-US" sz="2800" dirty="0">
                <a:latin typeface="Corbel" panose="020B0503020204020204" pitchFamily="34" charset="0"/>
              </a:rPr>
              <a:t>Then we say that the relationship “works in” is in </a:t>
            </a:r>
            <a:r>
              <a:rPr lang="en-US" sz="2800" b="1" dirty="0">
                <a:solidFill>
                  <a:srgbClr val="FF0066"/>
                </a:solidFill>
                <a:latin typeface="Corbel" panose="020B0503020204020204" pitchFamily="34" charset="0"/>
              </a:rPr>
              <a:t>total participation</a:t>
            </a:r>
            <a:r>
              <a:rPr lang="en-US" sz="2800" dirty="0">
                <a:latin typeface="Corbel" panose="020B0503020204020204" pitchFamily="34" charset="0"/>
              </a:rPr>
              <a:t> from employee entity to department entity. </a:t>
            </a:r>
          </a:p>
          <a:p>
            <a:pPr algn="just">
              <a:lnSpc>
                <a:spcPct val="90000"/>
              </a:lnSpc>
              <a:buFont typeface="Wingdings" panose="05000000000000000000" pitchFamily="2" charset="2"/>
              <a:buNone/>
            </a:pPr>
            <a:r>
              <a:rPr lang="en-US" sz="1800" dirty="0">
                <a:solidFill>
                  <a:srgbClr val="008000"/>
                </a:solidFill>
              </a:rPr>
              <a:t>                         </a:t>
            </a:r>
            <a:endParaRPr lang="en-US" dirty="0"/>
          </a:p>
          <a:p>
            <a:pPr algn="just">
              <a:lnSpc>
                <a:spcPct val="90000"/>
              </a:lnSpc>
              <a:buFont typeface="Wingdings" panose="05000000000000000000" pitchFamily="2" charset="2"/>
              <a:buNone/>
            </a:pPr>
            <a:endParaRPr lang="en-US" dirty="0"/>
          </a:p>
          <a:p>
            <a:pPr algn="just">
              <a:lnSpc>
                <a:spcPct val="90000"/>
              </a:lnSpc>
              <a:buFont typeface="Wingdings" panose="05000000000000000000" pitchFamily="2" charset="2"/>
              <a:buNone/>
            </a:pPr>
            <a:r>
              <a:rPr lang="en-US" dirty="0"/>
              <a:t> </a:t>
            </a:r>
            <a:r>
              <a:rPr lang="en-US" b="1" dirty="0"/>
              <a:t> </a:t>
            </a:r>
            <a:r>
              <a:rPr lang="en-US" dirty="0"/>
              <a:t>  </a:t>
            </a:r>
          </a:p>
        </p:txBody>
      </p:sp>
      <p:sp>
        <p:nvSpPr>
          <p:cNvPr id="51204" name="Text Box 9"/>
          <p:cNvSpPr txBox="1">
            <a:spLocks noChangeArrowheads="1"/>
          </p:cNvSpPr>
          <p:nvPr/>
        </p:nvSpPr>
        <p:spPr bwMode="auto">
          <a:xfrm>
            <a:off x="1371600" y="4724400"/>
            <a:ext cx="1600200" cy="466725"/>
          </a:xfrm>
          <a:prstGeom prst="rect">
            <a:avLst/>
          </a:prstGeom>
          <a:solidFill>
            <a:srgbClr val="9999FF"/>
          </a:solidFill>
          <a:ln w="9525">
            <a:solidFill>
              <a:schemeClr val="tx1"/>
            </a:solidFill>
            <a:miter lim="800000"/>
            <a:headEnd/>
            <a:tailEnd/>
          </a:ln>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Employee</a:t>
            </a:r>
          </a:p>
        </p:txBody>
      </p:sp>
      <p:sp>
        <p:nvSpPr>
          <p:cNvPr id="51205" name="Line 13"/>
          <p:cNvSpPr>
            <a:spLocks noChangeShapeType="1"/>
          </p:cNvSpPr>
          <p:nvPr/>
        </p:nvSpPr>
        <p:spPr bwMode="auto">
          <a:xfrm>
            <a:off x="2971800" y="4953000"/>
            <a:ext cx="1066800" cy="0"/>
          </a:xfrm>
          <a:prstGeom prst="line">
            <a:avLst/>
          </a:prstGeom>
          <a:noFill/>
          <a:ln w="889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06" name="Line 14"/>
          <p:cNvSpPr>
            <a:spLocks noChangeShapeType="1"/>
          </p:cNvSpPr>
          <p:nvPr/>
        </p:nvSpPr>
        <p:spPr bwMode="auto">
          <a:xfrm>
            <a:off x="5410200" y="4910138"/>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07" name="Text Box 10"/>
          <p:cNvSpPr txBox="1">
            <a:spLocks noChangeArrowheads="1"/>
          </p:cNvSpPr>
          <p:nvPr/>
        </p:nvSpPr>
        <p:spPr bwMode="auto">
          <a:xfrm>
            <a:off x="6324600" y="4714875"/>
            <a:ext cx="1773238" cy="466725"/>
          </a:xfrm>
          <a:prstGeom prst="rect">
            <a:avLst/>
          </a:prstGeom>
          <a:solidFill>
            <a:srgbClr val="9999FF"/>
          </a:solidFill>
          <a:ln w="9525">
            <a:solidFill>
              <a:schemeClr val="tx1"/>
            </a:solidFill>
            <a:miter lim="800000"/>
            <a:headEnd/>
            <a:tailEnd/>
          </a:ln>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Department</a:t>
            </a:r>
          </a:p>
        </p:txBody>
      </p:sp>
      <p:sp>
        <p:nvSpPr>
          <p:cNvPr id="51208" name="AutoShape 8"/>
          <p:cNvSpPr>
            <a:spLocks noChangeArrowheads="1"/>
          </p:cNvSpPr>
          <p:nvPr/>
        </p:nvSpPr>
        <p:spPr bwMode="auto">
          <a:xfrm>
            <a:off x="4038600" y="4419600"/>
            <a:ext cx="1447800" cy="990600"/>
          </a:xfrm>
          <a:prstGeom prst="diamond">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Works in</a:t>
            </a:r>
          </a:p>
        </p:txBody>
      </p:sp>
      <p:sp>
        <p:nvSpPr>
          <p:cNvPr id="331785" name="Text Box 9"/>
          <p:cNvSpPr txBox="1">
            <a:spLocks noChangeArrowheads="1"/>
          </p:cNvSpPr>
          <p:nvPr/>
        </p:nvSpPr>
        <p:spPr bwMode="auto">
          <a:xfrm>
            <a:off x="1759371" y="5700722"/>
            <a:ext cx="562525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dirty="0"/>
              <a:t>Employee </a:t>
            </a:r>
            <a:r>
              <a:rPr lang="en-US" dirty="0">
                <a:solidFill>
                  <a:srgbClr val="FF0000"/>
                </a:solidFill>
              </a:rPr>
              <a:t>must</a:t>
            </a:r>
            <a:r>
              <a:rPr lang="en-US" dirty="0"/>
              <a:t> work in a department</a:t>
            </a:r>
            <a:endParaRPr lang="en-US" dirty="0">
              <a:solidFill>
                <a:srgbClr val="00B050"/>
              </a:solidFill>
            </a:endParaRPr>
          </a:p>
          <a:p>
            <a:pPr eaLnBrk="1" hangingPunct="1"/>
            <a:r>
              <a:rPr lang="en-US" dirty="0"/>
              <a:t>Department may or may not have employees</a:t>
            </a:r>
            <a:endParaRPr lang="en-US" dirty="0">
              <a:solidFill>
                <a:srgbClr val="6600CC"/>
              </a:solidFill>
            </a:endParaRPr>
          </a:p>
        </p:txBody>
      </p:sp>
      <p:sp>
        <p:nvSpPr>
          <p:cNvPr id="51213" name="Text Box 13"/>
          <p:cNvSpPr txBox="1">
            <a:spLocks noChangeArrowheads="1"/>
          </p:cNvSpPr>
          <p:nvPr/>
        </p:nvSpPr>
        <p:spPr bwMode="auto">
          <a:xfrm>
            <a:off x="4038600" y="3375025"/>
            <a:ext cx="43498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b="0" dirty="0">
                <a:solidFill>
                  <a:srgbClr val="008000"/>
                </a:solidFill>
              </a:rPr>
              <a:t>(double lines) </a:t>
            </a:r>
            <a:r>
              <a:rPr lang="en-US" b="0" dirty="0">
                <a:solidFill>
                  <a:srgbClr val="008000"/>
                </a:solidFill>
                <a:sym typeface="Wingdings" panose="05000000000000000000" pitchFamily="2" charset="2"/>
              </a:rPr>
              <a:t> </a:t>
            </a:r>
            <a:r>
              <a:rPr lang="en-US" dirty="0">
                <a:solidFill>
                  <a:srgbClr val="00B050"/>
                </a:solidFill>
              </a:rPr>
              <a:t>total participation</a:t>
            </a:r>
            <a:endParaRPr lang="en-US" b="0" dirty="0">
              <a:solidFill>
                <a:srgbClr val="008000"/>
              </a:solidFill>
            </a:endParaRPr>
          </a:p>
        </p:txBody>
      </p:sp>
      <p:cxnSp>
        <p:nvCxnSpPr>
          <p:cNvPr id="3" name="Straight Arrow Connector 2">
            <a:extLst>
              <a:ext uri="{FF2B5EF4-FFF2-40B4-BE49-F238E27FC236}">
                <a16:creationId xmlns:a16="http://schemas.microsoft.com/office/drawing/2014/main" id="{EB78F3A0-51E1-DC3D-18E6-5143AC5119B1}"/>
              </a:ext>
            </a:extLst>
          </p:cNvPr>
          <p:cNvCxnSpPr>
            <a:cxnSpLocks/>
          </p:cNvCxnSpPr>
          <p:nvPr/>
        </p:nvCxnSpPr>
        <p:spPr>
          <a:xfrm flipH="1">
            <a:off x="3352800" y="3794125"/>
            <a:ext cx="1600200" cy="105323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7284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203">
                                            <p:txEl>
                                              <p:pRg st="1" end="1"/>
                                            </p:txEl>
                                          </p:spTgt>
                                        </p:tgtEl>
                                        <p:attrNameLst>
                                          <p:attrName>style.visibility</p:attrName>
                                        </p:attrNameLst>
                                      </p:cBhvr>
                                      <p:to>
                                        <p:strVal val="visible"/>
                                      </p:to>
                                    </p:set>
                                    <p:animEffect transition="in" filter="box(in)">
                                      <p:cBhvr>
                                        <p:cTn id="7" dur="500"/>
                                        <p:tgtEl>
                                          <p:spTgt spid="512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1204"/>
                                        </p:tgtEl>
                                        <p:attrNameLst>
                                          <p:attrName>style.visibility</p:attrName>
                                        </p:attrNameLst>
                                      </p:cBhvr>
                                      <p:to>
                                        <p:strVal val="visible"/>
                                      </p:to>
                                    </p:set>
                                    <p:anim calcmode="lin" valueType="num">
                                      <p:cBhvr additive="base">
                                        <p:cTn id="12" dur="500" fill="hold"/>
                                        <p:tgtEl>
                                          <p:spTgt spid="51204"/>
                                        </p:tgtEl>
                                        <p:attrNameLst>
                                          <p:attrName>ppt_x</p:attrName>
                                        </p:attrNameLst>
                                      </p:cBhvr>
                                      <p:tavLst>
                                        <p:tav tm="0">
                                          <p:val>
                                            <p:strVal val="#ppt_x"/>
                                          </p:val>
                                        </p:tav>
                                        <p:tav tm="100000">
                                          <p:val>
                                            <p:strVal val="#ppt_x"/>
                                          </p:val>
                                        </p:tav>
                                      </p:tavLst>
                                    </p:anim>
                                    <p:anim calcmode="lin" valueType="num">
                                      <p:cBhvr additive="base">
                                        <p:cTn id="13" dur="500" fill="hold"/>
                                        <p:tgtEl>
                                          <p:spTgt spid="5120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31785">
                                            <p:txEl>
                                              <p:pRg st="0" end="0"/>
                                            </p:txEl>
                                          </p:spTgt>
                                        </p:tgtEl>
                                        <p:attrNameLst>
                                          <p:attrName>style.visibility</p:attrName>
                                        </p:attrNameLst>
                                      </p:cBhvr>
                                      <p:to>
                                        <p:strVal val="visible"/>
                                      </p:to>
                                    </p:set>
                                    <p:anim calcmode="lin" valueType="num">
                                      <p:cBhvr additive="base">
                                        <p:cTn id="18" dur="500" fill="hold"/>
                                        <p:tgtEl>
                                          <p:spTgt spid="331785">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31785">
                                            <p:txEl>
                                              <p:pRg st="0" end="0"/>
                                            </p:txEl>
                                          </p:spTgt>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331785">
                                            <p:txEl>
                                              <p:pRg st="1" end="1"/>
                                            </p:txEl>
                                          </p:spTgt>
                                        </p:tgtEl>
                                        <p:attrNameLst>
                                          <p:attrName>style.visibility</p:attrName>
                                        </p:attrNameLst>
                                      </p:cBhvr>
                                      <p:to>
                                        <p:strVal val="visible"/>
                                      </p:to>
                                    </p:set>
                                    <p:anim calcmode="lin" valueType="num">
                                      <p:cBhvr additive="base">
                                        <p:cTn id="22" dur="500" fill="hold"/>
                                        <p:tgtEl>
                                          <p:spTgt spid="331785">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31785">
                                            <p:txEl>
                                              <p:pRg st="1" end="1"/>
                                            </p:txEl>
                                          </p:spTgt>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51205"/>
                                        </p:tgtEl>
                                        <p:attrNameLst>
                                          <p:attrName>style.visibility</p:attrName>
                                        </p:attrNameLst>
                                      </p:cBhvr>
                                      <p:to>
                                        <p:strVal val="visible"/>
                                      </p:to>
                                    </p:set>
                                    <p:anim calcmode="lin" valueType="num">
                                      <p:cBhvr additive="base">
                                        <p:cTn id="26" dur="500" fill="hold"/>
                                        <p:tgtEl>
                                          <p:spTgt spid="51205"/>
                                        </p:tgtEl>
                                        <p:attrNameLst>
                                          <p:attrName>ppt_x</p:attrName>
                                        </p:attrNameLst>
                                      </p:cBhvr>
                                      <p:tavLst>
                                        <p:tav tm="0">
                                          <p:val>
                                            <p:strVal val="#ppt_x"/>
                                          </p:val>
                                        </p:tav>
                                        <p:tav tm="100000">
                                          <p:val>
                                            <p:strVal val="#ppt_x"/>
                                          </p:val>
                                        </p:tav>
                                      </p:tavLst>
                                    </p:anim>
                                    <p:anim calcmode="lin" valueType="num">
                                      <p:cBhvr additive="base">
                                        <p:cTn id="27" dur="500" fill="hold"/>
                                        <p:tgtEl>
                                          <p:spTgt spid="51205"/>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51208"/>
                                        </p:tgtEl>
                                        <p:attrNameLst>
                                          <p:attrName>style.visibility</p:attrName>
                                        </p:attrNameLst>
                                      </p:cBhvr>
                                      <p:to>
                                        <p:strVal val="visible"/>
                                      </p:to>
                                    </p:set>
                                    <p:anim calcmode="lin" valueType="num">
                                      <p:cBhvr additive="base">
                                        <p:cTn id="30" dur="500" fill="hold"/>
                                        <p:tgtEl>
                                          <p:spTgt spid="51208"/>
                                        </p:tgtEl>
                                        <p:attrNameLst>
                                          <p:attrName>ppt_x</p:attrName>
                                        </p:attrNameLst>
                                      </p:cBhvr>
                                      <p:tavLst>
                                        <p:tav tm="0">
                                          <p:val>
                                            <p:strVal val="#ppt_x"/>
                                          </p:val>
                                        </p:tav>
                                        <p:tav tm="100000">
                                          <p:val>
                                            <p:strVal val="#ppt_x"/>
                                          </p:val>
                                        </p:tav>
                                      </p:tavLst>
                                    </p:anim>
                                    <p:anim calcmode="lin" valueType="num">
                                      <p:cBhvr additive="base">
                                        <p:cTn id="31" dur="500" fill="hold"/>
                                        <p:tgtEl>
                                          <p:spTgt spid="51208"/>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51206"/>
                                        </p:tgtEl>
                                        <p:attrNameLst>
                                          <p:attrName>style.visibility</p:attrName>
                                        </p:attrNameLst>
                                      </p:cBhvr>
                                      <p:to>
                                        <p:strVal val="visible"/>
                                      </p:to>
                                    </p:set>
                                    <p:anim calcmode="lin" valueType="num">
                                      <p:cBhvr additive="base">
                                        <p:cTn id="34" dur="500" fill="hold"/>
                                        <p:tgtEl>
                                          <p:spTgt spid="51206"/>
                                        </p:tgtEl>
                                        <p:attrNameLst>
                                          <p:attrName>ppt_x</p:attrName>
                                        </p:attrNameLst>
                                      </p:cBhvr>
                                      <p:tavLst>
                                        <p:tav tm="0">
                                          <p:val>
                                            <p:strVal val="#ppt_x"/>
                                          </p:val>
                                        </p:tav>
                                        <p:tav tm="100000">
                                          <p:val>
                                            <p:strVal val="#ppt_x"/>
                                          </p:val>
                                        </p:tav>
                                      </p:tavLst>
                                    </p:anim>
                                    <p:anim calcmode="lin" valueType="num">
                                      <p:cBhvr additive="base">
                                        <p:cTn id="35" dur="500" fill="hold"/>
                                        <p:tgtEl>
                                          <p:spTgt spid="51206"/>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51207"/>
                                        </p:tgtEl>
                                        <p:attrNameLst>
                                          <p:attrName>style.visibility</p:attrName>
                                        </p:attrNameLst>
                                      </p:cBhvr>
                                      <p:to>
                                        <p:strVal val="visible"/>
                                      </p:to>
                                    </p:set>
                                    <p:anim calcmode="lin" valueType="num">
                                      <p:cBhvr additive="base">
                                        <p:cTn id="38" dur="500" fill="hold"/>
                                        <p:tgtEl>
                                          <p:spTgt spid="51207"/>
                                        </p:tgtEl>
                                        <p:attrNameLst>
                                          <p:attrName>ppt_x</p:attrName>
                                        </p:attrNameLst>
                                      </p:cBhvr>
                                      <p:tavLst>
                                        <p:tav tm="0">
                                          <p:val>
                                            <p:strVal val="#ppt_x"/>
                                          </p:val>
                                        </p:tav>
                                        <p:tav tm="100000">
                                          <p:val>
                                            <p:strVal val="#ppt_x"/>
                                          </p:val>
                                        </p:tav>
                                      </p:tavLst>
                                    </p:anim>
                                    <p:anim calcmode="lin" valueType="num">
                                      <p:cBhvr additive="base">
                                        <p:cTn id="39" dur="500" fill="hold"/>
                                        <p:tgtEl>
                                          <p:spTgt spid="51207"/>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8" presetClass="entr" presetSubtype="16" fill="hold" nodeType="clickEffect">
                                  <p:stCondLst>
                                    <p:cond delay="0"/>
                                  </p:stCondLst>
                                  <p:childTnLst>
                                    <p:set>
                                      <p:cBhvr>
                                        <p:cTn id="43" dur="1" fill="hold">
                                          <p:stCondLst>
                                            <p:cond delay="0"/>
                                          </p:stCondLst>
                                        </p:cTn>
                                        <p:tgtEl>
                                          <p:spTgt spid="331785">
                                            <p:txEl>
                                              <p:pRg st="0" end="0"/>
                                            </p:txEl>
                                          </p:spTgt>
                                        </p:tgtEl>
                                        <p:attrNameLst>
                                          <p:attrName>style.visibility</p:attrName>
                                        </p:attrNameLst>
                                      </p:cBhvr>
                                      <p:to>
                                        <p:strVal val="visible"/>
                                      </p:to>
                                    </p:set>
                                    <p:animEffect transition="in" filter="diamond(in)">
                                      <p:cBhvr>
                                        <p:cTn id="44" dur="2000"/>
                                        <p:tgtEl>
                                          <p:spTgt spid="331785">
                                            <p:txEl>
                                              <p:pRg st="0" end="0"/>
                                            </p:txEl>
                                          </p:spTgt>
                                        </p:tgtEl>
                                      </p:cBhvr>
                                    </p:animEffect>
                                  </p:childTnLst>
                                </p:cTn>
                              </p:par>
                              <p:par>
                                <p:cTn id="45" presetID="8" presetClass="entr" presetSubtype="16" fill="hold" nodeType="withEffect">
                                  <p:stCondLst>
                                    <p:cond delay="0"/>
                                  </p:stCondLst>
                                  <p:childTnLst>
                                    <p:set>
                                      <p:cBhvr>
                                        <p:cTn id="46" dur="1" fill="hold">
                                          <p:stCondLst>
                                            <p:cond delay="0"/>
                                          </p:stCondLst>
                                        </p:cTn>
                                        <p:tgtEl>
                                          <p:spTgt spid="331785">
                                            <p:txEl>
                                              <p:pRg st="1" end="1"/>
                                            </p:txEl>
                                          </p:spTgt>
                                        </p:tgtEl>
                                        <p:attrNameLst>
                                          <p:attrName>style.visibility</p:attrName>
                                        </p:attrNameLst>
                                      </p:cBhvr>
                                      <p:to>
                                        <p:strVal val="visible"/>
                                      </p:to>
                                    </p:set>
                                    <p:animEffect transition="in" filter="diamond(in)">
                                      <p:cBhvr>
                                        <p:cTn id="47" dur="2000"/>
                                        <p:tgtEl>
                                          <p:spTgt spid="331785">
                                            <p:txEl>
                                              <p:pRg st="1" end="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51213"/>
                                        </p:tgtEl>
                                        <p:attrNameLst>
                                          <p:attrName>style.visibility</p:attrName>
                                        </p:attrNameLst>
                                      </p:cBhvr>
                                      <p:to>
                                        <p:strVal val="visible"/>
                                      </p:to>
                                    </p:set>
                                    <p:animEffect transition="in" filter="box(in)">
                                      <p:cBhvr>
                                        <p:cTn id="52" dur="500"/>
                                        <p:tgtEl>
                                          <p:spTgt spid="51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animBg="1"/>
      <p:bldP spid="51205" grpId="0" animBg="1"/>
      <p:bldP spid="51206" grpId="0" animBg="1"/>
      <p:bldP spid="51207" grpId="0" animBg="1"/>
      <p:bldP spid="51208" grpId="0" animBg="1"/>
      <p:bldP spid="331785" grpId="0" build="allAtOnce"/>
      <p:bldP spid="512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556260" y="533400"/>
            <a:ext cx="6377940" cy="1020276"/>
          </a:xfrm>
        </p:spPr>
        <p:txBody>
          <a:bodyPr>
            <a:normAutofit/>
          </a:bodyPr>
          <a:lstStyle/>
          <a:p>
            <a:r>
              <a:rPr lang="en-US" sz="4400" dirty="0">
                <a:ln>
                  <a:noFill/>
                </a:ln>
                <a:latin typeface="Corbel" panose="020B0503020204020204" pitchFamily="34" charset="0"/>
              </a:rPr>
              <a:t>E-R Model (contd.)</a:t>
            </a:r>
          </a:p>
        </p:txBody>
      </p:sp>
      <p:sp>
        <p:nvSpPr>
          <p:cNvPr id="82947" name="Rectangle 3"/>
          <p:cNvSpPr>
            <a:spLocks noGrp="1" noChangeArrowheads="1"/>
          </p:cNvSpPr>
          <p:nvPr>
            <p:ph idx="4294967295"/>
          </p:nvPr>
        </p:nvSpPr>
        <p:spPr>
          <a:xfrm>
            <a:off x="457200" y="1644650"/>
            <a:ext cx="8458200" cy="4857750"/>
          </a:xfrm>
          <a:prstGeom prst="rect">
            <a:avLst/>
          </a:prstGeom>
        </p:spPr>
        <p:txBody>
          <a:bodyPr/>
          <a:lstStyle/>
          <a:p>
            <a:pPr marL="0" indent="0">
              <a:buNone/>
            </a:pPr>
            <a:endParaRPr lang="en-US" dirty="0"/>
          </a:p>
          <a:p>
            <a:r>
              <a:rPr lang="en-US" sz="2800" dirty="0">
                <a:latin typeface="Corbel" panose="020B0503020204020204" pitchFamily="34" charset="0"/>
              </a:rPr>
              <a:t>If the relationship is not in total participation, then it is known as in </a:t>
            </a:r>
            <a:r>
              <a:rPr lang="en-US" sz="2800" b="1" dirty="0">
                <a:solidFill>
                  <a:srgbClr val="FF0066"/>
                </a:solidFill>
                <a:latin typeface="Corbel" panose="020B0503020204020204" pitchFamily="34" charset="0"/>
              </a:rPr>
              <a:t>partial</a:t>
            </a:r>
            <a:r>
              <a:rPr lang="en-US" sz="2800" dirty="0">
                <a:latin typeface="Corbel" panose="020B0503020204020204" pitchFamily="34" charset="0"/>
              </a:rPr>
              <a:t>.</a:t>
            </a:r>
          </a:p>
          <a:p>
            <a:pPr>
              <a:buFont typeface="Wingdings" panose="05000000000000000000" pitchFamily="2" charset="2"/>
              <a:buNone/>
            </a:pPr>
            <a:endParaRPr lang="en-US" sz="2800" dirty="0">
              <a:latin typeface="Corbel" panose="020B0503020204020204" pitchFamily="34" charset="0"/>
            </a:endParaRPr>
          </a:p>
          <a:p>
            <a:r>
              <a:rPr lang="en-US" sz="2800" dirty="0">
                <a:latin typeface="Corbel" panose="020B0503020204020204" pitchFamily="34" charset="0"/>
              </a:rPr>
              <a:t>For example, from Department to Employee</a:t>
            </a:r>
          </a:p>
          <a:p>
            <a:endParaRPr lang="en-US" sz="2800" dirty="0">
              <a:latin typeface="Corbel" panose="020B0503020204020204" pitchFamily="34" charset="0"/>
            </a:endParaRPr>
          </a:p>
          <a:p>
            <a:r>
              <a:rPr lang="en-US" sz="2800" dirty="0">
                <a:solidFill>
                  <a:srgbClr val="008000"/>
                </a:solidFill>
                <a:latin typeface="Corbel" panose="020B0503020204020204" pitchFamily="34" charset="0"/>
              </a:rPr>
              <a:t>Department </a:t>
            </a:r>
            <a:r>
              <a:rPr lang="en-US" sz="2800" dirty="0">
                <a:solidFill>
                  <a:srgbClr val="FF0000"/>
                </a:solidFill>
                <a:latin typeface="Corbel" panose="020B0503020204020204" pitchFamily="34" charset="0"/>
              </a:rPr>
              <a:t>may or may not </a:t>
            </a:r>
            <a:r>
              <a:rPr lang="en-US" sz="2800" dirty="0">
                <a:solidFill>
                  <a:srgbClr val="008000"/>
                </a:solidFill>
                <a:latin typeface="Corbel" panose="020B0503020204020204" pitchFamily="34" charset="0"/>
              </a:rPr>
              <a:t>have Employees</a:t>
            </a:r>
          </a:p>
          <a:p>
            <a:endParaRPr lang="en-US" dirty="0">
              <a:solidFill>
                <a:srgbClr val="008000"/>
              </a:solidFill>
            </a:endParaRPr>
          </a:p>
        </p:txBody>
      </p:sp>
    </p:spTree>
    <p:extLst>
      <p:ext uri="{BB962C8B-B14F-4D97-AF65-F5344CB8AC3E}">
        <p14:creationId xmlns:p14="http://schemas.microsoft.com/office/powerpoint/2010/main" val="11723862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693801" y="1066800"/>
            <a:ext cx="8133709" cy="990600"/>
          </a:xfrm>
        </p:spPr>
        <p:txBody>
          <a:bodyPr>
            <a:noAutofit/>
          </a:bodyPr>
          <a:lstStyle/>
          <a:p>
            <a:r>
              <a:rPr lang="en-US" sz="4400" dirty="0">
                <a:ln>
                  <a:noFill/>
                </a:ln>
                <a:latin typeface="Corbel" panose="020B0503020204020204" pitchFamily="34" charset="0"/>
              </a:rPr>
              <a:t>Participation Constraints </a:t>
            </a:r>
          </a:p>
        </p:txBody>
      </p:sp>
      <p:pic>
        <p:nvPicPr>
          <p:cNvPr id="83971"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tretch>
            <a:fillRect/>
          </a:stretch>
        </p:blipFill>
        <p:spPr>
          <a:xfrm>
            <a:off x="413544" y="2330450"/>
            <a:ext cx="8316912" cy="3651250"/>
          </a:xfrm>
          <a:prstGeom prst="rect">
            <a:avLst/>
          </a:prstGeom>
        </p:spPr>
      </p:pic>
      <p:sp>
        <p:nvSpPr>
          <p:cNvPr id="332804" name="Text Box 4"/>
          <p:cNvSpPr txBox="1">
            <a:spLocks noChangeArrowheads="1"/>
          </p:cNvSpPr>
          <p:nvPr/>
        </p:nvSpPr>
        <p:spPr bwMode="auto">
          <a:xfrm>
            <a:off x="5410200" y="3429000"/>
            <a:ext cx="3086100" cy="727075"/>
          </a:xfrm>
          <a:prstGeom prst="rect">
            <a:avLst/>
          </a:prstGeom>
          <a:noFill/>
          <a:ln w="25400">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t>Participation Constraint</a:t>
            </a:r>
          </a:p>
          <a:p>
            <a:pPr eaLnBrk="1" hangingPunct="1"/>
            <a:r>
              <a:rPr lang="en-US"/>
              <a:t>Student?</a:t>
            </a:r>
          </a:p>
        </p:txBody>
      </p:sp>
    </p:spTree>
    <p:extLst>
      <p:ext uri="{BB962C8B-B14F-4D97-AF65-F5344CB8AC3E}">
        <p14:creationId xmlns:p14="http://schemas.microsoft.com/office/powerpoint/2010/main" val="21300203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2804"/>
                                        </p:tgtEl>
                                        <p:attrNameLst>
                                          <p:attrName>style.visibility</p:attrName>
                                        </p:attrNameLst>
                                      </p:cBhvr>
                                      <p:to>
                                        <p:strVal val="visible"/>
                                      </p:to>
                                    </p:set>
                                    <p:anim calcmode="lin" valueType="num">
                                      <p:cBhvr additive="base">
                                        <p:cTn id="7" dur="500" fill="hold"/>
                                        <p:tgtEl>
                                          <p:spTgt spid="332804"/>
                                        </p:tgtEl>
                                        <p:attrNameLst>
                                          <p:attrName>ppt_x</p:attrName>
                                        </p:attrNameLst>
                                      </p:cBhvr>
                                      <p:tavLst>
                                        <p:tav tm="0">
                                          <p:val>
                                            <p:strVal val="#ppt_x"/>
                                          </p:val>
                                        </p:tav>
                                        <p:tav tm="100000">
                                          <p:val>
                                            <p:strVal val="#ppt_x"/>
                                          </p:val>
                                        </p:tav>
                                      </p:tavLst>
                                    </p:anim>
                                    <p:anim calcmode="lin" valueType="num">
                                      <p:cBhvr additive="base">
                                        <p:cTn id="8" dur="500" fill="hold"/>
                                        <p:tgtEl>
                                          <p:spTgt spid="3328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144225" y="685800"/>
            <a:ext cx="6377940" cy="917498"/>
          </a:xfrm>
        </p:spPr>
        <p:txBody>
          <a:bodyPr>
            <a:normAutofit/>
          </a:bodyPr>
          <a:lstStyle/>
          <a:p>
            <a:r>
              <a:rPr lang="en-US" sz="4400" dirty="0">
                <a:ln>
                  <a:noFill/>
                </a:ln>
                <a:latin typeface="Corbel" panose="020B0503020204020204" pitchFamily="34" charset="0"/>
              </a:rPr>
              <a:t>Weak Entity</a:t>
            </a:r>
          </a:p>
        </p:txBody>
      </p:sp>
      <p:sp>
        <p:nvSpPr>
          <p:cNvPr id="87043" name="Rectangle 3"/>
          <p:cNvSpPr>
            <a:spLocks noGrp="1" noChangeArrowheads="1"/>
          </p:cNvSpPr>
          <p:nvPr>
            <p:ph idx="4294967295"/>
          </p:nvPr>
        </p:nvSpPr>
        <p:spPr>
          <a:xfrm>
            <a:off x="792164" y="2209800"/>
            <a:ext cx="7886170" cy="4319588"/>
          </a:xfrm>
          <a:prstGeom prst="rect">
            <a:avLst/>
          </a:prstGeom>
        </p:spPr>
        <p:txBody>
          <a:bodyPr>
            <a:normAutofit/>
          </a:bodyPr>
          <a:lstStyle/>
          <a:p>
            <a:pPr algn="just">
              <a:lnSpc>
                <a:spcPct val="90000"/>
              </a:lnSpc>
            </a:pPr>
            <a:r>
              <a:rPr lang="en-US" sz="2800" dirty="0">
                <a:solidFill>
                  <a:srgbClr val="008000"/>
                </a:solidFill>
                <a:latin typeface="Corbel" panose="020B0503020204020204" pitchFamily="34" charset="0"/>
              </a:rPr>
              <a:t>Parents employed?</a:t>
            </a:r>
          </a:p>
          <a:p>
            <a:pPr algn="just">
              <a:lnSpc>
                <a:spcPct val="90000"/>
              </a:lnSpc>
            </a:pPr>
            <a:r>
              <a:rPr lang="en-US" sz="2800" dirty="0">
                <a:solidFill>
                  <a:srgbClr val="008000"/>
                </a:solidFill>
                <a:latin typeface="Corbel" panose="020B0503020204020204" pitchFamily="34" charset="0"/>
              </a:rPr>
              <a:t>Does the company cover THE CHILDRENS  medical insurance?</a:t>
            </a:r>
          </a:p>
          <a:p>
            <a:pPr algn="just">
              <a:lnSpc>
                <a:spcPct val="90000"/>
              </a:lnSpc>
            </a:pPr>
            <a:r>
              <a:rPr lang="en-US" sz="2800" dirty="0">
                <a:solidFill>
                  <a:srgbClr val="008000"/>
                </a:solidFill>
                <a:latin typeface="Corbel" panose="020B0503020204020204" pitchFamily="34" charset="0"/>
              </a:rPr>
              <a:t>How do you claim your medical bills</a:t>
            </a:r>
          </a:p>
          <a:p>
            <a:pPr lvl="1" algn="just">
              <a:lnSpc>
                <a:spcPct val="90000"/>
              </a:lnSpc>
            </a:pPr>
            <a:r>
              <a:rPr lang="en-US" sz="2800" dirty="0">
                <a:solidFill>
                  <a:srgbClr val="008000"/>
                </a:solidFill>
                <a:latin typeface="Corbel" panose="020B0503020204020204" pitchFamily="34" charset="0"/>
              </a:rPr>
              <a:t>Can you get it reimbursed or through your parents</a:t>
            </a:r>
          </a:p>
          <a:p>
            <a:pPr algn="just">
              <a:lnSpc>
                <a:spcPct val="90000"/>
              </a:lnSpc>
            </a:pPr>
            <a:r>
              <a:rPr lang="en-US" sz="2800" dirty="0">
                <a:solidFill>
                  <a:srgbClr val="008000"/>
                </a:solidFill>
                <a:latin typeface="Corbel" panose="020B0503020204020204" pitchFamily="34" charset="0"/>
              </a:rPr>
              <a:t>Is the same coverage given to children after resignation</a:t>
            </a:r>
          </a:p>
        </p:txBody>
      </p:sp>
    </p:spTree>
    <p:extLst>
      <p:ext uri="{BB962C8B-B14F-4D97-AF65-F5344CB8AC3E}">
        <p14:creationId xmlns:p14="http://schemas.microsoft.com/office/powerpoint/2010/main" val="4212729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115747" y="731836"/>
            <a:ext cx="6377940" cy="1030291"/>
          </a:xfrm>
        </p:spPr>
        <p:txBody>
          <a:bodyPr>
            <a:normAutofit/>
          </a:bodyPr>
          <a:lstStyle/>
          <a:p>
            <a:r>
              <a:rPr lang="en-US" sz="4400" dirty="0">
                <a:ln>
                  <a:noFill/>
                </a:ln>
                <a:latin typeface="Corbel" panose="020B0503020204020204" pitchFamily="34" charset="0"/>
              </a:rPr>
              <a:t>Weak Entity</a:t>
            </a:r>
          </a:p>
        </p:txBody>
      </p:sp>
      <p:sp>
        <p:nvSpPr>
          <p:cNvPr id="31" name="Content Placeholder 30"/>
          <p:cNvSpPr>
            <a:spLocks noGrp="1"/>
          </p:cNvSpPr>
          <p:nvPr>
            <p:ph idx="4294967295"/>
          </p:nvPr>
        </p:nvSpPr>
        <p:spPr>
          <a:xfrm>
            <a:off x="565150" y="1600200"/>
            <a:ext cx="8578850" cy="4525963"/>
          </a:xfrm>
          <a:prstGeom prst="rect">
            <a:avLst/>
          </a:prstGeom>
        </p:spPr>
        <p:txBody>
          <a:bodyPr>
            <a:normAutofit/>
          </a:bodyPr>
          <a:lstStyle/>
          <a:p>
            <a:pPr marL="0" indent="0">
              <a:buNone/>
            </a:pPr>
            <a:endParaRPr lang="en-US" sz="2000" dirty="0">
              <a:solidFill>
                <a:srgbClr val="008000"/>
              </a:solidFill>
            </a:endParaRPr>
          </a:p>
          <a:p>
            <a:pPr marL="0" indent="0">
              <a:buNone/>
            </a:pPr>
            <a:endParaRPr lang="en-US" sz="2000" dirty="0">
              <a:solidFill>
                <a:srgbClr val="008000"/>
              </a:solidFill>
            </a:endParaRPr>
          </a:p>
          <a:p>
            <a:pPr marL="0" indent="0">
              <a:buNone/>
            </a:pPr>
            <a:endParaRPr lang="en-US" sz="2000" dirty="0">
              <a:solidFill>
                <a:srgbClr val="008000"/>
              </a:solidFill>
            </a:endParaRPr>
          </a:p>
          <a:p>
            <a:pPr marL="0" indent="0">
              <a:buNone/>
            </a:pPr>
            <a:endParaRPr lang="en-US" sz="2000" dirty="0">
              <a:solidFill>
                <a:srgbClr val="008000"/>
              </a:solidFill>
            </a:endParaRPr>
          </a:p>
          <a:p>
            <a:pPr marL="0" indent="0">
              <a:buNone/>
            </a:pPr>
            <a:endParaRPr lang="en-US" sz="2000" dirty="0">
              <a:solidFill>
                <a:srgbClr val="008000"/>
              </a:solidFill>
            </a:endParaRPr>
          </a:p>
          <a:p>
            <a:pPr marL="0" indent="0">
              <a:buNone/>
            </a:pPr>
            <a:endParaRPr lang="en-US" sz="2000" dirty="0">
              <a:solidFill>
                <a:srgbClr val="008000"/>
              </a:solidFill>
            </a:endParaRPr>
          </a:p>
          <a:p>
            <a:pPr marL="0" indent="0">
              <a:buNone/>
            </a:pPr>
            <a:r>
              <a:rPr lang="en-US" sz="2000" dirty="0">
                <a:solidFill>
                  <a:srgbClr val="008000"/>
                </a:solidFill>
              </a:rPr>
              <a:t>						                    Double lined box  </a:t>
            </a:r>
            <a:endParaRPr lang="en-GB" sz="2000" dirty="0"/>
          </a:p>
        </p:txBody>
      </p:sp>
      <p:sp>
        <p:nvSpPr>
          <p:cNvPr id="88067" name="Text Box 17"/>
          <p:cNvSpPr txBox="1">
            <a:spLocks noChangeArrowheads="1"/>
          </p:cNvSpPr>
          <p:nvPr/>
        </p:nvSpPr>
        <p:spPr bwMode="auto">
          <a:xfrm>
            <a:off x="6324600" y="4648200"/>
            <a:ext cx="606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age</a:t>
            </a:r>
          </a:p>
        </p:txBody>
      </p:sp>
      <p:sp>
        <p:nvSpPr>
          <p:cNvPr id="88068" name="Line 20"/>
          <p:cNvSpPr>
            <a:spLocks noChangeShapeType="1"/>
          </p:cNvSpPr>
          <p:nvPr/>
        </p:nvSpPr>
        <p:spPr bwMode="auto">
          <a:xfrm>
            <a:off x="4648200" y="5105400"/>
            <a:ext cx="609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069" name="Text Box 23"/>
          <p:cNvSpPr txBox="1">
            <a:spLocks noChangeArrowheads="1"/>
          </p:cNvSpPr>
          <p:nvPr/>
        </p:nvSpPr>
        <p:spPr bwMode="auto">
          <a:xfrm>
            <a:off x="1066800" y="4724400"/>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u="sng">
                <a:latin typeface="Times New Roman" panose="02020603050405020304" pitchFamily="18" charset="0"/>
              </a:rPr>
              <a:t>id</a:t>
            </a:r>
          </a:p>
        </p:txBody>
      </p:sp>
      <p:sp>
        <p:nvSpPr>
          <p:cNvPr id="317462" name="Text Box 22"/>
          <p:cNvSpPr txBox="1">
            <a:spLocks noChangeArrowheads="1"/>
          </p:cNvSpPr>
          <p:nvPr/>
        </p:nvSpPr>
        <p:spPr bwMode="auto">
          <a:xfrm>
            <a:off x="889000" y="2493963"/>
            <a:ext cx="1749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solidFill>
                  <a:srgbClr val="FF6600"/>
                </a:solidFill>
              </a:rPr>
              <a:t>Strong entity</a:t>
            </a:r>
          </a:p>
        </p:txBody>
      </p:sp>
      <p:grpSp>
        <p:nvGrpSpPr>
          <p:cNvPr id="2" name="Group 33"/>
          <p:cNvGrpSpPr>
            <a:grpSpLocks/>
          </p:cNvGrpSpPr>
          <p:nvPr/>
        </p:nvGrpSpPr>
        <p:grpSpPr bwMode="auto">
          <a:xfrm>
            <a:off x="838200" y="2392363"/>
            <a:ext cx="7620000" cy="3643312"/>
            <a:chOff x="838200" y="2392362"/>
            <a:chExt cx="7620000" cy="3643313"/>
          </a:xfrm>
        </p:grpSpPr>
        <p:sp>
          <p:nvSpPr>
            <p:cNvPr id="88073" name="Line 14"/>
            <p:cNvSpPr>
              <a:spLocks noChangeShapeType="1"/>
            </p:cNvSpPr>
            <p:nvPr/>
          </p:nvSpPr>
          <p:spPr bwMode="auto">
            <a:xfrm>
              <a:off x="2743200" y="3352800"/>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074" name="Line 27"/>
            <p:cNvSpPr>
              <a:spLocks noChangeShapeType="1"/>
            </p:cNvSpPr>
            <p:nvPr/>
          </p:nvSpPr>
          <p:spPr bwMode="auto">
            <a:xfrm>
              <a:off x="5029200" y="3352800"/>
              <a:ext cx="990600" cy="0"/>
            </a:xfrm>
            <a:prstGeom prst="line">
              <a:avLst/>
            </a:prstGeom>
            <a:noFill/>
            <a:ln w="635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075" name="Text Box 28"/>
            <p:cNvSpPr txBox="1">
              <a:spLocks noChangeArrowheads="1"/>
            </p:cNvSpPr>
            <p:nvPr/>
          </p:nvSpPr>
          <p:spPr bwMode="auto">
            <a:xfrm>
              <a:off x="3032125" y="28606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1</a:t>
              </a:r>
            </a:p>
          </p:txBody>
        </p:sp>
        <p:grpSp>
          <p:nvGrpSpPr>
            <p:cNvPr id="4" name="Group 32"/>
            <p:cNvGrpSpPr>
              <a:grpSpLocks/>
            </p:cNvGrpSpPr>
            <p:nvPr/>
          </p:nvGrpSpPr>
          <p:grpSpPr bwMode="auto">
            <a:xfrm>
              <a:off x="838200" y="2392362"/>
              <a:ext cx="7620000" cy="3643313"/>
              <a:chOff x="838200" y="2392362"/>
              <a:chExt cx="7620000" cy="3643313"/>
            </a:xfrm>
          </p:grpSpPr>
          <p:sp>
            <p:nvSpPr>
              <p:cNvPr id="88077" name="Oval 24"/>
              <p:cNvSpPr>
                <a:spLocks noChangeArrowheads="1"/>
              </p:cNvSpPr>
              <p:nvPr/>
            </p:nvSpPr>
            <p:spPr bwMode="auto">
              <a:xfrm>
                <a:off x="838200" y="4648200"/>
                <a:ext cx="838200" cy="6096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u="sng"/>
                  <a:t>id</a:t>
                </a:r>
              </a:p>
            </p:txBody>
          </p:sp>
          <p:sp>
            <p:nvSpPr>
              <p:cNvPr id="88078" name="Line 25"/>
              <p:cNvSpPr>
                <a:spLocks noChangeShapeType="1"/>
              </p:cNvSpPr>
              <p:nvPr/>
            </p:nvSpPr>
            <p:spPr bwMode="auto">
              <a:xfrm flipV="1">
                <a:off x="1219200" y="3657600"/>
                <a:ext cx="2286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29"/>
              <p:cNvGrpSpPr>
                <a:grpSpLocks/>
              </p:cNvGrpSpPr>
              <p:nvPr/>
            </p:nvGrpSpPr>
            <p:grpSpPr bwMode="auto">
              <a:xfrm>
                <a:off x="838200" y="2392362"/>
                <a:ext cx="7620000" cy="3643313"/>
                <a:chOff x="838200" y="2392362"/>
                <a:chExt cx="7620000" cy="3643313"/>
              </a:xfrm>
            </p:grpSpPr>
            <p:sp>
              <p:nvSpPr>
                <p:cNvPr id="88080" name="Text Box 24"/>
                <p:cNvSpPr txBox="1">
                  <a:spLocks noChangeArrowheads="1"/>
                </p:cNvSpPr>
                <p:nvPr/>
              </p:nvSpPr>
              <p:spPr bwMode="auto">
                <a:xfrm>
                  <a:off x="6627812" y="2392362"/>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solidFill>
                        <a:srgbClr val="FF0066"/>
                      </a:solidFill>
                    </a:rPr>
                    <a:t>Weak entity</a:t>
                  </a:r>
                </a:p>
              </p:txBody>
            </p:sp>
            <p:grpSp>
              <p:nvGrpSpPr>
                <p:cNvPr id="6" name="Group 27"/>
                <p:cNvGrpSpPr>
                  <a:grpSpLocks/>
                </p:cNvGrpSpPr>
                <p:nvPr/>
              </p:nvGrpSpPr>
              <p:grpSpPr bwMode="auto">
                <a:xfrm>
                  <a:off x="838200" y="2819400"/>
                  <a:ext cx="7620000" cy="3216275"/>
                  <a:chOff x="838200" y="2819400"/>
                  <a:chExt cx="7620000" cy="3216275"/>
                </a:xfrm>
              </p:grpSpPr>
              <p:grpSp>
                <p:nvGrpSpPr>
                  <p:cNvPr id="7" name="Group 26"/>
                  <p:cNvGrpSpPr>
                    <a:grpSpLocks/>
                  </p:cNvGrpSpPr>
                  <p:nvPr/>
                </p:nvGrpSpPr>
                <p:grpSpPr bwMode="auto">
                  <a:xfrm>
                    <a:off x="838200" y="2819400"/>
                    <a:ext cx="7620000" cy="3216275"/>
                    <a:chOff x="838200" y="2819400"/>
                    <a:chExt cx="7620000" cy="3216275"/>
                  </a:xfrm>
                </p:grpSpPr>
                <p:grpSp>
                  <p:nvGrpSpPr>
                    <p:cNvPr id="8" name="Group 25"/>
                    <p:cNvGrpSpPr>
                      <a:grpSpLocks/>
                    </p:cNvGrpSpPr>
                    <p:nvPr/>
                  </p:nvGrpSpPr>
                  <p:grpSpPr bwMode="auto">
                    <a:xfrm>
                      <a:off x="838200" y="2819400"/>
                      <a:ext cx="7620000" cy="2438400"/>
                      <a:chOff x="838200" y="2819400"/>
                      <a:chExt cx="7620000" cy="2438400"/>
                    </a:xfrm>
                  </p:grpSpPr>
                  <p:sp>
                    <p:nvSpPr>
                      <p:cNvPr id="88086" name="Text Box 10"/>
                      <p:cNvSpPr txBox="1">
                        <a:spLocks noChangeArrowheads="1"/>
                      </p:cNvSpPr>
                      <p:nvPr/>
                    </p:nvSpPr>
                    <p:spPr bwMode="auto">
                      <a:xfrm>
                        <a:off x="838200" y="3124200"/>
                        <a:ext cx="1925638"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Employee</a:t>
                        </a:r>
                      </a:p>
                    </p:txBody>
                  </p:sp>
                  <p:sp>
                    <p:nvSpPr>
                      <p:cNvPr id="88087" name="Oval 18"/>
                      <p:cNvSpPr>
                        <a:spLocks noChangeArrowheads="1"/>
                      </p:cNvSpPr>
                      <p:nvPr/>
                    </p:nvSpPr>
                    <p:spPr bwMode="auto">
                      <a:xfrm>
                        <a:off x="4343400" y="4648200"/>
                        <a:ext cx="1219200" cy="6096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sz="1800" b="0"/>
                      </a:p>
                    </p:txBody>
                  </p:sp>
                  <p:sp>
                    <p:nvSpPr>
                      <p:cNvPr id="88088" name="Oval 19"/>
                      <p:cNvSpPr>
                        <a:spLocks noChangeArrowheads="1"/>
                      </p:cNvSpPr>
                      <p:nvPr/>
                    </p:nvSpPr>
                    <p:spPr bwMode="auto">
                      <a:xfrm>
                        <a:off x="5943600" y="4572000"/>
                        <a:ext cx="1219200" cy="6096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1800" b="0"/>
                          <a:t>age</a:t>
                        </a:r>
                      </a:p>
                    </p:txBody>
                  </p:sp>
                  <p:sp>
                    <p:nvSpPr>
                      <p:cNvPr id="88089" name="Text Box 16"/>
                      <p:cNvSpPr txBox="1">
                        <a:spLocks noChangeArrowheads="1"/>
                      </p:cNvSpPr>
                      <p:nvPr/>
                    </p:nvSpPr>
                    <p:spPr bwMode="auto">
                      <a:xfrm>
                        <a:off x="4556125" y="4689475"/>
                        <a:ext cx="842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name</a:t>
                        </a:r>
                      </a:p>
                    </p:txBody>
                  </p:sp>
                  <p:sp>
                    <p:nvSpPr>
                      <p:cNvPr id="88090" name="Line 21"/>
                      <p:cNvSpPr>
                        <a:spLocks noChangeShapeType="1"/>
                      </p:cNvSpPr>
                      <p:nvPr/>
                    </p:nvSpPr>
                    <p:spPr bwMode="auto">
                      <a:xfrm flipV="1">
                        <a:off x="5181600" y="3581400"/>
                        <a:ext cx="18288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091" name="Line 22"/>
                      <p:cNvSpPr>
                        <a:spLocks noChangeShapeType="1"/>
                      </p:cNvSpPr>
                      <p:nvPr/>
                    </p:nvSpPr>
                    <p:spPr bwMode="auto">
                      <a:xfrm flipV="1">
                        <a:off x="6934200" y="3581400"/>
                        <a:ext cx="3810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092" name="Text Box 29"/>
                      <p:cNvSpPr txBox="1">
                        <a:spLocks noChangeArrowheads="1"/>
                      </p:cNvSpPr>
                      <p:nvPr/>
                    </p:nvSpPr>
                    <p:spPr bwMode="auto">
                      <a:xfrm>
                        <a:off x="5394325" y="2860675"/>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a:latin typeface="Times New Roman" panose="02020603050405020304" pitchFamily="18" charset="0"/>
                          </a:rPr>
                          <a:t>M</a:t>
                        </a:r>
                      </a:p>
                    </p:txBody>
                  </p:sp>
                  <p:sp>
                    <p:nvSpPr>
                      <p:cNvPr id="88093" name="AutoShape 20"/>
                      <p:cNvSpPr>
                        <a:spLocks noChangeArrowheads="1"/>
                      </p:cNvSpPr>
                      <p:nvPr/>
                    </p:nvSpPr>
                    <p:spPr bwMode="auto">
                      <a:xfrm>
                        <a:off x="3581400" y="2819400"/>
                        <a:ext cx="1524000" cy="1066800"/>
                      </a:xfrm>
                      <a:prstGeom prst="diamond">
                        <a:avLst/>
                      </a:prstGeom>
                      <a:solidFill>
                        <a:schemeClr val="accent1"/>
                      </a:solidFill>
                      <a:ln w="63500" cmpd="dbl">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covers</a:t>
                        </a:r>
                      </a:p>
                    </p:txBody>
                  </p:sp>
                  <p:sp>
                    <p:nvSpPr>
                      <p:cNvPr id="88094" name="Text Box 11"/>
                      <p:cNvSpPr txBox="1">
                        <a:spLocks noChangeArrowheads="1"/>
                      </p:cNvSpPr>
                      <p:nvPr/>
                    </p:nvSpPr>
                    <p:spPr bwMode="auto">
                      <a:xfrm>
                        <a:off x="6019800" y="3143250"/>
                        <a:ext cx="2438400" cy="461963"/>
                      </a:xfrm>
                      <a:prstGeom prst="rect">
                        <a:avLst/>
                      </a:prstGeom>
                      <a:solidFill>
                        <a:srgbClr val="9999FF"/>
                      </a:solidFill>
                      <a:ln w="63500" cmpd="dbl">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sz="2400" b="0">
                            <a:latin typeface="Times New Roman" panose="02020603050405020304" pitchFamily="18" charset="0"/>
                          </a:rPr>
                          <a:t>Dependent</a:t>
                        </a:r>
                      </a:p>
                    </p:txBody>
                  </p:sp>
                </p:grpSp>
                <p:sp>
                  <p:nvSpPr>
                    <p:cNvPr id="88085" name="Text Box 26"/>
                    <p:cNvSpPr txBox="1">
                      <a:spLocks noChangeArrowheads="1"/>
                    </p:cNvSpPr>
                    <p:nvPr/>
                  </p:nvSpPr>
                  <p:spPr bwMode="auto">
                    <a:xfrm>
                      <a:off x="4876800" y="5638800"/>
                      <a:ext cx="1452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a:solidFill>
                            <a:srgbClr val="008000"/>
                          </a:solidFill>
                        </a:rPr>
                        <a:t>Partial key</a:t>
                      </a:r>
                    </a:p>
                  </p:txBody>
                </p:sp>
              </p:grpSp>
              <p:sp>
                <p:nvSpPr>
                  <p:cNvPr id="88083" name="Line 27"/>
                  <p:cNvSpPr>
                    <a:spLocks noChangeShapeType="1"/>
                  </p:cNvSpPr>
                  <p:nvPr/>
                </p:nvSpPr>
                <p:spPr bwMode="auto">
                  <a:xfrm flipH="1" flipV="1">
                    <a:off x="5029200" y="5257800"/>
                    <a:ext cx="381000" cy="533400"/>
                  </a:xfrm>
                  <a:prstGeom prst="line">
                    <a:avLst/>
                  </a:prstGeom>
                  <a:noFill/>
                  <a:ln w="952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grpSp>
      <p:cxnSp>
        <p:nvCxnSpPr>
          <p:cNvPr id="3" name="Straight Connector 2"/>
          <p:cNvCxnSpPr/>
          <p:nvPr/>
        </p:nvCxnSpPr>
        <p:spPr>
          <a:xfrm>
            <a:off x="4648200" y="5105400"/>
            <a:ext cx="746125"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860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462"/>
                                        </p:tgtEl>
                                        <p:attrNameLst>
                                          <p:attrName>style.visibility</p:attrName>
                                        </p:attrNameLst>
                                      </p:cBhvr>
                                      <p:to>
                                        <p:strVal val="visible"/>
                                      </p:to>
                                    </p:set>
                                    <p:anim calcmode="lin" valueType="num">
                                      <p:cBhvr additive="base">
                                        <p:cTn id="7" dur="500" fill="hold"/>
                                        <p:tgtEl>
                                          <p:spTgt spid="317462"/>
                                        </p:tgtEl>
                                        <p:attrNameLst>
                                          <p:attrName>ppt_x</p:attrName>
                                        </p:attrNameLst>
                                      </p:cBhvr>
                                      <p:tavLst>
                                        <p:tav tm="0">
                                          <p:val>
                                            <p:strVal val="0-#ppt_w/2"/>
                                          </p:val>
                                        </p:tav>
                                        <p:tav tm="100000">
                                          <p:val>
                                            <p:strVal val="#ppt_x"/>
                                          </p:val>
                                        </p:tav>
                                      </p:tavLst>
                                    </p:anim>
                                    <p:anim calcmode="lin" valueType="num">
                                      <p:cBhvr additive="base">
                                        <p:cTn id="8" dur="500" fill="hold"/>
                                        <p:tgtEl>
                                          <p:spTgt spid="3174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226540" y="457200"/>
            <a:ext cx="6377940" cy="1010266"/>
          </a:xfrm>
        </p:spPr>
        <p:txBody>
          <a:bodyPr>
            <a:normAutofit/>
          </a:bodyPr>
          <a:lstStyle/>
          <a:p>
            <a:r>
              <a:rPr lang="en-US" sz="4400" dirty="0">
                <a:ln>
                  <a:noFill/>
                </a:ln>
                <a:latin typeface="Corbel" panose="020B0503020204020204" pitchFamily="34" charset="0"/>
              </a:rPr>
              <a:t>Weak Entity</a:t>
            </a:r>
          </a:p>
        </p:txBody>
      </p:sp>
      <p:sp>
        <p:nvSpPr>
          <p:cNvPr id="87043" name="Rectangle 3"/>
          <p:cNvSpPr>
            <a:spLocks noGrp="1" noChangeArrowheads="1"/>
          </p:cNvSpPr>
          <p:nvPr>
            <p:ph idx="4294967295"/>
          </p:nvPr>
        </p:nvSpPr>
        <p:spPr>
          <a:xfrm>
            <a:off x="609600" y="1466850"/>
            <a:ext cx="7962900" cy="4713288"/>
          </a:xfrm>
          <a:prstGeom prst="rect">
            <a:avLst/>
          </a:prstGeom>
        </p:spPr>
        <p:txBody>
          <a:bodyPr>
            <a:normAutofit/>
          </a:bodyPr>
          <a:lstStyle/>
          <a:p>
            <a:pPr algn="just">
              <a:lnSpc>
                <a:spcPct val="90000"/>
              </a:lnSpc>
            </a:pPr>
            <a:r>
              <a:rPr lang="en-US" sz="2800" dirty="0">
                <a:latin typeface="Corbel" panose="020B0503020204020204" pitchFamily="34" charset="0"/>
              </a:rPr>
              <a:t>Some entities can’t exist on its own.</a:t>
            </a:r>
          </a:p>
          <a:p>
            <a:pPr algn="just">
              <a:lnSpc>
                <a:spcPct val="90000"/>
              </a:lnSpc>
            </a:pPr>
            <a:r>
              <a:rPr lang="en-US" sz="2800" dirty="0">
                <a:solidFill>
                  <a:srgbClr val="6600CC"/>
                </a:solidFill>
                <a:latin typeface="Corbel" panose="020B0503020204020204" pitchFamily="34" charset="0"/>
              </a:rPr>
              <a:t>Its’ existence-dependent on another entity. It cannot exist without the entity with which it has a relationship.</a:t>
            </a:r>
          </a:p>
          <a:p>
            <a:pPr algn="just">
              <a:lnSpc>
                <a:spcPct val="90000"/>
              </a:lnSpc>
            </a:pPr>
            <a:endParaRPr lang="en-US" sz="2800" dirty="0">
              <a:latin typeface="Corbel" panose="020B0503020204020204" pitchFamily="34" charset="0"/>
            </a:endParaRPr>
          </a:p>
          <a:p>
            <a:pPr algn="just">
              <a:lnSpc>
                <a:spcPct val="90000"/>
              </a:lnSpc>
            </a:pPr>
            <a:r>
              <a:rPr lang="en-US" sz="2800" dirty="0">
                <a:solidFill>
                  <a:srgbClr val="6600CC"/>
                </a:solidFill>
                <a:latin typeface="Corbel" panose="020B0503020204020204" pitchFamily="34" charset="0"/>
              </a:rPr>
              <a:t>It inherits the part of the primary key from the entity to which it is related.</a:t>
            </a:r>
          </a:p>
          <a:p>
            <a:pPr algn="just">
              <a:lnSpc>
                <a:spcPct val="90000"/>
              </a:lnSpc>
            </a:pPr>
            <a:endParaRPr lang="en-US" sz="2800" dirty="0">
              <a:latin typeface="Corbel" panose="020B0503020204020204" pitchFamily="34" charset="0"/>
            </a:endParaRPr>
          </a:p>
          <a:p>
            <a:pPr algn="just">
              <a:lnSpc>
                <a:spcPct val="90000"/>
              </a:lnSpc>
            </a:pPr>
            <a:r>
              <a:rPr lang="en-US" sz="2800" dirty="0">
                <a:latin typeface="Corbel" panose="020B0503020204020204" pitchFamily="34" charset="0"/>
              </a:rPr>
              <a:t>Entity types without any key attributes is called </a:t>
            </a:r>
            <a:r>
              <a:rPr lang="en-US" sz="2800" b="1" dirty="0">
                <a:solidFill>
                  <a:srgbClr val="FF0066"/>
                </a:solidFill>
                <a:latin typeface="Corbel" panose="020B0503020204020204" pitchFamily="34" charset="0"/>
              </a:rPr>
              <a:t>weak entity types</a:t>
            </a:r>
            <a:r>
              <a:rPr lang="en-US" sz="2800" dirty="0">
                <a:solidFill>
                  <a:srgbClr val="FF0066"/>
                </a:solidFill>
                <a:latin typeface="Corbel" panose="020B0503020204020204" pitchFamily="34" charset="0"/>
              </a:rPr>
              <a:t>.</a:t>
            </a:r>
            <a:r>
              <a:rPr lang="en-US" dirty="0">
                <a:solidFill>
                  <a:srgbClr val="FF0066"/>
                </a:solidFill>
              </a:rPr>
              <a:t>  </a:t>
            </a:r>
            <a:endParaRPr lang="en-US" dirty="0">
              <a:solidFill>
                <a:srgbClr val="008000"/>
              </a:solidFill>
            </a:endParaRPr>
          </a:p>
        </p:txBody>
      </p:sp>
    </p:spTree>
    <p:extLst>
      <p:ext uri="{BB962C8B-B14F-4D97-AF65-F5344CB8AC3E}">
        <p14:creationId xmlns:p14="http://schemas.microsoft.com/office/powerpoint/2010/main" val="13965170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idx="4294967295"/>
          </p:nvPr>
        </p:nvSpPr>
        <p:spPr>
          <a:xfrm>
            <a:off x="376296" y="1371599"/>
            <a:ext cx="8419628" cy="4783139"/>
          </a:xfrm>
          <a:prstGeom prst="rect">
            <a:avLst/>
          </a:prstGeom>
        </p:spPr>
        <p:txBody>
          <a:bodyPr>
            <a:normAutofit fontScale="77500" lnSpcReduction="20000"/>
          </a:bodyPr>
          <a:lstStyle/>
          <a:p>
            <a:pPr algn="just"/>
            <a:r>
              <a:rPr lang="en-US" sz="4000" dirty="0">
                <a:latin typeface="Corbel" panose="020B0503020204020204" pitchFamily="34" charset="0"/>
              </a:rPr>
              <a:t>  The attributes in the weak entity participating in the key are called </a:t>
            </a:r>
            <a:r>
              <a:rPr lang="en-US" sz="4000" b="1" dirty="0">
                <a:solidFill>
                  <a:srgbClr val="FF9900"/>
                </a:solidFill>
                <a:latin typeface="Corbel" panose="020B0503020204020204" pitchFamily="34" charset="0"/>
              </a:rPr>
              <a:t>partial keys</a:t>
            </a:r>
            <a:r>
              <a:rPr lang="en-US" sz="4000" dirty="0">
                <a:solidFill>
                  <a:srgbClr val="FF9900"/>
                </a:solidFill>
                <a:latin typeface="Corbel" panose="020B0503020204020204" pitchFamily="34" charset="0"/>
              </a:rPr>
              <a:t>.</a:t>
            </a:r>
          </a:p>
          <a:p>
            <a:pPr marL="0" indent="0" algn="just">
              <a:buNone/>
            </a:pPr>
            <a:r>
              <a:rPr lang="en-US" sz="4000" dirty="0">
                <a:latin typeface="Corbel" panose="020B0503020204020204" pitchFamily="34" charset="0"/>
              </a:rPr>
              <a:t>   </a:t>
            </a:r>
            <a:endParaRPr lang="en-US" sz="4000" dirty="0">
              <a:solidFill>
                <a:srgbClr val="FF9900"/>
              </a:solidFill>
              <a:latin typeface="Corbel" panose="020B0503020204020204" pitchFamily="34" charset="0"/>
            </a:endParaRPr>
          </a:p>
          <a:p>
            <a:pPr marL="533400" indent="-533400" algn="just">
              <a:lnSpc>
                <a:spcPct val="90000"/>
              </a:lnSpc>
              <a:buFont typeface="Arial"/>
              <a:buChar char="•"/>
              <a:defRPr/>
            </a:pPr>
            <a:r>
              <a:rPr lang="en-US" sz="4000" dirty="0">
                <a:solidFill>
                  <a:schemeClr val="tx1">
                    <a:lumMod val="85000"/>
                    <a:lumOff val="15000"/>
                  </a:schemeClr>
                </a:solidFill>
                <a:latin typeface="Corbel" panose="020B0503020204020204" pitchFamily="34" charset="0"/>
              </a:rPr>
              <a:t>The owner entity and the </a:t>
            </a:r>
            <a:r>
              <a:rPr lang="en-US" sz="4000" b="1" dirty="0">
                <a:solidFill>
                  <a:srgbClr val="008000"/>
                </a:solidFill>
                <a:latin typeface="Corbel" panose="020B0503020204020204" pitchFamily="34" charset="0"/>
              </a:rPr>
              <a:t>weak entity</a:t>
            </a:r>
            <a:r>
              <a:rPr lang="en-US" sz="4000" dirty="0">
                <a:solidFill>
                  <a:schemeClr val="tx1">
                    <a:lumMod val="85000"/>
                    <a:lumOff val="15000"/>
                  </a:schemeClr>
                </a:solidFill>
                <a:latin typeface="Corbel" panose="020B0503020204020204" pitchFamily="34" charset="0"/>
              </a:rPr>
              <a:t> participates in an </a:t>
            </a:r>
            <a:r>
              <a:rPr lang="en-US" sz="4000" b="1" dirty="0">
                <a:solidFill>
                  <a:srgbClr val="FF0066"/>
                </a:solidFill>
                <a:latin typeface="Corbel" panose="020B0503020204020204" pitchFamily="34" charset="0"/>
              </a:rPr>
              <a:t>identifying relationship</a:t>
            </a:r>
            <a:r>
              <a:rPr lang="en-US" sz="4000" dirty="0">
                <a:solidFill>
                  <a:schemeClr val="tx1">
                    <a:lumMod val="85000"/>
                    <a:lumOff val="15000"/>
                  </a:schemeClr>
                </a:solidFill>
                <a:latin typeface="Corbel" panose="020B0503020204020204" pitchFamily="34" charset="0"/>
              </a:rPr>
              <a:t>.</a:t>
            </a:r>
          </a:p>
          <a:p>
            <a:pPr marL="533400" indent="-533400" algn="just" fontAlgn="auto">
              <a:lnSpc>
                <a:spcPct val="90000"/>
              </a:lnSpc>
              <a:buFont typeface="Wingdings" panose="05000000000000000000" pitchFamily="2" charset="2"/>
              <a:buNone/>
              <a:defRPr/>
            </a:pPr>
            <a:endParaRPr lang="en-US" sz="4000" dirty="0">
              <a:solidFill>
                <a:schemeClr val="tx1">
                  <a:lumMod val="85000"/>
                  <a:lumOff val="15000"/>
                </a:schemeClr>
              </a:solidFill>
              <a:latin typeface="Corbel" panose="020B0503020204020204" pitchFamily="34" charset="0"/>
            </a:endParaRPr>
          </a:p>
          <a:p>
            <a:pPr marL="533400" indent="-533400" algn="just">
              <a:lnSpc>
                <a:spcPct val="90000"/>
              </a:lnSpc>
              <a:buFont typeface="Arial"/>
              <a:buChar char="•"/>
              <a:defRPr/>
            </a:pPr>
            <a:r>
              <a:rPr lang="en-US" sz="4000" dirty="0">
                <a:solidFill>
                  <a:schemeClr val="tx1">
                    <a:lumMod val="85000"/>
                    <a:lumOff val="15000"/>
                  </a:schemeClr>
                </a:solidFill>
                <a:latin typeface="Corbel" panose="020B0503020204020204" pitchFamily="34" charset="0"/>
              </a:rPr>
              <a:t>The cardinality of the identifying relationship is either </a:t>
            </a:r>
            <a:r>
              <a:rPr lang="en-US" sz="4000" b="1" dirty="0">
                <a:solidFill>
                  <a:schemeClr val="tx1">
                    <a:lumMod val="85000"/>
                    <a:lumOff val="15000"/>
                  </a:schemeClr>
                </a:solidFill>
                <a:latin typeface="Corbel" panose="020B0503020204020204" pitchFamily="34" charset="0"/>
              </a:rPr>
              <a:t>one-to-one</a:t>
            </a:r>
            <a:r>
              <a:rPr lang="en-US" sz="4000" dirty="0">
                <a:solidFill>
                  <a:schemeClr val="tx1">
                    <a:lumMod val="85000"/>
                    <a:lumOff val="15000"/>
                  </a:schemeClr>
                </a:solidFill>
                <a:latin typeface="Corbel" panose="020B0503020204020204" pitchFamily="34" charset="0"/>
              </a:rPr>
              <a:t> or </a:t>
            </a:r>
            <a:r>
              <a:rPr lang="en-US" sz="4000" b="1" dirty="0">
                <a:solidFill>
                  <a:schemeClr val="tx1">
                    <a:lumMod val="85000"/>
                    <a:lumOff val="15000"/>
                  </a:schemeClr>
                </a:solidFill>
                <a:latin typeface="Corbel" panose="020B0503020204020204" pitchFamily="34" charset="0"/>
              </a:rPr>
              <a:t>one-to-many</a:t>
            </a:r>
            <a:r>
              <a:rPr lang="en-US" sz="4000" dirty="0">
                <a:solidFill>
                  <a:schemeClr val="tx1">
                    <a:lumMod val="85000"/>
                    <a:lumOff val="15000"/>
                  </a:schemeClr>
                </a:solidFill>
                <a:latin typeface="Corbel" panose="020B0503020204020204" pitchFamily="34" charset="0"/>
              </a:rPr>
              <a:t> from owner entity to weak entity.</a:t>
            </a:r>
          </a:p>
          <a:p>
            <a:pPr marL="533400" indent="-533400" algn="just" fontAlgn="auto">
              <a:lnSpc>
                <a:spcPct val="90000"/>
              </a:lnSpc>
              <a:buFont typeface="Wingdings" panose="05000000000000000000" pitchFamily="2" charset="2"/>
              <a:buNone/>
              <a:defRPr/>
            </a:pPr>
            <a:endParaRPr lang="en-US" sz="4000" dirty="0">
              <a:solidFill>
                <a:schemeClr val="tx1">
                  <a:lumMod val="85000"/>
                  <a:lumOff val="15000"/>
                </a:schemeClr>
              </a:solidFill>
              <a:latin typeface="Corbel" panose="020B0503020204020204" pitchFamily="34" charset="0"/>
            </a:endParaRPr>
          </a:p>
          <a:p>
            <a:pPr marL="533400" indent="-533400" algn="just">
              <a:lnSpc>
                <a:spcPct val="90000"/>
              </a:lnSpc>
              <a:buFont typeface="Arial"/>
              <a:buChar char="•"/>
              <a:defRPr/>
            </a:pPr>
            <a:r>
              <a:rPr lang="en-US" sz="4000" dirty="0">
                <a:solidFill>
                  <a:schemeClr val="tx1">
                    <a:lumMod val="85000"/>
                    <a:lumOff val="15000"/>
                  </a:schemeClr>
                </a:solidFill>
                <a:latin typeface="Corbel" panose="020B0503020204020204" pitchFamily="34" charset="0"/>
              </a:rPr>
              <a:t>The weak entity must have </a:t>
            </a:r>
            <a:r>
              <a:rPr lang="en-US" sz="4000" b="1" dirty="0">
                <a:solidFill>
                  <a:srgbClr val="FF0066"/>
                </a:solidFill>
                <a:latin typeface="Corbel" panose="020B0503020204020204" pitchFamily="34" charset="0"/>
              </a:rPr>
              <a:t>total participation</a:t>
            </a:r>
            <a:r>
              <a:rPr lang="en-US" sz="4000" dirty="0">
                <a:solidFill>
                  <a:schemeClr val="tx1">
                    <a:lumMod val="85000"/>
                    <a:lumOff val="15000"/>
                  </a:schemeClr>
                </a:solidFill>
                <a:latin typeface="Corbel" panose="020B0503020204020204" pitchFamily="34" charset="0"/>
              </a:rPr>
              <a:t> in the identifying relationship. </a:t>
            </a:r>
          </a:p>
          <a:p>
            <a:pPr>
              <a:buFont typeface="Wingdings" panose="05000000000000000000" pitchFamily="2" charset="2"/>
              <a:buNone/>
            </a:pPr>
            <a:endParaRPr lang="en-US" dirty="0">
              <a:solidFill>
                <a:srgbClr val="FF9900"/>
              </a:solidFill>
            </a:endParaRPr>
          </a:p>
          <a:p>
            <a:endParaRPr lang="en-US" dirty="0"/>
          </a:p>
        </p:txBody>
      </p:sp>
    </p:spTree>
    <p:extLst>
      <p:ext uri="{BB962C8B-B14F-4D97-AF65-F5344CB8AC3E}">
        <p14:creationId xmlns:p14="http://schemas.microsoft.com/office/powerpoint/2010/main" val="3433342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628328" y="3821832"/>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9459" name="Rectangle 3"/>
          <p:cNvSpPr>
            <a:spLocks noChangeArrowheads="1"/>
          </p:cNvSpPr>
          <p:nvPr/>
        </p:nvSpPr>
        <p:spPr bwMode="auto">
          <a:xfrm>
            <a:off x="3066728" y="3821832"/>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a:p>
        </p:txBody>
      </p:sp>
      <p:sp>
        <p:nvSpPr>
          <p:cNvPr id="19460" name="Rectangle 4"/>
          <p:cNvSpPr>
            <a:spLocks noGrp="1" noChangeArrowheads="1"/>
          </p:cNvSpPr>
          <p:nvPr>
            <p:ph type="title"/>
          </p:nvPr>
        </p:nvSpPr>
        <p:spPr>
          <a:xfrm>
            <a:off x="933523" y="935789"/>
            <a:ext cx="7316512" cy="915134"/>
          </a:xfrm>
          <a:noFill/>
        </p:spPr>
        <p:txBody>
          <a:bodyPr>
            <a:noAutofit/>
          </a:bodyPr>
          <a:lstStyle/>
          <a:p>
            <a:r>
              <a:rPr lang="es-ES_tradnl" altLang="en-US" sz="4400" dirty="0">
                <a:latin typeface="Corbel" panose="020B0503020204020204" pitchFamily="34" charset="0"/>
              </a:rPr>
              <a:t>EXAMPLE - Weak Entity</a:t>
            </a:r>
          </a:p>
        </p:txBody>
      </p:sp>
      <p:sp>
        <p:nvSpPr>
          <p:cNvPr id="19462" name="Freeform 33"/>
          <p:cNvSpPr>
            <a:spLocks/>
          </p:cNvSpPr>
          <p:nvPr/>
        </p:nvSpPr>
        <p:spPr bwMode="auto">
          <a:xfrm>
            <a:off x="7813675" y="4680153"/>
            <a:ext cx="990600" cy="530225"/>
          </a:xfrm>
          <a:custGeom>
            <a:avLst/>
            <a:gdLst>
              <a:gd name="T0" fmla="*/ 988092 w 790"/>
              <a:gd name="T1" fmla="*/ 242888 h 334"/>
              <a:gd name="T2" fmla="*/ 971791 w 790"/>
              <a:gd name="T3" fmla="*/ 196850 h 334"/>
              <a:gd name="T4" fmla="*/ 942951 w 790"/>
              <a:gd name="T5" fmla="*/ 153988 h 334"/>
              <a:gd name="T6" fmla="*/ 900317 w 790"/>
              <a:gd name="T7" fmla="*/ 112713 h 334"/>
              <a:gd name="T8" fmla="*/ 845145 w 790"/>
              <a:gd name="T9" fmla="*/ 79375 h 334"/>
              <a:gd name="T10" fmla="*/ 778687 w 790"/>
              <a:gd name="T11" fmla="*/ 47625 h 334"/>
              <a:gd name="T12" fmla="*/ 703451 w 790"/>
              <a:gd name="T13" fmla="*/ 26988 h 334"/>
              <a:gd name="T14" fmla="*/ 623200 w 790"/>
              <a:gd name="T15" fmla="*/ 9525 h 334"/>
              <a:gd name="T16" fmla="*/ 537933 w 790"/>
              <a:gd name="T17" fmla="*/ 1588 h 334"/>
              <a:gd name="T18" fmla="*/ 451413 w 790"/>
              <a:gd name="T19" fmla="*/ 1588 h 334"/>
              <a:gd name="T20" fmla="*/ 367400 w 790"/>
              <a:gd name="T21" fmla="*/ 9525 h 334"/>
              <a:gd name="T22" fmla="*/ 285895 w 790"/>
              <a:gd name="T23" fmla="*/ 26988 h 334"/>
              <a:gd name="T24" fmla="*/ 211913 w 790"/>
              <a:gd name="T25" fmla="*/ 47625 h 334"/>
              <a:gd name="T26" fmla="*/ 145455 w 790"/>
              <a:gd name="T27" fmla="*/ 79375 h 334"/>
              <a:gd name="T28" fmla="*/ 90283 w 790"/>
              <a:gd name="T29" fmla="*/ 112713 h 334"/>
              <a:gd name="T30" fmla="*/ 47649 w 790"/>
              <a:gd name="T31" fmla="*/ 153988 h 334"/>
              <a:gd name="T32" fmla="*/ 17555 w 790"/>
              <a:gd name="T33" fmla="*/ 196850 h 334"/>
              <a:gd name="T34" fmla="*/ 2508 w 790"/>
              <a:gd name="T35" fmla="*/ 242888 h 334"/>
              <a:gd name="T36" fmla="*/ 2508 w 790"/>
              <a:gd name="T37" fmla="*/ 287338 h 334"/>
              <a:gd name="T38" fmla="*/ 17555 w 790"/>
              <a:gd name="T39" fmla="*/ 333375 h 334"/>
              <a:gd name="T40" fmla="*/ 47649 w 790"/>
              <a:gd name="T41" fmla="*/ 376238 h 334"/>
              <a:gd name="T42" fmla="*/ 90283 w 790"/>
              <a:gd name="T43" fmla="*/ 415925 h 334"/>
              <a:gd name="T44" fmla="*/ 145455 w 790"/>
              <a:gd name="T45" fmla="*/ 450850 h 334"/>
              <a:gd name="T46" fmla="*/ 211913 w 790"/>
              <a:gd name="T47" fmla="*/ 481013 h 334"/>
              <a:gd name="T48" fmla="*/ 285895 w 790"/>
              <a:gd name="T49" fmla="*/ 503238 h 334"/>
              <a:gd name="T50" fmla="*/ 367400 w 790"/>
              <a:gd name="T51" fmla="*/ 519113 h 334"/>
              <a:gd name="T52" fmla="*/ 451413 w 790"/>
              <a:gd name="T53" fmla="*/ 527050 h 334"/>
              <a:gd name="T54" fmla="*/ 537933 w 790"/>
              <a:gd name="T55" fmla="*/ 527050 h 334"/>
              <a:gd name="T56" fmla="*/ 623200 w 790"/>
              <a:gd name="T57" fmla="*/ 519113 h 334"/>
              <a:gd name="T58" fmla="*/ 703451 w 790"/>
              <a:gd name="T59" fmla="*/ 503238 h 334"/>
              <a:gd name="T60" fmla="*/ 778687 w 790"/>
              <a:gd name="T61" fmla="*/ 481013 h 334"/>
              <a:gd name="T62" fmla="*/ 845145 w 790"/>
              <a:gd name="T63" fmla="*/ 450850 h 334"/>
              <a:gd name="T64" fmla="*/ 900317 w 790"/>
              <a:gd name="T65" fmla="*/ 415925 h 334"/>
              <a:gd name="T66" fmla="*/ 942951 w 790"/>
              <a:gd name="T67" fmla="*/ 376238 h 334"/>
              <a:gd name="T68" fmla="*/ 971791 w 790"/>
              <a:gd name="T69" fmla="*/ 333375 h 334"/>
              <a:gd name="T70" fmla="*/ 988092 w 790"/>
              <a:gd name="T71" fmla="*/ 287338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90" h="334">
                <a:moveTo>
                  <a:pt x="789" y="167"/>
                </a:moveTo>
                <a:lnTo>
                  <a:pt x="788" y="153"/>
                </a:lnTo>
                <a:lnTo>
                  <a:pt x="783" y="138"/>
                </a:lnTo>
                <a:lnTo>
                  <a:pt x="775" y="124"/>
                </a:lnTo>
                <a:lnTo>
                  <a:pt x="765" y="110"/>
                </a:lnTo>
                <a:lnTo>
                  <a:pt x="752" y="97"/>
                </a:lnTo>
                <a:lnTo>
                  <a:pt x="736" y="83"/>
                </a:lnTo>
                <a:lnTo>
                  <a:pt x="718" y="71"/>
                </a:lnTo>
                <a:lnTo>
                  <a:pt x="697" y="60"/>
                </a:lnTo>
                <a:lnTo>
                  <a:pt x="674" y="50"/>
                </a:lnTo>
                <a:lnTo>
                  <a:pt x="648" y="40"/>
                </a:lnTo>
                <a:lnTo>
                  <a:pt x="621" y="30"/>
                </a:lnTo>
                <a:lnTo>
                  <a:pt x="592" y="23"/>
                </a:lnTo>
                <a:lnTo>
                  <a:pt x="561" y="17"/>
                </a:lnTo>
                <a:lnTo>
                  <a:pt x="529" y="10"/>
                </a:lnTo>
                <a:lnTo>
                  <a:pt x="497" y="6"/>
                </a:lnTo>
                <a:lnTo>
                  <a:pt x="463" y="3"/>
                </a:lnTo>
                <a:lnTo>
                  <a:pt x="429" y="1"/>
                </a:lnTo>
                <a:lnTo>
                  <a:pt x="394" y="0"/>
                </a:lnTo>
                <a:lnTo>
                  <a:pt x="360" y="1"/>
                </a:lnTo>
                <a:lnTo>
                  <a:pt x="326" y="3"/>
                </a:lnTo>
                <a:lnTo>
                  <a:pt x="293" y="6"/>
                </a:lnTo>
                <a:lnTo>
                  <a:pt x="260" y="10"/>
                </a:lnTo>
                <a:lnTo>
                  <a:pt x="228" y="17"/>
                </a:lnTo>
                <a:lnTo>
                  <a:pt x="197" y="23"/>
                </a:lnTo>
                <a:lnTo>
                  <a:pt x="169" y="30"/>
                </a:lnTo>
                <a:lnTo>
                  <a:pt x="142" y="40"/>
                </a:lnTo>
                <a:lnTo>
                  <a:pt x="116" y="50"/>
                </a:lnTo>
                <a:lnTo>
                  <a:pt x="93" y="60"/>
                </a:lnTo>
                <a:lnTo>
                  <a:pt x="72" y="71"/>
                </a:lnTo>
                <a:lnTo>
                  <a:pt x="54" y="83"/>
                </a:lnTo>
                <a:lnTo>
                  <a:pt x="38" y="97"/>
                </a:lnTo>
                <a:lnTo>
                  <a:pt x="24" y="110"/>
                </a:lnTo>
                <a:lnTo>
                  <a:pt x="14" y="124"/>
                </a:lnTo>
                <a:lnTo>
                  <a:pt x="7" y="138"/>
                </a:lnTo>
                <a:lnTo>
                  <a:pt x="2" y="153"/>
                </a:lnTo>
                <a:lnTo>
                  <a:pt x="0" y="167"/>
                </a:lnTo>
                <a:lnTo>
                  <a:pt x="2" y="181"/>
                </a:lnTo>
                <a:lnTo>
                  <a:pt x="7" y="196"/>
                </a:lnTo>
                <a:lnTo>
                  <a:pt x="14" y="210"/>
                </a:lnTo>
                <a:lnTo>
                  <a:pt x="24" y="224"/>
                </a:lnTo>
                <a:lnTo>
                  <a:pt x="38" y="237"/>
                </a:lnTo>
                <a:lnTo>
                  <a:pt x="54" y="250"/>
                </a:lnTo>
                <a:lnTo>
                  <a:pt x="72" y="262"/>
                </a:lnTo>
                <a:lnTo>
                  <a:pt x="93" y="274"/>
                </a:lnTo>
                <a:lnTo>
                  <a:pt x="116" y="284"/>
                </a:lnTo>
                <a:lnTo>
                  <a:pt x="142" y="294"/>
                </a:lnTo>
                <a:lnTo>
                  <a:pt x="169" y="303"/>
                </a:lnTo>
                <a:lnTo>
                  <a:pt x="197" y="311"/>
                </a:lnTo>
                <a:lnTo>
                  <a:pt x="228" y="317"/>
                </a:lnTo>
                <a:lnTo>
                  <a:pt x="260" y="323"/>
                </a:lnTo>
                <a:lnTo>
                  <a:pt x="293" y="327"/>
                </a:lnTo>
                <a:lnTo>
                  <a:pt x="326" y="331"/>
                </a:lnTo>
                <a:lnTo>
                  <a:pt x="360" y="332"/>
                </a:lnTo>
                <a:lnTo>
                  <a:pt x="394" y="333"/>
                </a:lnTo>
                <a:lnTo>
                  <a:pt x="429" y="332"/>
                </a:lnTo>
                <a:lnTo>
                  <a:pt x="463" y="331"/>
                </a:lnTo>
                <a:lnTo>
                  <a:pt x="497" y="327"/>
                </a:lnTo>
                <a:lnTo>
                  <a:pt x="529" y="323"/>
                </a:lnTo>
                <a:lnTo>
                  <a:pt x="561" y="317"/>
                </a:lnTo>
                <a:lnTo>
                  <a:pt x="592" y="311"/>
                </a:lnTo>
                <a:lnTo>
                  <a:pt x="621" y="303"/>
                </a:lnTo>
                <a:lnTo>
                  <a:pt x="648" y="294"/>
                </a:lnTo>
                <a:lnTo>
                  <a:pt x="674" y="284"/>
                </a:lnTo>
                <a:lnTo>
                  <a:pt x="697" y="274"/>
                </a:lnTo>
                <a:lnTo>
                  <a:pt x="718" y="262"/>
                </a:lnTo>
                <a:lnTo>
                  <a:pt x="736" y="250"/>
                </a:lnTo>
                <a:lnTo>
                  <a:pt x="752" y="237"/>
                </a:lnTo>
                <a:lnTo>
                  <a:pt x="765" y="224"/>
                </a:lnTo>
                <a:lnTo>
                  <a:pt x="775" y="210"/>
                </a:lnTo>
                <a:lnTo>
                  <a:pt x="783" y="196"/>
                </a:lnTo>
                <a:lnTo>
                  <a:pt x="788" y="181"/>
                </a:lnTo>
                <a:lnTo>
                  <a:pt x="789" y="16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9463" name="Group 37"/>
          <p:cNvGrpSpPr>
            <a:grpSpLocks/>
          </p:cNvGrpSpPr>
          <p:nvPr/>
        </p:nvGrpSpPr>
        <p:grpSpPr bwMode="auto">
          <a:xfrm>
            <a:off x="321365" y="2405371"/>
            <a:ext cx="8299450" cy="2709863"/>
            <a:chOff x="313" y="2751"/>
            <a:chExt cx="5228" cy="1707"/>
          </a:xfrm>
        </p:grpSpPr>
        <p:sp>
          <p:nvSpPr>
            <p:cNvPr id="19464" name="Freeform 6"/>
            <p:cNvSpPr>
              <a:spLocks/>
            </p:cNvSpPr>
            <p:nvPr/>
          </p:nvSpPr>
          <p:spPr bwMode="auto">
            <a:xfrm>
              <a:off x="3682" y="2960"/>
              <a:ext cx="790" cy="334"/>
            </a:xfrm>
            <a:custGeom>
              <a:avLst/>
              <a:gdLst>
                <a:gd name="T0" fmla="*/ 788 w 790"/>
                <a:gd name="T1" fmla="*/ 153 h 334"/>
                <a:gd name="T2" fmla="*/ 775 w 790"/>
                <a:gd name="T3" fmla="*/ 124 h 334"/>
                <a:gd name="T4" fmla="*/ 752 w 790"/>
                <a:gd name="T5" fmla="*/ 97 h 334"/>
                <a:gd name="T6" fmla="*/ 718 w 790"/>
                <a:gd name="T7" fmla="*/ 71 h 334"/>
                <a:gd name="T8" fmla="*/ 674 w 790"/>
                <a:gd name="T9" fmla="*/ 50 h 334"/>
                <a:gd name="T10" fmla="*/ 621 w 790"/>
                <a:gd name="T11" fmla="*/ 30 h 334"/>
                <a:gd name="T12" fmla="*/ 561 w 790"/>
                <a:gd name="T13" fmla="*/ 17 h 334"/>
                <a:gd name="T14" fmla="*/ 497 w 790"/>
                <a:gd name="T15" fmla="*/ 6 h 334"/>
                <a:gd name="T16" fmla="*/ 429 w 790"/>
                <a:gd name="T17" fmla="*/ 1 h 334"/>
                <a:gd name="T18" fmla="*/ 360 w 790"/>
                <a:gd name="T19" fmla="*/ 1 h 334"/>
                <a:gd name="T20" fmla="*/ 293 w 790"/>
                <a:gd name="T21" fmla="*/ 6 h 334"/>
                <a:gd name="T22" fmla="*/ 228 w 790"/>
                <a:gd name="T23" fmla="*/ 17 h 334"/>
                <a:gd name="T24" fmla="*/ 169 w 790"/>
                <a:gd name="T25" fmla="*/ 30 h 334"/>
                <a:gd name="T26" fmla="*/ 116 w 790"/>
                <a:gd name="T27" fmla="*/ 50 h 334"/>
                <a:gd name="T28" fmla="*/ 72 w 790"/>
                <a:gd name="T29" fmla="*/ 71 h 334"/>
                <a:gd name="T30" fmla="*/ 38 w 790"/>
                <a:gd name="T31" fmla="*/ 97 h 334"/>
                <a:gd name="T32" fmla="*/ 14 w 790"/>
                <a:gd name="T33" fmla="*/ 124 h 334"/>
                <a:gd name="T34" fmla="*/ 2 w 790"/>
                <a:gd name="T35" fmla="*/ 153 h 334"/>
                <a:gd name="T36" fmla="*/ 2 w 790"/>
                <a:gd name="T37" fmla="*/ 181 h 334"/>
                <a:gd name="T38" fmla="*/ 14 w 790"/>
                <a:gd name="T39" fmla="*/ 210 h 334"/>
                <a:gd name="T40" fmla="*/ 38 w 790"/>
                <a:gd name="T41" fmla="*/ 237 h 334"/>
                <a:gd name="T42" fmla="*/ 72 w 790"/>
                <a:gd name="T43" fmla="*/ 262 h 334"/>
                <a:gd name="T44" fmla="*/ 116 w 790"/>
                <a:gd name="T45" fmla="*/ 284 h 334"/>
                <a:gd name="T46" fmla="*/ 169 w 790"/>
                <a:gd name="T47" fmla="*/ 303 h 334"/>
                <a:gd name="T48" fmla="*/ 228 w 790"/>
                <a:gd name="T49" fmla="*/ 317 h 334"/>
                <a:gd name="T50" fmla="*/ 293 w 790"/>
                <a:gd name="T51" fmla="*/ 327 h 334"/>
                <a:gd name="T52" fmla="*/ 360 w 790"/>
                <a:gd name="T53" fmla="*/ 332 h 334"/>
                <a:gd name="T54" fmla="*/ 429 w 790"/>
                <a:gd name="T55" fmla="*/ 332 h 334"/>
                <a:gd name="T56" fmla="*/ 497 w 790"/>
                <a:gd name="T57" fmla="*/ 327 h 334"/>
                <a:gd name="T58" fmla="*/ 561 w 790"/>
                <a:gd name="T59" fmla="*/ 317 h 334"/>
                <a:gd name="T60" fmla="*/ 621 w 790"/>
                <a:gd name="T61" fmla="*/ 303 h 334"/>
                <a:gd name="T62" fmla="*/ 674 w 790"/>
                <a:gd name="T63" fmla="*/ 284 h 334"/>
                <a:gd name="T64" fmla="*/ 718 w 790"/>
                <a:gd name="T65" fmla="*/ 262 h 334"/>
                <a:gd name="T66" fmla="*/ 752 w 790"/>
                <a:gd name="T67" fmla="*/ 237 h 334"/>
                <a:gd name="T68" fmla="*/ 775 w 790"/>
                <a:gd name="T69" fmla="*/ 210 h 334"/>
                <a:gd name="T70" fmla="*/ 788 w 790"/>
                <a:gd name="T71" fmla="*/ 181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90" h="334">
                  <a:moveTo>
                    <a:pt x="789" y="167"/>
                  </a:moveTo>
                  <a:lnTo>
                    <a:pt x="788" y="153"/>
                  </a:lnTo>
                  <a:lnTo>
                    <a:pt x="783" y="138"/>
                  </a:lnTo>
                  <a:lnTo>
                    <a:pt x="775" y="124"/>
                  </a:lnTo>
                  <a:lnTo>
                    <a:pt x="765" y="110"/>
                  </a:lnTo>
                  <a:lnTo>
                    <a:pt x="752" y="97"/>
                  </a:lnTo>
                  <a:lnTo>
                    <a:pt x="736" y="83"/>
                  </a:lnTo>
                  <a:lnTo>
                    <a:pt x="718" y="71"/>
                  </a:lnTo>
                  <a:lnTo>
                    <a:pt x="697" y="60"/>
                  </a:lnTo>
                  <a:lnTo>
                    <a:pt x="674" y="50"/>
                  </a:lnTo>
                  <a:lnTo>
                    <a:pt x="648" y="40"/>
                  </a:lnTo>
                  <a:lnTo>
                    <a:pt x="621" y="30"/>
                  </a:lnTo>
                  <a:lnTo>
                    <a:pt x="592" y="23"/>
                  </a:lnTo>
                  <a:lnTo>
                    <a:pt x="561" y="17"/>
                  </a:lnTo>
                  <a:lnTo>
                    <a:pt x="529" y="10"/>
                  </a:lnTo>
                  <a:lnTo>
                    <a:pt x="497" y="6"/>
                  </a:lnTo>
                  <a:lnTo>
                    <a:pt x="463" y="3"/>
                  </a:lnTo>
                  <a:lnTo>
                    <a:pt x="429" y="1"/>
                  </a:lnTo>
                  <a:lnTo>
                    <a:pt x="394" y="0"/>
                  </a:lnTo>
                  <a:lnTo>
                    <a:pt x="360" y="1"/>
                  </a:lnTo>
                  <a:lnTo>
                    <a:pt x="326" y="3"/>
                  </a:lnTo>
                  <a:lnTo>
                    <a:pt x="293" y="6"/>
                  </a:lnTo>
                  <a:lnTo>
                    <a:pt x="260" y="10"/>
                  </a:lnTo>
                  <a:lnTo>
                    <a:pt x="228" y="17"/>
                  </a:lnTo>
                  <a:lnTo>
                    <a:pt x="197" y="23"/>
                  </a:lnTo>
                  <a:lnTo>
                    <a:pt x="169" y="30"/>
                  </a:lnTo>
                  <a:lnTo>
                    <a:pt x="142" y="40"/>
                  </a:lnTo>
                  <a:lnTo>
                    <a:pt x="116" y="50"/>
                  </a:lnTo>
                  <a:lnTo>
                    <a:pt x="93" y="60"/>
                  </a:lnTo>
                  <a:lnTo>
                    <a:pt x="72" y="71"/>
                  </a:lnTo>
                  <a:lnTo>
                    <a:pt x="54" y="83"/>
                  </a:lnTo>
                  <a:lnTo>
                    <a:pt x="38" y="97"/>
                  </a:lnTo>
                  <a:lnTo>
                    <a:pt x="24" y="110"/>
                  </a:lnTo>
                  <a:lnTo>
                    <a:pt x="14" y="124"/>
                  </a:lnTo>
                  <a:lnTo>
                    <a:pt x="7" y="138"/>
                  </a:lnTo>
                  <a:lnTo>
                    <a:pt x="2" y="153"/>
                  </a:lnTo>
                  <a:lnTo>
                    <a:pt x="0" y="167"/>
                  </a:lnTo>
                  <a:lnTo>
                    <a:pt x="2" y="181"/>
                  </a:lnTo>
                  <a:lnTo>
                    <a:pt x="7" y="196"/>
                  </a:lnTo>
                  <a:lnTo>
                    <a:pt x="14" y="210"/>
                  </a:lnTo>
                  <a:lnTo>
                    <a:pt x="24" y="224"/>
                  </a:lnTo>
                  <a:lnTo>
                    <a:pt x="38" y="237"/>
                  </a:lnTo>
                  <a:lnTo>
                    <a:pt x="54" y="250"/>
                  </a:lnTo>
                  <a:lnTo>
                    <a:pt x="72" y="262"/>
                  </a:lnTo>
                  <a:lnTo>
                    <a:pt x="93" y="274"/>
                  </a:lnTo>
                  <a:lnTo>
                    <a:pt x="116" y="284"/>
                  </a:lnTo>
                  <a:lnTo>
                    <a:pt x="142" y="294"/>
                  </a:lnTo>
                  <a:lnTo>
                    <a:pt x="169" y="303"/>
                  </a:lnTo>
                  <a:lnTo>
                    <a:pt x="197" y="311"/>
                  </a:lnTo>
                  <a:lnTo>
                    <a:pt x="228" y="317"/>
                  </a:lnTo>
                  <a:lnTo>
                    <a:pt x="260" y="323"/>
                  </a:lnTo>
                  <a:lnTo>
                    <a:pt x="293" y="327"/>
                  </a:lnTo>
                  <a:lnTo>
                    <a:pt x="326" y="331"/>
                  </a:lnTo>
                  <a:lnTo>
                    <a:pt x="360" y="332"/>
                  </a:lnTo>
                  <a:lnTo>
                    <a:pt x="394" y="333"/>
                  </a:lnTo>
                  <a:lnTo>
                    <a:pt x="429" y="332"/>
                  </a:lnTo>
                  <a:lnTo>
                    <a:pt x="463" y="331"/>
                  </a:lnTo>
                  <a:lnTo>
                    <a:pt x="497" y="327"/>
                  </a:lnTo>
                  <a:lnTo>
                    <a:pt x="529" y="323"/>
                  </a:lnTo>
                  <a:lnTo>
                    <a:pt x="561" y="317"/>
                  </a:lnTo>
                  <a:lnTo>
                    <a:pt x="592" y="311"/>
                  </a:lnTo>
                  <a:lnTo>
                    <a:pt x="621" y="303"/>
                  </a:lnTo>
                  <a:lnTo>
                    <a:pt x="648" y="294"/>
                  </a:lnTo>
                  <a:lnTo>
                    <a:pt x="674" y="284"/>
                  </a:lnTo>
                  <a:lnTo>
                    <a:pt x="697" y="274"/>
                  </a:lnTo>
                  <a:lnTo>
                    <a:pt x="718" y="262"/>
                  </a:lnTo>
                  <a:lnTo>
                    <a:pt x="736" y="250"/>
                  </a:lnTo>
                  <a:lnTo>
                    <a:pt x="752" y="237"/>
                  </a:lnTo>
                  <a:lnTo>
                    <a:pt x="765" y="224"/>
                  </a:lnTo>
                  <a:lnTo>
                    <a:pt x="775" y="210"/>
                  </a:lnTo>
                  <a:lnTo>
                    <a:pt x="783" y="196"/>
                  </a:lnTo>
                  <a:lnTo>
                    <a:pt x="788" y="181"/>
                  </a:lnTo>
                  <a:lnTo>
                    <a:pt x="789" y="16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5" name="Freeform 7"/>
            <p:cNvSpPr>
              <a:spLocks/>
            </p:cNvSpPr>
            <p:nvPr/>
          </p:nvSpPr>
          <p:spPr bwMode="auto">
            <a:xfrm>
              <a:off x="4648" y="2985"/>
              <a:ext cx="790" cy="334"/>
            </a:xfrm>
            <a:custGeom>
              <a:avLst/>
              <a:gdLst>
                <a:gd name="T0" fmla="*/ 2 w 790"/>
                <a:gd name="T1" fmla="*/ 181 h 334"/>
                <a:gd name="T2" fmla="*/ 13 w 790"/>
                <a:gd name="T3" fmla="*/ 210 h 334"/>
                <a:gd name="T4" fmla="*/ 38 w 790"/>
                <a:gd name="T5" fmla="*/ 237 h 334"/>
                <a:gd name="T6" fmla="*/ 72 w 790"/>
                <a:gd name="T7" fmla="*/ 262 h 334"/>
                <a:gd name="T8" fmla="*/ 116 w 790"/>
                <a:gd name="T9" fmla="*/ 284 h 334"/>
                <a:gd name="T10" fmla="*/ 169 w 790"/>
                <a:gd name="T11" fmla="*/ 303 h 334"/>
                <a:gd name="T12" fmla="*/ 228 w 790"/>
                <a:gd name="T13" fmla="*/ 317 h 334"/>
                <a:gd name="T14" fmla="*/ 293 w 790"/>
                <a:gd name="T15" fmla="*/ 327 h 334"/>
                <a:gd name="T16" fmla="*/ 360 w 790"/>
                <a:gd name="T17" fmla="*/ 332 h 334"/>
                <a:gd name="T18" fmla="*/ 429 w 790"/>
                <a:gd name="T19" fmla="*/ 332 h 334"/>
                <a:gd name="T20" fmla="*/ 497 w 790"/>
                <a:gd name="T21" fmla="*/ 327 h 334"/>
                <a:gd name="T22" fmla="*/ 561 w 790"/>
                <a:gd name="T23" fmla="*/ 317 h 334"/>
                <a:gd name="T24" fmla="*/ 621 w 790"/>
                <a:gd name="T25" fmla="*/ 303 h 334"/>
                <a:gd name="T26" fmla="*/ 673 w 790"/>
                <a:gd name="T27" fmla="*/ 284 h 334"/>
                <a:gd name="T28" fmla="*/ 717 w 790"/>
                <a:gd name="T29" fmla="*/ 262 h 334"/>
                <a:gd name="T30" fmla="*/ 752 w 790"/>
                <a:gd name="T31" fmla="*/ 237 h 334"/>
                <a:gd name="T32" fmla="*/ 775 w 790"/>
                <a:gd name="T33" fmla="*/ 210 h 334"/>
                <a:gd name="T34" fmla="*/ 787 w 790"/>
                <a:gd name="T35" fmla="*/ 181 h 334"/>
                <a:gd name="T36" fmla="*/ 787 w 790"/>
                <a:gd name="T37" fmla="*/ 152 h 334"/>
                <a:gd name="T38" fmla="*/ 775 w 790"/>
                <a:gd name="T39" fmla="*/ 124 h 334"/>
                <a:gd name="T40" fmla="*/ 751 w 790"/>
                <a:gd name="T41" fmla="*/ 97 h 334"/>
                <a:gd name="T42" fmla="*/ 717 w 790"/>
                <a:gd name="T43" fmla="*/ 71 h 334"/>
                <a:gd name="T44" fmla="*/ 673 w 790"/>
                <a:gd name="T45" fmla="*/ 49 h 334"/>
                <a:gd name="T46" fmla="*/ 620 w 790"/>
                <a:gd name="T47" fmla="*/ 30 h 334"/>
                <a:gd name="T48" fmla="*/ 561 w 790"/>
                <a:gd name="T49" fmla="*/ 16 h 334"/>
                <a:gd name="T50" fmla="*/ 496 w 790"/>
                <a:gd name="T51" fmla="*/ 6 h 334"/>
                <a:gd name="T52" fmla="*/ 429 w 790"/>
                <a:gd name="T53" fmla="*/ 1 h 334"/>
                <a:gd name="T54" fmla="*/ 360 w 790"/>
                <a:gd name="T55" fmla="*/ 1 h 334"/>
                <a:gd name="T56" fmla="*/ 293 w 790"/>
                <a:gd name="T57" fmla="*/ 7 h 334"/>
                <a:gd name="T58" fmla="*/ 228 w 790"/>
                <a:gd name="T59" fmla="*/ 16 h 334"/>
                <a:gd name="T60" fmla="*/ 169 w 790"/>
                <a:gd name="T61" fmla="*/ 30 h 334"/>
                <a:gd name="T62" fmla="*/ 116 w 790"/>
                <a:gd name="T63" fmla="*/ 50 h 334"/>
                <a:gd name="T64" fmla="*/ 72 w 790"/>
                <a:gd name="T65" fmla="*/ 71 h 334"/>
                <a:gd name="T66" fmla="*/ 38 w 790"/>
                <a:gd name="T67" fmla="*/ 97 h 334"/>
                <a:gd name="T68" fmla="*/ 13 w 790"/>
                <a:gd name="T69" fmla="*/ 124 h 334"/>
                <a:gd name="T70" fmla="*/ 2 w 790"/>
                <a:gd name="T71" fmla="*/ 152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90" h="334">
                  <a:moveTo>
                    <a:pt x="0" y="167"/>
                  </a:moveTo>
                  <a:lnTo>
                    <a:pt x="2" y="181"/>
                  </a:lnTo>
                  <a:lnTo>
                    <a:pt x="6" y="196"/>
                  </a:lnTo>
                  <a:lnTo>
                    <a:pt x="13" y="210"/>
                  </a:lnTo>
                  <a:lnTo>
                    <a:pt x="24" y="224"/>
                  </a:lnTo>
                  <a:lnTo>
                    <a:pt x="38" y="237"/>
                  </a:lnTo>
                  <a:lnTo>
                    <a:pt x="53" y="250"/>
                  </a:lnTo>
                  <a:lnTo>
                    <a:pt x="72" y="262"/>
                  </a:lnTo>
                  <a:lnTo>
                    <a:pt x="93" y="274"/>
                  </a:lnTo>
                  <a:lnTo>
                    <a:pt x="116" y="284"/>
                  </a:lnTo>
                  <a:lnTo>
                    <a:pt x="141" y="294"/>
                  </a:lnTo>
                  <a:lnTo>
                    <a:pt x="169" y="303"/>
                  </a:lnTo>
                  <a:lnTo>
                    <a:pt x="197" y="311"/>
                  </a:lnTo>
                  <a:lnTo>
                    <a:pt x="228" y="317"/>
                  </a:lnTo>
                  <a:lnTo>
                    <a:pt x="259" y="323"/>
                  </a:lnTo>
                  <a:lnTo>
                    <a:pt x="293" y="327"/>
                  </a:lnTo>
                  <a:lnTo>
                    <a:pt x="326" y="331"/>
                  </a:lnTo>
                  <a:lnTo>
                    <a:pt x="360" y="332"/>
                  </a:lnTo>
                  <a:lnTo>
                    <a:pt x="394" y="333"/>
                  </a:lnTo>
                  <a:lnTo>
                    <a:pt x="429" y="332"/>
                  </a:lnTo>
                  <a:lnTo>
                    <a:pt x="463" y="331"/>
                  </a:lnTo>
                  <a:lnTo>
                    <a:pt x="497" y="327"/>
                  </a:lnTo>
                  <a:lnTo>
                    <a:pt x="529" y="323"/>
                  </a:lnTo>
                  <a:lnTo>
                    <a:pt x="561" y="317"/>
                  </a:lnTo>
                  <a:lnTo>
                    <a:pt x="591" y="311"/>
                  </a:lnTo>
                  <a:lnTo>
                    <a:pt x="621" y="303"/>
                  </a:lnTo>
                  <a:lnTo>
                    <a:pt x="648" y="294"/>
                  </a:lnTo>
                  <a:lnTo>
                    <a:pt x="673" y="284"/>
                  </a:lnTo>
                  <a:lnTo>
                    <a:pt x="696" y="274"/>
                  </a:lnTo>
                  <a:lnTo>
                    <a:pt x="717" y="262"/>
                  </a:lnTo>
                  <a:lnTo>
                    <a:pt x="736" y="250"/>
                  </a:lnTo>
                  <a:lnTo>
                    <a:pt x="752" y="237"/>
                  </a:lnTo>
                  <a:lnTo>
                    <a:pt x="765" y="224"/>
                  </a:lnTo>
                  <a:lnTo>
                    <a:pt x="775" y="210"/>
                  </a:lnTo>
                  <a:lnTo>
                    <a:pt x="782" y="195"/>
                  </a:lnTo>
                  <a:lnTo>
                    <a:pt x="787" y="181"/>
                  </a:lnTo>
                  <a:lnTo>
                    <a:pt x="789" y="167"/>
                  </a:lnTo>
                  <a:lnTo>
                    <a:pt x="787" y="152"/>
                  </a:lnTo>
                  <a:lnTo>
                    <a:pt x="782" y="137"/>
                  </a:lnTo>
                  <a:lnTo>
                    <a:pt x="775" y="124"/>
                  </a:lnTo>
                  <a:lnTo>
                    <a:pt x="765" y="110"/>
                  </a:lnTo>
                  <a:lnTo>
                    <a:pt x="751" y="97"/>
                  </a:lnTo>
                  <a:lnTo>
                    <a:pt x="736" y="83"/>
                  </a:lnTo>
                  <a:lnTo>
                    <a:pt x="717" y="71"/>
                  </a:lnTo>
                  <a:lnTo>
                    <a:pt x="696" y="60"/>
                  </a:lnTo>
                  <a:lnTo>
                    <a:pt x="673" y="49"/>
                  </a:lnTo>
                  <a:lnTo>
                    <a:pt x="648" y="40"/>
                  </a:lnTo>
                  <a:lnTo>
                    <a:pt x="620" y="30"/>
                  </a:lnTo>
                  <a:lnTo>
                    <a:pt x="591" y="23"/>
                  </a:lnTo>
                  <a:lnTo>
                    <a:pt x="561" y="16"/>
                  </a:lnTo>
                  <a:lnTo>
                    <a:pt x="529" y="10"/>
                  </a:lnTo>
                  <a:lnTo>
                    <a:pt x="496" y="6"/>
                  </a:lnTo>
                  <a:lnTo>
                    <a:pt x="463" y="3"/>
                  </a:lnTo>
                  <a:lnTo>
                    <a:pt x="429" y="1"/>
                  </a:lnTo>
                  <a:lnTo>
                    <a:pt x="394" y="0"/>
                  </a:lnTo>
                  <a:lnTo>
                    <a:pt x="360" y="1"/>
                  </a:lnTo>
                  <a:lnTo>
                    <a:pt x="326" y="3"/>
                  </a:lnTo>
                  <a:lnTo>
                    <a:pt x="293" y="7"/>
                  </a:lnTo>
                  <a:lnTo>
                    <a:pt x="259" y="10"/>
                  </a:lnTo>
                  <a:lnTo>
                    <a:pt x="228" y="16"/>
                  </a:lnTo>
                  <a:lnTo>
                    <a:pt x="197" y="23"/>
                  </a:lnTo>
                  <a:lnTo>
                    <a:pt x="169" y="30"/>
                  </a:lnTo>
                  <a:lnTo>
                    <a:pt x="141" y="40"/>
                  </a:lnTo>
                  <a:lnTo>
                    <a:pt x="116" y="50"/>
                  </a:lnTo>
                  <a:lnTo>
                    <a:pt x="93" y="60"/>
                  </a:lnTo>
                  <a:lnTo>
                    <a:pt x="72" y="71"/>
                  </a:lnTo>
                  <a:lnTo>
                    <a:pt x="53" y="83"/>
                  </a:lnTo>
                  <a:lnTo>
                    <a:pt x="38" y="97"/>
                  </a:lnTo>
                  <a:lnTo>
                    <a:pt x="24" y="110"/>
                  </a:lnTo>
                  <a:lnTo>
                    <a:pt x="13" y="124"/>
                  </a:lnTo>
                  <a:lnTo>
                    <a:pt x="6" y="138"/>
                  </a:lnTo>
                  <a:lnTo>
                    <a:pt x="2" y="152"/>
                  </a:lnTo>
                  <a:lnTo>
                    <a:pt x="0" y="16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6" name="Freeform 8"/>
            <p:cNvSpPr>
              <a:spLocks/>
            </p:cNvSpPr>
            <p:nvPr/>
          </p:nvSpPr>
          <p:spPr bwMode="auto">
            <a:xfrm>
              <a:off x="313" y="2995"/>
              <a:ext cx="790" cy="334"/>
            </a:xfrm>
            <a:custGeom>
              <a:avLst/>
              <a:gdLst>
                <a:gd name="T0" fmla="*/ 787 w 790"/>
                <a:gd name="T1" fmla="*/ 152 h 334"/>
                <a:gd name="T2" fmla="*/ 776 w 790"/>
                <a:gd name="T3" fmla="*/ 124 h 334"/>
                <a:gd name="T4" fmla="*/ 752 w 790"/>
                <a:gd name="T5" fmla="*/ 96 h 334"/>
                <a:gd name="T6" fmla="*/ 717 w 790"/>
                <a:gd name="T7" fmla="*/ 71 h 334"/>
                <a:gd name="T8" fmla="*/ 673 w 790"/>
                <a:gd name="T9" fmla="*/ 49 h 334"/>
                <a:gd name="T10" fmla="*/ 620 w 790"/>
                <a:gd name="T11" fmla="*/ 30 h 334"/>
                <a:gd name="T12" fmla="*/ 561 w 790"/>
                <a:gd name="T13" fmla="*/ 16 h 334"/>
                <a:gd name="T14" fmla="*/ 497 w 790"/>
                <a:gd name="T15" fmla="*/ 6 h 334"/>
                <a:gd name="T16" fmla="*/ 429 w 790"/>
                <a:gd name="T17" fmla="*/ 1 h 334"/>
                <a:gd name="T18" fmla="*/ 360 w 790"/>
                <a:gd name="T19" fmla="*/ 1 h 334"/>
                <a:gd name="T20" fmla="*/ 293 w 790"/>
                <a:gd name="T21" fmla="*/ 6 h 334"/>
                <a:gd name="T22" fmla="*/ 228 w 790"/>
                <a:gd name="T23" fmla="*/ 16 h 334"/>
                <a:gd name="T24" fmla="*/ 169 w 790"/>
                <a:gd name="T25" fmla="*/ 30 h 334"/>
                <a:gd name="T26" fmla="*/ 116 w 790"/>
                <a:gd name="T27" fmla="*/ 49 h 334"/>
                <a:gd name="T28" fmla="*/ 72 w 790"/>
                <a:gd name="T29" fmla="*/ 71 h 334"/>
                <a:gd name="T30" fmla="*/ 38 w 790"/>
                <a:gd name="T31" fmla="*/ 96 h 334"/>
                <a:gd name="T32" fmla="*/ 14 w 790"/>
                <a:gd name="T33" fmla="*/ 124 h 334"/>
                <a:gd name="T34" fmla="*/ 2 w 790"/>
                <a:gd name="T35" fmla="*/ 152 h 334"/>
                <a:gd name="T36" fmla="*/ 2 w 790"/>
                <a:gd name="T37" fmla="*/ 181 h 334"/>
                <a:gd name="T38" fmla="*/ 14 w 790"/>
                <a:gd name="T39" fmla="*/ 210 h 334"/>
                <a:gd name="T40" fmla="*/ 38 w 790"/>
                <a:gd name="T41" fmla="*/ 237 h 334"/>
                <a:gd name="T42" fmla="*/ 72 w 790"/>
                <a:gd name="T43" fmla="*/ 262 h 334"/>
                <a:gd name="T44" fmla="*/ 116 w 790"/>
                <a:gd name="T45" fmla="*/ 284 h 334"/>
                <a:gd name="T46" fmla="*/ 169 w 790"/>
                <a:gd name="T47" fmla="*/ 303 h 334"/>
                <a:gd name="T48" fmla="*/ 228 w 790"/>
                <a:gd name="T49" fmla="*/ 317 h 334"/>
                <a:gd name="T50" fmla="*/ 293 w 790"/>
                <a:gd name="T51" fmla="*/ 327 h 334"/>
                <a:gd name="T52" fmla="*/ 360 w 790"/>
                <a:gd name="T53" fmla="*/ 332 h 334"/>
                <a:gd name="T54" fmla="*/ 429 w 790"/>
                <a:gd name="T55" fmla="*/ 332 h 334"/>
                <a:gd name="T56" fmla="*/ 497 w 790"/>
                <a:gd name="T57" fmla="*/ 327 h 334"/>
                <a:gd name="T58" fmla="*/ 561 w 790"/>
                <a:gd name="T59" fmla="*/ 317 h 334"/>
                <a:gd name="T60" fmla="*/ 620 w 790"/>
                <a:gd name="T61" fmla="*/ 303 h 334"/>
                <a:gd name="T62" fmla="*/ 673 w 790"/>
                <a:gd name="T63" fmla="*/ 284 h 334"/>
                <a:gd name="T64" fmla="*/ 717 w 790"/>
                <a:gd name="T65" fmla="*/ 262 h 334"/>
                <a:gd name="T66" fmla="*/ 752 w 790"/>
                <a:gd name="T67" fmla="*/ 237 h 334"/>
                <a:gd name="T68" fmla="*/ 776 w 790"/>
                <a:gd name="T69" fmla="*/ 210 h 334"/>
                <a:gd name="T70" fmla="*/ 787 w 790"/>
                <a:gd name="T71" fmla="*/ 181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90" h="334">
                  <a:moveTo>
                    <a:pt x="789" y="167"/>
                  </a:moveTo>
                  <a:lnTo>
                    <a:pt x="787" y="152"/>
                  </a:lnTo>
                  <a:lnTo>
                    <a:pt x="783" y="137"/>
                  </a:lnTo>
                  <a:lnTo>
                    <a:pt x="776" y="124"/>
                  </a:lnTo>
                  <a:lnTo>
                    <a:pt x="765" y="110"/>
                  </a:lnTo>
                  <a:lnTo>
                    <a:pt x="752" y="96"/>
                  </a:lnTo>
                  <a:lnTo>
                    <a:pt x="736" y="83"/>
                  </a:lnTo>
                  <a:lnTo>
                    <a:pt x="717" y="71"/>
                  </a:lnTo>
                  <a:lnTo>
                    <a:pt x="696" y="60"/>
                  </a:lnTo>
                  <a:lnTo>
                    <a:pt x="673" y="49"/>
                  </a:lnTo>
                  <a:lnTo>
                    <a:pt x="648" y="39"/>
                  </a:lnTo>
                  <a:lnTo>
                    <a:pt x="620" y="30"/>
                  </a:lnTo>
                  <a:lnTo>
                    <a:pt x="592" y="23"/>
                  </a:lnTo>
                  <a:lnTo>
                    <a:pt x="561" y="16"/>
                  </a:lnTo>
                  <a:lnTo>
                    <a:pt x="530" y="10"/>
                  </a:lnTo>
                  <a:lnTo>
                    <a:pt x="497" y="6"/>
                  </a:lnTo>
                  <a:lnTo>
                    <a:pt x="463" y="3"/>
                  </a:lnTo>
                  <a:lnTo>
                    <a:pt x="429" y="1"/>
                  </a:lnTo>
                  <a:lnTo>
                    <a:pt x="395" y="0"/>
                  </a:lnTo>
                  <a:lnTo>
                    <a:pt x="360" y="1"/>
                  </a:lnTo>
                  <a:lnTo>
                    <a:pt x="326" y="3"/>
                  </a:lnTo>
                  <a:lnTo>
                    <a:pt x="293" y="6"/>
                  </a:lnTo>
                  <a:lnTo>
                    <a:pt x="260" y="10"/>
                  </a:lnTo>
                  <a:lnTo>
                    <a:pt x="228" y="16"/>
                  </a:lnTo>
                  <a:lnTo>
                    <a:pt x="198" y="23"/>
                  </a:lnTo>
                  <a:lnTo>
                    <a:pt x="169" y="30"/>
                  </a:lnTo>
                  <a:lnTo>
                    <a:pt x="142" y="39"/>
                  </a:lnTo>
                  <a:lnTo>
                    <a:pt x="116" y="49"/>
                  </a:lnTo>
                  <a:lnTo>
                    <a:pt x="93" y="60"/>
                  </a:lnTo>
                  <a:lnTo>
                    <a:pt x="72" y="71"/>
                  </a:lnTo>
                  <a:lnTo>
                    <a:pt x="53" y="83"/>
                  </a:lnTo>
                  <a:lnTo>
                    <a:pt x="38" y="96"/>
                  </a:lnTo>
                  <a:lnTo>
                    <a:pt x="24" y="110"/>
                  </a:lnTo>
                  <a:lnTo>
                    <a:pt x="14" y="124"/>
                  </a:lnTo>
                  <a:lnTo>
                    <a:pt x="7" y="137"/>
                  </a:lnTo>
                  <a:lnTo>
                    <a:pt x="2" y="152"/>
                  </a:lnTo>
                  <a:lnTo>
                    <a:pt x="0" y="167"/>
                  </a:lnTo>
                  <a:lnTo>
                    <a:pt x="2" y="181"/>
                  </a:lnTo>
                  <a:lnTo>
                    <a:pt x="7" y="195"/>
                  </a:lnTo>
                  <a:lnTo>
                    <a:pt x="14" y="210"/>
                  </a:lnTo>
                  <a:lnTo>
                    <a:pt x="24" y="224"/>
                  </a:lnTo>
                  <a:lnTo>
                    <a:pt x="38" y="237"/>
                  </a:lnTo>
                  <a:lnTo>
                    <a:pt x="53" y="250"/>
                  </a:lnTo>
                  <a:lnTo>
                    <a:pt x="72" y="262"/>
                  </a:lnTo>
                  <a:lnTo>
                    <a:pt x="93" y="273"/>
                  </a:lnTo>
                  <a:lnTo>
                    <a:pt x="116" y="284"/>
                  </a:lnTo>
                  <a:lnTo>
                    <a:pt x="142" y="294"/>
                  </a:lnTo>
                  <a:lnTo>
                    <a:pt x="169" y="303"/>
                  </a:lnTo>
                  <a:lnTo>
                    <a:pt x="198" y="311"/>
                  </a:lnTo>
                  <a:lnTo>
                    <a:pt x="228" y="317"/>
                  </a:lnTo>
                  <a:lnTo>
                    <a:pt x="260" y="323"/>
                  </a:lnTo>
                  <a:lnTo>
                    <a:pt x="293" y="327"/>
                  </a:lnTo>
                  <a:lnTo>
                    <a:pt x="326" y="330"/>
                  </a:lnTo>
                  <a:lnTo>
                    <a:pt x="360" y="332"/>
                  </a:lnTo>
                  <a:lnTo>
                    <a:pt x="395" y="333"/>
                  </a:lnTo>
                  <a:lnTo>
                    <a:pt x="429" y="332"/>
                  </a:lnTo>
                  <a:lnTo>
                    <a:pt x="463" y="330"/>
                  </a:lnTo>
                  <a:lnTo>
                    <a:pt x="497" y="327"/>
                  </a:lnTo>
                  <a:lnTo>
                    <a:pt x="530" y="323"/>
                  </a:lnTo>
                  <a:lnTo>
                    <a:pt x="561" y="317"/>
                  </a:lnTo>
                  <a:lnTo>
                    <a:pt x="592" y="311"/>
                  </a:lnTo>
                  <a:lnTo>
                    <a:pt x="620" y="303"/>
                  </a:lnTo>
                  <a:lnTo>
                    <a:pt x="648" y="294"/>
                  </a:lnTo>
                  <a:lnTo>
                    <a:pt x="673" y="284"/>
                  </a:lnTo>
                  <a:lnTo>
                    <a:pt x="696" y="273"/>
                  </a:lnTo>
                  <a:lnTo>
                    <a:pt x="717" y="262"/>
                  </a:lnTo>
                  <a:lnTo>
                    <a:pt x="736" y="250"/>
                  </a:lnTo>
                  <a:lnTo>
                    <a:pt x="752" y="237"/>
                  </a:lnTo>
                  <a:lnTo>
                    <a:pt x="765" y="224"/>
                  </a:lnTo>
                  <a:lnTo>
                    <a:pt x="776" y="210"/>
                  </a:lnTo>
                  <a:lnTo>
                    <a:pt x="783" y="195"/>
                  </a:lnTo>
                  <a:lnTo>
                    <a:pt x="787" y="181"/>
                  </a:lnTo>
                  <a:lnTo>
                    <a:pt x="789" y="16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7" name="Freeform 9"/>
            <p:cNvSpPr>
              <a:spLocks/>
            </p:cNvSpPr>
            <p:nvPr/>
          </p:nvSpPr>
          <p:spPr bwMode="auto">
            <a:xfrm>
              <a:off x="1762" y="2995"/>
              <a:ext cx="789" cy="334"/>
            </a:xfrm>
            <a:custGeom>
              <a:avLst/>
              <a:gdLst>
                <a:gd name="T0" fmla="*/ 2 w 789"/>
                <a:gd name="T1" fmla="*/ 181 h 334"/>
                <a:gd name="T2" fmla="*/ 13 w 789"/>
                <a:gd name="T3" fmla="*/ 210 h 334"/>
                <a:gd name="T4" fmla="*/ 37 w 789"/>
                <a:gd name="T5" fmla="*/ 237 h 334"/>
                <a:gd name="T6" fmla="*/ 71 w 789"/>
                <a:gd name="T7" fmla="*/ 262 h 334"/>
                <a:gd name="T8" fmla="*/ 116 w 789"/>
                <a:gd name="T9" fmla="*/ 284 h 334"/>
                <a:gd name="T10" fmla="*/ 168 w 789"/>
                <a:gd name="T11" fmla="*/ 303 h 334"/>
                <a:gd name="T12" fmla="*/ 227 w 789"/>
                <a:gd name="T13" fmla="*/ 317 h 334"/>
                <a:gd name="T14" fmla="*/ 293 w 789"/>
                <a:gd name="T15" fmla="*/ 327 h 334"/>
                <a:gd name="T16" fmla="*/ 360 w 789"/>
                <a:gd name="T17" fmla="*/ 332 h 334"/>
                <a:gd name="T18" fmla="*/ 428 w 789"/>
                <a:gd name="T19" fmla="*/ 332 h 334"/>
                <a:gd name="T20" fmla="*/ 497 w 789"/>
                <a:gd name="T21" fmla="*/ 327 h 334"/>
                <a:gd name="T22" fmla="*/ 561 w 789"/>
                <a:gd name="T23" fmla="*/ 317 h 334"/>
                <a:gd name="T24" fmla="*/ 620 w 789"/>
                <a:gd name="T25" fmla="*/ 302 h 334"/>
                <a:gd name="T26" fmla="*/ 673 w 789"/>
                <a:gd name="T27" fmla="*/ 284 h 334"/>
                <a:gd name="T28" fmla="*/ 717 w 789"/>
                <a:gd name="T29" fmla="*/ 261 h 334"/>
                <a:gd name="T30" fmla="*/ 751 w 789"/>
                <a:gd name="T31" fmla="*/ 237 h 334"/>
                <a:gd name="T32" fmla="*/ 775 w 789"/>
                <a:gd name="T33" fmla="*/ 209 h 334"/>
                <a:gd name="T34" fmla="*/ 787 w 789"/>
                <a:gd name="T35" fmla="*/ 180 h 334"/>
                <a:gd name="T36" fmla="*/ 787 w 789"/>
                <a:gd name="T37" fmla="*/ 152 h 334"/>
                <a:gd name="T38" fmla="*/ 775 w 789"/>
                <a:gd name="T39" fmla="*/ 124 h 334"/>
                <a:gd name="T40" fmla="*/ 751 w 789"/>
                <a:gd name="T41" fmla="*/ 96 h 334"/>
                <a:gd name="T42" fmla="*/ 717 w 789"/>
                <a:gd name="T43" fmla="*/ 71 h 334"/>
                <a:gd name="T44" fmla="*/ 673 w 789"/>
                <a:gd name="T45" fmla="*/ 49 h 334"/>
                <a:gd name="T46" fmla="*/ 620 w 789"/>
                <a:gd name="T47" fmla="*/ 30 h 334"/>
                <a:gd name="T48" fmla="*/ 561 w 789"/>
                <a:gd name="T49" fmla="*/ 16 h 334"/>
                <a:gd name="T50" fmla="*/ 496 w 789"/>
                <a:gd name="T51" fmla="*/ 6 h 334"/>
                <a:gd name="T52" fmla="*/ 428 w 789"/>
                <a:gd name="T53" fmla="*/ 1 h 334"/>
                <a:gd name="T54" fmla="*/ 360 w 789"/>
                <a:gd name="T55" fmla="*/ 1 h 334"/>
                <a:gd name="T56" fmla="*/ 292 w 789"/>
                <a:gd name="T57" fmla="*/ 6 h 334"/>
                <a:gd name="T58" fmla="*/ 227 w 789"/>
                <a:gd name="T59" fmla="*/ 16 h 334"/>
                <a:gd name="T60" fmla="*/ 168 w 789"/>
                <a:gd name="T61" fmla="*/ 30 h 334"/>
                <a:gd name="T62" fmla="*/ 116 w 789"/>
                <a:gd name="T63" fmla="*/ 49 h 334"/>
                <a:gd name="T64" fmla="*/ 71 w 789"/>
                <a:gd name="T65" fmla="*/ 71 h 334"/>
                <a:gd name="T66" fmla="*/ 37 w 789"/>
                <a:gd name="T67" fmla="*/ 97 h 334"/>
                <a:gd name="T68" fmla="*/ 13 w 789"/>
                <a:gd name="T69" fmla="*/ 124 h 334"/>
                <a:gd name="T70" fmla="*/ 2 w 789"/>
                <a:gd name="T71" fmla="*/ 152 h 3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89" h="334">
                  <a:moveTo>
                    <a:pt x="0" y="167"/>
                  </a:moveTo>
                  <a:lnTo>
                    <a:pt x="2" y="181"/>
                  </a:lnTo>
                  <a:lnTo>
                    <a:pt x="6" y="195"/>
                  </a:lnTo>
                  <a:lnTo>
                    <a:pt x="13" y="210"/>
                  </a:lnTo>
                  <a:lnTo>
                    <a:pt x="24" y="224"/>
                  </a:lnTo>
                  <a:lnTo>
                    <a:pt x="37" y="237"/>
                  </a:lnTo>
                  <a:lnTo>
                    <a:pt x="53" y="250"/>
                  </a:lnTo>
                  <a:lnTo>
                    <a:pt x="71" y="262"/>
                  </a:lnTo>
                  <a:lnTo>
                    <a:pt x="92" y="274"/>
                  </a:lnTo>
                  <a:lnTo>
                    <a:pt x="116" y="284"/>
                  </a:lnTo>
                  <a:lnTo>
                    <a:pt x="141" y="294"/>
                  </a:lnTo>
                  <a:lnTo>
                    <a:pt x="168" y="303"/>
                  </a:lnTo>
                  <a:lnTo>
                    <a:pt x="197" y="311"/>
                  </a:lnTo>
                  <a:lnTo>
                    <a:pt x="227" y="317"/>
                  </a:lnTo>
                  <a:lnTo>
                    <a:pt x="259" y="323"/>
                  </a:lnTo>
                  <a:lnTo>
                    <a:pt x="293" y="327"/>
                  </a:lnTo>
                  <a:lnTo>
                    <a:pt x="326" y="330"/>
                  </a:lnTo>
                  <a:lnTo>
                    <a:pt x="360" y="332"/>
                  </a:lnTo>
                  <a:lnTo>
                    <a:pt x="394" y="333"/>
                  </a:lnTo>
                  <a:lnTo>
                    <a:pt x="428" y="332"/>
                  </a:lnTo>
                  <a:lnTo>
                    <a:pt x="462" y="330"/>
                  </a:lnTo>
                  <a:lnTo>
                    <a:pt x="497" y="327"/>
                  </a:lnTo>
                  <a:lnTo>
                    <a:pt x="529" y="323"/>
                  </a:lnTo>
                  <a:lnTo>
                    <a:pt x="561" y="317"/>
                  </a:lnTo>
                  <a:lnTo>
                    <a:pt x="591" y="311"/>
                  </a:lnTo>
                  <a:lnTo>
                    <a:pt x="620" y="302"/>
                  </a:lnTo>
                  <a:lnTo>
                    <a:pt x="648" y="294"/>
                  </a:lnTo>
                  <a:lnTo>
                    <a:pt x="673" y="284"/>
                  </a:lnTo>
                  <a:lnTo>
                    <a:pt x="696" y="273"/>
                  </a:lnTo>
                  <a:lnTo>
                    <a:pt x="717" y="261"/>
                  </a:lnTo>
                  <a:lnTo>
                    <a:pt x="736" y="250"/>
                  </a:lnTo>
                  <a:lnTo>
                    <a:pt x="751" y="237"/>
                  </a:lnTo>
                  <a:lnTo>
                    <a:pt x="764" y="223"/>
                  </a:lnTo>
                  <a:lnTo>
                    <a:pt x="775" y="209"/>
                  </a:lnTo>
                  <a:lnTo>
                    <a:pt x="782" y="195"/>
                  </a:lnTo>
                  <a:lnTo>
                    <a:pt x="787" y="180"/>
                  </a:lnTo>
                  <a:lnTo>
                    <a:pt x="788" y="167"/>
                  </a:lnTo>
                  <a:lnTo>
                    <a:pt x="787" y="152"/>
                  </a:lnTo>
                  <a:lnTo>
                    <a:pt x="782" y="137"/>
                  </a:lnTo>
                  <a:lnTo>
                    <a:pt x="775" y="124"/>
                  </a:lnTo>
                  <a:lnTo>
                    <a:pt x="764" y="110"/>
                  </a:lnTo>
                  <a:lnTo>
                    <a:pt x="751" y="96"/>
                  </a:lnTo>
                  <a:lnTo>
                    <a:pt x="736" y="83"/>
                  </a:lnTo>
                  <a:lnTo>
                    <a:pt x="717" y="71"/>
                  </a:lnTo>
                  <a:lnTo>
                    <a:pt x="696" y="60"/>
                  </a:lnTo>
                  <a:lnTo>
                    <a:pt x="673" y="49"/>
                  </a:lnTo>
                  <a:lnTo>
                    <a:pt x="647" y="39"/>
                  </a:lnTo>
                  <a:lnTo>
                    <a:pt x="620" y="30"/>
                  </a:lnTo>
                  <a:lnTo>
                    <a:pt x="591" y="23"/>
                  </a:lnTo>
                  <a:lnTo>
                    <a:pt x="561" y="16"/>
                  </a:lnTo>
                  <a:lnTo>
                    <a:pt x="529" y="10"/>
                  </a:lnTo>
                  <a:lnTo>
                    <a:pt x="496" y="6"/>
                  </a:lnTo>
                  <a:lnTo>
                    <a:pt x="462" y="3"/>
                  </a:lnTo>
                  <a:lnTo>
                    <a:pt x="428" y="1"/>
                  </a:lnTo>
                  <a:lnTo>
                    <a:pt x="394" y="0"/>
                  </a:lnTo>
                  <a:lnTo>
                    <a:pt x="360" y="1"/>
                  </a:lnTo>
                  <a:lnTo>
                    <a:pt x="326" y="3"/>
                  </a:lnTo>
                  <a:lnTo>
                    <a:pt x="292" y="6"/>
                  </a:lnTo>
                  <a:lnTo>
                    <a:pt x="259" y="10"/>
                  </a:lnTo>
                  <a:lnTo>
                    <a:pt x="227" y="16"/>
                  </a:lnTo>
                  <a:lnTo>
                    <a:pt x="197" y="23"/>
                  </a:lnTo>
                  <a:lnTo>
                    <a:pt x="168" y="30"/>
                  </a:lnTo>
                  <a:lnTo>
                    <a:pt x="140" y="39"/>
                  </a:lnTo>
                  <a:lnTo>
                    <a:pt x="116" y="49"/>
                  </a:lnTo>
                  <a:lnTo>
                    <a:pt x="92" y="60"/>
                  </a:lnTo>
                  <a:lnTo>
                    <a:pt x="71" y="71"/>
                  </a:lnTo>
                  <a:lnTo>
                    <a:pt x="53" y="83"/>
                  </a:lnTo>
                  <a:lnTo>
                    <a:pt x="37" y="97"/>
                  </a:lnTo>
                  <a:lnTo>
                    <a:pt x="24" y="110"/>
                  </a:lnTo>
                  <a:lnTo>
                    <a:pt x="13" y="124"/>
                  </a:lnTo>
                  <a:lnTo>
                    <a:pt x="6" y="137"/>
                  </a:lnTo>
                  <a:lnTo>
                    <a:pt x="2" y="152"/>
                  </a:lnTo>
                  <a:lnTo>
                    <a:pt x="0" y="167"/>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8" name="Freeform 11"/>
            <p:cNvSpPr>
              <a:spLocks/>
            </p:cNvSpPr>
            <p:nvPr/>
          </p:nvSpPr>
          <p:spPr bwMode="auto">
            <a:xfrm>
              <a:off x="4175" y="3543"/>
              <a:ext cx="1115" cy="343"/>
            </a:xfrm>
            <a:custGeom>
              <a:avLst/>
              <a:gdLst>
                <a:gd name="T0" fmla="*/ 912 w 913"/>
                <a:gd name="T1" fmla="*/ 342 h 343"/>
                <a:gd name="T2" fmla="*/ 912 w 913"/>
                <a:gd name="T3" fmla="*/ 0 h 343"/>
                <a:gd name="T4" fmla="*/ 0 w 913"/>
                <a:gd name="T5" fmla="*/ 0 h 343"/>
                <a:gd name="T6" fmla="*/ 0 w 913"/>
                <a:gd name="T7" fmla="*/ 342 h 343"/>
                <a:gd name="T8" fmla="*/ 912 w 913"/>
                <a:gd name="T9" fmla="*/ 342 h 3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3" h="343">
                  <a:moveTo>
                    <a:pt x="912" y="342"/>
                  </a:moveTo>
                  <a:lnTo>
                    <a:pt x="912" y="0"/>
                  </a:lnTo>
                  <a:lnTo>
                    <a:pt x="0" y="0"/>
                  </a:lnTo>
                  <a:lnTo>
                    <a:pt x="0" y="342"/>
                  </a:lnTo>
                  <a:lnTo>
                    <a:pt x="912" y="342"/>
                  </a:lnTo>
                </a:path>
              </a:pathLst>
            </a:custGeom>
            <a:noFill/>
            <a:ln w="508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9" name="Freeform 12"/>
            <p:cNvSpPr>
              <a:spLocks/>
            </p:cNvSpPr>
            <p:nvPr/>
          </p:nvSpPr>
          <p:spPr bwMode="auto">
            <a:xfrm>
              <a:off x="1023" y="3533"/>
              <a:ext cx="789" cy="343"/>
            </a:xfrm>
            <a:custGeom>
              <a:avLst/>
              <a:gdLst>
                <a:gd name="T0" fmla="*/ 788 w 789"/>
                <a:gd name="T1" fmla="*/ 342 h 343"/>
                <a:gd name="T2" fmla="*/ 788 w 789"/>
                <a:gd name="T3" fmla="*/ 0 h 343"/>
                <a:gd name="T4" fmla="*/ 0 w 789"/>
                <a:gd name="T5" fmla="*/ 0 h 343"/>
                <a:gd name="T6" fmla="*/ 0 w 789"/>
                <a:gd name="T7" fmla="*/ 342 h 343"/>
                <a:gd name="T8" fmla="*/ 788 w 789"/>
                <a:gd name="T9" fmla="*/ 342 h 3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9" h="343">
                  <a:moveTo>
                    <a:pt x="788" y="342"/>
                  </a:moveTo>
                  <a:lnTo>
                    <a:pt x="788" y="0"/>
                  </a:lnTo>
                  <a:lnTo>
                    <a:pt x="0" y="0"/>
                  </a:lnTo>
                  <a:lnTo>
                    <a:pt x="0" y="342"/>
                  </a:lnTo>
                  <a:lnTo>
                    <a:pt x="788" y="342"/>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0" name="Freeform 13"/>
            <p:cNvSpPr>
              <a:spLocks/>
            </p:cNvSpPr>
            <p:nvPr/>
          </p:nvSpPr>
          <p:spPr bwMode="auto">
            <a:xfrm>
              <a:off x="1023" y="2751"/>
              <a:ext cx="789" cy="333"/>
            </a:xfrm>
            <a:custGeom>
              <a:avLst/>
              <a:gdLst>
                <a:gd name="T0" fmla="*/ 787 w 789"/>
                <a:gd name="T1" fmla="*/ 151 h 333"/>
                <a:gd name="T2" fmla="*/ 775 w 789"/>
                <a:gd name="T3" fmla="*/ 123 h 333"/>
                <a:gd name="T4" fmla="*/ 751 w 789"/>
                <a:gd name="T5" fmla="*/ 96 h 333"/>
                <a:gd name="T6" fmla="*/ 717 w 789"/>
                <a:gd name="T7" fmla="*/ 70 h 333"/>
                <a:gd name="T8" fmla="*/ 673 w 789"/>
                <a:gd name="T9" fmla="*/ 49 h 333"/>
                <a:gd name="T10" fmla="*/ 620 w 789"/>
                <a:gd name="T11" fmla="*/ 30 h 333"/>
                <a:gd name="T12" fmla="*/ 561 w 789"/>
                <a:gd name="T13" fmla="*/ 16 h 333"/>
                <a:gd name="T14" fmla="*/ 496 w 789"/>
                <a:gd name="T15" fmla="*/ 6 h 333"/>
                <a:gd name="T16" fmla="*/ 429 w 789"/>
                <a:gd name="T17" fmla="*/ 0 h 333"/>
                <a:gd name="T18" fmla="*/ 360 w 789"/>
                <a:gd name="T19" fmla="*/ 0 h 333"/>
                <a:gd name="T20" fmla="*/ 292 w 789"/>
                <a:gd name="T21" fmla="*/ 6 h 333"/>
                <a:gd name="T22" fmla="*/ 228 w 789"/>
                <a:gd name="T23" fmla="*/ 16 h 333"/>
                <a:gd name="T24" fmla="*/ 168 w 789"/>
                <a:gd name="T25" fmla="*/ 30 h 333"/>
                <a:gd name="T26" fmla="*/ 115 w 789"/>
                <a:gd name="T27" fmla="*/ 49 h 333"/>
                <a:gd name="T28" fmla="*/ 71 w 789"/>
                <a:gd name="T29" fmla="*/ 70 h 333"/>
                <a:gd name="T30" fmla="*/ 37 w 789"/>
                <a:gd name="T31" fmla="*/ 96 h 333"/>
                <a:gd name="T32" fmla="*/ 14 w 789"/>
                <a:gd name="T33" fmla="*/ 123 h 333"/>
                <a:gd name="T34" fmla="*/ 1 w 789"/>
                <a:gd name="T35" fmla="*/ 151 h 333"/>
                <a:gd name="T36" fmla="*/ 1 w 789"/>
                <a:gd name="T37" fmla="*/ 180 h 333"/>
                <a:gd name="T38" fmla="*/ 14 w 789"/>
                <a:gd name="T39" fmla="*/ 209 h 333"/>
                <a:gd name="T40" fmla="*/ 37 w 789"/>
                <a:gd name="T41" fmla="*/ 236 h 333"/>
                <a:gd name="T42" fmla="*/ 71 w 789"/>
                <a:gd name="T43" fmla="*/ 261 h 333"/>
                <a:gd name="T44" fmla="*/ 115 w 789"/>
                <a:gd name="T45" fmla="*/ 284 h 333"/>
                <a:gd name="T46" fmla="*/ 168 w 789"/>
                <a:gd name="T47" fmla="*/ 302 h 333"/>
                <a:gd name="T48" fmla="*/ 228 w 789"/>
                <a:gd name="T49" fmla="*/ 317 h 333"/>
                <a:gd name="T50" fmla="*/ 292 w 789"/>
                <a:gd name="T51" fmla="*/ 327 h 333"/>
                <a:gd name="T52" fmla="*/ 360 w 789"/>
                <a:gd name="T53" fmla="*/ 331 h 333"/>
                <a:gd name="T54" fmla="*/ 429 w 789"/>
                <a:gd name="T55" fmla="*/ 331 h 333"/>
                <a:gd name="T56" fmla="*/ 496 w 789"/>
                <a:gd name="T57" fmla="*/ 327 h 333"/>
                <a:gd name="T58" fmla="*/ 561 w 789"/>
                <a:gd name="T59" fmla="*/ 317 h 333"/>
                <a:gd name="T60" fmla="*/ 620 w 789"/>
                <a:gd name="T61" fmla="*/ 302 h 333"/>
                <a:gd name="T62" fmla="*/ 673 w 789"/>
                <a:gd name="T63" fmla="*/ 284 h 333"/>
                <a:gd name="T64" fmla="*/ 717 w 789"/>
                <a:gd name="T65" fmla="*/ 261 h 333"/>
                <a:gd name="T66" fmla="*/ 751 w 789"/>
                <a:gd name="T67" fmla="*/ 236 h 333"/>
                <a:gd name="T68" fmla="*/ 775 w 789"/>
                <a:gd name="T69" fmla="*/ 209 h 333"/>
                <a:gd name="T70" fmla="*/ 787 w 789"/>
                <a:gd name="T71" fmla="*/ 180 h 3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89" h="333">
                  <a:moveTo>
                    <a:pt x="788" y="166"/>
                  </a:moveTo>
                  <a:lnTo>
                    <a:pt x="787" y="151"/>
                  </a:lnTo>
                  <a:lnTo>
                    <a:pt x="782" y="137"/>
                  </a:lnTo>
                  <a:lnTo>
                    <a:pt x="775" y="123"/>
                  </a:lnTo>
                  <a:lnTo>
                    <a:pt x="765" y="109"/>
                  </a:lnTo>
                  <a:lnTo>
                    <a:pt x="751" y="96"/>
                  </a:lnTo>
                  <a:lnTo>
                    <a:pt x="735" y="83"/>
                  </a:lnTo>
                  <a:lnTo>
                    <a:pt x="717" y="70"/>
                  </a:lnTo>
                  <a:lnTo>
                    <a:pt x="696" y="59"/>
                  </a:lnTo>
                  <a:lnTo>
                    <a:pt x="673" y="49"/>
                  </a:lnTo>
                  <a:lnTo>
                    <a:pt x="647" y="39"/>
                  </a:lnTo>
                  <a:lnTo>
                    <a:pt x="620" y="30"/>
                  </a:lnTo>
                  <a:lnTo>
                    <a:pt x="591" y="22"/>
                  </a:lnTo>
                  <a:lnTo>
                    <a:pt x="561" y="16"/>
                  </a:lnTo>
                  <a:lnTo>
                    <a:pt x="529" y="10"/>
                  </a:lnTo>
                  <a:lnTo>
                    <a:pt x="496" y="6"/>
                  </a:lnTo>
                  <a:lnTo>
                    <a:pt x="463" y="3"/>
                  </a:lnTo>
                  <a:lnTo>
                    <a:pt x="429" y="0"/>
                  </a:lnTo>
                  <a:lnTo>
                    <a:pt x="394" y="0"/>
                  </a:lnTo>
                  <a:lnTo>
                    <a:pt x="360" y="0"/>
                  </a:lnTo>
                  <a:lnTo>
                    <a:pt x="325" y="3"/>
                  </a:lnTo>
                  <a:lnTo>
                    <a:pt x="292" y="6"/>
                  </a:lnTo>
                  <a:lnTo>
                    <a:pt x="260" y="10"/>
                  </a:lnTo>
                  <a:lnTo>
                    <a:pt x="228" y="16"/>
                  </a:lnTo>
                  <a:lnTo>
                    <a:pt x="197" y="22"/>
                  </a:lnTo>
                  <a:lnTo>
                    <a:pt x="168" y="30"/>
                  </a:lnTo>
                  <a:lnTo>
                    <a:pt x="141" y="39"/>
                  </a:lnTo>
                  <a:lnTo>
                    <a:pt x="115" y="49"/>
                  </a:lnTo>
                  <a:lnTo>
                    <a:pt x="92" y="59"/>
                  </a:lnTo>
                  <a:lnTo>
                    <a:pt x="71" y="70"/>
                  </a:lnTo>
                  <a:lnTo>
                    <a:pt x="53" y="83"/>
                  </a:lnTo>
                  <a:lnTo>
                    <a:pt x="37" y="96"/>
                  </a:lnTo>
                  <a:lnTo>
                    <a:pt x="24" y="109"/>
                  </a:lnTo>
                  <a:lnTo>
                    <a:pt x="14" y="123"/>
                  </a:lnTo>
                  <a:lnTo>
                    <a:pt x="6" y="137"/>
                  </a:lnTo>
                  <a:lnTo>
                    <a:pt x="1" y="151"/>
                  </a:lnTo>
                  <a:lnTo>
                    <a:pt x="0" y="166"/>
                  </a:lnTo>
                  <a:lnTo>
                    <a:pt x="1" y="180"/>
                  </a:lnTo>
                  <a:lnTo>
                    <a:pt x="6" y="195"/>
                  </a:lnTo>
                  <a:lnTo>
                    <a:pt x="14" y="209"/>
                  </a:lnTo>
                  <a:lnTo>
                    <a:pt x="24" y="223"/>
                  </a:lnTo>
                  <a:lnTo>
                    <a:pt x="37" y="236"/>
                  </a:lnTo>
                  <a:lnTo>
                    <a:pt x="53" y="249"/>
                  </a:lnTo>
                  <a:lnTo>
                    <a:pt x="71" y="261"/>
                  </a:lnTo>
                  <a:lnTo>
                    <a:pt x="92" y="273"/>
                  </a:lnTo>
                  <a:lnTo>
                    <a:pt x="115" y="284"/>
                  </a:lnTo>
                  <a:lnTo>
                    <a:pt x="141" y="294"/>
                  </a:lnTo>
                  <a:lnTo>
                    <a:pt x="168" y="302"/>
                  </a:lnTo>
                  <a:lnTo>
                    <a:pt x="197" y="310"/>
                  </a:lnTo>
                  <a:lnTo>
                    <a:pt x="228" y="317"/>
                  </a:lnTo>
                  <a:lnTo>
                    <a:pt x="260" y="322"/>
                  </a:lnTo>
                  <a:lnTo>
                    <a:pt x="292" y="327"/>
                  </a:lnTo>
                  <a:lnTo>
                    <a:pt x="325" y="330"/>
                  </a:lnTo>
                  <a:lnTo>
                    <a:pt x="360" y="331"/>
                  </a:lnTo>
                  <a:lnTo>
                    <a:pt x="394" y="332"/>
                  </a:lnTo>
                  <a:lnTo>
                    <a:pt x="429" y="331"/>
                  </a:lnTo>
                  <a:lnTo>
                    <a:pt x="463" y="330"/>
                  </a:lnTo>
                  <a:lnTo>
                    <a:pt x="496" y="327"/>
                  </a:lnTo>
                  <a:lnTo>
                    <a:pt x="529" y="322"/>
                  </a:lnTo>
                  <a:lnTo>
                    <a:pt x="561" y="317"/>
                  </a:lnTo>
                  <a:lnTo>
                    <a:pt x="591" y="310"/>
                  </a:lnTo>
                  <a:lnTo>
                    <a:pt x="620" y="302"/>
                  </a:lnTo>
                  <a:lnTo>
                    <a:pt x="647" y="294"/>
                  </a:lnTo>
                  <a:lnTo>
                    <a:pt x="673" y="284"/>
                  </a:lnTo>
                  <a:lnTo>
                    <a:pt x="696" y="273"/>
                  </a:lnTo>
                  <a:lnTo>
                    <a:pt x="717" y="261"/>
                  </a:lnTo>
                  <a:lnTo>
                    <a:pt x="735" y="249"/>
                  </a:lnTo>
                  <a:lnTo>
                    <a:pt x="751" y="236"/>
                  </a:lnTo>
                  <a:lnTo>
                    <a:pt x="765" y="223"/>
                  </a:lnTo>
                  <a:lnTo>
                    <a:pt x="775" y="209"/>
                  </a:lnTo>
                  <a:lnTo>
                    <a:pt x="782" y="195"/>
                  </a:lnTo>
                  <a:lnTo>
                    <a:pt x="787" y="180"/>
                  </a:lnTo>
                  <a:lnTo>
                    <a:pt x="788" y="166"/>
                  </a:lnTo>
                </a:path>
              </a:pathLst>
            </a:custGeom>
            <a:noFill/>
            <a:ln w="127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1" name="Rectangle 14"/>
            <p:cNvSpPr>
              <a:spLocks noChangeArrowheads="1"/>
            </p:cNvSpPr>
            <p:nvPr/>
          </p:nvSpPr>
          <p:spPr bwMode="auto">
            <a:xfrm>
              <a:off x="1920" y="3072"/>
              <a:ext cx="4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since</a:t>
              </a:r>
            </a:p>
          </p:txBody>
        </p:sp>
        <p:sp>
          <p:nvSpPr>
            <p:cNvPr id="19472" name="Freeform 15"/>
            <p:cNvSpPr>
              <a:spLocks/>
            </p:cNvSpPr>
            <p:nvPr/>
          </p:nvSpPr>
          <p:spPr bwMode="auto">
            <a:xfrm>
              <a:off x="2577" y="3431"/>
              <a:ext cx="1073" cy="513"/>
            </a:xfrm>
            <a:custGeom>
              <a:avLst/>
              <a:gdLst>
                <a:gd name="T0" fmla="*/ 0 w 789"/>
                <a:gd name="T1" fmla="*/ 196 h 392"/>
                <a:gd name="T2" fmla="*/ 394 w 789"/>
                <a:gd name="T3" fmla="*/ 0 h 392"/>
                <a:gd name="T4" fmla="*/ 788 w 789"/>
                <a:gd name="T5" fmla="*/ 196 h 392"/>
                <a:gd name="T6" fmla="*/ 394 w 789"/>
                <a:gd name="T7" fmla="*/ 391 h 392"/>
                <a:gd name="T8" fmla="*/ 0 w 789"/>
                <a:gd name="T9" fmla="*/ 196 h 3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9" h="392">
                  <a:moveTo>
                    <a:pt x="0" y="196"/>
                  </a:moveTo>
                  <a:lnTo>
                    <a:pt x="394" y="0"/>
                  </a:lnTo>
                  <a:lnTo>
                    <a:pt x="788" y="196"/>
                  </a:lnTo>
                  <a:lnTo>
                    <a:pt x="394" y="391"/>
                  </a:lnTo>
                  <a:lnTo>
                    <a:pt x="0" y="196"/>
                  </a:lnTo>
                </a:path>
              </a:pathLst>
            </a:custGeom>
            <a:noFill/>
            <a:ln w="50800"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9473" name="Rectangle 16"/>
            <p:cNvSpPr>
              <a:spLocks noChangeArrowheads="1"/>
            </p:cNvSpPr>
            <p:nvPr/>
          </p:nvSpPr>
          <p:spPr bwMode="auto">
            <a:xfrm>
              <a:off x="1104" y="2832"/>
              <a:ext cx="61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dirty="0">
                  <a:latin typeface="Arial" panose="020B0604020202020204" pitchFamily="34" charset="0"/>
                </a:rPr>
                <a:t>address</a:t>
              </a:r>
            </a:p>
          </p:txBody>
        </p:sp>
        <p:sp>
          <p:nvSpPr>
            <p:cNvPr id="19474" name="Rectangle 17"/>
            <p:cNvSpPr>
              <a:spLocks noChangeArrowheads="1"/>
            </p:cNvSpPr>
            <p:nvPr/>
          </p:nvSpPr>
          <p:spPr bwMode="auto">
            <a:xfrm>
              <a:off x="4752" y="3033"/>
              <a:ext cx="5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amount</a:t>
              </a:r>
            </a:p>
          </p:txBody>
        </p:sp>
        <p:sp>
          <p:nvSpPr>
            <p:cNvPr id="19475" name="Rectangle 18"/>
            <p:cNvSpPr>
              <a:spLocks noChangeArrowheads="1"/>
            </p:cNvSpPr>
            <p:nvPr/>
          </p:nvSpPr>
          <p:spPr bwMode="auto">
            <a:xfrm>
              <a:off x="3744" y="3023"/>
              <a:ext cx="64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transac#</a:t>
              </a:r>
            </a:p>
          </p:txBody>
        </p:sp>
        <p:sp>
          <p:nvSpPr>
            <p:cNvPr id="19476" name="Rectangle 19"/>
            <p:cNvSpPr>
              <a:spLocks noChangeArrowheads="1"/>
            </p:cNvSpPr>
            <p:nvPr/>
          </p:nvSpPr>
          <p:spPr bwMode="auto">
            <a:xfrm>
              <a:off x="4243" y="3590"/>
              <a:ext cx="91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Transactions</a:t>
              </a:r>
            </a:p>
          </p:txBody>
        </p:sp>
        <p:sp>
          <p:nvSpPr>
            <p:cNvPr id="19477" name="Rectangle 20"/>
            <p:cNvSpPr>
              <a:spLocks noChangeArrowheads="1"/>
            </p:cNvSpPr>
            <p:nvPr/>
          </p:nvSpPr>
          <p:spPr bwMode="auto">
            <a:xfrm>
              <a:off x="1241" y="3601"/>
              <a:ext cx="39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a:latin typeface="Arial" panose="020B0604020202020204" pitchFamily="34" charset="0"/>
                </a:rPr>
                <a:t>ATM</a:t>
              </a:r>
            </a:p>
          </p:txBody>
        </p:sp>
        <p:sp>
          <p:nvSpPr>
            <p:cNvPr id="19478" name="Rectangle 21"/>
            <p:cNvSpPr>
              <a:spLocks noChangeArrowheads="1"/>
            </p:cNvSpPr>
            <p:nvPr/>
          </p:nvSpPr>
          <p:spPr bwMode="auto">
            <a:xfrm>
              <a:off x="432" y="3072"/>
              <a:ext cx="47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u="sng" dirty="0">
                  <a:latin typeface="Arial" panose="020B0604020202020204" pitchFamily="34" charset="0"/>
                </a:rPr>
                <a:t>atmID</a:t>
              </a:r>
            </a:p>
          </p:txBody>
        </p:sp>
        <p:sp>
          <p:nvSpPr>
            <p:cNvPr id="19479" name="Line 24"/>
            <p:cNvSpPr>
              <a:spLocks noChangeShapeType="1"/>
            </p:cNvSpPr>
            <p:nvPr/>
          </p:nvSpPr>
          <p:spPr bwMode="auto">
            <a:xfrm flipH="1" flipV="1">
              <a:off x="3840" y="3216"/>
              <a:ext cx="473" cy="2"/>
            </a:xfrm>
            <a:prstGeom prst="line">
              <a:avLst/>
            </a:prstGeom>
            <a:noFill/>
            <a:ln w="12700">
              <a:solidFill>
                <a:schemeClr val="tx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0" name="Line 25"/>
            <p:cNvSpPr>
              <a:spLocks noChangeShapeType="1"/>
            </p:cNvSpPr>
            <p:nvPr/>
          </p:nvSpPr>
          <p:spPr bwMode="auto">
            <a:xfrm>
              <a:off x="1427" y="3099"/>
              <a:ext cx="0" cy="421"/>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1" name="Line 26"/>
            <p:cNvSpPr>
              <a:spLocks noChangeShapeType="1"/>
            </p:cNvSpPr>
            <p:nvPr/>
          </p:nvSpPr>
          <p:spPr bwMode="auto">
            <a:xfrm>
              <a:off x="698" y="3338"/>
              <a:ext cx="510" cy="195"/>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2" name="Line 27"/>
            <p:cNvSpPr>
              <a:spLocks noChangeShapeType="1"/>
            </p:cNvSpPr>
            <p:nvPr/>
          </p:nvSpPr>
          <p:spPr bwMode="auto">
            <a:xfrm flipH="1">
              <a:off x="1638" y="3326"/>
              <a:ext cx="513" cy="207"/>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3" name="Line 29"/>
            <p:cNvSpPr>
              <a:spLocks noChangeShapeType="1"/>
            </p:cNvSpPr>
            <p:nvPr/>
          </p:nvSpPr>
          <p:spPr bwMode="auto">
            <a:xfrm>
              <a:off x="4084" y="3326"/>
              <a:ext cx="233" cy="219"/>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4" name="Line 30"/>
            <p:cNvSpPr>
              <a:spLocks noChangeShapeType="1"/>
            </p:cNvSpPr>
            <p:nvPr/>
          </p:nvSpPr>
          <p:spPr bwMode="auto">
            <a:xfrm flipH="1">
              <a:off x="4708" y="3326"/>
              <a:ext cx="324" cy="219"/>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5" name="Line 31"/>
            <p:cNvSpPr>
              <a:spLocks noChangeShapeType="1"/>
            </p:cNvSpPr>
            <p:nvPr/>
          </p:nvSpPr>
          <p:spPr bwMode="auto">
            <a:xfrm flipH="1">
              <a:off x="1815" y="3677"/>
              <a:ext cx="747" cy="11"/>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wrap="none" anchor="ctr"/>
            <a:lstStyle/>
            <a:p>
              <a:endParaRPr lang="en-US" dirty="0"/>
            </a:p>
          </p:txBody>
        </p:sp>
        <p:sp>
          <p:nvSpPr>
            <p:cNvPr id="19487" name="Line 35"/>
            <p:cNvSpPr>
              <a:spLocks noChangeShapeType="1"/>
            </p:cNvSpPr>
            <p:nvPr/>
          </p:nvSpPr>
          <p:spPr bwMode="auto">
            <a:xfrm>
              <a:off x="5002" y="3962"/>
              <a:ext cx="151" cy="223"/>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8" name="Rectangle 36"/>
            <p:cNvSpPr>
              <a:spLocks noChangeArrowheads="1"/>
            </p:cNvSpPr>
            <p:nvPr/>
          </p:nvSpPr>
          <p:spPr bwMode="auto">
            <a:xfrm>
              <a:off x="5015" y="4246"/>
              <a:ext cx="52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s-ES_tradnl" altLang="en-US" sz="1600" b="1" dirty="0">
                  <a:latin typeface="Arial" panose="020B0604020202020204" pitchFamily="34" charset="0"/>
                </a:rPr>
                <a:t>    </a:t>
              </a:r>
              <a:r>
                <a:rPr lang="es-ES_tradnl" altLang="en-US" sz="1600" b="1" dirty="0" err="1">
                  <a:latin typeface="Arial" panose="020B0604020202020204" pitchFamily="34" charset="0"/>
                </a:rPr>
                <a:t>type</a:t>
              </a:r>
              <a:endParaRPr lang="es-ES_tradnl" altLang="en-US" sz="1600" b="1" dirty="0">
                <a:latin typeface="Arial" panose="020B0604020202020204" pitchFamily="34" charset="0"/>
              </a:endParaRPr>
            </a:p>
          </p:txBody>
        </p:sp>
      </p:grpSp>
      <p:sp>
        <p:nvSpPr>
          <p:cNvPr id="2" name="TextBox 1"/>
          <p:cNvSpPr txBox="1"/>
          <p:nvPr/>
        </p:nvSpPr>
        <p:spPr>
          <a:xfrm>
            <a:off x="4271318" y="3643556"/>
            <a:ext cx="1255661" cy="338554"/>
          </a:xfrm>
          <a:prstGeom prst="rect">
            <a:avLst/>
          </a:prstGeom>
          <a:noFill/>
        </p:spPr>
        <p:txBody>
          <a:bodyPr wrap="square" rtlCol="0">
            <a:spAutoFit/>
          </a:bodyPr>
          <a:lstStyle/>
          <a:p>
            <a:r>
              <a:rPr lang="en-US" sz="1600" b="1" dirty="0"/>
              <a:t>facilitates</a:t>
            </a:r>
          </a:p>
        </p:txBody>
      </p:sp>
      <p:cxnSp>
        <p:nvCxnSpPr>
          <p:cNvPr id="4" name="Straight Connector 3"/>
          <p:cNvCxnSpPr>
            <a:cxnSpLocks/>
          </p:cNvCxnSpPr>
          <p:nvPr/>
        </p:nvCxnSpPr>
        <p:spPr>
          <a:xfrm>
            <a:off x="5579080" y="3891622"/>
            <a:ext cx="805148" cy="0"/>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p:cNvCxnSpPr>
            <a:cxnSpLocks/>
            <a:endCxn id="11" idx="1"/>
          </p:cNvCxnSpPr>
          <p:nvPr/>
        </p:nvCxnSpPr>
        <p:spPr>
          <a:xfrm>
            <a:off x="5606334" y="3931904"/>
            <a:ext cx="753768" cy="7292"/>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6360102" y="3576452"/>
            <a:ext cx="1915535" cy="725487"/>
          </a:xfrm>
          <a:prstGeom prst="rect">
            <a:avLst/>
          </a:prstGeom>
          <a:solidFill>
            <a:schemeClr val="lt1">
              <a:alpha val="0"/>
            </a:schemeClr>
          </a:solidFill>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endParaRPr>
          </a:p>
        </p:txBody>
      </p:sp>
      <p:sp>
        <p:nvSpPr>
          <p:cNvPr id="3" name="TextBox 2"/>
          <p:cNvSpPr txBox="1"/>
          <p:nvPr/>
        </p:nvSpPr>
        <p:spPr>
          <a:xfrm>
            <a:off x="3560441" y="3390971"/>
            <a:ext cx="301625" cy="369332"/>
          </a:xfrm>
          <a:prstGeom prst="rect">
            <a:avLst/>
          </a:prstGeom>
          <a:noFill/>
        </p:spPr>
        <p:txBody>
          <a:bodyPr wrap="square" rtlCol="0">
            <a:spAutoFit/>
          </a:bodyPr>
          <a:lstStyle/>
          <a:p>
            <a:r>
              <a:rPr lang="en-US" dirty="0"/>
              <a:t>1</a:t>
            </a:r>
          </a:p>
        </p:txBody>
      </p:sp>
      <p:sp>
        <p:nvSpPr>
          <p:cNvPr id="36" name="TextBox 35"/>
          <p:cNvSpPr txBox="1"/>
          <p:nvPr/>
        </p:nvSpPr>
        <p:spPr>
          <a:xfrm>
            <a:off x="4270375" y="2379058"/>
            <a:ext cx="301625" cy="369332"/>
          </a:xfrm>
          <a:prstGeom prst="rect">
            <a:avLst/>
          </a:prstGeom>
          <a:noFill/>
        </p:spPr>
        <p:txBody>
          <a:bodyPr wrap="square" rtlCol="0">
            <a:spAutoFit/>
          </a:bodyPr>
          <a:lstStyle/>
          <a:p>
            <a:r>
              <a:rPr lang="en-US" dirty="0"/>
              <a:t>N</a:t>
            </a:r>
          </a:p>
        </p:txBody>
      </p:sp>
    </p:spTree>
    <p:extLst>
      <p:ext uri="{BB962C8B-B14F-4D97-AF65-F5344CB8AC3E}">
        <p14:creationId xmlns:p14="http://schemas.microsoft.com/office/powerpoint/2010/main" val="479521843"/>
      </p:ext>
    </p:extLst>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9373" y="714733"/>
            <a:ext cx="8137105" cy="819980"/>
          </a:xfrm>
        </p:spPr>
        <p:txBody>
          <a:bodyPr>
            <a:noAutofit/>
          </a:bodyPr>
          <a:lstStyle/>
          <a:p>
            <a:r>
              <a:rPr lang="en-US" sz="4400" dirty="0">
                <a:latin typeface="Corbel" panose="020B0503020204020204" pitchFamily="34" charset="0"/>
              </a:rPr>
              <a:t>Recursive Relationship</a:t>
            </a:r>
          </a:p>
        </p:txBody>
      </p:sp>
      <p:sp>
        <p:nvSpPr>
          <p:cNvPr id="3" name="Content Placeholder 2"/>
          <p:cNvSpPr>
            <a:spLocks noGrp="1"/>
          </p:cNvSpPr>
          <p:nvPr>
            <p:ph idx="4294967295"/>
          </p:nvPr>
        </p:nvSpPr>
        <p:spPr>
          <a:xfrm>
            <a:off x="505647" y="1534713"/>
            <a:ext cx="8137105" cy="4905775"/>
          </a:xfrm>
          <a:prstGeom prst="rect">
            <a:avLst/>
          </a:prstGeom>
        </p:spPr>
        <p:txBody>
          <a:bodyPr/>
          <a:lstStyle/>
          <a:p>
            <a:r>
              <a:rPr lang="en-US" sz="2800" dirty="0">
                <a:latin typeface="Corbel" panose="020B0503020204020204" pitchFamily="34" charset="0"/>
              </a:rPr>
              <a:t>Have you formed your project groups</a:t>
            </a:r>
          </a:p>
          <a:p>
            <a:r>
              <a:rPr lang="en-US" sz="2800" dirty="0">
                <a:latin typeface="Corbel" panose="020B0503020204020204" pitchFamily="34" charset="0"/>
              </a:rPr>
              <a:t>What is the structure?</a:t>
            </a:r>
          </a:p>
          <a:p>
            <a:pPr lvl="1"/>
            <a:r>
              <a:rPr lang="en-US" sz="2800" dirty="0">
                <a:latin typeface="Corbel" panose="020B0503020204020204" pitchFamily="34" charset="0"/>
              </a:rPr>
              <a:t>Leader and members</a:t>
            </a:r>
          </a:p>
          <a:p>
            <a:pPr lvl="1"/>
            <a:endParaRPr lang="en-US" sz="2800" dirty="0">
              <a:latin typeface="Corbel" panose="020B0503020204020204" pitchFamily="34" charset="0"/>
            </a:endParaRPr>
          </a:p>
          <a:p>
            <a:pPr lvl="1"/>
            <a:endParaRPr lang="en-US" sz="2800" dirty="0">
              <a:latin typeface="Corbel" panose="020B0503020204020204" pitchFamily="34" charset="0"/>
            </a:endParaRPr>
          </a:p>
          <a:p>
            <a:pPr lvl="1"/>
            <a:endParaRPr lang="en-US" sz="2800" dirty="0">
              <a:latin typeface="Corbel" panose="020B0503020204020204" pitchFamily="34" charset="0"/>
            </a:endParaRPr>
          </a:p>
          <a:p>
            <a:pPr lvl="1"/>
            <a:r>
              <a:rPr lang="en-US" sz="2800" dirty="0">
                <a:latin typeface="Corbel" panose="020B0503020204020204" pitchFamily="34" charset="0"/>
              </a:rPr>
              <a:t>Both leader and members are students</a:t>
            </a:r>
          </a:p>
          <a:p>
            <a:pPr lvl="1"/>
            <a:endParaRPr lang="en-US" dirty="0"/>
          </a:p>
          <a:p>
            <a:pPr lvl="1"/>
            <a:endParaRPr lang="en-US" dirty="0"/>
          </a:p>
        </p:txBody>
      </p:sp>
      <p:grpSp>
        <p:nvGrpSpPr>
          <p:cNvPr id="7" name="Group 6"/>
          <p:cNvGrpSpPr/>
          <p:nvPr/>
        </p:nvGrpSpPr>
        <p:grpSpPr>
          <a:xfrm>
            <a:off x="935596" y="5586511"/>
            <a:ext cx="7272808" cy="936104"/>
            <a:chOff x="1111491" y="4825752"/>
            <a:chExt cx="7272808" cy="936104"/>
          </a:xfrm>
        </p:grpSpPr>
        <p:sp>
          <p:nvSpPr>
            <p:cNvPr id="12" name="TextBox 11"/>
            <p:cNvSpPr txBox="1"/>
            <p:nvPr/>
          </p:nvSpPr>
          <p:spPr>
            <a:xfrm>
              <a:off x="2888196" y="5013176"/>
              <a:ext cx="504056" cy="369332"/>
            </a:xfrm>
            <a:prstGeom prst="rect">
              <a:avLst/>
            </a:prstGeom>
            <a:noFill/>
          </p:spPr>
          <p:txBody>
            <a:bodyPr wrap="square" rtlCol="0">
              <a:spAutoFit/>
            </a:bodyPr>
            <a:lstStyle/>
            <a:p>
              <a:r>
                <a:rPr lang="en-US" dirty="0"/>
                <a:t>1</a:t>
              </a:r>
            </a:p>
          </p:txBody>
        </p:sp>
        <p:grpSp>
          <p:nvGrpSpPr>
            <p:cNvPr id="15" name="Group 14"/>
            <p:cNvGrpSpPr/>
            <p:nvPr/>
          </p:nvGrpSpPr>
          <p:grpSpPr>
            <a:xfrm>
              <a:off x="1111491" y="4825752"/>
              <a:ext cx="7272808" cy="936104"/>
              <a:chOff x="1115616" y="3212976"/>
              <a:chExt cx="7272808" cy="936104"/>
            </a:xfrm>
          </p:grpSpPr>
          <p:sp>
            <p:nvSpPr>
              <p:cNvPr id="16" name="Rectangle 15"/>
              <p:cNvSpPr/>
              <p:nvPr/>
            </p:nvSpPr>
            <p:spPr>
              <a:xfrm>
                <a:off x="1115616" y="3429000"/>
                <a:ext cx="1512168" cy="50405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Student</a:t>
                </a:r>
                <a:r>
                  <a:rPr lang="en-US" dirty="0"/>
                  <a:t> </a:t>
                </a:r>
              </a:p>
            </p:txBody>
          </p:sp>
          <p:sp>
            <p:nvSpPr>
              <p:cNvPr id="17" name="Rectangle 16"/>
              <p:cNvSpPr/>
              <p:nvPr/>
            </p:nvSpPr>
            <p:spPr>
              <a:xfrm>
                <a:off x="6876256" y="3429000"/>
                <a:ext cx="1512168" cy="50405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Student</a:t>
                </a:r>
              </a:p>
            </p:txBody>
          </p:sp>
          <p:sp>
            <p:nvSpPr>
              <p:cNvPr id="18" name="Diamond 17"/>
              <p:cNvSpPr/>
              <p:nvPr/>
            </p:nvSpPr>
            <p:spPr>
              <a:xfrm>
                <a:off x="3851919" y="3212976"/>
                <a:ext cx="1720823" cy="936104"/>
              </a:xfrm>
              <a:prstGeom prst="diamond">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Leads</a:t>
                </a:r>
              </a:p>
            </p:txBody>
          </p:sp>
          <p:cxnSp>
            <p:nvCxnSpPr>
              <p:cNvPr id="19" name="Straight Connector 18"/>
              <p:cNvCxnSpPr>
                <a:endCxn id="18" idx="1"/>
              </p:cNvCxnSpPr>
              <p:nvPr/>
            </p:nvCxnSpPr>
            <p:spPr>
              <a:xfrm>
                <a:off x="2627784" y="3681028"/>
                <a:ext cx="12241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8" idx="3"/>
                <a:endCxn id="17" idx="1"/>
              </p:cNvCxnSpPr>
              <p:nvPr/>
            </p:nvCxnSpPr>
            <p:spPr>
              <a:xfrm>
                <a:off x="5572742" y="3681028"/>
                <a:ext cx="1303514"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770476" y="3311696"/>
                <a:ext cx="504056" cy="369332"/>
              </a:xfrm>
              <a:prstGeom prst="rect">
                <a:avLst/>
              </a:prstGeom>
              <a:noFill/>
            </p:spPr>
            <p:txBody>
              <a:bodyPr wrap="square" rtlCol="0">
                <a:spAutoFit/>
              </a:bodyPr>
              <a:lstStyle/>
              <a:p>
                <a:r>
                  <a:rPr lang="en-US" dirty="0"/>
                  <a:t>N</a:t>
                </a:r>
              </a:p>
            </p:txBody>
          </p:sp>
        </p:grpSp>
      </p:grpSp>
      <p:sp>
        <p:nvSpPr>
          <p:cNvPr id="25" name="TextBox 24"/>
          <p:cNvSpPr txBox="1"/>
          <p:nvPr/>
        </p:nvSpPr>
        <p:spPr>
          <a:xfrm>
            <a:off x="7127447" y="4753270"/>
            <a:ext cx="1152128" cy="1754326"/>
          </a:xfrm>
          <a:prstGeom prst="rect">
            <a:avLst/>
          </a:prstGeom>
          <a:noFill/>
        </p:spPr>
        <p:txBody>
          <a:bodyPr wrap="square" rtlCol="0">
            <a:spAutoFit/>
          </a:bodyPr>
          <a:lstStyle/>
          <a:p>
            <a:r>
              <a:rPr lang="en-US" sz="10800" dirty="0">
                <a:solidFill>
                  <a:srgbClr val="FF0000"/>
                </a:solidFill>
              </a:rPr>
              <a:t>X</a:t>
            </a:r>
          </a:p>
        </p:txBody>
      </p:sp>
      <p:grpSp>
        <p:nvGrpSpPr>
          <p:cNvPr id="27" name="Group 26"/>
          <p:cNvGrpSpPr/>
          <p:nvPr/>
        </p:nvGrpSpPr>
        <p:grpSpPr>
          <a:xfrm>
            <a:off x="1161521" y="3760586"/>
            <a:ext cx="7272808" cy="936104"/>
            <a:chOff x="1115616" y="3212976"/>
            <a:chExt cx="7272808" cy="936104"/>
          </a:xfrm>
        </p:grpSpPr>
        <p:grpSp>
          <p:nvGrpSpPr>
            <p:cNvPr id="14" name="Group 13"/>
            <p:cNvGrpSpPr/>
            <p:nvPr/>
          </p:nvGrpSpPr>
          <p:grpSpPr>
            <a:xfrm>
              <a:off x="1115616" y="3212976"/>
              <a:ext cx="7272808" cy="936104"/>
              <a:chOff x="1115616" y="3212976"/>
              <a:chExt cx="7272808" cy="936104"/>
            </a:xfrm>
          </p:grpSpPr>
          <p:sp>
            <p:nvSpPr>
              <p:cNvPr id="4" name="Rectangle 3"/>
              <p:cNvSpPr/>
              <p:nvPr/>
            </p:nvSpPr>
            <p:spPr>
              <a:xfrm>
                <a:off x="1115616" y="3429000"/>
                <a:ext cx="1512168" cy="50405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Leader</a:t>
                </a:r>
                <a:r>
                  <a:rPr lang="en-US" dirty="0"/>
                  <a:t> </a:t>
                </a:r>
              </a:p>
            </p:txBody>
          </p:sp>
          <p:sp>
            <p:nvSpPr>
              <p:cNvPr id="5" name="Rectangle 4"/>
              <p:cNvSpPr/>
              <p:nvPr/>
            </p:nvSpPr>
            <p:spPr>
              <a:xfrm>
                <a:off x="6876256" y="3429000"/>
                <a:ext cx="1512168" cy="50405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Member</a:t>
                </a:r>
              </a:p>
            </p:txBody>
          </p:sp>
          <p:sp>
            <p:nvSpPr>
              <p:cNvPr id="6" name="Diamond 5"/>
              <p:cNvSpPr/>
              <p:nvPr/>
            </p:nvSpPr>
            <p:spPr>
              <a:xfrm>
                <a:off x="3543081" y="3212976"/>
                <a:ext cx="1785003" cy="936104"/>
              </a:xfrm>
              <a:prstGeom prst="diamond">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Leads</a:t>
                </a:r>
              </a:p>
            </p:txBody>
          </p:sp>
          <p:cxnSp>
            <p:nvCxnSpPr>
              <p:cNvPr id="8" name="Straight Connector 7"/>
              <p:cNvCxnSpPr>
                <a:endCxn id="6" idx="1"/>
              </p:cNvCxnSpPr>
              <p:nvPr/>
            </p:nvCxnSpPr>
            <p:spPr>
              <a:xfrm>
                <a:off x="2627784" y="3681028"/>
                <a:ext cx="91529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endCxn id="5" idx="1"/>
              </p:cNvCxnSpPr>
              <p:nvPr/>
            </p:nvCxnSpPr>
            <p:spPr>
              <a:xfrm>
                <a:off x="5328084" y="3681028"/>
                <a:ext cx="1548172"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770476" y="3311696"/>
                <a:ext cx="504056" cy="369332"/>
              </a:xfrm>
              <a:prstGeom prst="rect">
                <a:avLst/>
              </a:prstGeom>
              <a:noFill/>
            </p:spPr>
            <p:txBody>
              <a:bodyPr wrap="square" rtlCol="0">
                <a:spAutoFit/>
              </a:bodyPr>
              <a:lstStyle/>
              <a:p>
                <a:r>
                  <a:rPr lang="en-US" dirty="0"/>
                  <a:t>N</a:t>
                </a:r>
              </a:p>
            </p:txBody>
          </p:sp>
        </p:grpSp>
        <p:sp>
          <p:nvSpPr>
            <p:cNvPr id="26" name="TextBox 25"/>
            <p:cNvSpPr txBox="1"/>
            <p:nvPr/>
          </p:nvSpPr>
          <p:spPr>
            <a:xfrm>
              <a:off x="3158462" y="3311696"/>
              <a:ext cx="504056" cy="369332"/>
            </a:xfrm>
            <a:prstGeom prst="rect">
              <a:avLst/>
            </a:prstGeom>
            <a:noFill/>
          </p:spPr>
          <p:txBody>
            <a:bodyPr wrap="square" rtlCol="0">
              <a:spAutoFit/>
            </a:bodyPr>
            <a:lstStyle/>
            <a:p>
              <a:r>
                <a:rPr lang="en-US" dirty="0"/>
                <a:t>1</a:t>
              </a:r>
            </a:p>
          </p:txBody>
        </p:sp>
      </p:grpSp>
    </p:spTree>
    <p:extLst>
      <p:ext uri="{BB962C8B-B14F-4D97-AF65-F5344CB8AC3E}">
        <p14:creationId xmlns:p14="http://schemas.microsoft.com/office/powerpoint/2010/main" val="354786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153489" y="914400"/>
            <a:ext cx="6377940" cy="990600"/>
          </a:xfrm>
        </p:spPr>
        <p:txBody>
          <a:bodyPr>
            <a:normAutofit/>
          </a:bodyPr>
          <a:lstStyle/>
          <a:p>
            <a:r>
              <a:rPr lang="en-US" sz="4400" dirty="0">
                <a:ln>
                  <a:noFill/>
                </a:ln>
                <a:latin typeface="Corbel" panose="020B0503020204020204" pitchFamily="34" charset="0"/>
              </a:rPr>
              <a:t>E-R Model (contd.)</a:t>
            </a:r>
          </a:p>
        </p:txBody>
      </p:sp>
      <p:sp>
        <p:nvSpPr>
          <p:cNvPr id="93187" name="Text Box 9"/>
          <p:cNvSpPr txBox="1">
            <a:spLocks noChangeArrowheads="1"/>
          </p:cNvSpPr>
          <p:nvPr/>
        </p:nvSpPr>
        <p:spPr bwMode="auto">
          <a:xfrm>
            <a:off x="3581400" y="5710547"/>
            <a:ext cx="1925638" cy="466725"/>
          </a:xfrm>
          <a:prstGeom prst="rect">
            <a:avLst/>
          </a:prstGeom>
          <a:solidFill>
            <a:srgbClr val="9999FF"/>
          </a:solidFill>
          <a:ln w="9525">
            <a:solidFill>
              <a:schemeClr val="tx1"/>
            </a:solidFill>
            <a:miter lim="800000"/>
            <a:headEnd/>
            <a:tailEnd/>
          </a:ln>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Student</a:t>
            </a:r>
          </a:p>
        </p:txBody>
      </p:sp>
      <p:sp>
        <p:nvSpPr>
          <p:cNvPr id="93188" name="Line 10"/>
          <p:cNvSpPr>
            <a:spLocks noChangeShapeType="1"/>
          </p:cNvSpPr>
          <p:nvPr/>
        </p:nvSpPr>
        <p:spPr bwMode="auto">
          <a:xfrm flipV="1">
            <a:off x="3581400" y="3414866"/>
            <a:ext cx="228600" cy="2286000"/>
          </a:xfrm>
          <a:prstGeom prst="line">
            <a:avLst/>
          </a:prstGeom>
          <a:noFill/>
          <a:ln w="9525">
            <a:solidFill>
              <a:srgbClr val="3333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89" name="Line 11"/>
          <p:cNvSpPr>
            <a:spLocks noChangeShapeType="1"/>
          </p:cNvSpPr>
          <p:nvPr/>
        </p:nvSpPr>
        <p:spPr bwMode="auto">
          <a:xfrm>
            <a:off x="5161724" y="3405185"/>
            <a:ext cx="304800" cy="2286000"/>
          </a:xfrm>
          <a:prstGeom prst="line">
            <a:avLst/>
          </a:prstGeom>
          <a:noFill/>
          <a:ln w="9525">
            <a:solidFill>
              <a:srgbClr val="3333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0" name="Text Box 12"/>
          <p:cNvSpPr txBox="1">
            <a:spLocks noChangeArrowheads="1"/>
          </p:cNvSpPr>
          <p:nvPr/>
        </p:nvSpPr>
        <p:spPr bwMode="auto">
          <a:xfrm>
            <a:off x="1896810" y="4248355"/>
            <a:ext cx="17988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Group leader</a:t>
            </a:r>
          </a:p>
          <a:p>
            <a:pPr eaLnBrk="1" hangingPunct="1"/>
            <a:r>
              <a:rPr lang="en-US" sz="2400" b="0" dirty="0">
                <a:latin typeface="Times New Roman" panose="02020603050405020304" pitchFamily="18" charset="0"/>
              </a:rPr>
              <a:t>             1</a:t>
            </a:r>
          </a:p>
        </p:txBody>
      </p:sp>
      <p:sp>
        <p:nvSpPr>
          <p:cNvPr id="93191" name="Text Box 13"/>
          <p:cNvSpPr txBox="1">
            <a:spLocks noChangeArrowheads="1"/>
          </p:cNvSpPr>
          <p:nvPr/>
        </p:nvSpPr>
        <p:spPr bwMode="auto">
          <a:xfrm>
            <a:off x="5466524" y="4248355"/>
            <a:ext cx="122661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b="0" dirty="0">
                <a:latin typeface="Times New Roman" panose="02020603050405020304" pitchFamily="18" charset="0"/>
              </a:rPr>
              <a:t>Member</a:t>
            </a:r>
          </a:p>
          <a:p>
            <a:pPr eaLnBrk="1" hangingPunct="1"/>
            <a:r>
              <a:rPr lang="en-US" sz="2400" b="0" dirty="0">
                <a:latin typeface="Times New Roman" panose="02020603050405020304" pitchFamily="18" charset="0"/>
              </a:rPr>
              <a:t>   N</a:t>
            </a:r>
          </a:p>
        </p:txBody>
      </p:sp>
      <p:sp>
        <p:nvSpPr>
          <p:cNvPr id="93192" name="AutoShape 9"/>
          <p:cNvSpPr>
            <a:spLocks noChangeArrowheads="1"/>
          </p:cNvSpPr>
          <p:nvPr/>
        </p:nvSpPr>
        <p:spPr bwMode="auto">
          <a:xfrm>
            <a:off x="3810000" y="2891147"/>
            <a:ext cx="1371600" cy="1066800"/>
          </a:xfrm>
          <a:prstGeom prst="diamond">
            <a:avLst/>
          </a:prstGeom>
          <a:solidFill>
            <a:schemeClr val="accent1"/>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leads</a:t>
            </a:r>
          </a:p>
        </p:txBody>
      </p:sp>
      <p:sp>
        <p:nvSpPr>
          <p:cNvPr id="2" name="TextBox 1"/>
          <p:cNvSpPr txBox="1"/>
          <p:nvPr/>
        </p:nvSpPr>
        <p:spPr>
          <a:xfrm>
            <a:off x="533400" y="2051674"/>
            <a:ext cx="8077200" cy="523875"/>
          </a:xfrm>
          <a:prstGeom prst="rect">
            <a:avLst/>
          </a:prstGeom>
          <a:noFill/>
        </p:spPr>
        <p:txBody>
          <a:bodyPr>
            <a:spAutoFit/>
          </a:bodyPr>
          <a:lstStyle/>
          <a:p>
            <a:pPr>
              <a:defRPr/>
            </a:pPr>
            <a:r>
              <a:rPr lang="en-US" sz="2800" dirty="0">
                <a:latin typeface="Corbel" panose="020B0503020204020204" pitchFamily="34" charset="0"/>
              </a:rPr>
              <a:t>Student leads set of students in group assignments. </a:t>
            </a:r>
          </a:p>
        </p:txBody>
      </p:sp>
    </p:spTree>
    <p:extLst>
      <p:ext uri="{BB962C8B-B14F-4D97-AF65-F5344CB8AC3E}">
        <p14:creationId xmlns:p14="http://schemas.microsoft.com/office/powerpoint/2010/main" val="29103436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1077899" y="990600"/>
            <a:ext cx="7200622" cy="914400"/>
          </a:xfrm>
        </p:spPr>
        <p:txBody>
          <a:bodyPr>
            <a:noAutofit/>
          </a:bodyPr>
          <a:lstStyle/>
          <a:p>
            <a:r>
              <a:rPr lang="en-US" sz="4400" dirty="0">
                <a:ln>
                  <a:noFill/>
                </a:ln>
                <a:latin typeface="Corbel" panose="020B0503020204020204" pitchFamily="34" charset="0"/>
              </a:rPr>
              <a:t>Recursive Relationship</a:t>
            </a:r>
          </a:p>
        </p:txBody>
      </p:sp>
      <p:sp>
        <p:nvSpPr>
          <p:cNvPr id="92163" name="Rectangle 3"/>
          <p:cNvSpPr>
            <a:spLocks noGrp="1" noChangeArrowheads="1"/>
          </p:cNvSpPr>
          <p:nvPr>
            <p:ph idx="4294967295"/>
          </p:nvPr>
        </p:nvSpPr>
        <p:spPr>
          <a:xfrm>
            <a:off x="612599" y="2286000"/>
            <a:ext cx="8018697" cy="3733800"/>
          </a:xfrm>
          <a:prstGeom prst="rect">
            <a:avLst/>
          </a:prstGeom>
        </p:spPr>
        <p:txBody>
          <a:bodyPr>
            <a:noAutofit/>
          </a:bodyPr>
          <a:lstStyle/>
          <a:p>
            <a:pPr algn="just"/>
            <a:r>
              <a:rPr lang="en-US" sz="2800" dirty="0">
                <a:latin typeface="Corbel" panose="020B0503020204020204" pitchFamily="34" charset="0"/>
              </a:rPr>
              <a:t>Entities participating in a relationship need not be distinct. Such relationships are called </a:t>
            </a:r>
            <a:r>
              <a:rPr lang="en-US" sz="2800" b="1" dirty="0">
                <a:solidFill>
                  <a:srgbClr val="FF0066"/>
                </a:solidFill>
                <a:latin typeface="Corbel" panose="020B0503020204020204" pitchFamily="34" charset="0"/>
              </a:rPr>
              <a:t>recursive relationships</a:t>
            </a:r>
            <a:r>
              <a:rPr lang="en-US" sz="2800" dirty="0">
                <a:latin typeface="Corbel" panose="020B0503020204020204" pitchFamily="34" charset="0"/>
              </a:rPr>
              <a:t>.</a:t>
            </a:r>
          </a:p>
          <a:p>
            <a:pPr algn="just">
              <a:buFont typeface="Wingdings" panose="05000000000000000000" pitchFamily="2" charset="2"/>
              <a:buNone/>
            </a:pPr>
            <a:endParaRPr lang="en-US" sz="2800" dirty="0">
              <a:latin typeface="Corbel" panose="020B0503020204020204" pitchFamily="34" charset="0"/>
            </a:endParaRPr>
          </a:p>
          <a:p>
            <a:pPr algn="just"/>
            <a:r>
              <a:rPr lang="en-US" sz="2800" dirty="0">
                <a:latin typeface="Corbel" panose="020B0503020204020204" pitchFamily="34" charset="0"/>
              </a:rPr>
              <a:t>Each entity in the relationship play a </a:t>
            </a:r>
            <a:r>
              <a:rPr lang="en-US" sz="2800" b="1" dirty="0">
                <a:solidFill>
                  <a:srgbClr val="FF0066"/>
                </a:solidFill>
                <a:latin typeface="Corbel" panose="020B0503020204020204" pitchFamily="34" charset="0"/>
              </a:rPr>
              <a:t>role</a:t>
            </a:r>
            <a:r>
              <a:rPr lang="en-US" sz="2800" dirty="0">
                <a:latin typeface="Corbel" panose="020B0503020204020204" pitchFamily="34" charset="0"/>
              </a:rPr>
              <a:t> in the relationship. It is recommended to state the role in recursive relationships.</a:t>
            </a:r>
          </a:p>
        </p:txBody>
      </p:sp>
    </p:spTree>
    <p:extLst>
      <p:ext uri="{BB962C8B-B14F-4D97-AF65-F5344CB8AC3E}">
        <p14:creationId xmlns:p14="http://schemas.microsoft.com/office/powerpoint/2010/main" val="27450998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974" y="773710"/>
            <a:ext cx="7809522" cy="1002469"/>
          </a:xfrm>
        </p:spPr>
        <p:txBody>
          <a:bodyPr>
            <a:noAutofit/>
          </a:bodyPr>
          <a:lstStyle/>
          <a:p>
            <a:r>
              <a:rPr lang="en-US" sz="4400" dirty="0">
                <a:latin typeface="Corbel" panose="020B0503020204020204" pitchFamily="34" charset="0"/>
              </a:rPr>
              <a:t>Recursive Relationships</a:t>
            </a:r>
          </a:p>
        </p:txBody>
      </p:sp>
      <p:sp>
        <p:nvSpPr>
          <p:cNvPr id="3" name="Content Placeholder 2"/>
          <p:cNvSpPr>
            <a:spLocks noGrp="1"/>
          </p:cNvSpPr>
          <p:nvPr>
            <p:ph idx="4294967295"/>
          </p:nvPr>
        </p:nvSpPr>
        <p:spPr>
          <a:xfrm>
            <a:off x="358775" y="1779890"/>
            <a:ext cx="8785225" cy="4654248"/>
          </a:xfrm>
          <a:prstGeom prst="rect">
            <a:avLst/>
          </a:prstGeom>
        </p:spPr>
        <p:txBody>
          <a:bodyPr/>
          <a:lstStyle/>
          <a:p>
            <a:r>
              <a:rPr lang="en-US" sz="2400" dirty="0">
                <a:latin typeface="Corbel" panose="020B0503020204020204" pitchFamily="34" charset="0"/>
              </a:rPr>
              <a:t>In most companies, each employee (except the CEO) is supervised by one manager. Of course, not all employees are managers.</a:t>
            </a:r>
          </a:p>
          <a:p>
            <a:pPr marL="0" indent="0">
              <a:buNone/>
            </a:pPr>
            <a:endParaRPr lang="en-US" dirty="0"/>
          </a:p>
        </p:txBody>
      </p:sp>
      <p:grpSp>
        <p:nvGrpSpPr>
          <p:cNvPr id="71" name="Group 70"/>
          <p:cNvGrpSpPr/>
          <p:nvPr/>
        </p:nvGrpSpPr>
        <p:grpSpPr>
          <a:xfrm>
            <a:off x="57012" y="2938686"/>
            <a:ext cx="8712968" cy="1640350"/>
            <a:chOff x="71500" y="2754216"/>
            <a:chExt cx="8712968" cy="1640350"/>
          </a:xfrm>
        </p:grpSpPr>
        <p:sp>
          <p:nvSpPr>
            <p:cNvPr id="18" name="Oval 17"/>
            <p:cNvSpPr/>
            <p:nvPr/>
          </p:nvSpPr>
          <p:spPr>
            <a:xfrm>
              <a:off x="71500" y="3864125"/>
              <a:ext cx="1152128" cy="31474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salary</a:t>
              </a:r>
            </a:p>
          </p:txBody>
        </p:sp>
        <p:sp>
          <p:nvSpPr>
            <p:cNvPr id="23" name="Oval 22"/>
            <p:cNvSpPr/>
            <p:nvPr/>
          </p:nvSpPr>
          <p:spPr>
            <a:xfrm>
              <a:off x="7632340" y="2754216"/>
              <a:ext cx="1152128" cy="31474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name</a:t>
              </a:r>
            </a:p>
          </p:txBody>
        </p:sp>
        <p:grpSp>
          <p:nvGrpSpPr>
            <p:cNvPr id="4" name="Group 3"/>
            <p:cNvGrpSpPr/>
            <p:nvPr/>
          </p:nvGrpSpPr>
          <p:grpSpPr>
            <a:xfrm>
              <a:off x="935596" y="3068960"/>
              <a:ext cx="7272808" cy="936104"/>
              <a:chOff x="1115616" y="3212976"/>
              <a:chExt cx="7272808" cy="936104"/>
            </a:xfrm>
          </p:grpSpPr>
          <p:grpSp>
            <p:nvGrpSpPr>
              <p:cNvPr id="5" name="Group 4"/>
              <p:cNvGrpSpPr/>
              <p:nvPr/>
            </p:nvGrpSpPr>
            <p:grpSpPr>
              <a:xfrm>
                <a:off x="1115616" y="3212976"/>
                <a:ext cx="7272808" cy="936104"/>
                <a:chOff x="1115616" y="3212976"/>
                <a:chExt cx="7272808" cy="936104"/>
              </a:xfrm>
            </p:grpSpPr>
            <p:sp>
              <p:nvSpPr>
                <p:cNvPr id="7" name="Rectangle 6"/>
                <p:cNvSpPr/>
                <p:nvPr/>
              </p:nvSpPr>
              <p:spPr>
                <a:xfrm>
                  <a:off x="1115616" y="3429000"/>
                  <a:ext cx="1512168" cy="50405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Manager </a:t>
                  </a:r>
                </a:p>
              </p:txBody>
            </p:sp>
            <p:sp>
              <p:nvSpPr>
                <p:cNvPr id="8" name="Rectangle 7"/>
                <p:cNvSpPr/>
                <p:nvPr/>
              </p:nvSpPr>
              <p:spPr>
                <a:xfrm>
                  <a:off x="6876256" y="3429000"/>
                  <a:ext cx="1512168" cy="50405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Employee</a:t>
                  </a:r>
                </a:p>
              </p:txBody>
            </p:sp>
            <p:sp>
              <p:nvSpPr>
                <p:cNvPr id="9" name="Diamond 8"/>
                <p:cNvSpPr/>
                <p:nvPr/>
              </p:nvSpPr>
              <p:spPr>
                <a:xfrm>
                  <a:off x="3851920" y="3212976"/>
                  <a:ext cx="2268252" cy="936104"/>
                </a:xfrm>
                <a:prstGeom prst="diamond">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supervise</a:t>
                  </a:r>
                </a:p>
              </p:txBody>
            </p:sp>
            <p:cxnSp>
              <p:nvCxnSpPr>
                <p:cNvPr id="10" name="Straight Connector 9"/>
                <p:cNvCxnSpPr>
                  <a:endCxn id="9" idx="1"/>
                </p:cNvCxnSpPr>
                <p:nvPr/>
              </p:nvCxnSpPr>
              <p:spPr>
                <a:xfrm>
                  <a:off x="2627784" y="3681028"/>
                  <a:ext cx="12241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a:endCxn id="8" idx="1"/>
                </p:cNvCxnSpPr>
                <p:nvPr/>
              </p:nvCxnSpPr>
              <p:spPr>
                <a:xfrm>
                  <a:off x="6022504" y="3681028"/>
                  <a:ext cx="853752"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770476" y="3311696"/>
                  <a:ext cx="504056" cy="369332"/>
                </a:xfrm>
                <a:prstGeom prst="rect">
                  <a:avLst/>
                </a:prstGeom>
                <a:noFill/>
              </p:spPr>
              <p:txBody>
                <a:bodyPr wrap="square" rtlCol="0">
                  <a:spAutoFit/>
                </a:bodyPr>
                <a:lstStyle/>
                <a:p>
                  <a:r>
                    <a:rPr lang="en-US" dirty="0">
                      <a:solidFill>
                        <a:schemeClr val="bg1"/>
                      </a:solidFill>
                    </a:rPr>
                    <a:t>N</a:t>
                  </a:r>
                </a:p>
              </p:txBody>
            </p:sp>
          </p:grpSp>
          <p:sp>
            <p:nvSpPr>
              <p:cNvPr id="6" name="TextBox 5"/>
              <p:cNvSpPr txBox="1"/>
              <p:nvPr/>
            </p:nvSpPr>
            <p:spPr>
              <a:xfrm>
                <a:off x="3158462" y="3311696"/>
                <a:ext cx="504056" cy="369332"/>
              </a:xfrm>
              <a:prstGeom prst="rect">
                <a:avLst/>
              </a:prstGeom>
              <a:noFill/>
            </p:spPr>
            <p:txBody>
              <a:bodyPr wrap="square" rtlCol="0">
                <a:spAutoFit/>
              </a:bodyPr>
              <a:lstStyle/>
              <a:p>
                <a:r>
                  <a:rPr lang="en-US" dirty="0">
                    <a:solidFill>
                      <a:schemeClr val="bg1"/>
                    </a:solidFill>
                  </a:rPr>
                  <a:t>1</a:t>
                </a:r>
              </a:p>
            </p:txBody>
          </p:sp>
        </p:grpSp>
        <p:sp>
          <p:nvSpPr>
            <p:cNvPr id="15" name="Oval 14"/>
            <p:cNvSpPr/>
            <p:nvPr/>
          </p:nvSpPr>
          <p:spPr>
            <a:xfrm>
              <a:off x="539552" y="2852936"/>
              <a:ext cx="1152128" cy="31474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bg1"/>
                  </a:solidFill>
                </a:rPr>
                <a:t>eno</a:t>
              </a:r>
              <a:endParaRPr lang="en-US" u="sng" dirty="0">
                <a:solidFill>
                  <a:schemeClr val="bg1"/>
                </a:solidFill>
              </a:endParaRPr>
            </a:p>
          </p:txBody>
        </p:sp>
        <p:sp>
          <p:nvSpPr>
            <p:cNvPr id="16" name="Oval 15"/>
            <p:cNvSpPr/>
            <p:nvPr/>
          </p:nvSpPr>
          <p:spPr>
            <a:xfrm>
              <a:off x="1479965" y="4042302"/>
              <a:ext cx="1440160" cy="35226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Job tittle</a:t>
              </a:r>
            </a:p>
          </p:txBody>
        </p:sp>
        <p:sp>
          <p:nvSpPr>
            <p:cNvPr id="19" name="Oval 18"/>
            <p:cNvSpPr/>
            <p:nvPr/>
          </p:nvSpPr>
          <p:spPr>
            <a:xfrm>
              <a:off x="1907704" y="2785574"/>
              <a:ext cx="1152128" cy="31474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name</a:t>
              </a:r>
            </a:p>
          </p:txBody>
        </p:sp>
        <p:sp>
          <p:nvSpPr>
            <p:cNvPr id="20" name="Oval 19"/>
            <p:cNvSpPr/>
            <p:nvPr/>
          </p:nvSpPr>
          <p:spPr>
            <a:xfrm>
              <a:off x="6264188" y="2821578"/>
              <a:ext cx="1152128" cy="31474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bg1"/>
                  </a:solidFill>
                </a:rPr>
                <a:t>eno</a:t>
              </a:r>
              <a:endParaRPr lang="en-US" u="sng" dirty="0">
                <a:solidFill>
                  <a:schemeClr val="bg1"/>
                </a:solidFill>
              </a:endParaRPr>
            </a:p>
          </p:txBody>
        </p:sp>
        <p:sp>
          <p:nvSpPr>
            <p:cNvPr id="21" name="Oval 20"/>
            <p:cNvSpPr/>
            <p:nvPr/>
          </p:nvSpPr>
          <p:spPr>
            <a:xfrm>
              <a:off x="7204601" y="4010944"/>
              <a:ext cx="1440160" cy="35226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Job tittle</a:t>
              </a:r>
            </a:p>
          </p:txBody>
        </p:sp>
        <p:sp>
          <p:nvSpPr>
            <p:cNvPr id="22" name="Oval 21"/>
            <p:cNvSpPr/>
            <p:nvPr/>
          </p:nvSpPr>
          <p:spPr>
            <a:xfrm>
              <a:off x="5796136" y="3832767"/>
              <a:ext cx="1152128" cy="31474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salary</a:t>
              </a:r>
            </a:p>
          </p:txBody>
        </p:sp>
        <p:cxnSp>
          <p:nvCxnSpPr>
            <p:cNvPr id="25" name="Straight Connector 24"/>
            <p:cNvCxnSpPr>
              <a:stCxn id="15" idx="4"/>
              <a:endCxn id="7" idx="0"/>
            </p:cNvCxnSpPr>
            <p:nvPr/>
          </p:nvCxnSpPr>
          <p:spPr>
            <a:xfrm>
              <a:off x="1115616" y="3167680"/>
              <a:ext cx="576064" cy="1173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19" idx="4"/>
            </p:cNvCxnSpPr>
            <p:nvPr/>
          </p:nvCxnSpPr>
          <p:spPr>
            <a:xfrm flipH="1">
              <a:off x="2254433" y="3100318"/>
              <a:ext cx="229335" cy="184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8" idx="0"/>
              <a:endCxn id="7" idx="1"/>
            </p:cNvCxnSpPr>
            <p:nvPr/>
          </p:nvCxnSpPr>
          <p:spPr>
            <a:xfrm flipV="1">
              <a:off x="647564" y="3537012"/>
              <a:ext cx="288032" cy="327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6" idx="0"/>
              <a:endCxn id="7" idx="2"/>
            </p:cNvCxnSpPr>
            <p:nvPr/>
          </p:nvCxnSpPr>
          <p:spPr>
            <a:xfrm flipH="1" flipV="1">
              <a:off x="1691680" y="3789040"/>
              <a:ext cx="508365" cy="253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0" idx="4"/>
              <a:endCxn id="8" idx="0"/>
            </p:cNvCxnSpPr>
            <p:nvPr/>
          </p:nvCxnSpPr>
          <p:spPr>
            <a:xfrm>
              <a:off x="6840252" y="3136322"/>
              <a:ext cx="612068" cy="148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23" idx="4"/>
              <a:endCxn id="8" idx="0"/>
            </p:cNvCxnSpPr>
            <p:nvPr/>
          </p:nvCxnSpPr>
          <p:spPr>
            <a:xfrm flipH="1">
              <a:off x="7452320" y="3068960"/>
              <a:ext cx="756084"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1" idx="0"/>
              <a:endCxn id="8" idx="2"/>
            </p:cNvCxnSpPr>
            <p:nvPr/>
          </p:nvCxnSpPr>
          <p:spPr>
            <a:xfrm flipH="1" flipV="1">
              <a:off x="7452320" y="3789040"/>
              <a:ext cx="472361" cy="2219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2" idx="7"/>
              <a:endCxn id="8" idx="2"/>
            </p:cNvCxnSpPr>
            <p:nvPr/>
          </p:nvCxnSpPr>
          <p:spPr>
            <a:xfrm flipV="1">
              <a:off x="6779539" y="3789040"/>
              <a:ext cx="672781" cy="8982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1" name="TextBox 40"/>
          <p:cNvSpPr txBox="1"/>
          <p:nvPr/>
        </p:nvSpPr>
        <p:spPr>
          <a:xfrm>
            <a:off x="4430062" y="3069479"/>
            <a:ext cx="1152128" cy="1754326"/>
          </a:xfrm>
          <a:prstGeom prst="rect">
            <a:avLst/>
          </a:prstGeom>
          <a:noFill/>
        </p:spPr>
        <p:txBody>
          <a:bodyPr wrap="square" rtlCol="0">
            <a:spAutoFit/>
          </a:bodyPr>
          <a:lstStyle/>
          <a:p>
            <a:r>
              <a:rPr lang="en-US" sz="10800" dirty="0">
                <a:solidFill>
                  <a:srgbClr val="FF0000"/>
                </a:solidFill>
              </a:rPr>
              <a:t>X</a:t>
            </a:r>
          </a:p>
        </p:txBody>
      </p:sp>
      <p:grpSp>
        <p:nvGrpSpPr>
          <p:cNvPr id="73" name="Group 72"/>
          <p:cNvGrpSpPr/>
          <p:nvPr/>
        </p:nvGrpSpPr>
        <p:grpSpPr>
          <a:xfrm>
            <a:off x="1117955" y="5054774"/>
            <a:ext cx="6086646" cy="1608992"/>
            <a:chOff x="356751" y="4670488"/>
            <a:chExt cx="6086646" cy="1608992"/>
          </a:xfrm>
        </p:grpSpPr>
        <p:grpSp>
          <p:nvGrpSpPr>
            <p:cNvPr id="72" name="Group 71"/>
            <p:cNvGrpSpPr/>
            <p:nvPr/>
          </p:nvGrpSpPr>
          <p:grpSpPr>
            <a:xfrm>
              <a:off x="356751" y="4670488"/>
              <a:ext cx="6086646" cy="1608992"/>
              <a:chOff x="356751" y="4670488"/>
              <a:chExt cx="6086646" cy="1608992"/>
            </a:xfrm>
          </p:grpSpPr>
          <p:grpSp>
            <p:nvGrpSpPr>
              <p:cNvPr id="42" name="Group 41"/>
              <p:cNvGrpSpPr/>
              <p:nvPr/>
            </p:nvGrpSpPr>
            <p:grpSpPr>
              <a:xfrm>
                <a:off x="1042797" y="4670488"/>
                <a:ext cx="5400600" cy="1608992"/>
                <a:chOff x="539552" y="2785574"/>
                <a:chExt cx="5400600" cy="1608992"/>
              </a:xfrm>
            </p:grpSpPr>
            <p:grpSp>
              <p:nvGrpSpPr>
                <p:cNvPr id="43" name="Group 42"/>
                <p:cNvGrpSpPr/>
                <p:nvPr/>
              </p:nvGrpSpPr>
              <p:grpSpPr>
                <a:xfrm>
                  <a:off x="935596" y="2915652"/>
                  <a:ext cx="5004556" cy="1350732"/>
                  <a:chOff x="1115616" y="3059668"/>
                  <a:chExt cx="5004556" cy="1350732"/>
                </a:xfrm>
              </p:grpSpPr>
              <p:grpSp>
                <p:nvGrpSpPr>
                  <p:cNvPr id="58" name="Group 57"/>
                  <p:cNvGrpSpPr/>
                  <p:nvPr/>
                </p:nvGrpSpPr>
                <p:grpSpPr>
                  <a:xfrm>
                    <a:off x="1115616" y="3212976"/>
                    <a:ext cx="5004556" cy="1197424"/>
                    <a:chOff x="1115616" y="3212976"/>
                    <a:chExt cx="5004556" cy="1197424"/>
                  </a:xfrm>
                </p:grpSpPr>
                <p:sp>
                  <p:nvSpPr>
                    <p:cNvPr id="60" name="Rectangle 59"/>
                    <p:cNvSpPr/>
                    <p:nvPr/>
                  </p:nvSpPr>
                  <p:spPr>
                    <a:xfrm>
                      <a:off x="1115616" y="3429000"/>
                      <a:ext cx="1512168" cy="50405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Employee</a:t>
                      </a:r>
                      <a:r>
                        <a:rPr lang="en-US" dirty="0">
                          <a:solidFill>
                            <a:schemeClr val="tx1"/>
                          </a:solidFill>
                        </a:rPr>
                        <a:t> </a:t>
                      </a:r>
                      <a:endParaRPr lang="en-US" dirty="0"/>
                    </a:p>
                  </p:txBody>
                </p:sp>
                <p:sp>
                  <p:nvSpPr>
                    <p:cNvPr id="62" name="Diamond 61"/>
                    <p:cNvSpPr/>
                    <p:nvPr/>
                  </p:nvSpPr>
                  <p:spPr>
                    <a:xfrm>
                      <a:off x="3851920" y="3212976"/>
                      <a:ext cx="2268252" cy="936104"/>
                    </a:xfrm>
                    <a:prstGeom prst="diamond">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supervise</a:t>
                      </a:r>
                    </a:p>
                  </p:txBody>
                </p:sp>
                <p:cxnSp>
                  <p:nvCxnSpPr>
                    <p:cNvPr id="63" name="Straight Connector 62"/>
                    <p:cNvCxnSpPr>
                      <a:endCxn id="62" idx="0"/>
                    </p:cNvCxnSpPr>
                    <p:nvPr/>
                  </p:nvCxnSpPr>
                  <p:spPr>
                    <a:xfrm flipV="1">
                      <a:off x="2663788" y="3212976"/>
                      <a:ext cx="2322258" cy="1882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a:endCxn id="62" idx="2"/>
                    </p:cNvCxnSpPr>
                    <p:nvPr/>
                  </p:nvCxnSpPr>
                  <p:spPr>
                    <a:xfrm>
                      <a:off x="2624419" y="3933056"/>
                      <a:ext cx="2361627" cy="216024"/>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3352173" y="4041068"/>
                      <a:ext cx="504056" cy="369332"/>
                    </a:xfrm>
                    <a:prstGeom prst="rect">
                      <a:avLst/>
                    </a:prstGeom>
                    <a:noFill/>
                  </p:spPr>
                  <p:txBody>
                    <a:bodyPr wrap="square" rtlCol="0">
                      <a:spAutoFit/>
                    </a:bodyPr>
                    <a:lstStyle/>
                    <a:p>
                      <a:r>
                        <a:rPr lang="en-US" dirty="0"/>
                        <a:t>N</a:t>
                      </a:r>
                    </a:p>
                  </p:txBody>
                </p:sp>
              </p:grpSp>
              <p:sp>
                <p:nvSpPr>
                  <p:cNvPr id="59" name="TextBox 58"/>
                  <p:cNvSpPr txBox="1"/>
                  <p:nvPr/>
                </p:nvSpPr>
                <p:spPr>
                  <a:xfrm>
                    <a:off x="3329067" y="3059668"/>
                    <a:ext cx="504056" cy="369332"/>
                  </a:xfrm>
                  <a:prstGeom prst="rect">
                    <a:avLst/>
                  </a:prstGeom>
                  <a:noFill/>
                </p:spPr>
                <p:txBody>
                  <a:bodyPr wrap="square" rtlCol="0">
                    <a:spAutoFit/>
                  </a:bodyPr>
                  <a:lstStyle/>
                  <a:p>
                    <a:r>
                      <a:rPr lang="en-US" dirty="0"/>
                      <a:t>1</a:t>
                    </a:r>
                  </a:p>
                </p:txBody>
              </p:sp>
            </p:grpSp>
            <p:sp>
              <p:nvSpPr>
                <p:cNvPr id="44" name="Oval 43"/>
                <p:cNvSpPr/>
                <p:nvPr/>
              </p:nvSpPr>
              <p:spPr>
                <a:xfrm>
                  <a:off x="539552" y="2852936"/>
                  <a:ext cx="1152128" cy="31474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bg1"/>
                      </a:solidFill>
                    </a:rPr>
                    <a:t>eno</a:t>
                  </a:r>
                  <a:endParaRPr lang="en-US" u="sng" dirty="0">
                    <a:solidFill>
                      <a:schemeClr val="bg1"/>
                    </a:solidFill>
                  </a:endParaRPr>
                </a:p>
              </p:txBody>
            </p:sp>
            <p:sp>
              <p:nvSpPr>
                <p:cNvPr id="45" name="Oval 44"/>
                <p:cNvSpPr/>
                <p:nvPr/>
              </p:nvSpPr>
              <p:spPr>
                <a:xfrm>
                  <a:off x="1479965" y="4042302"/>
                  <a:ext cx="1440160" cy="35226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Job tittle</a:t>
                  </a:r>
                </a:p>
              </p:txBody>
            </p:sp>
            <p:sp>
              <p:nvSpPr>
                <p:cNvPr id="46" name="Oval 45"/>
                <p:cNvSpPr/>
                <p:nvPr/>
              </p:nvSpPr>
              <p:spPr>
                <a:xfrm>
                  <a:off x="1907704" y="2785574"/>
                  <a:ext cx="1152128" cy="31474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name</a:t>
                  </a:r>
                </a:p>
              </p:txBody>
            </p:sp>
            <p:cxnSp>
              <p:nvCxnSpPr>
                <p:cNvPr id="50" name="Straight Connector 49"/>
                <p:cNvCxnSpPr>
                  <a:stCxn id="44" idx="4"/>
                  <a:endCxn id="60" idx="0"/>
                </p:cNvCxnSpPr>
                <p:nvPr/>
              </p:nvCxnSpPr>
              <p:spPr>
                <a:xfrm>
                  <a:off x="1115616" y="3167680"/>
                  <a:ext cx="576064" cy="117304"/>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6" idx="4"/>
                </p:cNvCxnSpPr>
                <p:nvPr/>
              </p:nvCxnSpPr>
              <p:spPr>
                <a:xfrm flipH="1">
                  <a:off x="2254433" y="3100318"/>
                  <a:ext cx="229335" cy="184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endCxn id="60" idx="1"/>
                </p:cNvCxnSpPr>
                <p:nvPr/>
              </p:nvCxnSpPr>
              <p:spPr>
                <a:xfrm flipV="1">
                  <a:off x="647564" y="3537012"/>
                  <a:ext cx="288032" cy="327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5" idx="0"/>
                  <a:endCxn id="60" idx="2"/>
                </p:cNvCxnSpPr>
                <p:nvPr/>
              </p:nvCxnSpPr>
              <p:spPr>
                <a:xfrm flipH="1" flipV="1">
                  <a:off x="1691680" y="3789040"/>
                  <a:ext cx="508365" cy="2532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68" name="Oval 67"/>
              <p:cNvSpPr/>
              <p:nvPr/>
            </p:nvSpPr>
            <p:spPr>
              <a:xfrm>
                <a:off x="356751" y="5738819"/>
                <a:ext cx="1152128" cy="314744"/>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salary</a:t>
                </a:r>
              </a:p>
            </p:txBody>
          </p:sp>
        </p:grpSp>
        <p:sp>
          <p:nvSpPr>
            <p:cNvPr id="69" name="TextBox 68"/>
            <p:cNvSpPr txBox="1"/>
            <p:nvPr/>
          </p:nvSpPr>
          <p:spPr>
            <a:xfrm>
              <a:off x="3977528" y="4720377"/>
              <a:ext cx="1728192" cy="369332"/>
            </a:xfrm>
            <a:prstGeom prst="rect">
              <a:avLst/>
            </a:prstGeom>
            <a:noFill/>
          </p:spPr>
          <p:txBody>
            <a:bodyPr wrap="square" rtlCol="0">
              <a:spAutoFit/>
            </a:bodyPr>
            <a:lstStyle/>
            <a:p>
              <a:r>
                <a:rPr lang="en-US" dirty="0"/>
                <a:t>Manager</a:t>
              </a:r>
            </a:p>
          </p:txBody>
        </p:sp>
        <p:sp>
          <p:nvSpPr>
            <p:cNvPr id="70" name="TextBox 69"/>
            <p:cNvSpPr txBox="1"/>
            <p:nvPr/>
          </p:nvSpPr>
          <p:spPr>
            <a:xfrm>
              <a:off x="3930791" y="5701706"/>
              <a:ext cx="1714027" cy="369332"/>
            </a:xfrm>
            <a:prstGeom prst="rect">
              <a:avLst/>
            </a:prstGeom>
            <a:noFill/>
          </p:spPr>
          <p:txBody>
            <a:bodyPr wrap="square" rtlCol="0">
              <a:spAutoFit/>
            </a:bodyPr>
            <a:lstStyle/>
            <a:p>
              <a:r>
                <a:rPr lang="en-US" dirty="0"/>
                <a:t>Subordinates</a:t>
              </a:r>
            </a:p>
          </p:txBody>
        </p:sp>
      </p:grpSp>
    </p:spTree>
    <p:extLst>
      <p:ext uri="{BB962C8B-B14F-4D97-AF65-F5344CB8AC3E}">
        <p14:creationId xmlns:p14="http://schemas.microsoft.com/office/powerpoint/2010/main" val="224563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1214778" y="457200"/>
            <a:ext cx="6377940" cy="1024468"/>
          </a:xfrm>
        </p:spPr>
        <p:txBody>
          <a:bodyPr>
            <a:normAutofit/>
          </a:bodyPr>
          <a:lstStyle/>
          <a:p>
            <a:r>
              <a:rPr lang="en-US" sz="4400" dirty="0">
                <a:ln>
                  <a:noFill/>
                </a:ln>
                <a:latin typeface="Corbel" panose="020B0503020204020204" pitchFamily="34" charset="0"/>
              </a:rPr>
              <a:t>Your Turn !</a:t>
            </a:r>
          </a:p>
        </p:txBody>
      </p:sp>
      <p:sp>
        <p:nvSpPr>
          <p:cNvPr id="94211" name="Rectangle 3"/>
          <p:cNvSpPr>
            <a:spLocks noGrp="1" noChangeArrowheads="1"/>
          </p:cNvSpPr>
          <p:nvPr>
            <p:ph idx="4294967295"/>
          </p:nvPr>
        </p:nvSpPr>
        <p:spPr>
          <a:xfrm>
            <a:off x="641350" y="1628775"/>
            <a:ext cx="8060502" cy="4113213"/>
          </a:xfrm>
          <a:prstGeom prst="rect">
            <a:avLst/>
          </a:prstGeom>
        </p:spPr>
        <p:txBody>
          <a:bodyPr>
            <a:normAutofit lnSpcReduction="10000"/>
          </a:bodyPr>
          <a:lstStyle/>
          <a:p>
            <a:pPr algn="just">
              <a:lnSpc>
                <a:spcPct val="90000"/>
              </a:lnSpc>
            </a:pPr>
            <a:r>
              <a:rPr lang="en-US" sz="2800" dirty="0">
                <a:latin typeface="Corbel" panose="020B0503020204020204" pitchFamily="34" charset="0"/>
              </a:rPr>
              <a:t>Draw an ER diagram for the following requirements.</a:t>
            </a:r>
          </a:p>
          <a:p>
            <a:pPr algn="just">
              <a:lnSpc>
                <a:spcPct val="90000"/>
              </a:lnSpc>
            </a:pPr>
            <a:endParaRPr lang="en-US" sz="2800" dirty="0">
              <a:latin typeface="Corbel" panose="020B0503020204020204" pitchFamily="34" charset="0"/>
            </a:endParaRPr>
          </a:p>
          <a:p>
            <a:pPr algn="just">
              <a:lnSpc>
                <a:spcPct val="90000"/>
              </a:lnSpc>
            </a:pPr>
            <a:r>
              <a:rPr lang="en-US" sz="2800" dirty="0">
                <a:latin typeface="Corbel" panose="020B0503020204020204" pitchFamily="34" charset="0"/>
              </a:rPr>
              <a:t>A company database needs to store information about employees (identified by NIC, salary, position, phone, office); </a:t>
            </a:r>
          </a:p>
          <a:p>
            <a:pPr algn="just">
              <a:lnSpc>
                <a:spcPct val="90000"/>
              </a:lnSpc>
            </a:pPr>
            <a:r>
              <a:rPr lang="en-US" sz="2800" dirty="0">
                <a:solidFill>
                  <a:srgbClr val="008000"/>
                </a:solidFill>
                <a:latin typeface="Corbel" panose="020B0503020204020204" pitchFamily="34" charset="0"/>
              </a:rPr>
              <a:t>departments (identified by </a:t>
            </a:r>
            <a:r>
              <a:rPr lang="en-US" sz="2800" dirty="0" err="1">
                <a:solidFill>
                  <a:srgbClr val="008000"/>
                </a:solidFill>
                <a:latin typeface="Corbel" panose="020B0503020204020204" pitchFamily="34" charset="0"/>
              </a:rPr>
              <a:t>dno</a:t>
            </a:r>
            <a:r>
              <a:rPr lang="en-US" sz="2800" dirty="0">
                <a:solidFill>
                  <a:srgbClr val="008000"/>
                </a:solidFill>
                <a:latin typeface="Corbel" panose="020B0503020204020204" pitchFamily="34" charset="0"/>
              </a:rPr>
              <a:t>, with department name and annual budget); </a:t>
            </a:r>
          </a:p>
          <a:p>
            <a:pPr algn="just">
              <a:lnSpc>
                <a:spcPct val="90000"/>
              </a:lnSpc>
            </a:pPr>
            <a:r>
              <a:rPr lang="en-US" sz="2800" dirty="0">
                <a:solidFill>
                  <a:srgbClr val="008000"/>
                </a:solidFill>
                <a:latin typeface="Corbel" panose="020B0503020204020204" pitchFamily="34" charset="0"/>
              </a:rPr>
              <a:t>children of employees (with name, and age as attributes). </a:t>
            </a:r>
          </a:p>
          <a:p>
            <a:pPr>
              <a:lnSpc>
                <a:spcPct val="90000"/>
              </a:lnSpc>
            </a:pPr>
            <a:endParaRPr lang="en-US" sz="2600" dirty="0">
              <a:solidFill>
                <a:srgbClr val="008000"/>
              </a:solidFill>
            </a:endParaRPr>
          </a:p>
        </p:txBody>
      </p:sp>
    </p:spTree>
    <p:extLst>
      <p:ext uri="{BB962C8B-B14F-4D97-AF65-F5344CB8AC3E}">
        <p14:creationId xmlns:p14="http://schemas.microsoft.com/office/powerpoint/2010/main" val="5555372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idx="4294967295"/>
          </p:nvPr>
        </p:nvSpPr>
        <p:spPr>
          <a:xfrm>
            <a:off x="439393" y="1523999"/>
            <a:ext cx="8351837" cy="3581401"/>
          </a:xfrm>
          <a:prstGeom prst="rect">
            <a:avLst/>
          </a:prstGeom>
        </p:spPr>
        <p:txBody>
          <a:bodyPr>
            <a:normAutofit fontScale="92500" lnSpcReduction="10000"/>
          </a:bodyPr>
          <a:lstStyle/>
          <a:p>
            <a:pPr marL="0" indent="0" algn="just">
              <a:lnSpc>
                <a:spcPct val="150000"/>
              </a:lnSpc>
              <a:buNone/>
            </a:pPr>
            <a:r>
              <a:rPr lang="en-US" sz="2800" dirty="0">
                <a:latin typeface="Corbel" panose="020B0503020204020204" pitchFamily="34" charset="0"/>
              </a:rPr>
              <a:t>Employees work in departments; each department is managed by an employee; a child must be identified uniquely by name when the parent (who is an employee; assume that only parent works for the company) is known. We are not interested about a child once the parent leaves the company. </a:t>
            </a:r>
          </a:p>
          <a:p>
            <a:endParaRPr lang="en-US" dirty="0"/>
          </a:p>
        </p:txBody>
      </p:sp>
    </p:spTree>
    <p:extLst>
      <p:ext uri="{BB962C8B-B14F-4D97-AF65-F5344CB8AC3E}">
        <p14:creationId xmlns:p14="http://schemas.microsoft.com/office/powerpoint/2010/main" val="33604431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76389" y="990600"/>
            <a:ext cx="9464405" cy="707092"/>
          </a:xfrm>
        </p:spPr>
        <p:txBody>
          <a:bodyPr>
            <a:noAutofit/>
          </a:bodyPr>
          <a:lstStyle/>
          <a:p>
            <a:r>
              <a:rPr lang="en-GB" sz="4400" dirty="0">
                <a:ln>
                  <a:noFill/>
                </a:ln>
                <a:latin typeface="Corbel" panose="020B0503020204020204" pitchFamily="34" charset="0"/>
              </a:rPr>
              <a:t>Alternate Notation – Min: Max</a:t>
            </a:r>
          </a:p>
        </p:txBody>
      </p:sp>
      <p:sp>
        <p:nvSpPr>
          <p:cNvPr id="96259" name="Rectangle 3"/>
          <p:cNvSpPr>
            <a:spLocks noGrp="1" noChangeArrowheads="1"/>
          </p:cNvSpPr>
          <p:nvPr>
            <p:ph idx="4294967295"/>
          </p:nvPr>
        </p:nvSpPr>
        <p:spPr>
          <a:xfrm>
            <a:off x="305739" y="1697692"/>
            <a:ext cx="8708907" cy="4764561"/>
          </a:xfrm>
          <a:prstGeom prst="rect">
            <a:avLst/>
          </a:prstGeom>
        </p:spPr>
        <p:txBody>
          <a:bodyPr>
            <a:normAutofit fontScale="85000" lnSpcReduction="20000"/>
          </a:bodyPr>
          <a:lstStyle/>
          <a:p>
            <a:pPr>
              <a:lnSpc>
                <a:spcPct val="90000"/>
              </a:lnSpc>
            </a:pPr>
            <a:endParaRPr lang="en-GB" sz="2100" dirty="0"/>
          </a:p>
          <a:p>
            <a:pPr algn="just">
              <a:lnSpc>
                <a:spcPct val="90000"/>
              </a:lnSpc>
            </a:pPr>
            <a:r>
              <a:rPr lang="en-GB" sz="3000" dirty="0">
                <a:latin typeface="Corbel" panose="020B0503020204020204" pitchFamily="34" charset="0"/>
              </a:rPr>
              <a:t>Used to specify the </a:t>
            </a:r>
            <a:r>
              <a:rPr lang="en-GB" sz="3000" dirty="0">
                <a:solidFill>
                  <a:srgbClr val="FF6600"/>
                </a:solidFill>
                <a:latin typeface="Corbel" panose="020B0503020204020204" pitchFamily="34" charset="0"/>
              </a:rPr>
              <a:t>number of possible occurrences</a:t>
            </a:r>
            <a:r>
              <a:rPr lang="en-GB" sz="3000" dirty="0">
                <a:latin typeface="Corbel" panose="020B0503020204020204" pitchFamily="34" charset="0"/>
              </a:rPr>
              <a:t> of each participating entity type in a relationship.</a:t>
            </a:r>
          </a:p>
          <a:p>
            <a:pPr algn="just">
              <a:lnSpc>
                <a:spcPct val="90000"/>
              </a:lnSpc>
            </a:pPr>
            <a:endParaRPr lang="en-GB" sz="3000" dirty="0">
              <a:latin typeface="Corbel" panose="020B0503020204020204" pitchFamily="34" charset="0"/>
            </a:endParaRPr>
          </a:p>
          <a:p>
            <a:pPr algn="just">
              <a:lnSpc>
                <a:spcPct val="90000"/>
              </a:lnSpc>
            </a:pPr>
            <a:r>
              <a:rPr lang="en-GB" sz="3000" dirty="0">
                <a:latin typeface="Corbel" panose="020B0503020204020204" pitchFamily="34" charset="0"/>
              </a:rPr>
              <a:t>Contains two parts</a:t>
            </a:r>
          </a:p>
          <a:p>
            <a:pPr lvl="1" algn="just">
              <a:lnSpc>
                <a:spcPct val="90000"/>
              </a:lnSpc>
            </a:pPr>
            <a:r>
              <a:rPr lang="en-GB" sz="3000" dirty="0">
                <a:latin typeface="Corbel" panose="020B0503020204020204" pitchFamily="34" charset="0"/>
              </a:rPr>
              <a:t>Min</a:t>
            </a:r>
          </a:p>
          <a:p>
            <a:pPr lvl="1" algn="just">
              <a:lnSpc>
                <a:spcPct val="90000"/>
              </a:lnSpc>
            </a:pPr>
            <a:r>
              <a:rPr lang="en-GB" sz="3000" dirty="0">
                <a:latin typeface="Corbel" panose="020B0503020204020204" pitchFamily="34" charset="0"/>
              </a:rPr>
              <a:t>Max </a:t>
            </a:r>
          </a:p>
          <a:p>
            <a:pPr lvl="1" algn="just">
              <a:lnSpc>
                <a:spcPct val="90000"/>
              </a:lnSpc>
            </a:pPr>
            <a:r>
              <a:rPr lang="en-GB" sz="3000" dirty="0">
                <a:latin typeface="Corbel" panose="020B0503020204020204" pitchFamily="34" charset="0"/>
              </a:rPr>
              <a:t>For example, (0,1) </a:t>
            </a:r>
          </a:p>
          <a:p>
            <a:pPr lvl="2" algn="just">
              <a:lnSpc>
                <a:spcPct val="90000"/>
              </a:lnSpc>
            </a:pPr>
            <a:r>
              <a:rPr lang="en-GB" sz="3000" dirty="0">
                <a:latin typeface="Corbel" panose="020B0503020204020204" pitchFamily="34" charset="0"/>
              </a:rPr>
              <a:t>Min = 0</a:t>
            </a:r>
          </a:p>
          <a:p>
            <a:pPr lvl="2" algn="just">
              <a:lnSpc>
                <a:spcPct val="90000"/>
              </a:lnSpc>
            </a:pPr>
            <a:r>
              <a:rPr lang="en-GB" sz="3000" dirty="0">
                <a:latin typeface="Corbel" panose="020B0503020204020204" pitchFamily="34" charset="0"/>
              </a:rPr>
              <a:t>Max = 1</a:t>
            </a:r>
          </a:p>
          <a:p>
            <a:pPr lvl="2" algn="just">
              <a:lnSpc>
                <a:spcPct val="90000"/>
              </a:lnSpc>
              <a:buFont typeface="Wingdings" panose="05000000000000000000" pitchFamily="2" charset="2"/>
              <a:buNone/>
            </a:pPr>
            <a:endParaRPr lang="en-GB" sz="3000" dirty="0">
              <a:latin typeface="Corbel" panose="020B0503020204020204" pitchFamily="34" charset="0"/>
            </a:endParaRPr>
          </a:p>
          <a:p>
            <a:pPr algn="just">
              <a:lnSpc>
                <a:spcPct val="90000"/>
              </a:lnSpc>
            </a:pPr>
            <a:r>
              <a:rPr lang="en-GB" sz="3000" dirty="0">
                <a:solidFill>
                  <a:srgbClr val="FF0066"/>
                </a:solidFill>
                <a:latin typeface="Corbel" panose="020B0503020204020204" pitchFamily="34" charset="0"/>
              </a:rPr>
              <a:t>Max of a multiplicity range denotes Cardinality</a:t>
            </a:r>
          </a:p>
          <a:p>
            <a:pPr algn="just">
              <a:lnSpc>
                <a:spcPct val="90000"/>
              </a:lnSpc>
            </a:pPr>
            <a:r>
              <a:rPr lang="en-GB" sz="3000" dirty="0">
                <a:solidFill>
                  <a:srgbClr val="008000"/>
                </a:solidFill>
                <a:latin typeface="Corbel" panose="020B0503020204020204" pitchFamily="34" charset="0"/>
              </a:rPr>
              <a:t>Min of the  range denotes Participation constraint</a:t>
            </a:r>
          </a:p>
        </p:txBody>
      </p:sp>
    </p:spTree>
    <p:extLst>
      <p:ext uri="{BB962C8B-B14F-4D97-AF65-F5344CB8AC3E}">
        <p14:creationId xmlns:p14="http://schemas.microsoft.com/office/powerpoint/2010/main" val="19244092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ChangeArrowheads="1"/>
          </p:cNvSpPr>
          <p:nvPr/>
        </p:nvSpPr>
        <p:spPr bwMode="auto">
          <a:xfrm>
            <a:off x="365713" y="838201"/>
            <a:ext cx="7772400"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sz="4400" b="0" dirty="0">
                <a:latin typeface="Corbel" panose="020B0503020204020204" pitchFamily="34" charset="0"/>
              </a:rPr>
              <a:t>The (Min: Max) Notation</a:t>
            </a:r>
          </a:p>
        </p:txBody>
      </p:sp>
      <p:sp>
        <p:nvSpPr>
          <p:cNvPr id="97283" name="Rectangle 3"/>
          <p:cNvSpPr>
            <a:spLocks noChangeArrowheads="1"/>
          </p:cNvSpPr>
          <p:nvPr/>
        </p:nvSpPr>
        <p:spPr bwMode="auto">
          <a:xfrm>
            <a:off x="685800" y="2133600"/>
            <a:ext cx="2163763" cy="914400"/>
          </a:xfrm>
          <a:prstGeom prst="rect">
            <a:avLst/>
          </a:prstGeom>
          <a:solidFill>
            <a:srgbClr val="9999FF"/>
          </a:solidFill>
          <a:ln w="9525">
            <a:solidFill>
              <a:schemeClr val="tx1">
                <a:alpha val="18823"/>
              </a:schemeClr>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7284" name="Rectangle 4"/>
          <p:cNvSpPr>
            <a:spLocks noChangeArrowheads="1"/>
          </p:cNvSpPr>
          <p:nvPr/>
        </p:nvSpPr>
        <p:spPr bwMode="auto">
          <a:xfrm>
            <a:off x="6400800" y="2057400"/>
            <a:ext cx="2001838" cy="914400"/>
          </a:xfrm>
          <a:prstGeom prst="rect">
            <a:avLst/>
          </a:prstGeom>
          <a:solidFill>
            <a:srgbClr val="9999FF"/>
          </a:solidFill>
          <a:ln w="9525">
            <a:solidFill>
              <a:schemeClr val="bg2"/>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7285" name="WordArt 5"/>
          <p:cNvSpPr>
            <a:spLocks noChangeArrowheads="1" noChangeShapeType="1" noTextEdit="1"/>
          </p:cNvSpPr>
          <p:nvPr/>
        </p:nvSpPr>
        <p:spPr bwMode="auto">
          <a:xfrm>
            <a:off x="960438" y="2454241"/>
            <a:ext cx="1600200" cy="439738"/>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latin typeface="Arial Black" panose="020B0A04020102020204" pitchFamily="34" charset="0"/>
              </a:rPr>
              <a:t>Employee</a:t>
            </a:r>
          </a:p>
        </p:txBody>
      </p:sp>
      <p:sp>
        <p:nvSpPr>
          <p:cNvPr id="97286" name="WordArt 6"/>
          <p:cNvSpPr>
            <a:spLocks noChangeArrowheads="1" noChangeShapeType="1" noTextEdit="1"/>
          </p:cNvSpPr>
          <p:nvPr/>
        </p:nvSpPr>
        <p:spPr bwMode="auto">
          <a:xfrm>
            <a:off x="6858000" y="2286000"/>
            <a:ext cx="1235075" cy="323850"/>
          </a:xfrm>
          <a:prstGeom prst="rect">
            <a:avLst/>
          </a:prstGeom>
        </p:spPr>
        <p:txBody>
          <a:bodyPr wrap="none" fromWordArt="1">
            <a:prstTxWarp prst="textPlain">
              <a:avLst>
                <a:gd name="adj" fmla="val 50000"/>
              </a:avLst>
            </a:prstTxWarp>
          </a:bodyPr>
          <a:lstStyle/>
          <a:p>
            <a:pPr algn="ctr"/>
            <a:r>
              <a:rPr lang="en-US" sz="3600" kern="10">
                <a:ln w="9525">
                  <a:solidFill>
                    <a:schemeClr val="bg2"/>
                  </a:solidFill>
                  <a:round/>
                  <a:headEnd/>
                  <a:tailEnd/>
                </a:ln>
                <a:latin typeface="Arial Black" panose="020B0A04020102020204" pitchFamily="34" charset="0"/>
              </a:rPr>
              <a:t>Department</a:t>
            </a:r>
          </a:p>
        </p:txBody>
      </p:sp>
      <p:sp>
        <p:nvSpPr>
          <p:cNvPr id="97287" name="AutoShape 7"/>
          <p:cNvSpPr>
            <a:spLocks noChangeArrowheads="1"/>
          </p:cNvSpPr>
          <p:nvPr/>
        </p:nvSpPr>
        <p:spPr bwMode="auto">
          <a:xfrm>
            <a:off x="3784600" y="2011362"/>
            <a:ext cx="1527175" cy="1306513"/>
          </a:xfrm>
          <a:prstGeom prst="diamond">
            <a:avLst/>
          </a:prstGeom>
          <a:solidFill>
            <a:srgbClr val="9999FF"/>
          </a:solidFill>
          <a:ln w="9525">
            <a:solidFill>
              <a:schemeClr val="bg2"/>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7288" name="WordArt 8"/>
          <p:cNvSpPr>
            <a:spLocks noChangeArrowheads="1" noChangeShapeType="1" noTextEdit="1"/>
          </p:cNvSpPr>
          <p:nvPr/>
        </p:nvSpPr>
        <p:spPr bwMode="auto">
          <a:xfrm>
            <a:off x="4099202" y="2495551"/>
            <a:ext cx="914400" cy="419100"/>
          </a:xfrm>
          <a:prstGeom prst="rect">
            <a:avLst/>
          </a:prstGeom>
        </p:spPr>
        <p:txBody>
          <a:bodyPr wrap="none" fromWordArt="1">
            <a:prstTxWarp prst="textPlain">
              <a:avLst>
                <a:gd name="adj" fmla="val 50000"/>
              </a:avLst>
            </a:prstTxWarp>
          </a:bodyPr>
          <a:lstStyle/>
          <a:p>
            <a:pPr algn="ctr"/>
            <a:r>
              <a:rPr lang="en-US" sz="3600" kern="10" dirty="0">
                <a:ln w="9525">
                  <a:solidFill>
                    <a:schemeClr val="bg2"/>
                  </a:solidFill>
                  <a:round/>
                  <a:headEnd/>
                  <a:tailEnd/>
                </a:ln>
                <a:latin typeface="Arial Black" panose="020B0A04020102020204" pitchFamily="34" charset="0"/>
              </a:rPr>
              <a:t>Manages</a:t>
            </a:r>
          </a:p>
        </p:txBody>
      </p:sp>
      <p:sp>
        <p:nvSpPr>
          <p:cNvPr id="97289" name="Line 9"/>
          <p:cNvSpPr>
            <a:spLocks noChangeShapeType="1"/>
          </p:cNvSpPr>
          <p:nvPr/>
        </p:nvSpPr>
        <p:spPr bwMode="auto">
          <a:xfrm>
            <a:off x="2849562" y="2667000"/>
            <a:ext cx="10239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290" name="Line 10"/>
          <p:cNvSpPr>
            <a:spLocks noChangeShapeType="1"/>
          </p:cNvSpPr>
          <p:nvPr/>
        </p:nvSpPr>
        <p:spPr bwMode="auto">
          <a:xfrm flipV="1">
            <a:off x="5334000" y="2667000"/>
            <a:ext cx="104457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291" name="Text Box 11"/>
          <p:cNvSpPr txBox="1">
            <a:spLocks noChangeArrowheads="1"/>
          </p:cNvSpPr>
          <p:nvPr/>
        </p:nvSpPr>
        <p:spPr bwMode="auto">
          <a:xfrm>
            <a:off x="941388" y="5392738"/>
            <a:ext cx="7275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endParaRPr lang="en-US">
              <a:solidFill>
                <a:schemeClr val="bg2"/>
              </a:solidFill>
            </a:endParaRPr>
          </a:p>
        </p:txBody>
      </p:sp>
      <p:sp>
        <p:nvSpPr>
          <p:cNvPr id="97292" name="Text Box 12"/>
          <p:cNvSpPr txBox="1">
            <a:spLocks noChangeArrowheads="1"/>
          </p:cNvSpPr>
          <p:nvPr/>
        </p:nvSpPr>
        <p:spPr bwMode="auto">
          <a:xfrm>
            <a:off x="5478532" y="2286828"/>
            <a:ext cx="109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dirty="0"/>
              <a:t>(1,1)</a:t>
            </a:r>
          </a:p>
        </p:txBody>
      </p:sp>
      <p:sp>
        <p:nvSpPr>
          <p:cNvPr id="97293" name="Text Box 13"/>
          <p:cNvSpPr txBox="1">
            <a:spLocks noChangeArrowheads="1"/>
          </p:cNvSpPr>
          <p:nvPr/>
        </p:nvSpPr>
        <p:spPr bwMode="auto">
          <a:xfrm>
            <a:off x="3048000" y="2286000"/>
            <a:ext cx="976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a:t>(0,1)</a:t>
            </a:r>
          </a:p>
        </p:txBody>
      </p:sp>
      <p:sp>
        <p:nvSpPr>
          <p:cNvPr id="86030" name="TextBox 23"/>
          <p:cNvSpPr txBox="1">
            <a:spLocks noChangeArrowheads="1"/>
          </p:cNvSpPr>
          <p:nvPr/>
        </p:nvSpPr>
        <p:spPr bwMode="auto">
          <a:xfrm>
            <a:off x="537662" y="4868842"/>
            <a:ext cx="85258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just" eaLnBrk="1" hangingPunct="1">
              <a:defRPr/>
            </a:pPr>
            <a:r>
              <a:rPr lang="en-US" sz="2400" dirty="0">
                <a:latin typeface="Corbel" panose="020B0503020204020204" pitchFamily="34" charset="0"/>
              </a:rPr>
              <a:t>Employee may or may not mange a department. He can at most manage one department.</a:t>
            </a:r>
          </a:p>
          <a:p>
            <a:pPr algn="just" eaLnBrk="1" hangingPunct="1">
              <a:defRPr/>
            </a:pPr>
            <a:r>
              <a:rPr lang="en-US" sz="2400" dirty="0">
                <a:latin typeface="Corbel" panose="020B0503020204020204" pitchFamily="34" charset="0"/>
              </a:rPr>
              <a:t>A department must be managed by an employee</a:t>
            </a:r>
          </a:p>
        </p:txBody>
      </p:sp>
      <p:sp>
        <p:nvSpPr>
          <p:cNvPr id="97295" name="Rectangle 3"/>
          <p:cNvSpPr>
            <a:spLocks noChangeArrowheads="1"/>
          </p:cNvSpPr>
          <p:nvPr/>
        </p:nvSpPr>
        <p:spPr bwMode="auto">
          <a:xfrm>
            <a:off x="685800" y="3657600"/>
            <a:ext cx="2163763" cy="914400"/>
          </a:xfrm>
          <a:prstGeom prst="rect">
            <a:avLst/>
          </a:prstGeom>
          <a:solidFill>
            <a:srgbClr val="9999FF"/>
          </a:solidFill>
          <a:ln w="9525">
            <a:solidFill>
              <a:schemeClr val="tx1">
                <a:alpha val="18823"/>
              </a:schemeClr>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7296" name="WordArt 5"/>
          <p:cNvSpPr>
            <a:spLocks noChangeArrowheads="1" noChangeShapeType="1" noTextEdit="1"/>
          </p:cNvSpPr>
          <p:nvPr/>
        </p:nvSpPr>
        <p:spPr bwMode="auto">
          <a:xfrm>
            <a:off x="965148" y="3944937"/>
            <a:ext cx="1501016" cy="439738"/>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latin typeface="Arial Black" panose="020B0A04020102020204" pitchFamily="34" charset="0"/>
              </a:rPr>
              <a:t>Employee</a:t>
            </a:r>
          </a:p>
        </p:txBody>
      </p:sp>
      <p:sp>
        <p:nvSpPr>
          <p:cNvPr id="97297" name="Rectangle 4"/>
          <p:cNvSpPr>
            <a:spLocks noChangeArrowheads="1"/>
          </p:cNvSpPr>
          <p:nvPr/>
        </p:nvSpPr>
        <p:spPr bwMode="auto">
          <a:xfrm>
            <a:off x="6553200" y="3581400"/>
            <a:ext cx="2001838" cy="914400"/>
          </a:xfrm>
          <a:prstGeom prst="rect">
            <a:avLst/>
          </a:prstGeom>
          <a:solidFill>
            <a:srgbClr val="9999FF"/>
          </a:solidFill>
          <a:ln w="9525">
            <a:solidFill>
              <a:schemeClr val="bg2"/>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7298" name="WordArt 6"/>
          <p:cNvSpPr>
            <a:spLocks noChangeArrowheads="1" noChangeShapeType="1" noTextEdit="1"/>
          </p:cNvSpPr>
          <p:nvPr/>
        </p:nvSpPr>
        <p:spPr bwMode="auto">
          <a:xfrm>
            <a:off x="7010400" y="3886200"/>
            <a:ext cx="1235075" cy="323850"/>
          </a:xfrm>
          <a:prstGeom prst="rect">
            <a:avLst/>
          </a:prstGeom>
        </p:spPr>
        <p:txBody>
          <a:bodyPr wrap="none" fromWordArt="1">
            <a:prstTxWarp prst="textPlain">
              <a:avLst>
                <a:gd name="adj" fmla="val 50000"/>
              </a:avLst>
            </a:prstTxWarp>
          </a:bodyPr>
          <a:lstStyle/>
          <a:p>
            <a:pPr algn="ctr"/>
            <a:r>
              <a:rPr lang="en-US" sz="3600" kern="10">
                <a:ln w="9525">
                  <a:solidFill>
                    <a:schemeClr val="bg2"/>
                  </a:solidFill>
                  <a:round/>
                  <a:headEnd/>
                  <a:tailEnd/>
                </a:ln>
                <a:latin typeface="Arial Black" panose="020B0A04020102020204" pitchFamily="34" charset="0"/>
              </a:rPr>
              <a:t>Department</a:t>
            </a:r>
          </a:p>
        </p:txBody>
      </p:sp>
      <p:sp>
        <p:nvSpPr>
          <p:cNvPr id="97299" name="Line 9"/>
          <p:cNvSpPr>
            <a:spLocks noChangeShapeType="1"/>
          </p:cNvSpPr>
          <p:nvPr/>
        </p:nvSpPr>
        <p:spPr bwMode="auto">
          <a:xfrm flipV="1">
            <a:off x="2849563" y="4114799"/>
            <a:ext cx="1252537"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300" name="AutoShape 7"/>
          <p:cNvSpPr>
            <a:spLocks noChangeArrowheads="1"/>
          </p:cNvSpPr>
          <p:nvPr/>
        </p:nvSpPr>
        <p:spPr bwMode="auto">
          <a:xfrm>
            <a:off x="4038600" y="3429000"/>
            <a:ext cx="1527175" cy="1306513"/>
          </a:xfrm>
          <a:prstGeom prst="diamond">
            <a:avLst/>
          </a:prstGeom>
          <a:solidFill>
            <a:srgbClr val="9999FF"/>
          </a:solidFill>
          <a:ln w="9525">
            <a:solidFill>
              <a:schemeClr val="bg2"/>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7301" name="Line 10"/>
          <p:cNvSpPr>
            <a:spLocks noChangeShapeType="1"/>
          </p:cNvSpPr>
          <p:nvPr/>
        </p:nvSpPr>
        <p:spPr bwMode="auto">
          <a:xfrm flipV="1">
            <a:off x="5486400" y="4191000"/>
            <a:ext cx="104457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302" name="Line 10"/>
          <p:cNvSpPr>
            <a:spLocks noChangeShapeType="1"/>
          </p:cNvSpPr>
          <p:nvPr/>
        </p:nvSpPr>
        <p:spPr bwMode="auto">
          <a:xfrm flipV="1">
            <a:off x="5486400" y="4038600"/>
            <a:ext cx="104457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303" name="Text Box 12"/>
          <p:cNvSpPr txBox="1">
            <a:spLocks noChangeArrowheads="1"/>
          </p:cNvSpPr>
          <p:nvPr/>
        </p:nvSpPr>
        <p:spPr bwMode="auto">
          <a:xfrm>
            <a:off x="5786645" y="3697358"/>
            <a:ext cx="45699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dirty="0"/>
              <a:t>1</a:t>
            </a:r>
          </a:p>
        </p:txBody>
      </p:sp>
      <p:sp>
        <p:nvSpPr>
          <p:cNvPr id="97304" name="Text Box 13"/>
          <p:cNvSpPr txBox="1">
            <a:spLocks noChangeArrowheads="1"/>
          </p:cNvSpPr>
          <p:nvPr/>
        </p:nvSpPr>
        <p:spPr bwMode="auto">
          <a:xfrm>
            <a:off x="3385343" y="3723446"/>
            <a:ext cx="39925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a:t>1</a:t>
            </a:r>
          </a:p>
        </p:txBody>
      </p:sp>
      <p:sp>
        <p:nvSpPr>
          <p:cNvPr id="97305" name="WordArt 8"/>
          <p:cNvSpPr>
            <a:spLocks noChangeArrowheads="1" noChangeShapeType="1" noTextEdit="1"/>
          </p:cNvSpPr>
          <p:nvPr/>
        </p:nvSpPr>
        <p:spPr bwMode="auto">
          <a:xfrm>
            <a:off x="4343400" y="3886200"/>
            <a:ext cx="914400" cy="419100"/>
          </a:xfrm>
          <a:prstGeom prst="rect">
            <a:avLst/>
          </a:prstGeom>
        </p:spPr>
        <p:txBody>
          <a:bodyPr wrap="none" fromWordArt="1">
            <a:prstTxWarp prst="textPlain">
              <a:avLst>
                <a:gd name="adj" fmla="val 50000"/>
              </a:avLst>
            </a:prstTxWarp>
          </a:bodyPr>
          <a:lstStyle/>
          <a:p>
            <a:pPr algn="ctr"/>
            <a:r>
              <a:rPr lang="en-US" sz="3600" kern="10">
                <a:ln w="9525">
                  <a:solidFill>
                    <a:schemeClr val="bg2"/>
                  </a:solidFill>
                  <a:round/>
                  <a:headEnd/>
                  <a:tailEnd/>
                </a:ln>
                <a:latin typeface="Arial Black" panose="020B0A04020102020204" pitchFamily="34" charset="0"/>
              </a:rPr>
              <a:t>Manages</a:t>
            </a:r>
          </a:p>
        </p:txBody>
      </p:sp>
    </p:spTree>
    <p:extLst>
      <p:ext uri="{BB962C8B-B14F-4D97-AF65-F5344CB8AC3E}">
        <p14:creationId xmlns:p14="http://schemas.microsoft.com/office/powerpoint/2010/main" val="30814647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3"/>
          <p:cNvSpPr>
            <a:spLocks noChangeArrowheads="1"/>
          </p:cNvSpPr>
          <p:nvPr/>
        </p:nvSpPr>
        <p:spPr bwMode="auto">
          <a:xfrm>
            <a:off x="533400" y="2478088"/>
            <a:ext cx="2259013" cy="914400"/>
          </a:xfrm>
          <a:prstGeom prst="rect">
            <a:avLst/>
          </a:prstGeom>
          <a:solidFill>
            <a:srgbClr val="9999FF"/>
          </a:solidFill>
          <a:ln w="9525">
            <a:solidFill>
              <a:schemeClr val="tx1">
                <a:alpha val="18823"/>
              </a:schemeClr>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8308" name="Rectangle 4"/>
          <p:cNvSpPr>
            <a:spLocks noChangeArrowheads="1"/>
          </p:cNvSpPr>
          <p:nvPr/>
        </p:nvSpPr>
        <p:spPr bwMode="auto">
          <a:xfrm>
            <a:off x="6477000" y="2514600"/>
            <a:ext cx="2001838" cy="914400"/>
          </a:xfrm>
          <a:prstGeom prst="rect">
            <a:avLst/>
          </a:prstGeom>
          <a:solidFill>
            <a:srgbClr val="9999FF"/>
          </a:solidFill>
          <a:ln w="9525">
            <a:solidFill>
              <a:schemeClr val="bg2"/>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8309" name="WordArt 5"/>
          <p:cNvSpPr>
            <a:spLocks noChangeArrowheads="1" noChangeShapeType="1" noTextEdit="1"/>
          </p:cNvSpPr>
          <p:nvPr/>
        </p:nvSpPr>
        <p:spPr bwMode="auto">
          <a:xfrm>
            <a:off x="1088232" y="2774640"/>
            <a:ext cx="1249362" cy="439738"/>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latin typeface="Arial Black" panose="020B0A04020102020204" pitchFamily="34" charset="0"/>
              </a:rPr>
              <a:t>Employee</a:t>
            </a:r>
          </a:p>
        </p:txBody>
      </p:sp>
      <p:sp>
        <p:nvSpPr>
          <p:cNvPr id="98310" name="WordArt 6"/>
          <p:cNvSpPr>
            <a:spLocks noChangeArrowheads="1" noChangeShapeType="1" noTextEdit="1"/>
          </p:cNvSpPr>
          <p:nvPr/>
        </p:nvSpPr>
        <p:spPr bwMode="auto">
          <a:xfrm>
            <a:off x="6888163" y="2754313"/>
            <a:ext cx="1235075" cy="323850"/>
          </a:xfrm>
          <a:prstGeom prst="rect">
            <a:avLst/>
          </a:prstGeom>
        </p:spPr>
        <p:txBody>
          <a:bodyPr wrap="none" fromWordArt="1">
            <a:prstTxWarp prst="textPlain">
              <a:avLst>
                <a:gd name="adj" fmla="val 50000"/>
              </a:avLst>
            </a:prstTxWarp>
          </a:bodyPr>
          <a:lstStyle/>
          <a:p>
            <a:pPr algn="ctr"/>
            <a:r>
              <a:rPr lang="en-US" sz="3600" kern="10">
                <a:ln w="9525">
                  <a:solidFill>
                    <a:schemeClr val="bg2"/>
                  </a:solidFill>
                  <a:round/>
                  <a:headEnd/>
                  <a:tailEnd/>
                </a:ln>
                <a:latin typeface="Arial Black" panose="020B0A04020102020204" pitchFamily="34" charset="0"/>
              </a:rPr>
              <a:t>Department</a:t>
            </a:r>
          </a:p>
        </p:txBody>
      </p:sp>
      <p:sp>
        <p:nvSpPr>
          <p:cNvPr id="98311" name="AutoShape 7"/>
          <p:cNvSpPr>
            <a:spLocks noChangeArrowheads="1"/>
          </p:cNvSpPr>
          <p:nvPr/>
        </p:nvSpPr>
        <p:spPr bwMode="auto">
          <a:xfrm>
            <a:off x="3836988" y="2363788"/>
            <a:ext cx="1527175" cy="1306512"/>
          </a:xfrm>
          <a:prstGeom prst="diamond">
            <a:avLst/>
          </a:prstGeom>
          <a:solidFill>
            <a:srgbClr val="9999FF"/>
          </a:solidFill>
          <a:ln w="9525">
            <a:solidFill>
              <a:schemeClr val="bg2"/>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8312" name="Line 9"/>
          <p:cNvSpPr>
            <a:spLocks noChangeShapeType="1"/>
          </p:cNvSpPr>
          <p:nvPr/>
        </p:nvSpPr>
        <p:spPr bwMode="auto">
          <a:xfrm>
            <a:off x="2825750" y="2990850"/>
            <a:ext cx="10541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8313" name="Line 10"/>
          <p:cNvSpPr>
            <a:spLocks noChangeShapeType="1"/>
          </p:cNvSpPr>
          <p:nvPr/>
        </p:nvSpPr>
        <p:spPr bwMode="auto">
          <a:xfrm flipV="1">
            <a:off x="5364163" y="2990850"/>
            <a:ext cx="11128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8314" name="Text Box 11"/>
          <p:cNvSpPr txBox="1">
            <a:spLocks noChangeArrowheads="1"/>
          </p:cNvSpPr>
          <p:nvPr/>
        </p:nvSpPr>
        <p:spPr bwMode="auto">
          <a:xfrm>
            <a:off x="914400" y="5867400"/>
            <a:ext cx="7275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endParaRPr lang="en-US">
              <a:solidFill>
                <a:schemeClr val="bg2"/>
              </a:solidFill>
            </a:endParaRPr>
          </a:p>
        </p:txBody>
      </p:sp>
      <p:sp>
        <p:nvSpPr>
          <p:cNvPr id="98315" name="Text Box 12"/>
          <p:cNvSpPr txBox="1">
            <a:spLocks noChangeArrowheads="1"/>
          </p:cNvSpPr>
          <p:nvPr/>
        </p:nvSpPr>
        <p:spPr bwMode="auto">
          <a:xfrm>
            <a:off x="5508624" y="2538550"/>
            <a:ext cx="9001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dirty="0"/>
              <a:t>(0,N)</a:t>
            </a:r>
          </a:p>
        </p:txBody>
      </p:sp>
      <p:sp>
        <p:nvSpPr>
          <p:cNvPr id="98316" name="Text Box 13"/>
          <p:cNvSpPr txBox="1">
            <a:spLocks noChangeArrowheads="1"/>
          </p:cNvSpPr>
          <p:nvPr/>
        </p:nvSpPr>
        <p:spPr bwMode="auto">
          <a:xfrm>
            <a:off x="3059112" y="2540468"/>
            <a:ext cx="976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dirty="0"/>
              <a:t>(1,1)</a:t>
            </a:r>
          </a:p>
        </p:txBody>
      </p:sp>
      <p:sp>
        <p:nvSpPr>
          <p:cNvPr id="98317" name="Rectangle 14"/>
          <p:cNvSpPr>
            <a:spLocks noChangeArrowheads="1"/>
          </p:cNvSpPr>
          <p:nvPr/>
        </p:nvSpPr>
        <p:spPr bwMode="auto">
          <a:xfrm>
            <a:off x="533400" y="3962400"/>
            <a:ext cx="2259013" cy="914400"/>
          </a:xfrm>
          <a:prstGeom prst="rect">
            <a:avLst/>
          </a:prstGeom>
          <a:solidFill>
            <a:srgbClr val="9999FF"/>
          </a:solidFill>
          <a:ln w="9525">
            <a:solidFill>
              <a:schemeClr val="bg2"/>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8318" name="Rectangle 15"/>
          <p:cNvSpPr>
            <a:spLocks noChangeArrowheads="1"/>
          </p:cNvSpPr>
          <p:nvPr/>
        </p:nvSpPr>
        <p:spPr bwMode="auto">
          <a:xfrm>
            <a:off x="6477000" y="4038600"/>
            <a:ext cx="2001838" cy="914400"/>
          </a:xfrm>
          <a:prstGeom prst="rect">
            <a:avLst/>
          </a:prstGeom>
          <a:solidFill>
            <a:srgbClr val="9999FF"/>
          </a:solidFill>
          <a:ln w="9525">
            <a:solidFill>
              <a:schemeClr val="bg2"/>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8320" name="WordArt 17"/>
          <p:cNvSpPr>
            <a:spLocks noChangeArrowheads="1" noChangeShapeType="1" noTextEdit="1"/>
          </p:cNvSpPr>
          <p:nvPr/>
        </p:nvSpPr>
        <p:spPr bwMode="auto">
          <a:xfrm>
            <a:off x="6858000" y="4343400"/>
            <a:ext cx="1235075" cy="323850"/>
          </a:xfrm>
          <a:prstGeom prst="rect">
            <a:avLst/>
          </a:prstGeom>
        </p:spPr>
        <p:txBody>
          <a:bodyPr wrap="none" fromWordArt="1">
            <a:prstTxWarp prst="textPlain">
              <a:avLst>
                <a:gd name="adj" fmla="val 50000"/>
              </a:avLst>
            </a:prstTxWarp>
          </a:bodyPr>
          <a:lstStyle/>
          <a:p>
            <a:pPr algn="ctr"/>
            <a:r>
              <a:rPr lang="en-US" sz="3600" kern="10" dirty="0">
                <a:ln w="9525">
                  <a:solidFill>
                    <a:schemeClr val="bg2"/>
                  </a:solidFill>
                  <a:round/>
                  <a:headEnd/>
                  <a:tailEnd/>
                </a:ln>
                <a:latin typeface="Arial Black" panose="020B0A04020102020204" pitchFamily="34" charset="0"/>
              </a:rPr>
              <a:t>Department</a:t>
            </a:r>
          </a:p>
        </p:txBody>
      </p:sp>
      <p:sp>
        <p:nvSpPr>
          <p:cNvPr id="98321" name="AutoShape 18"/>
          <p:cNvSpPr>
            <a:spLocks noChangeArrowheads="1"/>
          </p:cNvSpPr>
          <p:nvPr/>
        </p:nvSpPr>
        <p:spPr bwMode="auto">
          <a:xfrm>
            <a:off x="3847548" y="3810001"/>
            <a:ext cx="1527175" cy="1306513"/>
          </a:xfrm>
          <a:prstGeom prst="diamond">
            <a:avLst/>
          </a:prstGeom>
          <a:solidFill>
            <a:srgbClr val="9999FF"/>
          </a:solidFill>
          <a:ln w="9525">
            <a:solidFill>
              <a:schemeClr val="bg2"/>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endParaRPr lang="en-US"/>
          </a:p>
        </p:txBody>
      </p:sp>
      <p:sp>
        <p:nvSpPr>
          <p:cNvPr id="98322" name="WordArt 19"/>
          <p:cNvSpPr>
            <a:spLocks noChangeArrowheads="1" noChangeShapeType="1" noTextEdit="1"/>
          </p:cNvSpPr>
          <p:nvPr/>
        </p:nvSpPr>
        <p:spPr bwMode="auto">
          <a:xfrm>
            <a:off x="4191000" y="4267200"/>
            <a:ext cx="914400" cy="419100"/>
          </a:xfrm>
          <a:prstGeom prst="rect">
            <a:avLst/>
          </a:prstGeom>
        </p:spPr>
        <p:txBody>
          <a:bodyPr wrap="none" fromWordArt="1">
            <a:prstTxWarp prst="textPlain">
              <a:avLst>
                <a:gd name="adj" fmla="val 50000"/>
              </a:avLst>
            </a:prstTxWarp>
          </a:bodyPr>
          <a:lstStyle/>
          <a:p>
            <a:pPr algn="ctr"/>
            <a:r>
              <a:rPr lang="en-US" sz="3600" kern="10">
                <a:ln w="9525">
                  <a:solidFill>
                    <a:schemeClr val="bg2"/>
                  </a:solidFill>
                  <a:round/>
                  <a:headEnd/>
                  <a:tailEnd/>
                </a:ln>
                <a:latin typeface="Arial Black" panose="020B0A04020102020204" pitchFamily="34" charset="0"/>
              </a:rPr>
              <a:t>Works-for</a:t>
            </a:r>
          </a:p>
        </p:txBody>
      </p:sp>
      <p:sp>
        <p:nvSpPr>
          <p:cNvPr id="98323" name="Line 20"/>
          <p:cNvSpPr>
            <a:spLocks noChangeShapeType="1"/>
          </p:cNvSpPr>
          <p:nvPr/>
        </p:nvSpPr>
        <p:spPr bwMode="auto">
          <a:xfrm>
            <a:off x="2782888" y="4416287"/>
            <a:ext cx="1103312" cy="771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8324" name="Line 21"/>
          <p:cNvSpPr>
            <a:spLocks noChangeShapeType="1"/>
          </p:cNvSpPr>
          <p:nvPr/>
        </p:nvSpPr>
        <p:spPr bwMode="auto">
          <a:xfrm flipV="1">
            <a:off x="5410200" y="4495800"/>
            <a:ext cx="104457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8325" name="Text Box 22"/>
          <p:cNvSpPr txBox="1">
            <a:spLocks noChangeArrowheads="1"/>
          </p:cNvSpPr>
          <p:nvPr/>
        </p:nvSpPr>
        <p:spPr bwMode="auto">
          <a:xfrm>
            <a:off x="5685873" y="4119202"/>
            <a:ext cx="405364"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dirty="0"/>
              <a:t>1</a:t>
            </a:r>
          </a:p>
        </p:txBody>
      </p:sp>
      <p:sp>
        <p:nvSpPr>
          <p:cNvPr id="98326" name="Text Box 23"/>
          <p:cNvSpPr txBox="1">
            <a:spLocks noChangeArrowheads="1"/>
          </p:cNvSpPr>
          <p:nvPr/>
        </p:nvSpPr>
        <p:spPr bwMode="auto">
          <a:xfrm>
            <a:off x="2438400" y="5410200"/>
            <a:ext cx="1068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a:solidFill>
                  <a:schemeClr val="bg2"/>
                </a:solidFill>
              </a:rPr>
              <a:t>(NN</a:t>
            </a:r>
            <a:endParaRPr lang="en-US"/>
          </a:p>
        </p:txBody>
      </p:sp>
      <p:sp>
        <p:nvSpPr>
          <p:cNvPr id="98327" name="WordArt 19"/>
          <p:cNvSpPr>
            <a:spLocks noChangeArrowheads="1" noChangeShapeType="1" noTextEdit="1"/>
          </p:cNvSpPr>
          <p:nvPr/>
        </p:nvSpPr>
        <p:spPr bwMode="auto">
          <a:xfrm>
            <a:off x="4191000" y="2819400"/>
            <a:ext cx="914400" cy="419100"/>
          </a:xfrm>
          <a:prstGeom prst="rect">
            <a:avLst/>
          </a:prstGeom>
        </p:spPr>
        <p:txBody>
          <a:bodyPr wrap="none" fromWordArt="1">
            <a:prstTxWarp prst="textPlain">
              <a:avLst>
                <a:gd name="adj" fmla="val 50000"/>
              </a:avLst>
            </a:prstTxWarp>
          </a:bodyPr>
          <a:lstStyle/>
          <a:p>
            <a:pPr algn="ctr"/>
            <a:r>
              <a:rPr lang="en-US" sz="3600" kern="10">
                <a:ln w="9525">
                  <a:solidFill>
                    <a:schemeClr val="bg2"/>
                  </a:solidFill>
                  <a:round/>
                  <a:headEnd/>
                  <a:tailEnd/>
                </a:ln>
                <a:latin typeface="Arial Black" panose="020B0A04020102020204" pitchFamily="34" charset="0"/>
              </a:rPr>
              <a:t>Works-for</a:t>
            </a:r>
          </a:p>
        </p:txBody>
      </p:sp>
      <p:sp>
        <p:nvSpPr>
          <p:cNvPr id="98328" name="Line 20"/>
          <p:cNvSpPr>
            <a:spLocks noChangeShapeType="1"/>
          </p:cNvSpPr>
          <p:nvPr/>
        </p:nvSpPr>
        <p:spPr bwMode="auto">
          <a:xfrm>
            <a:off x="2786062" y="4495800"/>
            <a:ext cx="10937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8329" name="Text Box 22"/>
          <p:cNvSpPr txBox="1">
            <a:spLocks noChangeArrowheads="1"/>
          </p:cNvSpPr>
          <p:nvPr/>
        </p:nvSpPr>
        <p:spPr bwMode="auto">
          <a:xfrm>
            <a:off x="3186665" y="4025900"/>
            <a:ext cx="39156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spcBef>
                <a:spcPct val="50000"/>
              </a:spcBef>
            </a:pPr>
            <a:r>
              <a:rPr lang="en-US" dirty="0"/>
              <a:t>N</a:t>
            </a:r>
          </a:p>
        </p:txBody>
      </p:sp>
      <p:sp>
        <p:nvSpPr>
          <p:cNvPr id="87066" name="TextBox 26"/>
          <p:cNvSpPr txBox="1">
            <a:spLocks noChangeArrowheads="1"/>
          </p:cNvSpPr>
          <p:nvPr/>
        </p:nvSpPr>
        <p:spPr bwMode="auto">
          <a:xfrm>
            <a:off x="661988" y="5451115"/>
            <a:ext cx="81772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defRPr/>
            </a:pPr>
            <a:r>
              <a:rPr lang="en-US" sz="2400" dirty="0">
                <a:latin typeface="Corbel" panose="020B0503020204020204" pitchFamily="34" charset="0"/>
              </a:rPr>
              <a:t>Employee must work for  a department. .</a:t>
            </a:r>
          </a:p>
          <a:p>
            <a:pPr eaLnBrk="1" hangingPunct="1">
              <a:defRPr/>
            </a:pPr>
            <a:r>
              <a:rPr lang="en-US" sz="2400" dirty="0">
                <a:latin typeface="Corbel" panose="020B0503020204020204" pitchFamily="34" charset="0"/>
              </a:rPr>
              <a:t>A department may or may not have any employee</a:t>
            </a:r>
          </a:p>
        </p:txBody>
      </p:sp>
      <p:sp>
        <p:nvSpPr>
          <p:cNvPr id="2" name="Rectangle 2">
            <a:extLst>
              <a:ext uri="{FF2B5EF4-FFF2-40B4-BE49-F238E27FC236}">
                <a16:creationId xmlns:a16="http://schemas.microsoft.com/office/drawing/2014/main" id="{67535430-06C1-9305-E0F9-C76B232D72E8}"/>
              </a:ext>
            </a:extLst>
          </p:cNvPr>
          <p:cNvSpPr>
            <a:spLocks noChangeArrowheads="1"/>
          </p:cNvSpPr>
          <p:nvPr/>
        </p:nvSpPr>
        <p:spPr bwMode="auto">
          <a:xfrm>
            <a:off x="365713" y="838201"/>
            <a:ext cx="7772400"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sz="4400" b="0" dirty="0">
                <a:latin typeface="Corbel" panose="020B0503020204020204" pitchFamily="34" charset="0"/>
              </a:rPr>
              <a:t>The (Min: Max) Notation</a:t>
            </a:r>
          </a:p>
        </p:txBody>
      </p:sp>
      <p:sp>
        <p:nvSpPr>
          <p:cNvPr id="3" name="WordArt 5">
            <a:extLst>
              <a:ext uri="{FF2B5EF4-FFF2-40B4-BE49-F238E27FC236}">
                <a16:creationId xmlns:a16="http://schemas.microsoft.com/office/drawing/2014/main" id="{CF87BE9E-0114-910C-A4DF-EFEBE29DB349}"/>
              </a:ext>
            </a:extLst>
          </p:cNvPr>
          <p:cNvSpPr>
            <a:spLocks noChangeArrowheads="1" noChangeShapeType="1" noTextEdit="1"/>
          </p:cNvSpPr>
          <p:nvPr/>
        </p:nvSpPr>
        <p:spPr bwMode="auto">
          <a:xfrm>
            <a:off x="1016002" y="4264818"/>
            <a:ext cx="1249362" cy="439738"/>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latin typeface="Arial Black" panose="020B0A04020102020204" pitchFamily="34" charset="0"/>
              </a:rPr>
              <a:t>Employee</a:t>
            </a:r>
          </a:p>
        </p:txBody>
      </p:sp>
    </p:spTree>
    <p:extLst>
      <p:ext uri="{BB962C8B-B14F-4D97-AF65-F5344CB8AC3E}">
        <p14:creationId xmlns:p14="http://schemas.microsoft.com/office/powerpoint/2010/main" val="8004410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467346" y="914400"/>
            <a:ext cx="8136904" cy="786408"/>
          </a:xfrm>
        </p:spPr>
        <p:txBody>
          <a:bodyPr>
            <a:normAutofit/>
          </a:bodyPr>
          <a:lstStyle/>
          <a:p>
            <a:r>
              <a:rPr lang="en-GB" sz="4400" dirty="0">
                <a:ln>
                  <a:noFill/>
                </a:ln>
                <a:latin typeface="Corbel" panose="020B0503020204020204" pitchFamily="34" charset="0"/>
              </a:rPr>
              <a:t>Enhanced ER Modelling</a:t>
            </a:r>
          </a:p>
        </p:txBody>
      </p:sp>
      <p:sp>
        <p:nvSpPr>
          <p:cNvPr id="215043" name="Rectangle 3"/>
          <p:cNvSpPr>
            <a:spLocks noGrp="1" noChangeArrowheads="1"/>
          </p:cNvSpPr>
          <p:nvPr>
            <p:ph idx="4294967295"/>
          </p:nvPr>
        </p:nvSpPr>
        <p:spPr>
          <a:xfrm>
            <a:off x="568325" y="1981200"/>
            <a:ext cx="8035925" cy="4400127"/>
          </a:xfrm>
          <a:prstGeom prst="rect">
            <a:avLst/>
          </a:prstGeom>
        </p:spPr>
        <p:txBody>
          <a:bodyPr rtlCol="0">
            <a:normAutofit/>
          </a:bodyPr>
          <a:lstStyle/>
          <a:p>
            <a:pPr algn="just" fontAlgn="auto">
              <a:lnSpc>
                <a:spcPct val="90000"/>
              </a:lnSpc>
              <a:buFont typeface="Arial"/>
              <a:buChar char="•"/>
              <a:defRPr/>
            </a:pPr>
            <a:r>
              <a:rPr lang="en-GB" sz="2800" dirty="0">
                <a:solidFill>
                  <a:schemeClr val="tx1">
                    <a:lumMod val="85000"/>
                    <a:lumOff val="15000"/>
                  </a:schemeClr>
                </a:solidFill>
                <a:latin typeface="Corbel" panose="020B0503020204020204" pitchFamily="34" charset="0"/>
              </a:rPr>
              <a:t>ER modelling does not capture all the semantics of client’s domain, such as</a:t>
            </a:r>
          </a:p>
          <a:p>
            <a:pPr lvl="1" algn="just" fontAlgn="auto">
              <a:lnSpc>
                <a:spcPct val="90000"/>
              </a:lnSpc>
              <a:buFont typeface="Arial"/>
              <a:buChar char="•"/>
              <a:defRPr/>
            </a:pPr>
            <a:r>
              <a:rPr lang="en-GB" sz="2800" dirty="0">
                <a:solidFill>
                  <a:schemeClr val="tx1">
                    <a:lumMod val="85000"/>
                    <a:lumOff val="15000"/>
                  </a:schemeClr>
                </a:solidFill>
                <a:latin typeface="Corbel" panose="020B0503020204020204" pitchFamily="34" charset="0"/>
              </a:rPr>
              <a:t>‘</a:t>
            </a:r>
            <a:r>
              <a:rPr lang="en-GB" sz="2800" dirty="0">
                <a:solidFill>
                  <a:srgbClr val="FF6600"/>
                </a:solidFill>
                <a:latin typeface="Corbel" panose="020B0503020204020204" pitchFamily="34" charset="0"/>
              </a:rPr>
              <a:t>ISA</a:t>
            </a:r>
            <a:r>
              <a:rPr lang="en-GB" sz="2800" dirty="0">
                <a:solidFill>
                  <a:schemeClr val="tx1">
                    <a:lumMod val="85000"/>
                    <a:lumOff val="15000"/>
                  </a:schemeClr>
                </a:solidFill>
                <a:latin typeface="Corbel" panose="020B0503020204020204" pitchFamily="34" charset="0"/>
              </a:rPr>
              <a:t>’ (‘is a’) relationship or specialization-generalization</a:t>
            </a:r>
          </a:p>
          <a:p>
            <a:pPr lvl="2" algn="just" fontAlgn="auto">
              <a:lnSpc>
                <a:spcPct val="90000"/>
              </a:lnSpc>
              <a:buFont typeface="Arial"/>
              <a:buChar char="•"/>
              <a:defRPr/>
            </a:pPr>
            <a:r>
              <a:rPr lang="en-GB" sz="2800" dirty="0">
                <a:solidFill>
                  <a:schemeClr val="tx1">
                    <a:lumMod val="85000"/>
                    <a:lumOff val="15000"/>
                  </a:schemeClr>
                </a:solidFill>
                <a:latin typeface="Corbel" panose="020B0503020204020204" pitchFamily="34" charset="0"/>
              </a:rPr>
              <a:t>‘Manager’ entity type ‘is a’ sub entity of ‘Staff’ entity.</a:t>
            </a:r>
          </a:p>
          <a:p>
            <a:pPr lvl="2" algn="just" fontAlgn="auto">
              <a:lnSpc>
                <a:spcPct val="90000"/>
              </a:lnSpc>
              <a:buFont typeface="Arial"/>
              <a:buChar char="•"/>
              <a:defRPr/>
            </a:pPr>
            <a:endParaRPr lang="en-GB" sz="2800" dirty="0">
              <a:solidFill>
                <a:schemeClr val="tx1">
                  <a:lumMod val="85000"/>
                  <a:lumOff val="15000"/>
                </a:schemeClr>
              </a:solidFill>
              <a:latin typeface="Corbel" panose="020B0503020204020204" pitchFamily="34" charset="0"/>
            </a:endParaRPr>
          </a:p>
          <a:p>
            <a:pPr algn="just" fontAlgn="auto">
              <a:lnSpc>
                <a:spcPct val="90000"/>
              </a:lnSpc>
              <a:buFont typeface="Arial"/>
              <a:buChar char="•"/>
              <a:defRPr/>
            </a:pPr>
            <a:r>
              <a:rPr lang="en-GB" sz="2800" dirty="0">
                <a:solidFill>
                  <a:schemeClr val="tx1">
                    <a:lumMod val="85000"/>
                    <a:lumOff val="15000"/>
                  </a:schemeClr>
                </a:solidFill>
                <a:latin typeface="Corbel" panose="020B0503020204020204" pitchFamily="34" charset="0"/>
              </a:rPr>
              <a:t>Enhanced ER models represent the above relationships, hence capture client’s domain more comprehensively.</a:t>
            </a:r>
          </a:p>
        </p:txBody>
      </p:sp>
    </p:spTree>
    <p:extLst>
      <p:ext uri="{BB962C8B-B14F-4D97-AF65-F5344CB8AC3E}">
        <p14:creationId xmlns:p14="http://schemas.microsoft.com/office/powerpoint/2010/main" val="9751304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5043">
                                            <p:txEl>
                                              <p:pRg st="4" end="4"/>
                                            </p:txEl>
                                          </p:spTgt>
                                        </p:tgtEl>
                                        <p:attrNameLst>
                                          <p:attrName>style.visibility</p:attrName>
                                        </p:attrNameLst>
                                      </p:cBhvr>
                                      <p:to>
                                        <p:strVal val="visible"/>
                                      </p:to>
                                    </p:set>
                                    <p:anim calcmode="lin" valueType="num">
                                      <p:cBhvr additive="base">
                                        <p:cTn id="7" dur="500" fill="hold"/>
                                        <p:tgtEl>
                                          <p:spTgt spid="215043">
                                            <p:txEl>
                                              <p:pRg st="4" end="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607268"/>
            <a:ext cx="9144000" cy="1165548"/>
          </a:xfrm>
        </p:spPr>
        <p:txBody>
          <a:bodyPr>
            <a:noAutofit/>
          </a:bodyPr>
          <a:lstStyle/>
          <a:p>
            <a:r>
              <a:rPr lang="en-GB" sz="4400" dirty="0">
                <a:ln>
                  <a:noFill/>
                </a:ln>
                <a:latin typeface="Corbel" panose="020B0503020204020204" pitchFamily="34" charset="0"/>
              </a:rPr>
              <a:t>Diagrammatic Representation of ‘ISA’ relationship</a:t>
            </a:r>
          </a:p>
        </p:txBody>
      </p:sp>
      <p:sp>
        <p:nvSpPr>
          <p:cNvPr id="100355" name="Line 12"/>
          <p:cNvSpPr>
            <a:spLocks noChangeShapeType="1"/>
          </p:cNvSpPr>
          <p:nvPr/>
        </p:nvSpPr>
        <p:spPr bwMode="auto">
          <a:xfrm flipH="1">
            <a:off x="3289900" y="3777828"/>
            <a:ext cx="1340030" cy="245805"/>
          </a:xfrm>
          <a:prstGeom prst="line">
            <a:avLst/>
          </a:prstGeom>
          <a:noFill/>
          <a:ln w="47625">
            <a:solidFill>
              <a:schemeClr val="tx2"/>
            </a:solidFill>
            <a:round/>
            <a:headEnd w="med" len="lg"/>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0356" name="Text Box 15"/>
          <p:cNvSpPr txBox="1">
            <a:spLocks noChangeArrowheads="1"/>
          </p:cNvSpPr>
          <p:nvPr/>
        </p:nvSpPr>
        <p:spPr bwMode="auto">
          <a:xfrm>
            <a:off x="4643230" y="3362329"/>
            <a:ext cx="43616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GB" sz="2400" dirty="0">
                <a:solidFill>
                  <a:srgbClr val="FF9900"/>
                </a:solidFill>
              </a:rPr>
              <a:t>Specialization/generalization indicator</a:t>
            </a:r>
          </a:p>
        </p:txBody>
      </p:sp>
      <p:sp>
        <p:nvSpPr>
          <p:cNvPr id="100357" name="Rectangle 25"/>
          <p:cNvSpPr>
            <a:spLocks noChangeArrowheads="1"/>
          </p:cNvSpPr>
          <p:nvPr/>
        </p:nvSpPr>
        <p:spPr bwMode="auto">
          <a:xfrm>
            <a:off x="1828800" y="2855168"/>
            <a:ext cx="1981200" cy="609600"/>
          </a:xfrm>
          <a:prstGeom prst="rect">
            <a:avLst/>
          </a:prstGeom>
          <a:solidFill>
            <a:srgbClr val="9999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Staff</a:t>
            </a:r>
          </a:p>
        </p:txBody>
      </p:sp>
      <p:sp>
        <p:nvSpPr>
          <p:cNvPr id="100358" name="Oval 26"/>
          <p:cNvSpPr>
            <a:spLocks noChangeArrowheads="1"/>
          </p:cNvSpPr>
          <p:nvPr/>
        </p:nvSpPr>
        <p:spPr bwMode="auto">
          <a:xfrm>
            <a:off x="4267200" y="2310488"/>
            <a:ext cx="1447800" cy="533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u="sng" dirty="0" err="1"/>
              <a:t>staffNo</a:t>
            </a:r>
            <a:endParaRPr lang="en-US" u="sng" dirty="0"/>
          </a:p>
        </p:txBody>
      </p:sp>
      <p:sp>
        <p:nvSpPr>
          <p:cNvPr id="100359" name="Oval 27"/>
          <p:cNvSpPr>
            <a:spLocks noChangeArrowheads="1"/>
          </p:cNvSpPr>
          <p:nvPr/>
        </p:nvSpPr>
        <p:spPr bwMode="auto">
          <a:xfrm>
            <a:off x="1918300" y="1967588"/>
            <a:ext cx="1371600" cy="6096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name</a:t>
            </a:r>
          </a:p>
        </p:txBody>
      </p:sp>
      <p:sp>
        <p:nvSpPr>
          <p:cNvPr id="100360" name="Oval 28"/>
          <p:cNvSpPr>
            <a:spLocks noChangeArrowheads="1"/>
          </p:cNvSpPr>
          <p:nvPr/>
        </p:nvSpPr>
        <p:spPr bwMode="auto">
          <a:xfrm>
            <a:off x="114300" y="2131268"/>
            <a:ext cx="1600200" cy="533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position</a:t>
            </a:r>
          </a:p>
        </p:txBody>
      </p:sp>
      <p:sp>
        <p:nvSpPr>
          <p:cNvPr id="100361" name="Line 31"/>
          <p:cNvSpPr>
            <a:spLocks noChangeShapeType="1"/>
          </p:cNvSpPr>
          <p:nvPr/>
        </p:nvSpPr>
        <p:spPr bwMode="auto">
          <a:xfrm>
            <a:off x="1143000" y="2664668"/>
            <a:ext cx="762000" cy="190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2" name="Line 32"/>
          <p:cNvSpPr>
            <a:spLocks noChangeShapeType="1"/>
          </p:cNvSpPr>
          <p:nvPr/>
        </p:nvSpPr>
        <p:spPr bwMode="auto">
          <a:xfrm flipH="1">
            <a:off x="2590800" y="2588468"/>
            <a:ext cx="0" cy="266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3" name="Line 33"/>
          <p:cNvSpPr>
            <a:spLocks noChangeShapeType="1"/>
          </p:cNvSpPr>
          <p:nvPr/>
        </p:nvSpPr>
        <p:spPr bwMode="auto">
          <a:xfrm flipH="1">
            <a:off x="3505200" y="2550368"/>
            <a:ext cx="762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4" name="Oval 35"/>
          <p:cNvSpPr>
            <a:spLocks noChangeArrowheads="1"/>
          </p:cNvSpPr>
          <p:nvPr/>
        </p:nvSpPr>
        <p:spPr bwMode="auto">
          <a:xfrm>
            <a:off x="114300" y="6125746"/>
            <a:ext cx="2133600" cy="6096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hourly rate</a:t>
            </a:r>
          </a:p>
        </p:txBody>
      </p:sp>
      <p:sp>
        <p:nvSpPr>
          <p:cNvPr id="100365" name="Line 36"/>
          <p:cNvSpPr>
            <a:spLocks noChangeShapeType="1"/>
          </p:cNvSpPr>
          <p:nvPr/>
        </p:nvSpPr>
        <p:spPr bwMode="auto">
          <a:xfrm flipH="1">
            <a:off x="1066800" y="5445968"/>
            <a:ext cx="304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6" name="Oval 37"/>
          <p:cNvSpPr>
            <a:spLocks noChangeArrowheads="1"/>
          </p:cNvSpPr>
          <p:nvPr/>
        </p:nvSpPr>
        <p:spPr bwMode="auto">
          <a:xfrm>
            <a:off x="4381500" y="6076086"/>
            <a:ext cx="2806100" cy="5334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contract_ duration</a:t>
            </a:r>
          </a:p>
        </p:txBody>
      </p:sp>
      <p:sp>
        <p:nvSpPr>
          <p:cNvPr id="100367" name="AutoShape 40"/>
          <p:cNvSpPr>
            <a:spLocks noChangeArrowheads="1"/>
          </p:cNvSpPr>
          <p:nvPr/>
        </p:nvSpPr>
        <p:spPr bwMode="auto">
          <a:xfrm>
            <a:off x="2362200" y="3693368"/>
            <a:ext cx="914400" cy="762000"/>
          </a:xfrm>
          <a:prstGeom prst="triangle">
            <a:avLst>
              <a:gd name="adj" fmla="val 50000"/>
            </a:avLst>
          </a:prstGeom>
          <a:solidFill>
            <a:srgbClr val="9999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ISA</a:t>
            </a:r>
          </a:p>
        </p:txBody>
      </p:sp>
      <p:sp>
        <p:nvSpPr>
          <p:cNvPr id="100368" name="Line 41"/>
          <p:cNvSpPr>
            <a:spLocks noChangeShapeType="1"/>
          </p:cNvSpPr>
          <p:nvPr/>
        </p:nvSpPr>
        <p:spPr bwMode="auto">
          <a:xfrm>
            <a:off x="2819400" y="346476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9" name="Line 42"/>
          <p:cNvSpPr>
            <a:spLocks noChangeShapeType="1"/>
          </p:cNvSpPr>
          <p:nvPr/>
        </p:nvSpPr>
        <p:spPr bwMode="auto">
          <a:xfrm flipH="1">
            <a:off x="1752600" y="4455368"/>
            <a:ext cx="762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0" name="Line 43"/>
          <p:cNvSpPr>
            <a:spLocks noChangeShapeType="1"/>
          </p:cNvSpPr>
          <p:nvPr/>
        </p:nvSpPr>
        <p:spPr bwMode="auto">
          <a:xfrm>
            <a:off x="3124200" y="4455368"/>
            <a:ext cx="990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108" name="Text Box 44"/>
          <p:cNvSpPr txBox="1">
            <a:spLocks noChangeArrowheads="1"/>
          </p:cNvSpPr>
          <p:nvPr/>
        </p:nvSpPr>
        <p:spPr bwMode="auto">
          <a:xfrm>
            <a:off x="5607350" y="4342357"/>
            <a:ext cx="33975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US" sz="2400" dirty="0">
                <a:latin typeface="Corbel" panose="020B0503020204020204" pitchFamily="34" charset="0"/>
              </a:rPr>
              <a:t>Both hourly employees &amp; contract employees </a:t>
            </a:r>
          </a:p>
          <a:p>
            <a:pPr eaLnBrk="1" hangingPunct="1"/>
            <a:r>
              <a:rPr lang="en-US" sz="2400" dirty="0">
                <a:latin typeface="Corbel" panose="020B0503020204020204" pitchFamily="34" charset="0"/>
              </a:rPr>
              <a:t>Belong to the type Staff</a:t>
            </a:r>
          </a:p>
        </p:txBody>
      </p:sp>
      <p:sp>
        <p:nvSpPr>
          <p:cNvPr id="100372" name="Rectangle 25"/>
          <p:cNvSpPr>
            <a:spLocks noChangeArrowheads="1"/>
          </p:cNvSpPr>
          <p:nvPr/>
        </p:nvSpPr>
        <p:spPr bwMode="auto">
          <a:xfrm>
            <a:off x="381000" y="4836368"/>
            <a:ext cx="1981200" cy="609600"/>
          </a:xfrm>
          <a:prstGeom prst="rect">
            <a:avLst/>
          </a:prstGeom>
          <a:solidFill>
            <a:srgbClr val="9999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a:t>Hourly_Emp</a:t>
            </a:r>
          </a:p>
        </p:txBody>
      </p:sp>
      <p:sp>
        <p:nvSpPr>
          <p:cNvPr id="100373" name="Rectangle 25"/>
          <p:cNvSpPr>
            <a:spLocks noChangeArrowheads="1"/>
          </p:cNvSpPr>
          <p:nvPr/>
        </p:nvSpPr>
        <p:spPr bwMode="auto">
          <a:xfrm>
            <a:off x="3429000" y="4860181"/>
            <a:ext cx="1981200" cy="609600"/>
          </a:xfrm>
          <a:prstGeom prst="rect">
            <a:avLst/>
          </a:prstGeom>
          <a:solidFill>
            <a:srgbClr val="9999FF"/>
          </a:solidFill>
          <a:ln w="9525">
            <a:solidFill>
              <a:schemeClr val="tx1"/>
            </a:solidFill>
            <a:miter lim="800000"/>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err="1"/>
              <a:t>Contract_Emp</a:t>
            </a:r>
            <a:endParaRPr lang="en-US" dirty="0"/>
          </a:p>
        </p:txBody>
      </p:sp>
      <p:sp>
        <p:nvSpPr>
          <p:cNvPr id="100374" name="Oval 35"/>
          <p:cNvSpPr>
            <a:spLocks noChangeArrowheads="1"/>
          </p:cNvSpPr>
          <p:nvPr/>
        </p:nvSpPr>
        <p:spPr bwMode="auto">
          <a:xfrm>
            <a:off x="1828800" y="5618828"/>
            <a:ext cx="2133600" cy="609600"/>
          </a:xfrm>
          <a:prstGeom prst="ellipse">
            <a:avLst/>
          </a:prstGeom>
          <a:solidFill>
            <a:srgbClr val="9999FF"/>
          </a:solidFill>
          <a:ln w="9525">
            <a:solidFill>
              <a:schemeClr val="tx1"/>
            </a:solidFill>
            <a:round/>
            <a:headEnd/>
            <a:tailEnd/>
          </a:ln>
        </p:spPr>
        <p:txBody>
          <a:bodyPr wrap="none" anchor="ctr"/>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US" dirty="0"/>
              <a:t>hours worked </a:t>
            </a:r>
          </a:p>
        </p:txBody>
      </p:sp>
      <p:cxnSp>
        <p:nvCxnSpPr>
          <p:cNvPr id="3" name="Straight Connector 2"/>
          <p:cNvCxnSpPr>
            <a:stCxn id="100372" idx="3"/>
            <a:endCxn id="100374" idx="0"/>
          </p:cNvCxnSpPr>
          <p:nvPr/>
        </p:nvCxnSpPr>
        <p:spPr>
          <a:xfrm>
            <a:off x="2362200" y="5141168"/>
            <a:ext cx="533400" cy="47766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p:cNvCxnSpPr>
            <a:cxnSpLocks/>
            <a:endCxn id="100366" idx="0"/>
          </p:cNvCxnSpPr>
          <p:nvPr/>
        </p:nvCxnSpPr>
        <p:spPr>
          <a:xfrm>
            <a:off x="4800600" y="5469781"/>
            <a:ext cx="983950" cy="60630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39648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6108"/>
                                        </p:tgtEl>
                                        <p:attrNameLst>
                                          <p:attrName>style.visibility</p:attrName>
                                        </p:attrNameLst>
                                      </p:cBhvr>
                                      <p:to>
                                        <p:strVal val="visible"/>
                                      </p:to>
                                    </p:set>
                                    <p:anim calcmode="lin" valueType="num">
                                      <p:cBhvr additive="base">
                                        <p:cTn id="7" dur="500" fill="hold"/>
                                        <p:tgtEl>
                                          <p:spTgt spid="216108"/>
                                        </p:tgtEl>
                                        <p:attrNameLst>
                                          <p:attrName>ppt_x</p:attrName>
                                        </p:attrNameLst>
                                      </p:cBhvr>
                                      <p:tavLst>
                                        <p:tav tm="0">
                                          <p:val>
                                            <p:strVal val="#ppt_x"/>
                                          </p:val>
                                        </p:tav>
                                        <p:tav tm="100000">
                                          <p:val>
                                            <p:strVal val="#ppt_x"/>
                                          </p:val>
                                        </p:tav>
                                      </p:tavLst>
                                    </p:anim>
                                    <p:anim calcmode="lin" valueType="num">
                                      <p:cBhvr additive="base">
                                        <p:cTn id="8" dur="500" fill="hold"/>
                                        <p:tgtEl>
                                          <p:spTgt spid="216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108"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End of Lecture 05</a:t>
            </a:r>
          </a:p>
        </p:txBody>
      </p:sp>
      <p:sp>
        <p:nvSpPr>
          <p:cNvPr id="3" name="Slide Number Placeholder 2"/>
          <p:cNvSpPr>
            <a:spLocks noGrp="1"/>
          </p:cNvSpPr>
          <p:nvPr>
            <p:ph type="sldNum" sz="quarter" idx="12"/>
          </p:nvPr>
        </p:nvSpPr>
        <p:spPr/>
        <p:txBody>
          <a:bodyPr/>
          <a:lstStyle/>
          <a:p>
            <a:fld id="{51A71D3D-F011-47C0-9290-685F7D9F6412}" type="slidenum">
              <a:rPr lang="en-US" smtClean="0"/>
              <a:t>75</a:t>
            </a:fld>
            <a:endParaRPr lang="en-US"/>
          </a:p>
        </p:txBody>
      </p:sp>
      <p:sp>
        <p:nvSpPr>
          <p:cNvPr id="4" name="Title 1"/>
          <p:cNvSpPr txBox="1">
            <a:spLocks/>
          </p:cNvSpPr>
          <p:nvPr/>
        </p:nvSpPr>
        <p:spPr>
          <a:xfrm>
            <a:off x="533400" y="3246438"/>
            <a:ext cx="7765321" cy="1326321"/>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Questions ?</a:t>
            </a:r>
          </a:p>
        </p:txBody>
      </p:sp>
    </p:spTree>
    <p:extLst>
      <p:ext uri="{BB962C8B-B14F-4D97-AF65-F5344CB8AC3E}">
        <p14:creationId xmlns:p14="http://schemas.microsoft.com/office/powerpoint/2010/main" val="1717245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C5C82534-F570-47D0-B68B-77FF3196E0DA}" vid="{CA49051E-35FD-4162-BB75-12F1D25530D3}"/>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5C82534-F570-47D0-B68B-77FF3196E0DA}" vid="{0BC3DA50-FEEF-43B6-860E-C898C0E591E6}"/>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Updated Design</Template>
  <TotalTime>1400</TotalTime>
  <Words>2787</Words>
  <Application>Microsoft Office PowerPoint</Application>
  <PresentationFormat>On-screen Show (4:3)</PresentationFormat>
  <Paragraphs>783</Paragraphs>
  <Slides>75</Slides>
  <Notes>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75</vt:i4>
      </vt:variant>
    </vt:vector>
  </HeadingPairs>
  <TitlesOfParts>
    <vt:vector size="87" baseType="lpstr">
      <vt:lpstr>Arial</vt:lpstr>
      <vt:lpstr>Arial Black</vt:lpstr>
      <vt:lpstr>Calibri</vt:lpstr>
      <vt:lpstr>Calibri Light</vt:lpstr>
      <vt:lpstr>Corbel</vt:lpstr>
      <vt:lpstr>Monotype Sorts</vt:lpstr>
      <vt:lpstr>Tahoma</vt:lpstr>
      <vt:lpstr>Times New Roman</vt:lpstr>
      <vt:lpstr>Wingdings</vt:lpstr>
      <vt:lpstr>Office Theme</vt:lpstr>
      <vt:lpstr>Custom Design</vt:lpstr>
      <vt:lpstr>1_Custom Design</vt:lpstr>
      <vt:lpstr>Data Modelling using ER diagrams</vt:lpstr>
      <vt:lpstr>Learning Outcome</vt:lpstr>
      <vt:lpstr>Conceptual Modeling  ER Diagrams</vt:lpstr>
      <vt:lpstr>Entity-Relationship (ER) Model </vt:lpstr>
      <vt:lpstr>ER Diagrams</vt:lpstr>
      <vt:lpstr> E-r Notation</vt:lpstr>
      <vt:lpstr> E-r Notation</vt:lpstr>
      <vt:lpstr>Entity</vt:lpstr>
      <vt:lpstr>Attributes</vt:lpstr>
      <vt:lpstr>BOC Network </vt:lpstr>
      <vt:lpstr> SLIIT Student Registration </vt:lpstr>
      <vt:lpstr>Entity Set</vt:lpstr>
      <vt:lpstr>Example</vt:lpstr>
      <vt:lpstr>Domain of an Attribute  </vt:lpstr>
      <vt:lpstr>Composite Attributes </vt:lpstr>
      <vt:lpstr>Your Turn!!</vt:lpstr>
      <vt:lpstr>Multi valued Attributes </vt:lpstr>
      <vt:lpstr>Your Turn!!</vt:lpstr>
      <vt:lpstr>Derived Attributes</vt:lpstr>
      <vt:lpstr>An exercise</vt:lpstr>
      <vt:lpstr>Tick where applicable</vt:lpstr>
      <vt:lpstr>Key Attributes</vt:lpstr>
      <vt:lpstr>Primary Key</vt:lpstr>
      <vt:lpstr>Composite Key</vt:lpstr>
      <vt:lpstr>Super Key</vt:lpstr>
      <vt:lpstr>PowerPoint Presentation</vt:lpstr>
      <vt:lpstr>PowerPoint Presentation</vt:lpstr>
      <vt:lpstr>Relationship </vt:lpstr>
      <vt:lpstr>Example: Relationships</vt:lpstr>
      <vt:lpstr>Degree of a Relationship </vt:lpstr>
      <vt:lpstr>Degree of Relationship  </vt:lpstr>
      <vt:lpstr>Ternary Relationships</vt:lpstr>
      <vt:lpstr>A Typical Relationship Set</vt:lpstr>
      <vt:lpstr>Ternary Relationship</vt:lpstr>
      <vt:lpstr>Ternary relationship</vt:lpstr>
      <vt:lpstr>Cardinality</vt:lpstr>
      <vt:lpstr>One-to-One Relationship</vt:lpstr>
      <vt:lpstr>Your Turn !!</vt:lpstr>
      <vt:lpstr>PowerPoint Presentation</vt:lpstr>
      <vt:lpstr>Example: One - Many Relationship</vt:lpstr>
      <vt:lpstr>Your Turn !!</vt:lpstr>
      <vt:lpstr>Many-to-many Relationship</vt:lpstr>
      <vt:lpstr>Example: Many - Many Relationship</vt:lpstr>
      <vt:lpstr>Your Turn !!</vt:lpstr>
      <vt:lpstr>Exercise</vt:lpstr>
      <vt:lpstr>PowerPoint Presentation</vt:lpstr>
      <vt:lpstr>Descriptive Attributes</vt:lpstr>
      <vt:lpstr>Descriptive Attributes</vt:lpstr>
      <vt:lpstr>Attribute on Relationship</vt:lpstr>
      <vt:lpstr>ER Diagram </vt:lpstr>
      <vt:lpstr>Your Turn !</vt:lpstr>
      <vt:lpstr>Your Turn !!!</vt:lpstr>
      <vt:lpstr>Restrictions - Constraints </vt:lpstr>
      <vt:lpstr>PowerPoint Presentation</vt:lpstr>
      <vt:lpstr>Participating Constraints</vt:lpstr>
      <vt:lpstr>Participation Constraints</vt:lpstr>
      <vt:lpstr>E-R Model (contd.)</vt:lpstr>
      <vt:lpstr>Participation Constraints </vt:lpstr>
      <vt:lpstr>Weak Entity</vt:lpstr>
      <vt:lpstr>Weak Entity</vt:lpstr>
      <vt:lpstr>Weak Entity</vt:lpstr>
      <vt:lpstr>PowerPoint Presentation</vt:lpstr>
      <vt:lpstr>EXAMPLE - Weak Entity</vt:lpstr>
      <vt:lpstr>Recursive Relationship</vt:lpstr>
      <vt:lpstr>E-R Model (contd.)</vt:lpstr>
      <vt:lpstr>Recursive Relationship</vt:lpstr>
      <vt:lpstr>Recursive Relationships</vt:lpstr>
      <vt:lpstr>Your Turn !</vt:lpstr>
      <vt:lpstr>PowerPoint Presentation</vt:lpstr>
      <vt:lpstr>Alternate Notation – Min: Max</vt:lpstr>
      <vt:lpstr>PowerPoint Presentation</vt:lpstr>
      <vt:lpstr>PowerPoint Presentation</vt:lpstr>
      <vt:lpstr>Enhanced ER Modelling</vt:lpstr>
      <vt:lpstr>Diagrammatic Representation of ‘ISA’ relationship</vt:lpstr>
      <vt:lpstr> End of Lecture 05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Losini Shanmugam</dc:creator>
  <cp:lastModifiedBy>K.H.S. Dinsara</cp:lastModifiedBy>
  <cp:revision>57</cp:revision>
  <dcterms:created xsi:type="dcterms:W3CDTF">2017-06-04T15:05:52Z</dcterms:created>
  <dcterms:modified xsi:type="dcterms:W3CDTF">2024-08-11T09:04:12Z</dcterms:modified>
</cp:coreProperties>
</file>