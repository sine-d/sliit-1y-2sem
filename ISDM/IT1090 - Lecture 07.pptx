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55"/>
  </p:notesMasterIdLst>
  <p:sldIdLst>
    <p:sldId id="390" r:id="rId4"/>
    <p:sldId id="391" r:id="rId5"/>
    <p:sldId id="466" r:id="rId6"/>
    <p:sldId id="467" r:id="rId7"/>
    <p:sldId id="468" r:id="rId8"/>
    <p:sldId id="469" r:id="rId9"/>
    <p:sldId id="470" r:id="rId10"/>
    <p:sldId id="471" r:id="rId11"/>
    <p:sldId id="472" r:id="rId12"/>
    <p:sldId id="473" r:id="rId13"/>
    <p:sldId id="474" r:id="rId14"/>
    <p:sldId id="475" r:id="rId15"/>
    <p:sldId id="476" r:id="rId16"/>
    <p:sldId id="477" r:id="rId17"/>
    <p:sldId id="478" r:id="rId18"/>
    <p:sldId id="479" r:id="rId19"/>
    <p:sldId id="480" r:id="rId20"/>
    <p:sldId id="481" r:id="rId21"/>
    <p:sldId id="482" r:id="rId22"/>
    <p:sldId id="483" r:id="rId23"/>
    <p:sldId id="484" r:id="rId24"/>
    <p:sldId id="485" r:id="rId25"/>
    <p:sldId id="486" r:id="rId26"/>
    <p:sldId id="487" r:id="rId27"/>
    <p:sldId id="488" r:id="rId28"/>
    <p:sldId id="489" r:id="rId29"/>
    <p:sldId id="490" r:id="rId30"/>
    <p:sldId id="491" r:id="rId31"/>
    <p:sldId id="492" r:id="rId32"/>
    <p:sldId id="493" r:id="rId33"/>
    <p:sldId id="494" r:id="rId34"/>
    <p:sldId id="495" r:id="rId35"/>
    <p:sldId id="496" r:id="rId36"/>
    <p:sldId id="497" r:id="rId37"/>
    <p:sldId id="498" r:id="rId38"/>
    <p:sldId id="499" r:id="rId39"/>
    <p:sldId id="500" r:id="rId40"/>
    <p:sldId id="501" r:id="rId41"/>
    <p:sldId id="502" r:id="rId42"/>
    <p:sldId id="503" r:id="rId43"/>
    <p:sldId id="504" r:id="rId44"/>
    <p:sldId id="505" r:id="rId45"/>
    <p:sldId id="506" r:id="rId46"/>
    <p:sldId id="507" r:id="rId47"/>
    <p:sldId id="508" r:id="rId48"/>
    <p:sldId id="509" r:id="rId49"/>
    <p:sldId id="510" r:id="rId50"/>
    <p:sldId id="511" r:id="rId51"/>
    <p:sldId id="512" r:id="rId52"/>
    <p:sldId id="513" r:id="rId53"/>
    <p:sldId id="464" r:id="rId54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242D66"/>
    <a:srgbClr val="F2F2F2"/>
    <a:srgbClr val="E87A23"/>
    <a:srgbClr val="ED7D31"/>
    <a:srgbClr val="00FF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 autoAdjust="0"/>
    <p:restoredTop sz="61728" autoAdjust="0"/>
  </p:normalViewPr>
  <p:slideViewPr>
    <p:cSldViewPr>
      <p:cViewPr varScale="1">
        <p:scale>
          <a:sx n="82" d="100"/>
          <a:sy n="82" d="100"/>
        </p:scale>
        <p:origin x="1891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520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heme" Target="theme/theme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viewProps" Target="view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25425D0-3ECE-420E-9130-D13D915528F8}" type="datetimeFigureOut">
              <a:rPr lang="en-US" smtClean="0"/>
              <a:pPr/>
              <a:t>8/27/2024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D2F2318-E25A-4C0A-9D76-B30B703A94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9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1FB3D6B-C3AC-4E21-A36C-4356DA7D9A62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3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13703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72AC98F-6FF5-4D9E-8035-6C8C1FE569DF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4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6500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8B0D64F-0824-46A7-A85D-71D023D2F50D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5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48545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F326C12-13FA-481B-A686-A2E0C27000A5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6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52194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D01888-B528-4F6F-B0C3-2016EBDA7160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7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594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B922633-B44C-4DF5-8A16-8028CF2058C7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8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43465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DC03C7F-CD2E-4538-85BD-AF105006024A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9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28211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00683FB-16F2-468F-B332-56025B017908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10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52172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523DB2E-29ED-4E4A-A0D5-0805DA9EC84F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11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71092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9B34C81-9A16-4D5D-B5B2-263197A9D450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12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48375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BB86AE3-C11E-4AA9-A513-DD31D87C11F7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13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5295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14DBA3-4675-45AE-BE64-CF0D07800A27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14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3554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BA898E8-9027-4B9E-B301-FDDA13FF69FB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15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Semantics: Real world meaning, easy to generate queries; Do not combine attributes from multiple entity types and relationship</a:t>
            </a:r>
            <a:r>
              <a:rPr lang="en-US" altLang="en-US" baseline="0" dirty="0"/>
              <a:t> types in to a single relation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16573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060316E-9536-4BCD-B2AF-FC8660F5F78B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17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Minimize the storage space used by the base relations.</a:t>
            </a:r>
          </a:p>
        </p:txBody>
      </p:sp>
    </p:spTree>
    <p:extLst>
      <p:ext uri="{BB962C8B-B14F-4D97-AF65-F5344CB8AC3E}">
        <p14:creationId xmlns:p14="http://schemas.microsoft.com/office/powerpoint/2010/main" val="26261853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890F078-8531-4EB5-B8BF-2B813279FC4B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18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Fat relations, many of the</a:t>
            </a:r>
            <a:r>
              <a:rPr lang="en-US" altLang="en-US" baseline="0" dirty="0"/>
              <a:t> attributes do not apply to all tuples in the relation: waste space, problems with understanding the meaning of attributes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3529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6E0E19B-3247-4118-8BE8-7FE8FC2F9B8C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19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539068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7DE9BAA-F103-4B6B-95E2-2D74ADD1D0DB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21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298283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6CF162-EC33-43E7-8B85-36703E066381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22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898742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4298730-1F57-4A99-B369-9B28DF893CC1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23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777489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A238490-E32F-42B8-BC2E-CC7E4B42A4A8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24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111590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D2019E-EA48-4D30-89D6-A9332A34ABBD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25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497106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905259A-4295-432A-BE7B-5BB158A3E5C7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26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59410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C42334-5F76-4B24-B6D7-7982F0F23A19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27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01754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A05A341-82D5-43F3-892E-2899398886EE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28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602610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57336E0-6D12-4EC1-995F-32F740AA7048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29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354105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EE593F7-795A-4D91-AFD2-A46436455B5C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30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022865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B606C20-6D0B-4E46-9EEA-C9C5CFEED497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31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84339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C51249C-EDBE-4967-977C-BE755E060DDA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32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706937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0283B7-9665-439A-9775-98504D1163F6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33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595781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2B9ABE-A6A1-45ED-9B14-93CBAC8753A7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34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505766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82731B8-A07D-4DB3-874D-A7F95F5DD909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35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40218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64D084-0E32-44A0-A5E3-ECC300DE2E45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36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915519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4745181-B919-4EC2-BDB5-72AD714B3665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37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120003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0C67CDA-3709-49C3-8FEA-6DA07B8FA9C4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38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069541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302D2C5-AA5B-4C86-AEBD-D3E94458B627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39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18447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fld id="{A53DB1CD-3448-4BFB-8308-325E90EBE68C}" type="slidenum">
              <a:rPr lang="en-US" altLang="en-US" sz="1200">
                <a:latin typeface="Times New Roman" panose="02020603050405020304" pitchFamily="18" charset="0"/>
                <a:cs typeface="Lucida Sans Unicode" panose="020B0602030504020204" pitchFamily="34" charset="0"/>
              </a:rPr>
              <a:pPr eaLnBrk="1" hangingPunct="1">
                <a:buFont typeface="Wingdings" panose="05000000000000000000" pitchFamily="2" charset="2"/>
                <a:buNone/>
              </a:pPr>
              <a:t>40</a:t>
            </a:fld>
            <a:endParaRPr lang="en-US" altLang="en-US" sz="120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9216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164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4739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fld id="{2969909F-9610-4ED2-96D0-C63D0170C450}" type="slidenum">
              <a:rPr lang="en-US" altLang="en-US" sz="1200">
                <a:latin typeface="Times New Roman" panose="02020603050405020304" pitchFamily="18" charset="0"/>
                <a:cs typeface="Lucida Sans Unicode" panose="020B0602030504020204" pitchFamily="34" charset="0"/>
              </a:rPr>
              <a:pPr eaLnBrk="1" hangingPunct="1">
                <a:buFont typeface="Wingdings" panose="05000000000000000000" pitchFamily="2" charset="2"/>
                <a:buNone/>
              </a:pPr>
              <a:t>41</a:t>
            </a:fld>
            <a:endParaRPr lang="en-US" altLang="en-US" sz="120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931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8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0364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CFC8C6-5E50-4597-8A92-307A210AB9B1}" type="slidenum">
              <a:rPr lang="en-US" altLang="en-US" sz="1200">
                <a:latin typeface="Candara" panose="020E0502030303020204" pitchFamily="34" charset="0"/>
              </a:rPr>
              <a:pPr eaLnBrk="1" hangingPunct="1"/>
              <a:t>42</a:t>
            </a:fld>
            <a:endParaRPr lang="en-US" altLang="en-US" sz="1200" dirty="0">
              <a:latin typeface="Candara" panose="020E0502030303020204" pitchFamily="34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359871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fld id="{67E75DC3-71B2-4B5E-8C97-A9187A5F21F5}" type="slidenum">
              <a:rPr lang="en-US" altLang="en-US" sz="1200">
                <a:latin typeface="Times New Roman" panose="02020603050405020304" pitchFamily="18" charset="0"/>
                <a:cs typeface="Lucida Sans Unicode" panose="020B0602030504020204" pitchFamily="34" charset="0"/>
              </a:rPr>
              <a:pPr eaLnBrk="1" hangingPunct="1">
                <a:buFont typeface="Wingdings" panose="05000000000000000000" pitchFamily="2" charset="2"/>
                <a:buNone/>
              </a:pPr>
              <a:t>43</a:t>
            </a:fld>
            <a:endParaRPr lang="en-US" altLang="en-US" sz="120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9523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5236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4636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fld id="{5B181C04-049F-4472-AF8E-9A0C12910F6B}" type="slidenum">
              <a:rPr lang="en-US" altLang="en-US" sz="1200">
                <a:latin typeface="Times New Roman" panose="02020603050405020304" pitchFamily="18" charset="0"/>
                <a:cs typeface="Lucida Sans Unicode" panose="020B0602030504020204" pitchFamily="34" charset="0"/>
              </a:rPr>
              <a:pPr eaLnBrk="1" hangingPunct="1">
                <a:buFont typeface="Wingdings" panose="05000000000000000000" pitchFamily="2" charset="2"/>
                <a:buNone/>
              </a:pPr>
              <a:t>44</a:t>
            </a:fld>
            <a:endParaRPr lang="en-US" altLang="en-US" sz="120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962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6260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4800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fld id="{0AEE85EA-4BB8-4F3A-8D72-70F3A0E4A48E}" type="slidenum">
              <a:rPr lang="en-US" altLang="en-US" sz="1200">
                <a:latin typeface="Times New Roman" panose="02020603050405020304" pitchFamily="18" charset="0"/>
                <a:cs typeface="Lucida Sans Unicode" panose="020B0602030504020204" pitchFamily="34" charset="0"/>
              </a:rPr>
              <a:pPr eaLnBrk="1" hangingPunct="1">
                <a:buFont typeface="Wingdings" panose="05000000000000000000" pitchFamily="2" charset="2"/>
                <a:buNone/>
              </a:pPr>
              <a:t>45</a:t>
            </a:fld>
            <a:endParaRPr lang="en-US" altLang="en-US" sz="120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9728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7284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4344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fld id="{64A33D41-AF68-4277-8CC2-7D7FA8C72714}" type="slidenum">
              <a:rPr lang="en-US" altLang="en-US" sz="1200">
                <a:latin typeface="Times New Roman" panose="02020603050405020304" pitchFamily="18" charset="0"/>
                <a:cs typeface="Lucida Sans Unicode" panose="020B0602030504020204" pitchFamily="34" charset="0"/>
              </a:rPr>
              <a:pPr eaLnBrk="1" hangingPunct="1">
                <a:buFont typeface="Wingdings" panose="05000000000000000000" pitchFamily="2" charset="2"/>
                <a:buNone/>
              </a:pPr>
              <a:t>46</a:t>
            </a:fld>
            <a:endParaRPr lang="en-US" altLang="en-US" sz="120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9830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8308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75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fld id="{431E3F79-68E4-4C7E-BDED-366911BA3784}" type="slidenum">
              <a:rPr lang="en-US" altLang="en-US" sz="1200">
                <a:latin typeface="Times New Roman" panose="02020603050405020304" pitchFamily="18" charset="0"/>
                <a:cs typeface="Lucida Sans Unicode" panose="020B0602030504020204" pitchFamily="34" charset="0"/>
              </a:rPr>
              <a:pPr eaLnBrk="1" hangingPunct="1">
                <a:buFont typeface="Wingdings" panose="05000000000000000000" pitchFamily="2" charset="2"/>
                <a:buNone/>
              </a:pPr>
              <a:t>47</a:t>
            </a:fld>
            <a:endParaRPr lang="en-US" altLang="en-US" sz="120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9933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4271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fld id="{2180DF4C-06C1-41D8-950D-C1950D7352D0}" type="slidenum">
              <a:rPr lang="en-US" altLang="en-US" sz="1200">
                <a:latin typeface="Times New Roman" panose="02020603050405020304" pitchFamily="18" charset="0"/>
                <a:cs typeface="Lucida Sans Unicode" panose="020B0602030504020204" pitchFamily="34" charset="0"/>
              </a:rPr>
              <a:pPr eaLnBrk="1" hangingPunct="1">
                <a:buFont typeface="Wingdings" panose="05000000000000000000" pitchFamily="2" charset="2"/>
                <a:buNone/>
              </a:pPr>
              <a:t>48</a:t>
            </a:fld>
            <a:endParaRPr lang="en-US" altLang="en-US" sz="120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10035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0356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386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BDE25-0E3B-014D-AB08-0AD4741190BF}" type="datetime1">
              <a:rPr lang="en-US" smtClean="0"/>
              <a:t>8/27/2024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85719"/>
            <a:ext cx="457200" cy="365125"/>
          </a:xfrm>
          <a:prstGeom prst="rect">
            <a:avLst/>
          </a:prstGeom>
        </p:spPr>
        <p:txBody>
          <a:bodyPr/>
          <a:lstStyle/>
          <a:p>
            <a:fld id="{82811DF7-A42A-4107-A9E6-6C3947535C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t>8/27/2024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27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93E9-CEF0-47B7-AEA6-AFACC79966BA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273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59AD-49F4-478E-A013-BE606CDD1B41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896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35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59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5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t>8/27/2024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4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t>8/27/2024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25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t>8/27/2024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93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67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2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03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97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98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959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472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607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274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402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345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716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909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000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5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33" r="73809"/>
          <a:stretch/>
        </p:blipFill>
        <p:spPr>
          <a:xfrm>
            <a:off x="0" y="5410200"/>
            <a:ext cx="2450123" cy="14478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56384-A506-C646-ACE4-0A747B69E112}" type="datetime1">
              <a:rPr lang="en-US" smtClean="0"/>
              <a:t>8/27/2024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10" b="76667"/>
          <a:stretch/>
        </p:blipFill>
        <p:spPr>
          <a:xfrm>
            <a:off x="6690091" y="0"/>
            <a:ext cx="2453909" cy="1561578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0" y="0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IT1090 - Information Systems and Data Modeling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6519446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SLIIT </a:t>
            </a:r>
            <a:r>
              <a:rPr lang="en-US" sz="1600" b="1" baseline="0" dirty="0">
                <a:solidFill>
                  <a:schemeClr val="tx1"/>
                </a:solidFill>
              </a:rPr>
              <a:t> - Faculty of Computing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248400" y="76200"/>
            <a:ext cx="2743200" cy="91440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6248400" y="76200"/>
            <a:ext cx="2742857" cy="914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4" r:id="rId2"/>
    <p:sldLayoutId id="2147483685" r:id="rId3"/>
    <p:sldLayoutId id="2147483686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>
            <a:off x="0" y="6400800"/>
            <a:ext cx="9144000" cy="45720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08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1D3D-F011-47C0-9290-685F7D9F641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7620000" y="0"/>
            <a:ext cx="1524000" cy="508064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0" y="6553200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E87A23"/>
                </a:solidFill>
              </a:rPr>
              <a:t>SLIIT </a:t>
            </a:r>
            <a:r>
              <a:rPr lang="en-US" sz="1600" b="1" baseline="0" dirty="0">
                <a:solidFill>
                  <a:srgbClr val="E87A23"/>
                </a:solidFill>
              </a:rPr>
              <a:t> - Faculty of Computing</a:t>
            </a:r>
            <a:endParaRPr lang="en-US" sz="1600" b="1" dirty="0">
              <a:solidFill>
                <a:srgbClr val="E87A23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 rot="10800000">
            <a:off x="0" y="-2"/>
            <a:ext cx="7620000" cy="45720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0" y="-76200"/>
            <a:ext cx="441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IT1090 - Information Systems and Data Modeling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628650" y="1447800"/>
            <a:ext cx="78867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37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516F8-EADD-4F1E-A66A-F9DE6D301F0B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0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Corbel" panose="020B0503020204020204" pitchFamily="34" charset="0"/>
              </a:rPr>
              <a:t>Normalization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 - 07</a:t>
            </a:r>
          </a:p>
        </p:txBody>
      </p:sp>
    </p:spTree>
    <p:extLst>
      <p:ext uri="{BB962C8B-B14F-4D97-AF65-F5344CB8AC3E}">
        <p14:creationId xmlns:p14="http://schemas.microsoft.com/office/powerpoint/2010/main" val="2551726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2696"/>
            <a:ext cx="6687849" cy="1181858"/>
          </a:xfrm>
        </p:spPr>
        <p:txBody>
          <a:bodyPr>
            <a:normAutofit/>
          </a:bodyPr>
          <a:lstStyle/>
          <a:p>
            <a:pPr algn="l"/>
            <a:r>
              <a:rPr lang="en-US" sz="4800" dirty="0"/>
              <a:t>Learning Outcome</a:t>
            </a:r>
            <a:endParaRPr lang="en-US" sz="4800" dirty="0">
              <a:latin typeface="Corbel" panose="020B0503020204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539750" y="1700213"/>
            <a:ext cx="8064500" cy="439258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/>
              <a:t>Apply formal methods to refine the data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914400"/>
            <a:ext cx="7086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Database Design Process </a:t>
            </a:r>
            <a:br>
              <a:rPr lang="en-US" altLang="en-US" sz="3600" dirty="0">
                <a:latin typeface="Candara" panose="020E0502030303020204" pitchFamily="34" charset="0"/>
              </a:rPr>
            </a:br>
            <a:endParaRPr lang="en-US" altLang="en-US" sz="3600" dirty="0">
              <a:latin typeface="Candara" panose="020E0502030303020204" pitchFamily="34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78669" y="1828800"/>
            <a:ext cx="7586662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kern="0" dirty="0">
                <a:latin typeface="Candara" panose="020E0502030303020204" pitchFamily="34" charset="0"/>
              </a:rPr>
              <a:t>Requirements Analysis - </a:t>
            </a:r>
            <a:r>
              <a:rPr lang="en-AU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andara" panose="020E0502030303020204" pitchFamily="34" charset="0"/>
              </a:rPr>
              <a:t>What does the user want?</a:t>
            </a:r>
            <a:endParaRPr lang="en-US" b="1" kern="0" dirty="0">
              <a:latin typeface="Candara" panose="020E0502030303020204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kern="0" dirty="0">
                <a:latin typeface="Candara" panose="020E0502030303020204" pitchFamily="34" charset="0"/>
              </a:rPr>
              <a:t>Conceptual Database Design - </a:t>
            </a:r>
            <a:r>
              <a:rPr lang="en-AU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andara" panose="020E0502030303020204" pitchFamily="34" charset="0"/>
              </a:rPr>
              <a:t>Defining the entities and attributes, and the relationships between these --&gt; The ER model </a:t>
            </a:r>
            <a:endParaRPr lang="en-US" b="1" kern="0" dirty="0">
              <a:latin typeface="Candara" panose="020E0502030303020204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kern="0" dirty="0">
                <a:latin typeface="Candara" panose="020E0502030303020204" pitchFamily="34" charset="0"/>
              </a:rPr>
              <a:t>Logical Database Design - </a:t>
            </a:r>
            <a:r>
              <a:rPr lang="en-US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andara" panose="020E0502030303020204" pitchFamily="34" charset="0"/>
              </a:rPr>
              <a:t>Map ER to Relational Schema</a:t>
            </a:r>
            <a:endParaRPr lang="en-US" b="1" kern="0" dirty="0">
              <a:latin typeface="Candara" panose="020E0502030303020204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kern="0" dirty="0">
                <a:solidFill>
                  <a:srgbClr val="FF0000"/>
                </a:solidFill>
                <a:latin typeface="Candara" panose="020E0502030303020204" pitchFamily="34" charset="0"/>
              </a:rPr>
              <a:t>Schema Refinement  </a:t>
            </a:r>
            <a:r>
              <a:rPr lang="en-US" b="1" kern="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ndara" panose="020E0502030303020204" pitchFamily="34" charset="0"/>
              </a:rPr>
              <a:t>(Fine tune 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kern="0" dirty="0">
                <a:latin typeface="Candara" panose="020E0502030303020204" pitchFamily="34" charset="0"/>
              </a:rPr>
              <a:t>Physical Database Design - </a:t>
            </a:r>
            <a:r>
              <a:rPr lang="en-AU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andara" panose="020E0502030303020204" pitchFamily="34" charset="0"/>
              </a:rPr>
              <a:t>Implementation of the design using a Database Management System</a:t>
            </a:r>
            <a:endParaRPr lang="en-US" b="1" kern="0" dirty="0">
              <a:latin typeface="Candara" panose="020E0502030303020204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kern="0" dirty="0">
                <a:latin typeface="Candara" panose="020E0502030303020204" pitchFamily="34" charset="0"/>
              </a:rPr>
              <a:t>Security Design - </a:t>
            </a:r>
            <a:r>
              <a:rPr lang="en-US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andara" panose="020E0502030303020204" pitchFamily="34" charset="0"/>
              </a:rPr>
              <a:t>Implement Controls to ensure security and integrity</a:t>
            </a:r>
            <a:endParaRPr lang="en-US" b="1" kern="0" dirty="0"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ndara" panose="020E0502030303020204" pitchFamily="34" charset="0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endParaRPr lang="en-US" kern="0" dirty="0">
              <a:effectLst>
                <a:outerShdw blurRad="38100" dist="38100" dir="2700000" algn="tl">
                  <a:srgbClr val="C0C0C0"/>
                </a:outerShdw>
              </a:effectLst>
              <a:latin typeface="Candara" panose="020E0502030303020204" pitchFamily="34" charset="0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endParaRPr lang="en-US" sz="1700" kern="0" dirty="0"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54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746918"/>
            <a:ext cx="7086600" cy="792163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Normalization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8756" y="1676400"/>
            <a:ext cx="8108043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800" dirty="0">
                <a:latin typeface="+mn-lt"/>
              </a:rPr>
              <a:t>Conceptual Modeling is a subjective process.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sz="2800" dirty="0">
              <a:latin typeface="+mn-lt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800" dirty="0">
                <a:latin typeface="+mn-lt"/>
              </a:rPr>
              <a:t>Therefore, the schema after the logical database design phase may not be very good (contain redundant data)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sz="2800" dirty="0">
              <a:latin typeface="+mn-lt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800" dirty="0">
                <a:latin typeface="+mn-lt"/>
              </a:rPr>
              <a:t>However, there are formalisms to ensure that the schema is good.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sz="2800" dirty="0">
              <a:latin typeface="+mn-lt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800" dirty="0">
                <a:latin typeface="+mn-lt"/>
              </a:rPr>
              <a:t>This process is called Normalization</a:t>
            </a:r>
          </a:p>
        </p:txBody>
      </p:sp>
    </p:spTree>
    <p:extLst>
      <p:ext uri="{BB962C8B-B14F-4D97-AF65-F5344CB8AC3E}">
        <p14:creationId xmlns:p14="http://schemas.microsoft.com/office/powerpoint/2010/main" val="3772147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914400"/>
            <a:ext cx="7086600" cy="792163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Normalization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19100" y="1981200"/>
            <a:ext cx="83058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Calibri (Body)"/>
              </a:rPr>
              <a:t>Relational database schema = set of relations</a:t>
            </a:r>
          </a:p>
          <a:p>
            <a:pPr marL="342900" indent="-342900" algn="l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Calibri (Body)"/>
              </a:rPr>
              <a:t>Relation = set of attributes</a:t>
            </a:r>
          </a:p>
          <a:p>
            <a:pPr marL="342900" indent="-342900" algn="l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Calibri (Body)"/>
              </a:rPr>
              <a:t>How we group the attributes to relations is </a:t>
            </a:r>
            <a:r>
              <a:rPr lang="en-US" sz="2800" b="1" kern="0" dirty="0">
                <a:solidFill>
                  <a:srgbClr val="FF0000"/>
                </a:solidFill>
                <a:latin typeface="Calibri (Body)"/>
              </a:rPr>
              <a:t>very important</a:t>
            </a:r>
          </a:p>
          <a:p>
            <a:pPr marL="342900" indent="-342900" algn="l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Normalization or Schema Refinement </a:t>
            </a:r>
            <a:r>
              <a:rPr lang="en-US" sz="2800" kern="0" dirty="0">
                <a:latin typeface="Calibri (Body)"/>
              </a:rPr>
              <a:t>help determine</a:t>
            </a:r>
            <a:r>
              <a:rPr lang="en-US" sz="2800" b="1" kern="0" dirty="0">
                <a:latin typeface="Calibri (Body)"/>
              </a:rPr>
              <a:t> “</a:t>
            </a:r>
            <a:r>
              <a:rPr lang="en-US" sz="2800" b="1" kern="0" dirty="0">
                <a:solidFill>
                  <a:srgbClr val="FF0000"/>
                </a:solidFill>
                <a:latin typeface="Calibri (Body)"/>
              </a:rPr>
              <a:t>GOOD</a:t>
            </a:r>
            <a:r>
              <a:rPr lang="en-US" sz="2800" b="1" kern="0" dirty="0">
                <a:latin typeface="Calibri (Body)"/>
              </a:rPr>
              <a:t>” </a:t>
            </a:r>
            <a:r>
              <a:rPr lang="en-US" sz="2800" kern="0" dirty="0">
                <a:latin typeface="Calibri (Body)"/>
              </a:rPr>
              <a:t>relations</a:t>
            </a:r>
          </a:p>
          <a:p>
            <a:pPr marL="342900" indent="-342900" algn="l">
              <a:spcBef>
                <a:spcPct val="20000"/>
              </a:spcBef>
              <a:buFontTx/>
              <a:buChar char="•"/>
              <a:defRPr/>
            </a:pPr>
            <a:endParaRPr lang="en-US" sz="3200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2937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6099" y="503237"/>
            <a:ext cx="7086600" cy="792163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Purpose of Normalization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1524000"/>
            <a:ext cx="8229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Tx/>
              <a:buChar char="•"/>
              <a:defRPr/>
            </a:pPr>
            <a:r>
              <a:rPr lang="en-US" sz="2800" kern="0" dirty="0">
                <a:latin typeface="Calibri (Body)"/>
              </a:rPr>
              <a:t>To avoid redundancy by storing each ‘</a:t>
            </a:r>
            <a:r>
              <a:rPr lang="en-US" sz="2800" kern="0" dirty="0">
                <a:solidFill>
                  <a:srgbClr val="FF0000"/>
                </a:solidFill>
                <a:latin typeface="Calibri (Body)"/>
              </a:rPr>
              <a:t>fact</a:t>
            </a:r>
            <a:r>
              <a:rPr lang="en-US" sz="2800" kern="0" dirty="0">
                <a:latin typeface="Calibri (Body)"/>
              </a:rPr>
              <a:t>’ within the database only once.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2800" kern="0" dirty="0">
                <a:latin typeface="Calibri (Body)"/>
              </a:rPr>
              <a:t>To put data into a form that conforms to </a:t>
            </a:r>
            <a:r>
              <a:rPr lang="en-US" sz="2800" kern="0" dirty="0">
                <a:solidFill>
                  <a:srgbClr val="FF0000"/>
                </a:solidFill>
                <a:latin typeface="Calibri (Body)"/>
              </a:rPr>
              <a:t>relational principles</a:t>
            </a:r>
            <a:r>
              <a:rPr lang="en-US" sz="2800" kern="0" dirty="0">
                <a:latin typeface="Calibri (Body)"/>
              </a:rPr>
              <a:t> (e.g., single valued attributes, each relation represents one entity) - no repeating groups.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2800" kern="0" dirty="0">
                <a:latin typeface="Calibri (Body)"/>
              </a:rPr>
              <a:t>To put the data into a form that is more able to accurately accommodate change.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2800" kern="0" dirty="0">
                <a:latin typeface="Calibri (Body)"/>
              </a:rPr>
              <a:t>To avoid certain updating </a:t>
            </a:r>
            <a:r>
              <a:rPr lang="en-US" sz="2800" kern="0" dirty="0">
                <a:solidFill>
                  <a:srgbClr val="FF0000"/>
                </a:solidFill>
                <a:latin typeface="Calibri (Body)"/>
              </a:rPr>
              <a:t>anomalies</a:t>
            </a:r>
            <a:r>
              <a:rPr lang="en-US" sz="2800" kern="0" dirty="0">
                <a:latin typeface="Calibri (Body)"/>
              </a:rPr>
              <a:t>.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2800" kern="0" dirty="0">
                <a:latin typeface="Calibri (Body)"/>
              </a:rPr>
              <a:t>To facilitate the enforcement of </a:t>
            </a:r>
            <a:r>
              <a:rPr lang="en-US" sz="2800" kern="0" dirty="0" err="1">
                <a:solidFill>
                  <a:srgbClr val="FF0000"/>
                </a:solidFill>
                <a:latin typeface="Calibri (Body)"/>
              </a:rPr>
              <a:t>intergrity</a:t>
            </a:r>
            <a:r>
              <a:rPr lang="en-US" sz="2800" kern="0" dirty="0">
                <a:solidFill>
                  <a:srgbClr val="FF0000"/>
                </a:solidFill>
                <a:latin typeface="Calibri (Body)"/>
              </a:rPr>
              <a:t> constraints</a:t>
            </a:r>
            <a:r>
              <a:rPr lang="en-US" sz="2800" kern="0" dirty="0">
                <a:latin typeface="Calibri (Body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0926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-6439" y="838200"/>
            <a:ext cx="7391400" cy="7921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>
                <a:latin typeface="Calibri (Body)"/>
              </a:rPr>
              <a:t>Redundancy and Data Anomalies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314879"/>
            <a:ext cx="8382000" cy="280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Clr>
                <a:schemeClr val="accent2"/>
              </a:buClr>
              <a:buFont typeface="Monotype Sorts" pitchFamily="2" charset="2"/>
              <a:buNone/>
              <a:defRPr/>
            </a:pPr>
            <a:endParaRPr lang="en-US" sz="2800" dirty="0">
              <a:solidFill>
                <a:schemeClr val="tx2"/>
              </a:solidFill>
              <a:latin typeface="Calibri (Body)"/>
            </a:endParaRPr>
          </a:p>
          <a:p>
            <a:pPr algn="just">
              <a:lnSpc>
                <a:spcPct val="90000"/>
              </a:lnSpc>
              <a:buClr>
                <a:schemeClr val="accent2"/>
              </a:buClr>
              <a:buFont typeface="Monotype Sorts" pitchFamily="2" charset="2"/>
              <a:buNone/>
              <a:defRPr/>
            </a:pPr>
            <a:r>
              <a:rPr lang="en-US" sz="2800" dirty="0">
                <a:solidFill>
                  <a:schemeClr val="tx2"/>
                </a:solidFill>
                <a:latin typeface="Calibri (Body)"/>
              </a:rPr>
              <a:t>Redundant data is where we have stored the same </a:t>
            </a:r>
            <a:r>
              <a:rPr lang="en-US" sz="2800" dirty="0">
                <a:solidFill>
                  <a:srgbClr val="0000FF"/>
                </a:solidFill>
                <a:latin typeface="Calibri (Body)"/>
              </a:rPr>
              <a:t>‘information’</a:t>
            </a:r>
            <a:r>
              <a:rPr lang="en-US" sz="2800" dirty="0">
                <a:solidFill>
                  <a:schemeClr val="tx2"/>
                </a:solidFill>
                <a:latin typeface="Calibri (Body)"/>
              </a:rPr>
              <a:t> more than once. i.e., the redundant data could be </a:t>
            </a:r>
            <a:r>
              <a:rPr lang="en-US" sz="2800" dirty="0">
                <a:solidFill>
                  <a:srgbClr val="FF0000"/>
                </a:solidFill>
                <a:latin typeface="Calibri (Body)"/>
              </a:rPr>
              <a:t>removed without the loss of information.</a:t>
            </a:r>
          </a:p>
          <a:p>
            <a:pPr algn="just">
              <a:lnSpc>
                <a:spcPct val="90000"/>
              </a:lnSpc>
              <a:buClr>
                <a:schemeClr val="accent2"/>
              </a:buClr>
              <a:buFont typeface="Monotype Sorts" pitchFamily="2" charset="2"/>
              <a:buNone/>
              <a:defRPr/>
            </a:pPr>
            <a:endParaRPr lang="en-US" sz="2800" dirty="0">
              <a:solidFill>
                <a:schemeClr val="tx2"/>
              </a:solidFill>
              <a:latin typeface="Calibri (Body)"/>
            </a:endParaRPr>
          </a:p>
          <a:p>
            <a:pPr algn="just">
              <a:lnSpc>
                <a:spcPct val="90000"/>
              </a:lnSpc>
              <a:buClr>
                <a:schemeClr val="accent2"/>
              </a:buClr>
              <a:defRPr/>
            </a:pPr>
            <a:r>
              <a:rPr lang="en-GB" b="1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Example: We have the following relation that contains staff and department details:</a:t>
            </a:r>
          </a:p>
          <a:p>
            <a:pPr algn="just">
              <a:lnSpc>
                <a:spcPct val="90000"/>
              </a:lnSpc>
              <a:buClr>
                <a:schemeClr val="accent2"/>
              </a:buClr>
              <a:defRPr/>
            </a:pPr>
            <a:endParaRPr lang="en-GB" sz="2000" b="1" dirty="0">
              <a:solidFill>
                <a:schemeClr val="tx1">
                  <a:lumMod val="75000"/>
                </a:schemeClr>
              </a:solidFill>
              <a:latin typeface="Calibri (Body)"/>
            </a:endParaRPr>
          </a:p>
          <a:p>
            <a:pPr algn="just">
              <a:lnSpc>
                <a:spcPct val="90000"/>
              </a:lnSpc>
              <a:buClr>
                <a:schemeClr val="accent2"/>
              </a:buClr>
              <a:buFont typeface="Monotype Sorts" pitchFamily="2" charset="2"/>
              <a:buNone/>
              <a:defRPr/>
            </a:pPr>
            <a:endParaRPr lang="en-US" dirty="0">
              <a:solidFill>
                <a:schemeClr val="tx2"/>
              </a:solidFill>
              <a:latin typeface="Calibri (Body)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828800" y="3703260"/>
          <a:ext cx="5486400" cy="292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28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staffNo</a:t>
                      </a:r>
                      <a:endParaRPr lang="en-US" sz="1800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job </a:t>
                      </a:r>
                      <a:endParaRPr lang="en-US" sz="1800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dept </a:t>
                      </a:r>
                      <a:endParaRPr lang="en-US" sz="1800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dname</a:t>
                      </a:r>
                      <a:r>
                        <a:rPr lang="en-GB" sz="18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 </a:t>
                      </a:r>
                      <a:endParaRPr lang="en-US" sz="1800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city</a:t>
                      </a: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SL10</a:t>
                      </a:r>
                    </a:p>
                    <a:p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Salesman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10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Sales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Stratford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0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SA51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Manager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20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Accounts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Barking</a:t>
                      </a:r>
                    </a:p>
                    <a:p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0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DS40</a:t>
                      </a:r>
                    </a:p>
                    <a:p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Clerk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20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Accounts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Barking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0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OS45</a:t>
                      </a:r>
                    </a:p>
                    <a:p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Clerk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30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Operations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Barking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43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9100" y="3429000"/>
          <a:ext cx="8305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latin typeface="Candara" panose="020E0502030303020204" pitchFamily="34" charset="0"/>
                        </a:rPr>
                        <a:t>Insert Anomaly: 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We can’t  add a new a dept without inserting a member of staff that works in that department</a:t>
                      </a:r>
                    </a:p>
                    <a:p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>
                    <a:solidFill>
                      <a:srgbClr val="B3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495800"/>
          <a:ext cx="8305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latin typeface="Candara" panose="020E0502030303020204" pitchFamily="34" charset="0"/>
                        </a:rPr>
                        <a:t>Update Anomaly: 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Change the name of the </a:t>
                      </a:r>
                      <a:r>
                        <a:rPr lang="en-GB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ndara" panose="020E0502030303020204" pitchFamily="34" charset="0"/>
                        </a:rPr>
                        <a:t>Accounts 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dept to </a:t>
                      </a:r>
                      <a:r>
                        <a:rPr lang="en-GB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ndara" panose="020E0502030303020204" pitchFamily="34" charset="0"/>
                        </a:rPr>
                        <a:t>F</a:t>
                      </a: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inance</a:t>
                      </a:r>
                      <a:r>
                        <a:rPr lang="en-GB" sz="1800" b="1" kern="1200" dirty="0">
                          <a:solidFill>
                            <a:srgbClr val="FFFF00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dept.  We have to change all other records to avoid  update anomaly. 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rgbClr val="B3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5562600"/>
          <a:ext cx="8305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latin typeface="Candara" panose="020E0502030303020204" pitchFamily="34" charset="0"/>
                        </a:rPr>
                        <a:t>Deletion Anomaly: 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Employee </a:t>
                      </a:r>
                      <a:r>
                        <a:rPr lang="en-GB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ndara" panose="020E0502030303020204" pitchFamily="34" charset="0"/>
                        </a:rPr>
                        <a:t>SL10 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resigns. We remove the record. With that we lose  all information pertaining to the Sales dept.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rgbClr val="B3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033764"/>
              </p:ext>
            </p:extLst>
          </p:nvPr>
        </p:nvGraphicFramePr>
        <p:xfrm>
          <a:off x="490330" y="381000"/>
          <a:ext cx="5562600" cy="292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1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8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49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staffNo</a:t>
                      </a:r>
                      <a:endParaRPr lang="en-US" sz="1800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job </a:t>
                      </a:r>
                      <a:endParaRPr lang="en-US" sz="1800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dept </a:t>
                      </a:r>
                      <a:endParaRPr lang="en-US" sz="1800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dname</a:t>
                      </a:r>
                      <a:r>
                        <a:rPr lang="en-GB" sz="18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 </a:t>
                      </a:r>
                      <a:endParaRPr lang="en-US" sz="1800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city</a:t>
                      </a: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6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SL10</a:t>
                      </a:r>
                    </a:p>
                    <a:p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Salesman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10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Sales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Stratford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6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SA51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Manager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20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Accounts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Barking</a:t>
                      </a:r>
                    </a:p>
                    <a:p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6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DS40</a:t>
                      </a:r>
                    </a:p>
                    <a:p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Clerk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20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Accounts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Barking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6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OS45</a:t>
                      </a:r>
                    </a:p>
                    <a:p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Clerk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30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Operations 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Barking</a:t>
                      </a:r>
                      <a:endParaRPr lang="en-US" sz="18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781800" y="1603315"/>
            <a:ext cx="2133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800" b="1" dirty="0">
                <a:solidFill>
                  <a:schemeClr val="tx1">
                    <a:lumMod val="75000"/>
                  </a:schemeClr>
                </a:solidFill>
                <a:latin typeface="Candara" panose="020E0502030303020204" pitchFamily="34" charset="0"/>
              </a:rPr>
              <a:t>Such ‘redundancy’ could lead </a:t>
            </a:r>
          </a:p>
          <a:p>
            <a:pPr>
              <a:defRPr/>
            </a:pPr>
            <a:r>
              <a:rPr lang="en-GB" sz="1800" b="1" dirty="0">
                <a:solidFill>
                  <a:schemeClr val="tx1">
                    <a:lumMod val="75000"/>
                  </a:schemeClr>
                </a:solidFill>
                <a:latin typeface="Candara" panose="020E0502030303020204" pitchFamily="34" charset="0"/>
              </a:rPr>
              <a:t>to the following ‘anomalies’</a:t>
            </a:r>
          </a:p>
        </p:txBody>
      </p:sp>
      <p:sp>
        <p:nvSpPr>
          <p:cNvPr id="9277" name="AutoShape 21"/>
          <p:cNvSpPr>
            <a:spLocks noChangeArrowheads="1"/>
          </p:cNvSpPr>
          <p:nvPr/>
        </p:nvSpPr>
        <p:spPr bwMode="auto">
          <a:xfrm>
            <a:off x="6318250" y="1614606"/>
            <a:ext cx="463550" cy="1265238"/>
          </a:xfrm>
          <a:prstGeom prst="downArrow">
            <a:avLst>
              <a:gd name="adj1" fmla="val 50000"/>
              <a:gd name="adj2" fmla="val 6823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256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74507"/>
            <a:ext cx="7086600" cy="792163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latin typeface="Calibri (Body)"/>
              </a:rPr>
              <a:t>Repeating Groups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353704" y="1295400"/>
            <a:ext cx="8458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dirty="0">
                <a:solidFill>
                  <a:schemeClr val="tx2"/>
                </a:solidFill>
                <a:latin typeface="Calibri (Body)"/>
              </a:rPr>
              <a:t>Is an attribute (or set of attributes) that can have </a:t>
            </a:r>
            <a:r>
              <a:rPr lang="en-US" altLang="en-US" dirty="0">
                <a:solidFill>
                  <a:srgbClr val="0000FF"/>
                </a:solidFill>
                <a:latin typeface="Calibri (Body)"/>
              </a:rPr>
              <a:t>more than one</a:t>
            </a:r>
            <a:r>
              <a:rPr lang="en-US" altLang="en-US" dirty="0">
                <a:solidFill>
                  <a:schemeClr val="tx2"/>
                </a:solidFill>
                <a:latin typeface="Calibri (Body)"/>
              </a:rPr>
              <a:t> value</a:t>
            </a:r>
          </a:p>
        </p:txBody>
      </p:sp>
      <p:sp>
        <p:nvSpPr>
          <p:cNvPr id="10245" name="Rectangle 24"/>
          <p:cNvSpPr>
            <a:spLocks noChangeArrowheads="1"/>
          </p:cNvSpPr>
          <p:nvPr/>
        </p:nvSpPr>
        <p:spPr bwMode="auto">
          <a:xfrm>
            <a:off x="228600" y="2106304"/>
            <a:ext cx="8686800" cy="4267200"/>
          </a:xfrm>
          <a:prstGeom prst="rect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>
              <a:latin typeface="Candara" panose="020E0502030303020204" pitchFamily="34" charset="0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04800" y="2163764"/>
          <a:ext cx="8534399" cy="2408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3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staffNo</a:t>
                      </a:r>
                      <a:endParaRPr lang="en-US" sz="1600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job </a:t>
                      </a:r>
                      <a:endParaRPr lang="en-US" sz="1600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dept </a:t>
                      </a:r>
                      <a:endParaRPr lang="en-US" sz="1600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dname</a:t>
                      </a:r>
                      <a:r>
                        <a:rPr lang="en-GB" sz="16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 </a:t>
                      </a:r>
                      <a:endParaRPr lang="en-US" sz="1600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city</a:t>
                      </a: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rPr>
                        <a:t>contact number</a:t>
                      </a:r>
                      <a:endParaRPr lang="en-GB" sz="1600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2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SL10</a:t>
                      </a:r>
                    </a:p>
                    <a:p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Salesman </a:t>
                      </a:r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10 </a:t>
                      </a:r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Sales</a:t>
                      </a:r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Stratford </a:t>
                      </a:r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018111777, 018111888, 079311122</a:t>
                      </a:r>
                      <a:r>
                        <a:rPr lang="en-GB" sz="1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 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2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SA51</a:t>
                      </a:r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Manager</a:t>
                      </a:r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20 </a:t>
                      </a:r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Accounts </a:t>
                      </a:r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Barking</a:t>
                      </a:r>
                    </a:p>
                    <a:p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017111777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2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DS40</a:t>
                      </a:r>
                    </a:p>
                    <a:p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Clerk </a:t>
                      </a:r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20 </a:t>
                      </a:r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Accounts </a:t>
                      </a:r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Barking</a:t>
                      </a:r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2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OS45</a:t>
                      </a:r>
                    </a:p>
                    <a:p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Clerk </a:t>
                      </a:r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30</a:t>
                      </a:r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ndara" panose="020E0502030303020204" pitchFamily="34" charset="0"/>
                        </a:rPr>
                        <a:t>Operations </a:t>
                      </a:r>
                      <a:endParaRPr lang="en-US" sz="14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Barking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079311555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45726" marB="4572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290" name="TextBox 27"/>
          <p:cNvSpPr txBox="1">
            <a:spLocks noChangeArrowheads="1"/>
          </p:cNvSpPr>
          <p:nvPr/>
        </p:nvSpPr>
        <p:spPr bwMode="auto">
          <a:xfrm>
            <a:off x="304800" y="4876800"/>
            <a:ext cx="8610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GB" altLang="en-US" dirty="0">
                <a:latin typeface="Calibri (Body)"/>
              </a:rPr>
              <a:t>Repeating Groups are not allowed in a relational design, since all attributes have to be </a:t>
            </a:r>
            <a:r>
              <a:rPr lang="en-GB" altLang="en-US" dirty="0">
                <a:solidFill>
                  <a:srgbClr val="0000FF"/>
                </a:solidFill>
                <a:latin typeface="Calibri (Body)"/>
              </a:rPr>
              <a:t>‘atomic’. </a:t>
            </a:r>
            <a:r>
              <a:rPr lang="en-GB" altLang="en-US" dirty="0">
                <a:latin typeface="Calibri (Body)"/>
              </a:rPr>
              <a:t>(There can only be one value per cell in a table.)</a:t>
            </a:r>
          </a:p>
        </p:txBody>
      </p:sp>
    </p:spTree>
    <p:extLst>
      <p:ext uri="{BB962C8B-B14F-4D97-AF65-F5344CB8AC3E}">
        <p14:creationId xmlns:p14="http://schemas.microsoft.com/office/powerpoint/2010/main" val="1032475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79437"/>
            <a:ext cx="8001000" cy="792163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 sz="3600" dirty="0">
                <a:solidFill>
                  <a:srgbClr val="333399"/>
                </a:solidFill>
              </a:rPr>
            </a:br>
            <a:r>
              <a:rPr lang="en-US" altLang="en-US" sz="3600" b="1" dirty="0">
                <a:latin typeface="Candara" panose="020E0502030303020204" pitchFamily="34" charset="0"/>
              </a:rPr>
              <a:t>Schema Refinement</a:t>
            </a:r>
            <a:br>
              <a:rPr lang="en-US" altLang="en-US" sz="3600" dirty="0">
                <a:solidFill>
                  <a:srgbClr val="333399"/>
                </a:solidFill>
              </a:rPr>
            </a:br>
            <a:endParaRPr lang="en-US" altLang="en-US" sz="3600" b="1" dirty="0">
              <a:latin typeface="Candara" panose="020E0502030303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1752600"/>
            <a:ext cx="7772400" cy="2605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1313" algn="l">
              <a:spcBef>
                <a:spcPts val="700"/>
              </a:spcBef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latin typeface="Candara" panose="020E0502030303020204" pitchFamily="34" charset="0"/>
              </a:rPr>
              <a:t>A relation with redundancy can be refined by, </a:t>
            </a:r>
            <a:r>
              <a:rPr lang="en-US" sz="2800" dirty="0">
                <a:solidFill>
                  <a:srgbClr val="FFFF00"/>
                </a:solidFill>
                <a:latin typeface="Candara" panose="020E0502030303020204" pitchFamily="34" charset="0"/>
              </a:rPr>
              <a:t>	</a:t>
            </a:r>
            <a:endParaRPr lang="en-US" sz="2800" dirty="0">
              <a:latin typeface="Candara" panose="020E0502030303020204" pitchFamily="34" charset="0"/>
            </a:endParaRPr>
          </a:p>
          <a:p>
            <a:pPr marL="342900" indent="-341313" algn="l">
              <a:spcBef>
                <a:spcPts val="700"/>
              </a:spcBef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sz="2800" dirty="0">
                <a:latin typeface="Candara" panose="020E0502030303020204" pitchFamily="34" charset="0"/>
              </a:rPr>
              <a:t>Decomposing the relation into smaller relations…</a:t>
            </a:r>
          </a:p>
          <a:p>
            <a:pPr marL="342900" indent="-341313" algn="l">
              <a:spcBef>
                <a:spcPts val="700"/>
              </a:spcBef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endParaRPr lang="en-US" sz="2800" dirty="0">
              <a:latin typeface="Candara" panose="020E0502030303020204" pitchFamily="34" charset="0"/>
            </a:endParaRPr>
          </a:p>
          <a:p>
            <a:pPr marL="342900" indent="-341313" algn="l">
              <a:spcBef>
                <a:spcPts val="700"/>
              </a:spcBef>
              <a:buFont typeface="Arial" pitchFamily="34" charset="0"/>
              <a:buChar char="•"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ndara" panose="020E0502030303020204" pitchFamily="34" charset="0"/>
              </a:rPr>
              <a:t>Contain the same information </a:t>
            </a:r>
          </a:p>
          <a:p>
            <a:pPr marL="342900" indent="-341313" algn="l">
              <a:spcBef>
                <a:spcPts val="700"/>
              </a:spcBef>
              <a:buFont typeface="Arial" pitchFamily="34" charset="0"/>
              <a:buChar char="•"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ndara" panose="020E0502030303020204" pitchFamily="34" charset="0"/>
              </a:rPr>
              <a:t>With no redundancy</a:t>
            </a:r>
          </a:p>
        </p:txBody>
      </p:sp>
    </p:spTree>
    <p:extLst>
      <p:ext uri="{BB962C8B-B14F-4D97-AF65-F5344CB8AC3E}">
        <p14:creationId xmlns:p14="http://schemas.microsoft.com/office/powerpoint/2010/main" val="3496310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-152400" y="914097"/>
            <a:ext cx="8001000" cy="792163"/>
          </a:xfrm>
        </p:spPr>
        <p:txBody>
          <a:bodyPr>
            <a:normAutofit/>
          </a:bodyPr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Calibri (Body)"/>
              </a:rPr>
              <a:t>Problems related to decompositions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06260"/>
            <a:ext cx="8153400" cy="4819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1313" algn="l">
              <a:spcBef>
                <a:spcPts val="80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sz="3200" dirty="0">
                <a:solidFill>
                  <a:srgbClr val="000000"/>
                </a:solidFill>
                <a:latin typeface="Calibri (Body)"/>
              </a:rPr>
              <a:t>What problems (if any) does a given decomposition cause?</a:t>
            </a:r>
          </a:p>
          <a:p>
            <a:pPr marL="342900" indent="-341313" algn="l">
              <a:spcBef>
                <a:spcPts val="7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sz="3000" dirty="0">
                <a:solidFill>
                  <a:srgbClr val="000000"/>
                </a:solidFill>
                <a:latin typeface="Calibri (Body)"/>
              </a:rPr>
              <a:t>To help:  </a:t>
            </a:r>
          </a:p>
          <a:p>
            <a:pPr marL="342900" indent="-341313" algn="l">
              <a:spcBef>
                <a:spcPts val="7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sz="3000" dirty="0">
                <a:solidFill>
                  <a:srgbClr val="FF0000"/>
                </a:solidFill>
                <a:latin typeface="Calibri (Body)"/>
              </a:rPr>
              <a:t>Two properties of decompositions:</a:t>
            </a:r>
          </a:p>
          <a:p>
            <a:pPr marL="342900" indent="-341313" algn="l">
              <a:spcBef>
                <a:spcPts val="750"/>
              </a:spcBef>
              <a:buFont typeface="Arial" pitchFamily="34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sz="3000" dirty="0">
                <a:latin typeface="Calibri (Body)"/>
              </a:rPr>
              <a:t>Loss-less join property</a:t>
            </a:r>
          </a:p>
          <a:p>
            <a:pPr marL="342900" indent="-341313" algn="l">
              <a:spcBef>
                <a:spcPts val="750"/>
              </a:spcBef>
              <a:buFont typeface="Arial" pitchFamily="34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sz="3000" dirty="0">
                <a:latin typeface="Calibri (Body)"/>
              </a:rPr>
              <a:t>Dependency preserving property </a:t>
            </a:r>
          </a:p>
          <a:p>
            <a:pPr marL="342900" indent="-341313" algn="l">
              <a:spcBef>
                <a:spcPts val="7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sz="3000" dirty="0">
                <a:solidFill>
                  <a:srgbClr val="FF0000"/>
                </a:solidFill>
                <a:latin typeface="Calibri (Body)"/>
              </a:rPr>
              <a:t>Normal forms </a:t>
            </a:r>
            <a:r>
              <a:rPr lang="en-US" sz="3000" dirty="0">
                <a:solidFill>
                  <a:srgbClr val="000000"/>
                </a:solidFill>
                <a:latin typeface="Calibri (Body)"/>
              </a:rPr>
              <a:t>have been proposed to preserve above properties.</a:t>
            </a:r>
          </a:p>
          <a:p>
            <a:pPr marL="342900" indent="-341313" algn="l">
              <a:spcBef>
                <a:spcPts val="700"/>
              </a:spcBef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751746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82226"/>
            <a:ext cx="8001000" cy="792163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Loss-less join property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952500" y="1283541"/>
            <a:ext cx="7086600" cy="4290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1313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ts val="700"/>
              </a:spcBef>
            </a:pPr>
            <a:r>
              <a:rPr lang="en-US" altLang="en-US" sz="2800" dirty="0">
                <a:latin typeface="Calibri (Body)"/>
              </a:rPr>
              <a:t>Loss-less join property: we might lose information if we decompose relations…</a:t>
            </a:r>
          </a:p>
          <a:p>
            <a:pPr algn="l" eaLnBrk="1" hangingPunct="1">
              <a:spcBef>
                <a:spcPts val="700"/>
              </a:spcBef>
            </a:pPr>
            <a:endParaRPr lang="en-US" altLang="en-US" sz="2800" dirty="0">
              <a:latin typeface="Calibri (Body)"/>
            </a:endParaRPr>
          </a:p>
          <a:p>
            <a:pPr algn="l" eaLnBrk="1" hangingPunct="1">
              <a:spcBef>
                <a:spcPts val="700"/>
              </a:spcBef>
            </a:pPr>
            <a:endParaRPr lang="en-US" altLang="en-US" sz="2800" dirty="0">
              <a:latin typeface="Calibri (Body)"/>
            </a:endParaRPr>
          </a:p>
          <a:p>
            <a:pPr algn="l" eaLnBrk="1" hangingPunct="1">
              <a:spcBef>
                <a:spcPts val="700"/>
              </a:spcBef>
            </a:pPr>
            <a:endParaRPr lang="en-US" altLang="en-US" dirty="0">
              <a:latin typeface="Calibri (Body)"/>
            </a:endParaRPr>
          </a:p>
          <a:p>
            <a:pPr algn="l" eaLnBrk="1" hangingPunct="1">
              <a:spcBef>
                <a:spcPts val="700"/>
              </a:spcBef>
            </a:pPr>
            <a:endParaRPr lang="en-US" altLang="en-US" dirty="0">
              <a:latin typeface="Calibri (Body)"/>
            </a:endParaRPr>
          </a:p>
          <a:p>
            <a:pPr algn="l" eaLnBrk="1" hangingPunct="1">
              <a:spcBef>
                <a:spcPts val="700"/>
              </a:spcBef>
            </a:pPr>
            <a:endParaRPr lang="en-US" altLang="en-US" dirty="0">
              <a:latin typeface="Calibri (Body)"/>
            </a:endParaRPr>
          </a:p>
          <a:p>
            <a:pPr algn="l" eaLnBrk="1" hangingPunct="1">
              <a:spcBef>
                <a:spcPts val="700"/>
              </a:spcBef>
            </a:pPr>
            <a:endParaRPr lang="en-US" altLang="en-US" dirty="0">
              <a:latin typeface="Calibri (Body)"/>
            </a:endParaRPr>
          </a:p>
          <a:p>
            <a:pPr algn="l" eaLnBrk="1" hangingPunct="1">
              <a:spcBef>
                <a:spcPts val="700"/>
              </a:spcBef>
            </a:pPr>
            <a:endParaRPr lang="en-US" altLang="en-US" dirty="0">
              <a:latin typeface="Calibri (Body)"/>
            </a:endParaRPr>
          </a:p>
        </p:txBody>
      </p:sp>
      <p:sp>
        <p:nvSpPr>
          <p:cNvPr id="6" name="Text Box 109"/>
          <p:cNvSpPr txBox="1">
            <a:spLocks noChangeArrowheads="1"/>
          </p:cNvSpPr>
          <p:nvPr/>
        </p:nvSpPr>
        <p:spPr bwMode="auto">
          <a:xfrm>
            <a:off x="1752600" y="2209800"/>
            <a:ext cx="3492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</a:p>
        </p:txBody>
      </p:sp>
      <p:graphicFrame>
        <p:nvGraphicFramePr>
          <p:cNvPr id="7" name="Group 3"/>
          <p:cNvGraphicFramePr>
            <a:graphicFrameLocks noGrp="1"/>
          </p:cNvGraphicFramePr>
          <p:nvPr/>
        </p:nvGraphicFramePr>
        <p:xfrm>
          <a:off x="609600" y="2819400"/>
          <a:ext cx="2744788" cy="2098676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466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</a:t>
                      </a:r>
                    </a:p>
                  </a:txBody>
                  <a:tcPr marL="90000" marR="90000" marT="46808" marB="4680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66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S1</a:t>
                      </a:r>
                    </a:p>
                  </a:txBody>
                  <a:tcPr marL="90000" marR="90000" marT="46808" marB="4680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P1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D1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66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S2</a:t>
                      </a:r>
                    </a:p>
                  </a:txBody>
                  <a:tcPr marL="90000" marR="90000" marT="46808" marB="4680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P2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D2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66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S3</a:t>
                      </a:r>
                    </a:p>
                  </a:txBody>
                  <a:tcPr marL="90000" marR="90000" marT="46808" marB="4680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P1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D3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Box 110"/>
          <p:cNvSpPr txBox="1">
            <a:spLocks noChangeArrowheads="1"/>
          </p:cNvSpPr>
          <p:nvPr/>
        </p:nvSpPr>
        <p:spPr bwMode="auto">
          <a:xfrm>
            <a:off x="4495800" y="2209800"/>
            <a:ext cx="488950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9" name="Group 47"/>
          <p:cNvGraphicFramePr>
            <a:graphicFrameLocks noGrp="1"/>
          </p:cNvGraphicFramePr>
          <p:nvPr/>
        </p:nvGraphicFramePr>
        <p:xfrm>
          <a:off x="3733800" y="2819400"/>
          <a:ext cx="2058988" cy="2160589"/>
        </p:xfrm>
        <a:graphic>
          <a:graphicData uri="http://schemas.openxmlformats.org/drawingml/2006/table">
            <a:tbl>
              <a:tblPr/>
              <a:tblGrid>
                <a:gridCol w="103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236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</a:t>
                      </a:r>
                    </a:p>
                  </a:txBody>
                  <a:tcPr marL="90000" marR="90000" marT="46789" marB="46789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</a:t>
                      </a:r>
                    </a:p>
                  </a:txBody>
                  <a:tcPr marL="90000" marR="90000" marT="46789" marB="46789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451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S1</a:t>
                      </a:r>
                    </a:p>
                  </a:txBody>
                  <a:tcPr marL="90000" marR="90000" marT="46789" marB="46789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P1</a:t>
                      </a:r>
                    </a:p>
                  </a:txBody>
                  <a:tcPr marL="90000" marR="90000" marT="46789" marB="46789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451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S2</a:t>
                      </a:r>
                    </a:p>
                  </a:txBody>
                  <a:tcPr marL="90000" marR="90000" marT="46789" marB="46789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P2</a:t>
                      </a:r>
                    </a:p>
                  </a:txBody>
                  <a:tcPr marL="90000" marR="90000" marT="46789" marB="46789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451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S3</a:t>
                      </a:r>
                    </a:p>
                  </a:txBody>
                  <a:tcPr marL="90000" marR="90000" marT="46789" marB="46789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P1</a:t>
                      </a:r>
                    </a:p>
                  </a:txBody>
                  <a:tcPr marL="90000" marR="90000" marT="46789" marB="46789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111"/>
          <p:cNvSpPr txBox="1">
            <a:spLocks noChangeArrowheads="1"/>
          </p:cNvSpPr>
          <p:nvPr/>
        </p:nvSpPr>
        <p:spPr bwMode="auto">
          <a:xfrm>
            <a:off x="6858000" y="2133600"/>
            <a:ext cx="488950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11" name="Group 78"/>
          <p:cNvGraphicFramePr>
            <a:graphicFrameLocks noGrp="1"/>
          </p:cNvGraphicFramePr>
          <p:nvPr/>
        </p:nvGraphicFramePr>
        <p:xfrm>
          <a:off x="6248400" y="2819400"/>
          <a:ext cx="2058988" cy="2098676"/>
        </p:xfrm>
        <a:graphic>
          <a:graphicData uri="http://schemas.openxmlformats.org/drawingml/2006/table">
            <a:tbl>
              <a:tblPr/>
              <a:tblGrid>
                <a:gridCol w="103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466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</a:t>
                      </a:r>
                    </a:p>
                  </a:txBody>
                  <a:tcPr marL="90000" marR="90000" marT="46808" marB="4680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66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P1</a:t>
                      </a:r>
                    </a:p>
                  </a:txBody>
                  <a:tcPr marL="90000" marR="90000" marT="46808" marB="4680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D1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66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P2</a:t>
                      </a:r>
                    </a:p>
                  </a:txBody>
                  <a:tcPr marL="90000" marR="90000" marT="46808" marB="4680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D2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66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P1</a:t>
                      </a:r>
                    </a:p>
                  </a:txBody>
                  <a:tcPr marL="90000" marR="90000" marT="46808" marB="4680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D3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7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-228600" y="737926"/>
            <a:ext cx="7772400" cy="7921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>
                <a:latin typeface="Calibri (Body)"/>
              </a:rPr>
              <a:t>Loss-less join property (contd.)</a:t>
            </a:r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571500" y="1454259"/>
            <a:ext cx="8001000" cy="982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1313" eaLnBrk="0" hangingPunct="0"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ts val="700"/>
              </a:spcBef>
            </a:pPr>
            <a:r>
              <a:rPr lang="en-US" altLang="en-US" sz="2800" dirty="0">
                <a:latin typeface="Calibri (Body)"/>
              </a:rPr>
              <a:t>Joining them together, we get spurious tuples…</a:t>
            </a:r>
          </a:p>
          <a:p>
            <a:pPr algn="l" eaLnBrk="1" hangingPunct="1">
              <a:spcBef>
                <a:spcPts val="700"/>
              </a:spcBef>
            </a:pPr>
            <a:endParaRPr lang="en-US" altLang="en-US" dirty="0">
              <a:latin typeface="Calibri (Body)"/>
            </a:endParaRPr>
          </a:p>
        </p:txBody>
      </p:sp>
      <p:grpSp>
        <p:nvGrpSpPr>
          <p:cNvPr id="2" name="Group 67"/>
          <p:cNvGrpSpPr>
            <a:grpSpLocks/>
          </p:cNvGrpSpPr>
          <p:nvPr/>
        </p:nvGrpSpPr>
        <p:grpSpPr bwMode="auto">
          <a:xfrm>
            <a:off x="914400" y="2471504"/>
            <a:ext cx="1477963" cy="549275"/>
            <a:chOff x="566" y="2592"/>
            <a:chExt cx="931" cy="346"/>
          </a:xfrm>
        </p:grpSpPr>
        <p:sp>
          <p:nvSpPr>
            <p:cNvPr id="14372" name="Text Box 68"/>
            <p:cNvSpPr txBox="1">
              <a:spLocks noChangeArrowheads="1"/>
            </p:cNvSpPr>
            <p:nvPr/>
          </p:nvSpPr>
          <p:spPr bwMode="auto">
            <a:xfrm>
              <a:off x="566" y="2618"/>
              <a:ext cx="932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en-US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 </a:t>
              </a: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	 R</a:t>
              </a:r>
              <a:r>
                <a:rPr lang="en-US" altLang="en-US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14373" name="Group 69"/>
            <p:cNvGrpSpPr>
              <a:grpSpLocks/>
            </p:cNvGrpSpPr>
            <p:nvPr/>
          </p:nvGrpSpPr>
          <p:grpSpPr bwMode="auto">
            <a:xfrm>
              <a:off x="816" y="2592"/>
              <a:ext cx="347" cy="288"/>
              <a:chOff x="816" y="2592"/>
              <a:chExt cx="347" cy="288"/>
            </a:xfrm>
          </p:grpSpPr>
          <p:sp>
            <p:nvSpPr>
              <p:cNvPr id="14374" name="Text Box 70"/>
              <p:cNvSpPr txBox="1">
                <a:spLocks noChangeArrowheads="1"/>
              </p:cNvSpPr>
              <p:nvPr/>
            </p:nvSpPr>
            <p:spPr bwMode="auto">
              <a:xfrm>
                <a:off x="816" y="2592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14375" name="Line 71"/>
              <p:cNvSpPr>
                <a:spLocks noChangeShapeType="1"/>
              </p:cNvSpPr>
              <p:nvPr/>
            </p:nvSpPr>
            <p:spPr bwMode="auto">
              <a:xfrm flipV="1">
                <a:off x="874" y="2661"/>
                <a:ext cx="1" cy="146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14376" name="Line 72"/>
              <p:cNvSpPr>
                <a:spLocks noChangeShapeType="1"/>
              </p:cNvSpPr>
              <p:nvPr/>
            </p:nvSpPr>
            <p:spPr bwMode="auto">
              <a:xfrm>
                <a:off x="874" y="2662"/>
                <a:ext cx="288" cy="144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14377" name="Line 73"/>
              <p:cNvSpPr>
                <a:spLocks noChangeShapeType="1"/>
              </p:cNvSpPr>
              <p:nvPr/>
            </p:nvSpPr>
            <p:spPr bwMode="auto">
              <a:xfrm flipV="1">
                <a:off x="874" y="2661"/>
                <a:ext cx="288" cy="146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14378" name="Line 74"/>
              <p:cNvSpPr>
                <a:spLocks noChangeShapeType="1"/>
              </p:cNvSpPr>
              <p:nvPr/>
            </p:nvSpPr>
            <p:spPr bwMode="auto">
              <a:xfrm>
                <a:off x="1162" y="2662"/>
                <a:ext cx="1" cy="144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>
                  <a:latin typeface="Candara" panose="020E0502030303020204" pitchFamily="34" charset="0"/>
                </a:endParaRPr>
              </a:p>
            </p:txBody>
          </p:sp>
        </p:grpSp>
      </p:grpSp>
      <p:graphicFrame>
        <p:nvGraphicFramePr>
          <p:cNvPr id="1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037459"/>
              </p:ext>
            </p:extLst>
          </p:nvPr>
        </p:nvGraphicFramePr>
        <p:xfrm>
          <a:off x="2792110" y="2471504"/>
          <a:ext cx="3506788" cy="355917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9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</a:t>
                      </a:r>
                    </a:p>
                  </a:txBody>
                  <a:tcPr marL="90000" marR="90000" marT="46800" marB="46800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</a:t>
                      </a:r>
                    </a:p>
                  </a:txBody>
                  <a:tcPr marL="90000" marR="90000" marT="46800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</a:t>
                      </a:r>
                    </a:p>
                  </a:txBody>
                  <a:tcPr marL="90000" marR="90000" marT="46800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S1</a:t>
                      </a:r>
                    </a:p>
                  </a:txBody>
                  <a:tcPr marL="90000" marR="90000" marT="46800" marB="46800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P1</a:t>
                      </a:r>
                    </a:p>
                  </a:txBody>
                  <a:tcPr marL="90000" marR="90000" marT="46800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D1</a:t>
                      </a:r>
                    </a:p>
                  </a:txBody>
                  <a:tcPr marL="90000" marR="90000" marT="46800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S1</a:t>
                      </a:r>
                    </a:p>
                  </a:txBody>
                  <a:tcPr marL="90000" marR="90000" marT="46800" marB="46800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P1</a:t>
                      </a:r>
                    </a:p>
                  </a:txBody>
                  <a:tcPr marL="90000" marR="90000" marT="46800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D3</a:t>
                      </a:r>
                    </a:p>
                  </a:txBody>
                  <a:tcPr marL="90000" marR="90000" marT="46800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S2</a:t>
                      </a:r>
                    </a:p>
                  </a:txBody>
                  <a:tcPr marL="90000" marR="90000" marT="46800" marB="46800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P2</a:t>
                      </a:r>
                    </a:p>
                  </a:txBody>
                  <a:tcPr marL="90000" marR="90000" marT="46800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D2</a:t>
                      </a:r>
                    </a:p>
                  </a:txBody>
                  <a:tcPr marL="90000" marR="90000" marT="46800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S3</a:t>
                      </a:r>
                    </a:p>
                  </a:txBody>
                  <a:tcPr marL="90000" marR="90000" marT="46800" marB="46800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P1</a:t>
                      </a:r>
                    </a:p>
                  </a:txBody>
                  <a:tcPr marL="90000" marR="90000" marT="46800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D1</a:t>
                      </a:r>
                    </a:p>
                  </a:txBody>
                  <a:tcPr marL="90000" marR="90000" marT="46800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S3</a:t>
                      </a:r>
                    </a:p>
                  </a:txBody>
                  <a:tcPr marL="90000" marR="90000" marT="46800" marB="46800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P1</a:t>
                      </a:r>
                    </a:p>
                  </a:txBody>
                  <a:tcPr marL="90000" marR="90000" marT="46800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D3</a:t>
                      </a:r>
                    </a:p>
                  </a:txBody>
                  <a:tcPr marL="90000" marR="90000" marT="46800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076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82304" y="762000"/>
            <a:ext cx="8001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>
                <a:latin typeface="Calibri (Body)"/>
              </a:rPr>
              <a:t>Dependency-preserving property</a:t>
            </a:r>
            <a:br>
              <a:rPr lang="en-US" altLang="en-US" sz="3600" dirty="0">
                <a:solidFill>
                  <a:srgbClr val="333399"/>
                </a:solidFill>
                <a:latin typeface="Calibri (Body)"/>
              </a:rPr>
            </a:br>
            <a:endParaRPr lang="en-US" altLang="en-US" sz="3600" b="1" dirty="0">
              <a:latin typeface="Calibri (Body)"/>
            </a:endParaRP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428316" y="1371600"/>
            <a:ext cx="8154988" cy="5265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 (Body)"/>
              </a:rPr>
              <a:t>Consider previous example </a:t>
            </a:r>
          </a:p>
          <a:p>
            <a:pPr algn="l" eaLnBrk="1" hangingPunct="1"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 (Body)"/>
              </a:rPr>
              <a:t>Dependency-preserving property: The set of dependencies in relation S can be verified by a set of dependencies in relation R</a:t>
            </a:r>
            <a:r>
              <a:rPr lang="en-US" altLang="en-US" sz="2800" baseline="-25000" dirty="0">
                <a:latin typeface="Calibri (Body)"/>
              </a:rPr>
              <a:t>1</a:t>
            </a:r>
            <a:r>
              <a:rPr lang="en-US" altLang="en-US" sz="2800" dirty="0">
                <a:latin typeface="Calibri (Body)"/>
              </a:rPr>
              <a:t> and  relation R</a:t>
            </a:r>
            <a:r>
              <a:rPr lang="en-US" altLang="en-US" sz="2800" baseline="-25000" dirty="0">
                <a:latin typeface="Calibri (Body)"/>
              </a:rPr>
              <a:t>2</a:t>
            </a:r>
          </a:p>
          <a:p>
            <a:pPr algn="l" eaLnBrk="1" hangingPunct="1"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endParaRPr lang="en-US" altLang="en-US" baseline="-25000" dirty="0">
              <a:solidFill>
                <a:srgbClr val="3333CC"/>
              </a:solidFill>
              <a:latin typeface="Calibri (Body)"/>
            </a:endParaRPr>
          </a:p>
          <a:p>
            <a:pPr algn="l" eaLnBrk="1" hangingPunct="1"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endParaRPr lang="en-US" altLang="en-US" baseline="-25000" dirty="0">
              <a:solidFill>
                <a:srgbClr val="3333CC"/>
              </a:solidFill>
              <a:latin typeface="Calibri (Body)"/>
            </a:endParaRPr>
          </a:p>
          <a:p>
            <a:pPr algn="l" eaLnBrk="1" hangingPunct="1"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endParaRPr lang="en-US" altLang="en-US" baseline="-25000" dirty="0">
              <a:solidFill>
                <a:srgbClr val="3333CC"/>
              </a:solidFill>
              <a:latin typeface="Calibri (Body)"/>
            </a:endParaRPr>
          </a:p>
          <a:p>
            <a:pPr algn="l" eaLnBrk="1" hangingPunct="1"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endParaRPr lang="en-US" altLang="en-US" baseline="-25000" dirty="0">
              <a:solidFill>
                <a:srgbClr val="3333CC"/>
              </a:solidFill>
              <a:latin typeface="Calibri (Body)"/>
            </a:endParaRPr>
          </a:p>
          <a:p>
            <a:pPr algn="l" eaLnBrk="1" hangingPunct="1"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endParaRPr lang="en-US" altLang="en-US" baseline="-25000" dirty="0">
              <a:solidFill>
                <a:srgbClr val="3333CC"/>
              </a:solidFill>
              <a:latin typeface="Calibri (Body)"/>
            </a:endParaRPr>
          </a:p>
          <a:p>
            <a:pPr algn="l" eaLnBrk="1" hangingPunct="1"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endParaRPr lang="en-US" altLang="en-US" baseline="-25000" dirty="0">
              <a:solidFill>
                <a:srgbClr val="3333CC"/>
              </a:solidFill>
              <a:latin typeface="Calibri (Body)"/>
            </a:endParaRPr>
          </a:p>
          <a:p>
            <a:pPr algn="l" eaLnBrk="1" hangingPunct="1"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endParaRPr lang="en-US" altLang="en-US" baseline="-25000" dirty="0">
              <a:solidFill>
                <a:srgbClr val="3333CC"/>
              </a:solidFill>
              <a:latin typeface="Calibri (Body)"/>
            </a:endParaRPr>
          </a:p>
          <a:p>
            <a:pPr algn="l" eaLnBrk="1" hangingPunct="1"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endParaRPr lang="en-US" altLang="en-US" baseline="-25000" dirty="0">
              <a:solidFill>
                <a:srgbClr val="3333CC"/>
              </a:solidFill>
              <a:latin typeface="Calibri (Body)"/>
            </a:endParaRPr>
          </a:p>
          <a:p>
            <a:pPr algn="l" eaLnBrk="1" hangingPunct="1"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endParaRPr lang="en-US" altLang="en-US" baseline="-25000" dirty="0">
              <a:solidFill>
                <a:srgbClr val="3333CC"/>
              </a:solidFill>
              <a:latin typeface="Calibri (Body)"/>
            </a:endParaRPr>
          </a:p>
          <a:p>
            <a:pPr eaLnBrk="1" hangingPunct="1"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None/>
            </a:pPr>
            <a:endParaRPr lang="en-US" altLang="en-US" baseline="-25000" dirty="0">
              <a:solidFill>
                <a:srgbClr val="3333CC"/>
              </a:solidFill>
              <a:latin typeface="Calibri (Body)"/>
            </a:endParaRPr>
          </a:p>
        </p:txBody>
      </p:sp>
      <p:sp>
        <p:nvSpPr>
          <p:cNvPr id="5" name="Text Box 109"/>
          <p:cNvSpPr txBox="1">
            <a:spLocks noChangeArrowheads="1"/>
          </p:cNvSpPr>
          <p:nvPr/>
        </p:nvSpPr>
        <p:spPr bwMode="auto">
          <a:xfrm>
            <a:off x="1958181" y="3536750"/>
            <a:ext cx="3492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6" name="Text Box 110"/>
          <p:cNvSpPr txBox="1">
            <a:spLocks noChangeArrowheads="1"/>
          </p:cNvSpPr>
          <p:nvPr/>
        </p:nvSpPr>
        <p:spPr bwMode="auto">
          <a:xfrm>
            <a:off x="4572000" y="3557588"/>
            <a:ext cx="488950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" name="Text Box 111"/>
          <p:cNvSpPr txBox="1">
            <a:spLocks noChangeArrowheads="1"/>
          </p:cNvSpPr>
          <p:nvPr/>
        </p:nvSpPr>
        <p:spPr bwMode="auto">
          <a:xfrm>
            <a:off x="7185819" y="3464967"/>
            <a:ext cx="488950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8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538005"/>
              </p:ext>
            </p:extLst>
          </p:nvPr>
        </p:nvGraphicFramePr>
        <p:xfrm>
          <a:off x="760412" y="4099621"/>
          <a:ext cx="2744788" cy="209867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466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</a:t>
                      </a:r>
                    </a:p>
                  </a:txBody>
                  <a:tcPr marL="90000" marR="90000" marT="46808" marB="4680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66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S1</a:t>
                      </a:r>
                    </a:p>
                  </a:txBody>
                  <a:tcPr marL="90000" marR="90000" marT="46808" marB="4680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P1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D1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66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S2</a:t>
                      </a:r>
                    </a:p>
                  </a:txBody>
                  <a:tcPr marL="90000" marR="90000" marT="46808" marB="4680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P2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D2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66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S3</a:t>
                      </a:r>
                    </a:p>
                  </a:txBody>
                  <a:tcPr marL="90000" marR="90000" marT="46808" marB="4680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P1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D3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115785"/>
              </p:ext>
            </p:extLst>
          </p:nvPr>
        </p:nvGraphicFramePr>
        <p:xfrm>
          <a:off x="3837296" y="4086128"/>
          <a:ext cx="2058988" cy="2098676"/>
        </p:xfrm>
        <a:graphic>
          <a:graphicData uri="http://schemas.openxmlformats.org/drawingml/2006/table">
            <a:tbl>
              <a:tblPr/>
              <a:tblGrid>
                <a:gridCol w="103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466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</a:t>
                      </a:r>
                    </a:p>
                  </a:txBody>
                  <a:tcPr marL="90000" marR="90000" marT="46808" marB="4680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66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S1</a:t>
                      </a:r>
                    </a:p>
                  </a:txBody>
                  <a:tcPr marL="90000" marR="90000" marT="46808" marB="4680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P1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66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S2</a:t>
                      </a:r>
                    </a:p>
                  </a:txBody>
                  <a:tcPr marL="90000" marR="90000" marT="46808" marB="4680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P2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66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S3</a:t>
                      </a:r>
                    </a:p>
                  </a:txBody>
                  <a:tcPr marL="90000" marR="90000" marT="46808" marB="4680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P1</a:t>
                      </a:r>
                    </a:p>
                  </a:txBody>
                  <a:tcPr marL="90000" marR="90000" marT="46808" marB="4680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Group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809978"/>
              </p:ext>
            </p:extLst>
          </p:nvPr>
        </p:nvGraphicFramePr>
        <p:xfrm>
          <a:off x="6344945" y="4040883"/>
          <a:ext cx="2058988" cy="2157414"/>
        </p:xfrm>
        <a:graphic>
          <a:graphicData uri="http://schemas.openxmlformats.org/drawingml/2006/table">
            <a:tbl>
              <a:tblPr/>
              <a:tblGrid>
                <a:gridCol w="103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061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</a:t>
                      </a:r>
                    </a:p>
                  </a:txBody>
                  <a:tcPr marL="90000" marR="90000" marT="46789" marB="46789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</a:t>
                      </a:r>
                    </a:p>
                  </a:txBody>
                  <a:tcPr marL="90000" marR="90000" marT="46789" marB="46789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451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P1</a:t>
                      </a:r>
                    </a:p>
                  </a:txBody>
                  <a:tcPr marL="90000" marR="90000" marT="46789" marB="46789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D1</a:t>
                      </a:r>
                    </a:p>
                  </a:txBody>
                  <a:tcPr marL="90000" marR="90000" marT="46789" marB="46789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451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P2</a:t>
                      </a:r>
                    </a:p>
                  </a:txBody>
                  <a:tcPr marL="90000" marR="90000" marT="46789" marB="46789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D2</a:t>
                      </a:r>
                    </a:p>
                  </a:txBody>
                  <a:tcPr marL="90000" marR="90000" marT="46789" marB="46789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451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P1</a:t>
                      </a:r>
                    </a:p>
                  </a:txBody>
                  <a:tcPr marL="90000" marR="90000" marT="46789" marB="46789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D3</a:t>
                      </a:r>
                    </a:p>
                  </a:txBody>
                  <a:tcPr marL="90000" marR="90000" marT="46789" marB="46789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55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60696" y="533400"/>
            <a:ext cx="8001000" cy="792163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latin typeface="Calibri (Body)"/>
              </a:rPr>
              <a:t>Informal Guidelines</a:t>
            </a: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533400" y="1295400"/>
            <a:ext cx="8077200" cy="372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zh-TW" sz="2800" b="1" dirty="0">
                <a:solidFill>
                  <a:srgbClr val="0070C0"/>
                </a:solidFill>
                <a:latin typeface="Candara" panose="020E0502030303020204" pitchFamily="34" charset="0"/>
                <a:ea typeface="新細明體" charset="-120"/>
                <a:cs typeface="Times New Roman" panose="02020603050405020304" pitchFamily="18" charset="0"/>
              </a:rPr>
              <a:t>Guideline 1 : </a:t>
            </a:r>
            <a:r>
              <a:rPr lang="en-US" altLang="en-US" sz="2800" i="1" dirty="0">
                <a:latin typeface="Candara" panose="020E0502030303020204" pitchFamily="34" charset="0"/>
                <a:ea typeface="新細明體" charset="-120"/>
                <a:cs typeface="Times New Roman" panose="02020603050405020304" pitchFamily="18" charset="0"/>
              </a:rPr>
              <a:t>The relation’s semantics should be clear and easy to explain. </a:t>
            </a:r>
          </a:p>
          <a:p>
            <a:pPr algn="l" eaLnBrk="1" hangingPunct="1"/>
            <a:endParaRPr lang="en-US" altLang="zh-TW" sz="3600" dirty="0">
              <a:latin typeface="Candara" panose="020E0502030303020204" pitchFamily="34" charset="0"/>
              <a:ea typeface="新細明體" charset="-12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TW" sz="3600" b="1" dirty="0">
                <a:solidFill>
                  <a:srgbClr val="0070C0"/>
                </a:solidFill>
                <a:latin typeface="Candara" panose="020E0502030303020204" pitchFamily="34" charset="0"/>
                <a:ea typeface="新細明體" charset="-120"/>
                <a:cs typeface="Times New Roman" panose="02020603050405020304" pitchFamily="18" charset="0"/>
              </a:rPr>
              <a:t> </a:t>
            </a:r>
            <a:endParaRPr lang="en-US" altLang="zh-TW" sz="3600" dirty="0">
              <a:latin typeface="Candara" panose="020E0502030303020204" pitchFamily="34" charset="0"/>
              <a:ea typeface="新細明體" charset="-120"/>
              <a:cs typeface="Times New Roman" panose="02020603050405020304" pitchFamily="18" charset="0"/>
            </a:endParaRPr>
          </a:p>
          <a:p>
            <a:pPr algn="l" eaLnBrk="1" hangingPunct="1"/>
            <a:endParaRPr lang="en-US" altLang="zh-TW" sz="3600" dirty="0">
              <a:latin typeface="Candara" panose="020E0502030303020204" pitchFamily="34" charset="0"/>
              <a:ea typeface="新細明體" charset="-120"/>
              <a:cs typeface="Times New Roman" panose="02020603050405020304" pitchFamily="18" charset="0"/>
            </a:endParaRPr>
          </a:p>
          <a:p>
            <a:pPr algn="l" eaLnBrk="1" hangingPunct="1"/>
            <a:endParaRPr lang="en-US" altLang="zh-TW" dirty="0">
              <a:solidFill>
                <a:srgbClr val="FF0000"/>
              </a:solidFill>
              <a:latin typeface="Candara" panose="020E0502030303020204" pitchFamily="34" charset="0"/>
              <a:ea typeface="新細明體" charset="-120"/>
              <a:cs typeface="Times New Roman" panose="02020603050405020304" pitchFamily="18" charset="0"/>
            </a:endParaRPr>
          </a:p>
          <a:p>
            <a:pPr algn="l" eaLnBrk="1" hangingPunct="1"/>
            <a:endParaRPr lang="en-US" altLang="en-US" dirty="0">
              <a:solidFill>
                <a:srgbClr val="FF0000"/>
              </a:solidFill>
              <a:latin typeface="Candara" panose="020E0502030303020204" pitchFamily="34" charset="0"/>
              <a:ea typeface="新細明體" charset="-120"/>
              <a:cs typeface="Times New Roman" panose="02020603050405020304" pitchFamily="18" charset="0"/>
            </a:endParaRPr>
          </a:p>
          <a:p>
            <a:pPr algn="l" eaLnBrk="1" hangingPunct="1"/>
            <a:endParaRPr lang="en-US" altLang="en-US" dirty="0">
              <a:latin typeface="Candara" panose="020E0502030303020204" pitchFamily="34" charset="0"/>
              <a:ea typeface="新細明體" charset="-120"/>
              <a:cs typeface="Times New Roman" panose="02020603050405020304" pitchFamily="18" charset="0"/>
            </a:endParaRPr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533400" y="2362200"/>
            <a:ext cx="8077200" cy="3776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 Attributes of different entities (EMPLOYEEs, DEPARTMENTs, PROJECTs) should not be mixed in the same relation</a:t>
            </a:r>
          </a:p>
          <a:p>
            <a:pPr algn="l" eaLnBrk="1" hangingPunct="1">
              <a:lnSpc>
                <a:spcPct val="90000"/>
              </a:lnSpc>
            </a:pPr>
            <a:r>
              <a:rPr lang="en-US" altLang="zh-TW" sz="2800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Only foreign keys should be used to refer to other entities</a:t>
            </a:r>
          </a:p>
          <a:p>
            <a:pPr algn="l" eaLnBrk="1" hangingPunct="1">
              <a:lnSpc>
                <a:spcPct val="90000"/>
              </a:lnSpc>
            </a:pPr>
            <a:endParaRPr lang="en-US" altLang="zh-TW" sz="2800" dirty="0">
              <a:latin typeface="Calibri (Body)"/>
              <a:ea typeface="新細明體" charset="-120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90000"/>
              </a:lnSpc>
            </a:pPr>
            <a:r>
              <a:rPr lang="en-US" altLang="en-US" sz="2800" i="1" dirty="0">
                <a:latin typeface="Calibri (Body)"/>
              </a:rPr>
              <a:t>Do not combine attributes from multiple entity types and relationship types in to a single relation</a:t>
            </a:r>
            <a:endParaRPr lang="en-US" altLang="zh-TW" sz="2800" i="1" dirty="0">
              <a:latin typeface="Calibri (Body)"/>
              <a:ea typeface="新細明體" charset="-12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1800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 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 </a:t>
            </a:r>
            <a:r>
              <a:rPr lang="en-US" altLang="zh-TW" i="1" u="sng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 </a:t>
            </a:r>
            <a:endParaRPr lang="en-US" altLang="zh-TW" dirty="0">
              <a:latin typeface="Calibri (Body)"/>
              <a:ea typeface="新細明體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004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17411" name="Picture 5" descr="ch14_elmasri"/>
          <p:cNvPicPr>
            <a:picLocks noGrp="1" noChangeAspect="1" noChangeArrowheads="1"/>
          </p:cNvPicPr>
          <p:nvPr>
            <p:ph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5" r="8638" b="9048"/>
          <a:stretch/>
        </p:blipFill>
        <p:spPr>
          <a:xfrm>
            <a:off x="990600" y="457201"/>
            <a:ext cx="7162800" cy="6096000"/>
          </a:xfrm>
          <a:noFill/>
        </p:spPr>
      </p:pic>
    </p:spTree>
    <p:extLst>
      <p:ext uri="{BB962C8B-B14F-4D97-AF65-F5344CB8AC3E}">
        <p14:creationId xmlns:p14="http://schemas.microsoft.com/office/powerpoint/2010/main" val="2031354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74344" y="547048"/>
            <a:ext cx="8001000" cy="792163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Informal Guidelines</a:t>
            </a: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685800" y="1295400"/>
            <a:ext cx="7772400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zh-TW" sz="2800" b="1" dirty="0">
                <a:solidFill>
                  <a:srgbClr val="0070C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Guideline 2 : </a:t>
            </a:r>
            <a:r>
              <a:rPr lang="en-US" altLang="en-US" sz="2800" i="1" dirty="0">
                <a:latin typeface="Calibri (Body)"/>
              </a:rPr>
              <a:t>Minimize the storage space used by the base relations and d</a:t>
            </a:r>
            <a:r>
              <a:rPr lang="en-US" altLang="zh-TW" sz="2800" i="1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esign a schema that does not suffer from the insertion, deletion and update anomalies. </a:t>
            </a:r>
          </a:p>
          <a:p>
            <a:pPr algn="l" eaLnBrk="1" hangingPunct="1"/>
            <a:endParaRPr lang="en-US" altLang="zh-TW" sz="3600" dirty="0">
              <a:latin typeface="Calibri (Body)"/>
              <a:ea typeface="新細明體" charset="-120"/>
              <a:cs typeface="Times New Roman" panose="02020603050405020304" pitchFamily="18" charset="0"/>
            </a:endParaRPr>
          </a:p>
          <a:p>
            <a:pPr algn="l" eaLnBrk="1" hangingPunct="1"/>
            <a:endParaRPr lang="en-US" altLang="zh-TW" sz="3600" dirty="0">
              <a:latin typeface="Calibri (Body)"/>
              <a:ea typeface="新細明體" charset="-120"/>
              <a:cs typeface="Times New Roman" panose="02020603050405020304" pitchFamily="18" charset="0"/>
            </a:endParaRPr>
          </a:p>
          <a:p>
            <a:pPr algn="l" eaLnBrk="1" hangingPunct="1"/>
            <a:endParaRPr lang="en-US" altLang="zh-TW" dirty="0">
              <a:solidFill>
                <a:srgbClr val="FF0000"/>
              </a:solidFill>
              <a:latin typeface="Calibri (Body)"/>
              <a:ea typeface="新細明體" charset="-120"/>
              <a:cs typeface="Times New Roman" panose="02020603050405020304" pitchFamily="18" charset="0"/>
            </a:endParaRPr>
          </a:p>
          <a:p>
            <a:pPr algn="l" eaLnBrk="1" hangingPunct="1"/>
            <a:endParaRPr lang="en-US" altLang="en-US" dirty="0">
              <a:solidFill>
                <a:srgbClr val="FF0000"/>
              </a:solidFill>
              <a:latin typeface="Calibri (Body)"/>
              <a:ea typeface="新細明體" charset="-120"/>
              <a:cs typeface="Times New Roman" panose="02020603050405020304" pitchFamily="18" charset="0"/>
            </a:endParaRPr>
          </a:p>
          <a:p>
            <a:pPr algn="l" eaLnBrk="1" hangingPunct="1"/>
            <a:endParaRPr lang="en-US" altLang="en-US" dirty="0">
              <a:latin typeface="Calibri (Body)"/>
              <a:ea typeface="新細明體" charset="-120"/>
              <a:cs typeface="Times New Roman" panose="02020603050405020304" pitchFamily="18" charset="0"/>
            </a:endParaRPr>
          </a:p>
        </p:txBody>
      </p:sp>
      <p:sp>
        <p:nvSpPr>
          <p:cNvPr id="18438" name="TextBox 6"/>
          <p:cNvSpPr txBox="1">
            <a:spLocks noChangeArrowheads="1"/>
          </p:cNvSpPr>
          <p:nvPr/>
        </p:nvSpPr>
        <p:spPr bwMode="auto">
          <a:xfrm>
            <a:off x="172872" y="3810000"/>
            <a:ext cx="2209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libri (Body)"/>
              </a:rPr>
              <a:t>Relations suffer from anomalies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672" y="3016523"/>
            <a:ext cx="6467306" cy="326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4621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801808" y="557829"/>
            <a:ext cx="7543800" cy="7921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>
                <a:latin typeface="Calibri (Body)"/>
              </a:rPr>
              <a:t>Informal Guidelines (contd.)</a:t>
            </a:r>
            <a:endParaRPr lang="en-US" altLang="en-US" sz="3600" dirty="0">
              <a:latin typeface="Calibri (Body)"/>
            </a:endParaRP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381000" y="1295400"/>
            <a:ext cx="8382000" cy="5180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zh-TW" sz="2800" b="1" dirty="0">
                <a:solidFill>
                  <a:srgbClr val="0070C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Guideline 3 : </a:t>
            </a:r>
            <a:r>
              <a:rPr lang="en-US" altLang="zh-TW" sz="2800" i="1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Relations should be designed such that their tuples will have as few NULL values as possible</a:t>
            </a:r>
          </a:p>
          <a:p>
            <a:pPr algn="l" eaLnBrk="1" hangingPunct="1"/>
            <a:r>
              <a:rPr lang="en-US" altLang="zh-TW" sz="2800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Attributes that are NULL frequently could be placed in separate relations (with the    primary key)</a:t>
            </a:r>
          </a:p>
          <a:p>
            <a:pPr lvl="1" algn="l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sz="2800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   Reasons for nulls:</a:t>
            </a:r>
          </a:p>
          <a:p>
            <a:pPr algn="l" eaLnBrk="1" hangingPunct="1">
              <a:lnSpc>
                <a:spcPct val="90000"/>
              </a:lnSpc>
            </a:pPr>
            <a:r>
              <a:rPr lang="en-US" altLang="zh-TW" sz="2800" dirty="0">
                <a:solidFill>
                  <a:srgbClr val="FF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		attribute not applicable or invalid</a:t>
            </a:r>
          </a:p>
          <a:p>
            <a:pPr algn="l" eaLnBrk="1" hangingPunct="1">
              <a:lnSpc>
                <a:spcPct val="90000"/>
              </a:lnSpc>
            </a:pPr>
            <a:r>
              <a:rPr lang="en-US" altLang="zh-TW" sz="2800" dirty="0">
                <a:solidFill>
                  <a:srgbClr val="FF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		attribute value unknown  (may exist)</a:t>
            </a:r>
          </a:p>
          <a:p>
            <a:pPr algn="l" eaLnBrk="1" hangingPunct="1">
              <a:lnSpc>
                <a:spcPct val="90000"/>
              </a:lnSpc>
            </a:pPr>
            <a:r>
              <a:rPr lang="en-US" altLang="zh-TW" sz="2800" dirty="0">
                <a:solidFill>
                  <a:srgbClr val="FF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		value known to exist, but unavailable </a:t>
            </a:r>
          </a:p>
          <a:p>
            <a:pPr algn="l" eaLnBrk="1" hangingPunct="1">
              <a:spcBef>
                <a:spcPts val="700"/>
              </a:spcBef>
            </a:pPr>
            <a:r>
              <a:rPr lang="en-US" altLang="zh-TW" sz="2800" b="1" dirty="0">
                <a:solidFill>
                  <a:srgbClr val="0070C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Guideline 4 : </a:t>
            </a:r>
            <a:r>
              <a:rPr lang="en-US" altLang="en-US" sz="2800" i="1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Design schemas so that they can be joined with equality conditions on attributes that are primary key , foreign key   (this will avoid spurious tuples generated).</a:t>
            </a:r>
          </a:p>
        </p:txBody>
      </p:sp>
    </p:spTree>
    <p:extLst>
      <p:ext uri="{BB962C8B-B14F-4D97-AF65-F5344CB8AC3E}">
        <p14:creationId xmlns:p14="http://schemas.microsoft.com/office/powerpoint/2010/main" val="3438646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838200"/>
            <a:ext cx="7086600" cy="792163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Formal Process</a:t>
            </a:r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609600" y="2133600"/>
            <a:ext cx="8202304" cy="2857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8013" eaLnBrk="0" hangingPunct="0">
              <a:tabLst>
                <a:tab pos="1179513" algn="l"/>
                <a:tab pos="2093913" algn="l"/>
                <a:tab pos="3008313" algn="l"/>
                <a:tab pos="3922713" algn="l"/>
                <a:tab pos="4837113" algn="l"/>
                <a:tab pos="5751513" algn="l"/>
                <a:tab pos="6665913" algn="l"/>
                <a:tab pos="7580313" algn="l"/>
                <a:tab pos="8494713" algn="l"/>
                <a:tab pos="9409113" algn="l"/>
                <a:tab pos="103235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179513" algn="l"/>
                <a:tab pos="2093913" algn="l"/>
                <a:tab pos="3008313" algn="l"/>
                <a:tab pos="3922713" algn="l"/>
                <a:tab pos="4837113" algn="l"/>
                <a:tab pos="5751513" algn="l"/>
                <a:tab pos="6665913" algn="l"/>
                <a:tab pos="7580313" algn="l"/>
                <a:tab pos="8494713" algn="l"/>
                <a:tab pos="9409113" algn="l"/>
                <a:tab pos="103235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179513" algn="l"/>
                <a:tab pos="2093913" algn="l"/>
                <a:tab pos="3008313" algn="l"/>
                <a:tab pos="3922713" algn="l"/>
                <a:tab pos="4837113" algn="l"/>
                <a:tab pos="5751513" algn="l"/>
                <a:tab pos="6665913" algn="l"/>
                <a:tab pos="7580313" algn="l"/>
                <a:tab pos="8494713" algn="l"/>
                <a:tab pos="9409113" algn="l"/>
                <a:tab pos="103235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179513" algn="l"/>
                <a:tab pos="2093913" algn="l"/>
                <a:tab pos="3008313" algn="l"/>
                <a:tab pos="3922713" algn="l"/>
                <a:tab pos="4837113" algn="l"/>
                <a:tab pos="5751513" algn="l"/>
                <a:tab pos="6665913" algn="l"/>
                <a:tab pos="7580313" algn="l"/>
                <a:tab pos="8494713" algn="l"/>
                <a:tab pos="9409113" algn="l"/>
                <a:tab pos="103235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179513" algn="l"/>
                <a:tab pos="2093913" algn="l"/>
                <a:tab pos="3008313" algn="l"/>
                <a:tab pos="3922713" algn="l"/>
                <a:tab pos="4837113" algn="l"/>
                <a:tab pos="5751513" algn="l"/>
                <a:tab pos="6665913" algn="l"/>
                <a:tab pos="7580313" algn="l"/>
                <a:tab pos="8494713" algn="l"/>
                <a:tab pos="9409113" algn="l"/>
                <a:tab pos="103235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179513" algn="l"/>
                <a:tab pos="2093913" algn="l"/>
                <a:tab pos="3008313" algn="l"/>
                <a:tab pos="3922713" algn="l"/>
                <a:tab pos="4837113" algn="l"/>
                <a:tab pos="5751513" algn="l"/>
                <a:tab pos="6665913" algn="l"/>
                <a:tab pos="7580313" algn="l"/>
                <a:tab pos="8494713" algn="l"/>
                <a:tab pos="9409113" algn="l"/>
                <a:tab pos="103235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179513" algn="l"/>
                <a:tab pos="2093913" algn="l"/>
                <a:tab pos="3008313" algn="l"/>
                <a:tab pos="3922713" algn="l"/>
                <a:tab pos="4837113" algn="l"/>
                <a:tab pos="5751513" algn="l"/>
                <a:tab pos="6665913" algn="l"/>
                <a:tab pos="7580313" algn="l"/>
                <a:tab pos="8494713" algn="l"/>
                <a:tab pos="9409113" algn="l"/>
                <a:tab pos="103235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179513" algn="l"/>
                <a:tab pos="2093913" algn="l"/>
                <a:tab pos="3008313" algn="l"/>
                <a:tab pos="3922713" algn="l"/>
                <a:tab pos="4837113" algn="l"/>
                <a:tab pos="5751513" algn="l"/>
                <a:tab pos="6665913" algn="l"/>
                <a:tab pos="7580313" algn="l"/>
                <a:tab pos="8494713" algn="l"/>
                <a:tab pos="9409113" algn="l"/>
                <a:tab pos="103235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179513" algn="l"/>
                <a:tab pos="2093913" algn="l"/>
                <a:tab pos="3008313" algn="l"/>
                <a:tab pos="3922713" algn="l"/>
                <a:tab pos="4837113" algn="l"/>
                <a:tab pos="5751513" algn="l"/>
                <a:tab pos="6665913" algn="l"/>
                <a:tab pos="7580313" algn="l"/>
                <a:tab pos="8494713" algn="l"/>
                <a:tab pos="9409113" algn="l"/>
                <a:tab pos="103235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ts val="700"/>
              </a:spcBef>
            </a:pPr>
            <a:r>
              <a:rPr lang="en-US" altLang="en-US" sz="2800" dirty="0">
                <a:solidFill>
                  <a:srgbClr val="FF0000"/>
                </a:solidFill>
                <a:latin typeface="Candara" panose="020E0502030303020204" pitchFamily="34" charset="0"/>
              </a:rPr>
              <a:t>Formal process for good relational schema:</a:t>
            </a:r>
          </a:p>
          <a:p>
            <a:pPr algn="l" eaLnBrk="1" hangingPunct="1"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ndara" panose="020E0502030303020204" pitchFamily="34" charset="0"/>
              </a:rPr>
              <a:t>To avoid the above-mentioned issues in the relational schema, we can apply a formal process called Normalization</a:t>
            </a:r>
          </a:p>
          <a:p>
            <a:pPr algn="l" eaLnBrk="1" hangingPunct="1"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ndara" panose="020E0502030303020204" pitchFamily="34" charset="0"/>
              </a:rPr>
              <a:t>Normalization is based on functional dependencies</a:t>
            </a:r>
          </a:p>
        </p:txBody>
      </p:sp>
    </p:spTree>
    <p:extLst>
      <p:ext uri="{BB962C8B-B14F-4D97-AF65-F5344CB8AC3E}">
        <p14:creationId xmlns:p14="http://schemas.microsoft.com/office/powerpoint/2010/main" val="1545746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135062"/>
            <a:ext cx="7315200" cy="715963"/>
          </a:xfrm>
        </p:spPr>
        <p:txBody>
          <a:bodyPr/>
          <a:lstStyle/>
          <a:p>
            <a:r>
              <a:rPr lang="en-US" altLang="zh-TW" sz="3600" b="1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Functional Dependencies</a:t>
            </a:r>
            <a:endParaRPr lang="en-US" altLang="zh-TW" sz="4800" dirty="0">
              <a:latin typeface="Calibri (Body)"/>
              <a:ea typeface="新細明體" charset="-120"/>
              <a:cs typeface="Times New Roman" panose="02020603050405020304" pitchFamily="18" charset="0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762000" y="2514600"/>
            <a:ext cx="7620000" cy="18287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FD</a:t>
            </a:r>
            <a:r>
              <a:rPr lang="en-US" altLang="zh-TW" sz="2800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s are used to specify </a:t>
            </a:r>
            <a:r>
              <a:rPr lang="en-US" altLang="zh-TW" sz="2800" i="1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formal measures</a:t>
            </a:r>
            <a:r>
              <a:rPr lang="en-US" altLang="zh-TW" sz="2800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  of the </a:t>
            </a:r>
            <a:r>
              <a:rPr lang="en-US" altLang="zh-TW" sz="2800" dirty="0">
                <a:solidFill>
                  <a:srgbClr val="FF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"goodness" </a:t>
            </a:r>
            <a:r>
              <a:rPr lang="en-US" altLang="zh-TW" sz="2800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of relational designs.</a:t>
            </a:r>
          </a:p>
          <a:p>
            <a:pPr>
              <a:lnSpc>
                <a:spcPct val="90000"/>
              </a:lnSpc>
            </a:pPr>
            <a:r>
              <a:rPr lang="en-US" altLang="zh-TW" sz="2800" dirty="0">
                <a:solidFill>
                  <a:srgbClr val="FF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FD</a:t>
            </a:r>
            <a:r>
              <a:rPr lang="en-US" altLang="zh-TW" sz="2800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s and keys are used to define </a:t>
            </a:r>
            <a:r>
              <a:rPr lang="en-US" altLang="zh-TW" sz="2800" b="1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normal forms</a:t>
            </a:r>
            <a:r>
              <a:rPr lang="en-US" altLang="zh-TW" sz="2800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 for relations.</a:t>
            </a:r>
          </a:p>
        </p:txBody>
      </p:sp>
      <p:sp>
        <p:nvSpPr>
          <p:cNvPr id="21506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153275" y="6386513"/>
            <a:ext cx="1905000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dirty="0">
                <a:latin typeface="Candara" panose="020E0502030303020204" pitchFamily="34" charset="0"/>
                <a:ea typeface="新細明體" charset="-120"/>
                <a:cs typeface="新細明體" charset="-120"/>
              </a:rPr>
              <a:t>Chapter 10-</a:t>
            </a:r>
            <a:fld id="{91644881-C6A4-4644-8A5A-BB68AFB5BA8A}" type="slidenum">
              <a:rPr lang="en-US" altLang="zh-TW">
                <a:latin typeface="Candara" panose="020E0502030303020204" pitchFamily="34" charset="0"/>
                <a:ea typeface="新細明體" charset="-120"/>
                <a:cs typeface="新細明體" charset="-120"/>
              </a:rPr>
              <a:pPr eaLnBrk="1" hangingPunct="1"/>
              <a:t>20</a:t>
            </a:fld>
            <a:endParaRPr lang="en-US" altLang="zh-TW" dirty="0">
              <a:latin typeface="Candara" panose="020E0502030303020204" pitchFamily="34" charset="0"/>
              <a:ea typeface="新細明體" charset="-120"/>
              <a:cs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2496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27991" y="0"/>
            <a:ext cx="7086600" cy="792163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 sz="3600" dirty="0">
                <a:solidFill>
                  <a:srgbClr val="333399"/>
                </a:solidFill>
                <a:latin typeface="Calibri (Body)"/>
              </a:rPr>
            </a:br>
            <a:r>
              <a:rPr lang="en-US" altLang="en-US" sz="4000" b="1" dirty="0">
                <a:latin typeface="Calibri (Body)"/>
              </a:rPr>
              <a:t>Functional dependency</a:t>
            </a:r>
            <a:br>
              <a:rPr lang="en-US" altLang="en-US" sz="3600" dirty="0">
                <a:solidFill>
                  <a:srgbClr val="333399"/>
                </a:solidFill>
                <a:latin typeface="Calibri (Body)"/>
              </a:rPr>
            </a:br>
            <a:endParaRPr lang="en-US" altLang="en-US" sz="3600" b="1" dirty="0">
              <a:latin typeface="Calibri (Body)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04800" y="1295400"/>
            <a:ext cx="8610600" cy="4935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 (Body)"/>
              </a:rPr>
              <a:t>A functional dependency, is a constraint between  two sets of attributes</a:t>
            </a:r>
          </a:p>
          <a:p>
            <a:pPr algn="l" eaLnBrk="1" hangingPunct="1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 (Body)"/>
              </a:rPr>
              <a:t>denoted by X </a:t>
            </a:r>
            <a:r>
              <a:rPr lang="en-US" altLang="en-US" sz="2800" dirty="0">
                <a:latin typeface="Calibri (Body)"/>
                <a:sym typeface="Wingdings" panose="05000000000000000000" pitchFamily="2" charset="2"/>
              </a:rPr>
              <a:t> </a:t>
            </a:r>
            <a:r>
              <a:rPr lang="en-US" altLang="en-US" sz="2800" dirty="0">
                <a:latin typeface="Calibri (Body)"/>
              </a:rPr>
              <a:t> Y, </a:t>
            </a:r>
          </a:p>
          <a:p>
            <a:pPr lvl="2" algn="l" eaLnBrk="1" hangingPunct="1">
              <a:lnSpc>
                <a:spcPct val="90000"/>
              </a:lnSpc>
              <a:spcBef>
                <a:spcPts val="700"/>
              </a:spcBef>
              <a:buClr>
                <a:srgbClr val="92D05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92D050"/>
                </a:solidFill>
                <a:latin typeface="Calibri (Body)"/>
              </a:rPr>
              <a:t>X functionally determines Y</a:t>
            </a:r>
          </a:p>
          <a:p>
            <a:pPr lvl="2" algn="l" eaLnBrk="1" hangingPunct="1">
              <a:lnSpc>
                <a:spcPct val="90000"/>
              </a:lnSpc>
              <a:spcBef>
                <a:spcPts val="700"/>
              </a:spcBef>
              <a:buClr>
                <a:srgbClr val="C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C00000"/>
                </a:solidFill>
                <a:latin typeface="Calibri (Body)"/>
              </a:rPr>
              <a:t>Y is functionally dependent on X</a:t>
            </a:r>
          </a:p>
          <a:p>
            <a:pPr algn="l" eaLnBrk="1" hangingPunct="1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 (Body)"/>
              </a:rPr>
              <a:t>where X and Y are sets of attributes in relation R, specifies  the following constraint:</a:t>
            </a:r>
          </a:p>
          <a:p>
            <a:pPr algn="l" eaLnBrk="1" hangingPunct="1">
              <a:lnSpc>
                <a:spcPct val="90000"/>
              </a:lnSpc>
              <a:spcBef>
                <a:spcPts val="600"/>
              </a:spcBef>
            </a:pPr>
            <a:r>
              <a:rPr lang="en-US" altLang="en-US" sz="2800" dirty="0">
                <a:latin typeface="Calibri (Body)"/>
              </a:rPr>
              <a:t>	Let t</a:t>
            </a:r>
            <a:r>
              <a:rPr lang="en-US" altLang="en-US" sz="2800" baseline="-25000" dirty="0">
                <a:latin typeface="Calibri (Body)"/>
              </a:rPr>
              <a:t>1</a:t>
            </a:r>
            <a:r>
              <a:rPr lang="en-US" altLang="en-US" sz="2800" dirty="0">
                <a:latin typeface="Calibri (Body)"/>
              </a:rPr>
              <a:t> and t</a:t>
            </a:r>
            <a:r>
              <a:rPr lang="en-US" altLang="en-US" sz="2800" baseline="-25000" dirty="0">
                <a:latin typeface="Calibri (Body)"/>
              </a:rPr>
              <a:t>2</a:t>
            </a:r>
            <a:r>
              <a:rPr lang="en-US" altLang="en-US" sz="2800" dirty="0">
                <a:latin typeface="Calibri (Body)"/>
              </a:rPr>
              <a:t> be tuples of relation R for any given instance		</a:t>
            </a:r>
          </a:p>
          <a:p>
            <a:pPr algn="l" eaLnBrk="1" hangingPunct="1">
              <a:lnSpc>
                <a:spcPct val="90000"/>
              </a:lnSpc>
              <a:spcBef>
                <a:spcPts val="600"/>
              </a:spcBef>
            </a:pPr>
            <a:r>
              <a:rPr lang="en-US" altLang="en-US" sz="2800" dirty="0">
                <a:latin typeface="Calibri (Body)"/>
              </a:rPr>
              <a:t>	Whenever t</a:t>
            </a:r>
            <a:r>
              <a:rPr lang="en-US" altLang="en-US" sz="2800" baseline="-25000" dirty="0">
                <a:latin typeface="Calibri (Body)"/>
              </a:rPr>
              <a:t>1</a:t>
            </a:r>
            <a:r>
              <a:rPr lang="en-US" altLang="en-US" sz="2800" dirty="0">
                <a:latin typeface="Calibri (Body)"/>
              </a:rPr>
              <a:t>[X] = t</a:t>
            </a:r>
            <a:r>
              <a:rPr lang="en-US" altLang="en-US" sz="2800" baseline="-25000" dirty="0">
                <a:latin typeface="Calibri (Body)"/>
              </a:rPr>
              <a:t>2</a:t>
            </a:r>
            <a:r>
              <a:rPr lang="en-US" altLang="en-US" sz="2800" dirty="0">
                <a:latin typeface="Calibri (Body)"/>
              </a:rPr>
              <a:t>[X] then t</a:t>
            </a:r>
            <a:r>
              <a:rPr lang="en-US" altLang="en-US" sz="2800" baseline="-25000" dirty="0">
                <a:latin typeface="Calibri (Body)"/>
              </a:rPr>
              <a:t>1</a:t>
            </a:r>
            <a:r>
              <a:rPr lang="en-US" altLang="en-US" sz="2800" dirty="0">
                <a:latin typeface="Calibri (Body)"/>
              </a:rPr>
              <a:t>[Y] = t</a:t>
            </a:r>
            <a:r>
              <a:rPr lang="en-US" altLang="en-US" sz="2800" baseline="-25000" dirty="0">
                <a:latin typeface="Calibri (Body)"/>
              </a:rPr>
              <a:t>2</a:t>
            </a:r>
            <a:r>
              <a:rPr lang="en-US" altLang="en-US" sz="2800" dirty="0">
                <a:latin typeface="Calibri (Body)"/>
              </a:rPr>
              <a:t>[Y] </a:t>
            </a:r>
          </a:p>
          <a:p>
            <a:pPr algn="l" eaLnBrk="1" hangingPunct="1">
              <a:lnSpc>
                <a:spcPct val="90000"/>
              </a:lnSpc>
              <a:spcBef>
                <a:spcPts val="600"/>
              </a:spcBef>
            </a:pPr>
            <a:r>
              <a:rPr lang="en-US" altLang="en-US" sz="2800" dirty="0">
                <a:latin typeface="Calibri (Body)"/>
              </a:rPr>
              <a:t>	where </a:t>
            </a:r>
            <a:r>
              <a:rPr lang="en-US" altLang="en-US" sz="2800" dirty="0" err="1">
                <a:latin typeface="Calibri (Body)"/>
              </a:rPr>
              <a:t>t</a:t>
            </a:r>
            <a:r>
              <a:rPr lang="en-US" altLang="en-US" sz="2800" baseline="-25000" dirty="0" err="1">
                <a:latin typeface="Calibri (Body)"/>
              </a:rPr>
              <a:t>i</a:t>
            </a:r>
            <a:r>
              <a:rPr lang="en-US" altLang="en-US" sz="2800" dirty="0">
                <a:latin typeface="Calibri (Body)"/>
              </a:rPr>
              <a:t>[X] represents the values for X in tuple </a:t>
            </a:r>
            <a:r>
              <a:rPr lang="en-US" altLang="en-US" sz="2800" dirty="0" err="1">
                <a:latin typeface="Calibri (Body)"/>
              </a:rPr>
              <a:t>t</a:t>
            </a:r>
            <a:r>
              <a:rPr lang="en-US" altLang="en-US" sz="2000" dirty="0" err="1">
                <a:latin typeface="Calibri (Body)"/>
              </a:rPr>
              <a:t>i</a:t>
            </a:r>
            <a:endParaRPr lang="en-US" altLang="en-US" sz="20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972724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7086600" cy="792163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 sz="3600" dirty="0">
                <a:solidFill>
                  <a:srgbClr val="333399"/>
                </a:solidFill>
                <a:latin typeface="Calibri (Body)"/>
              </a:rPr>
            </a:br>
            <a:r>
              <a:rPr lang="en-US" altLang="en-US" sz="4000" b="1" dirty="0">
                <a:latin typeface="Calibri (Body)"/>
              </a:rPr>
              <a:t>Functional dependency</a:t>
            </a:r>
            <a:br>
              <a:rPr lang="en-US" altLang="en-US" sz="3600" dirty="0">
                <a:solidFill>
                  <a:srgbClr val="333399"/>
                </a:solidFill>
                <a:latin typeface="Calibri (Body)"/>
              </a:rPr>
            </a:br>
            <a:endParaRPr lang="en-US" altLang="en-US" sz="3600" b="1" dirty="0">
              <a:latin typeface="Calibri (Body)"/>
            </a:endParaRPr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533400" y="1905000"/>
            <a:ext cx="8077200" cy="337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FF0000"/>
                </a:solidFill>
                <a:latin typeface="Calibri (Body)"/>
              </a:rPr>
              <a:t>Describes the relationship between attributes in a relation.</a:t>
            </a:r>
            <a:endParaRPr lang="en-US" altLang="en-US" sz="2800" dirty="0">
              <a:latin typeface="Calibri (Body)"/>
            </a:endParaRPr>
          </a:p>
          <a:p>
            <a:pPr algn="l" eaLnBrk="1" hangingPunct="1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 (Body)"/>
              </a:rPr>
              <a:t>If A and B are attributes of relation R, B is functionally dependent on A (denoted A </a:t>
            </a:r>
            <a:r>
              <a:rPr lang="en-US" altLang="en-US" sz="2800" dirty="0">
                <a:latin typeface="Calibri (Body)"/>
                <a:sym typeface="Wingdings" panose="05000000000000000000" pitchFamily="2" charset="2"/>
              </a:rPr>
              <a:t></a:t>
            </a:r>
            <a:r>
              <a:rPr lang="en-US" altLang="en-US" sz="2800" dirty="0">
                <a:latin typeface="Calibri (Body)"/>
              </a:rPr>
              <a:t> B), if each value of A is associated with exactly one value of B. </a:t>
            </a:r>
          </a:p>
          <a:p>
            <a:pPr algn="l" eaLnBrk="1" hangingPunct="1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 (Body)"/>
              </a:rPr>
              <a:t>(A and B may each consist of one or more attributes)</a:t>
            </a:r>
          </a:p>
        </p:txBody>
      </p:sp>
    </p:spTree>
    <p:extLst>
      <p:ext uri="{BB962C8B-B14F-4D97-AF65-F5344CB8AC3E}">
        <p14:creationId xmlns:p14="http://schemas.microsoft.com/office/powerpoint/2010/main" val="1588299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531812"/>
            <a:ext cx="7086600" cy="7921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Functional dependency</a:t>
            </a:r>
            <a:br>
              <a:rPr lang="en-US" altLang="en-US" sz="3600" b="1" dirty="0">
                <a:latin typeface="Candara" panose="020E0502030303020204" pitchFamily="34" charset="0"/>
              </a:rPr>
            </a:br>
            <a:endParaRPr lang="en-US" altLang="en-US" sz="3600" b="1" dirty="0">
              <a:latin typeface="Candara" panose="020E0502030303020204" pitchFamily="34" charset="0"/>
            </a:endParaRPr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371600"/>
            <a:ext cx="6378575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458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895600"/>
            <a:ext cx="5568950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4582" name="Rectangle 5"/>
          <p:cNvSpPr>
            <a:spLocks noChangeArrowheads="1"/>
          </p:cNvSpPr>
          <p:nvPr/>
        </p:nvSpPr>
        <p:spPr bwMode="auto">
          <a:xfrm>
            <a:off x="381000" y="4572000"/>
            <a:ext cx="83820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dirty="0">
                <a:solidFill>
                  <a:srgbClr val="000000"/>
                </a:solidFill>
                <a:latin typeface="Candara" panose="020E0502030303020204" pitchFamily="34" charset="0"/>
              </a:rPr>
              <a:t>(</a:t>
            </a:r>
            <a:r>
              <a:rPr lang="en-US" altLang="en-US" sz="2000" dirty="0" err="1">
                <a:solidFill>
                  <a:srgbClr val="000000"/>
                </a:solidFill>
                <a:latin typeface="Candara" panose="020E0502030303020204" pitchFamily="34" charset="0"/>
              </a:rPr>
              <a:t>Ssn,Pnumber</a:t>
            </a:r>
            <a:r>
              <a:rPr lang="en-US" altLang="en-US" sz="2000" dirty="0">
                <a:solidFill>
                  <a:srgbClr val="000000"/>
                </a:solidFill>
                <a:latin typeface="Candara" panose="020E0502030303020204" pitchFamily="34" charset="0"/>
              </a:rPr>
              <a:t>) -&gt; Hours </a:t>
            </a:r>
            <a:r>
              <a:rPr lang="en-US" altLang="en-US" sz="2000" dirty="0">
                <a:solidFill>
                  <a:srgbClr val="FF0000"/>
                </a:solidFill>
                <a:latin typeface="Candara" panose="020E0502030303020204" pitchFamily="34" charset="0"/>
              </a:rPr>
              <a:t>(SSN &amp; PNUMBER </a:t>
            </a:r>
            <a:r>
              <a:rPr lang="en-US" altLang="en-US" sz="2000" dirty="0" err="1">
                <a:solidFill>
                  <a:srgbClr val="FF0000"/>
                </a:solidFill>
                <a:latin typeface="Candara" panose="020E0502030303020204" pitchFamily="34" charset="0"/>
              </a:rPr>
              <a:t>detrmines</a:t>
            </a:r>
            <a:r>
              <a:rPr lang="en-US" altLang="en-US" sz="2000" dirty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  <a:latin typeface="Candara" panose="020E0502030303020204" pitchFamily="34" charset="0"/>
              </a:rPr>
              <a:t>hrs</a:t>
            </a:r>
            <a:r>
              <a:rPr lang="en-US" altLang="en-US" sz="2000" dirty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  <a:latin typeface="Candara" panose="020E0502030303020204" pitchFamily="34" charset="0"/>
              </a:rPr>
              <a:t>emp</a:t>
            </a:r>
            <a:r>
              <a:rPr lang="en-US" altLang="en-US" sz="2000" dirty="0">
                <a:solidFill>
                  <a:srgbClr val="FF0000"/>
                </a:solidFill>
                <a:latin typeface="Candara" panose="020E0502030303020204" pitchFamily="34" charset="0"/>
              </a:rPr>
              <a:t> work on a project)</a:t>
            </a:r>
          </a:p>
          <a:p>
            <a:pPr algn="l" eaLnBrk="1" hangingPunct="1"/>
            <a:r>
              <a:rPr lang="en-US" altLang="en-US" sz="2000" dirty="0" err="1">
                <a:solidFill>
                  <a:srgbClr val="000000"/>
                </a:solidFill>
                <a:latin typeface="Candara" panose="020E0502030303020204" pitchFamily="34" charset="0"/>
              </a:rPr>
              <a:t>Ssn</a:t>
            </a:r>
            <a:r>
              <a:rPr lang="en-US" altLang="en-US" sz="2000" dirty="0">
                <a:solidFill>
                  <a:srgbClr val="000000"/>
                </a:solidFill>
                <a:latin typeface="Candara" panose="020E0502030303020204" pitchFamily="34" charset="0"/>
              </a:rPr>
              <a:t> -&gt; </a:t>
            </a:r>
            <a:r>
              <a:rPr lang="en-US" altLang="en-US" sz="2000" dirty="0" err="1">
                <a:solidFill>
                  <a:srgbClr val="000000"/>
                </a:solidFill>
                <a:latin typeface="Candara" panose="020E0502030303020204" pitchFamily="34" charset="0"/>
              </a:rPr>
              <a:t>Ename</a:t>
            </a:r>
            <a:endParaRPr lang="en-US" altLang="en-US" sz="2000" dirty="0">
              <a:solidFill>
                <a:srgbClr val="000000"/>
              </a:solidFill>
              <a:latin typeface="Candara" panose="020E0502030303020204" pitchFamily="34" charset="0"/>
            </a:endParaRPr>
          </a:p>
          <a:p>
            <a:pPr algn="l" eaLnBrk="1" hangingPunct="1"/>
            <a:r>
              <a:rPr lang="en-US" altLang="en-US" sz="2000" dirty="0" err="1">
                <a:solidFill>
                  <a:srgbClr val="000000"/>
                </a:solidFill>
                <a:latin typeface="Candara" panose="020E0502030303020204" pitchFamily="34" charset="0"/>
              </a:rPr>
              <a:t>Pnumber</a:t>
            </a:r>
            <a:r>
              <a:rPr lang="en-US" altLang="en-US" sz="2000" dirty="0">
                <a:solidFill>
                  <a:srgbClr val="000000"/>
                </a:solidFill>
                <a:latin typeface="Candara" panose="020E0502030303020204" pitchFamily="34" charset="0"/>
              </a:rPr>
              <a:t> -&gt; (</a:t>
            </a:r>
            <a:r>
              <a:rPr lang="en-US" altLang="en-US" sz="2000" dirty="0" err="1">
                <a:solidFill>
                  <a:srgbClr val="000000"/>
                </a:solidFill>
                <a:latin typeface="Candara" panose="020E0502030303020204" pitchFamily="34" charset="0"/>
              </a:rPr>
              <a:t>pname</a:t>
            </a:r>
            <a:r>
              <a:rPr lang="en-US" altLang="en-US" sz="2000" dirty="0">
                <a:solidFill>
                  <a:srgbClr val="000000"/>
                </a:solidFill>
                <a:latin typeface="Candara" panose="020E0502030303020204" pitchFamily="34" charset="0"/>
              </a:rPr>
              <a:t>, </a:t>
            </a:r>
            <a:r>
              <a:rPr lang="en-US" altLang="en-US" sz="2000" dirty="0" err="1">
                <a:solidFill>
                  <a:srgbClr val="000000"/>
                </a:solidFill>
                <a:latin typeface="Candara" panose="020E0502030303020204" pitchFamily="34" charset="0"/>
              </a:rPr>
              <a:t>plocation</a:t>
            </a:r>
            <a:r>
              <a:rPr lang="en-US" altLang="en-US" sz="2000" dirty="0">
                <a:solidFill>
                  <a:srgbClr val="FF0000"/>
                </a:solidFill>
                <a:latin typeface="Candara" panose="020E0502030303020204" pitchFamily="34" charset="0"/>
              </a:rPr>
              <a:t>) (PNUMBER determines </a:t>
            </a:r>
            <a:r>
              <a:rPr lang="en-US" altLang="en-US" sz="2000" dirty="0" err="1">
                <a:solidFill>
                  <a:srgbClr val="FF0000"/>
                </a:solidFill>
                <a:latin typeface="Candara" panose="020E0502030303020204" pitchFamily="34" charset="0"/>
              </a:rPr>
              <a:t>pname</a:t>
            </a:r>
            <a:r>
              <a:rPr lang="en-US" altLang="en-US" sz="2000" dirty="0">
                <a:solidFill>
                  <a:srgbClr val="FF0000"/>
                </a:solidFill>
                <a:latin typeface="Candara" panose="020E0502030303020204" pitchFamily="34" charset="0"/>
              </a:rPr>
              <a:t> &amp; location) </a:t>
            </a:r>
          </a:p>
          <a:p>
            <a:pPr eaLnBrk="1" hangingPunct="1"/>
            <a:endParaRPr lang="en-US" altLang="en-US" sz="2000" dirty="0">
              <a:solidFill>
                <a:srgbClr val="000000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553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82845"/>
            <a:ext cx="6248400" cy="792163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en-US" sz="4000" b="1" dirty="0">
                <a:latin typeface="Calibri (Body)"/>
              </a:rPr>
              <a:t>Functional dependency</a:t>
            </a:r>
            <a:br>
              <a:rPr lang="en-US" altLang="en-US" sz="3600" b="1" dirty="0">
                <a:latin typeface="Calibri (Body)"/>
              </a:rPr>
            </a:br>
            <a:endParaRPr lang="en-US" altLang="en-US" sz="3600" b="1" dirty="0">
              <a:latin typeface="Calibri (Body)"/>
            </a:endParaRPr>
          </a:p>
        </p:txBody>
      </p:sp>
      <p:pic>
        <p:nvPicPr>
          <p:cNvPr id="2560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8458200" cy="506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8249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2101"/>
            <a:ext cx="7086600" cy="7921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>
                <a:latin typeface="Calibri (Body)"/>
              </a:rPr>
              <a:t>Functional dependency</a:t>
            </a:r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304800" y="1828800"/>
            <a:ext cx="8458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endParaRPr lang="fi-FI" altLang="en-US" dirty="0">
              <a:latin typeface="Candara" panose="020E0502030303020204" pitchFamily="34" charset="0"/>
            </a:endParaRPr>
          </a:p>
          <a:p>
            <a:pPr algn="l" eaLnBrk="1" hangingPunct="1"/>
            <a:endParaRPr lang="fi-FI" altLang="en-US" dirty="0">
              <a:latin typeface="Candara" panose="020E0502030303020204" pitchFamily="34" charset="0"/>
            </a:endParaRPr>
          </a:p>
          <a:p>
            <a:pPr algn="l" eaLnBrk="1" hangingPunct="1"/>
            <a:endParaRPr lang="fi-FI" altLang="en-US" dirty="0">
              <a:latin typeface="Candara" panose="020E0502030303020204" pitchFamily="34" charset="0"/>
            </a:endParaRPr>
          </a:p>
        </p:txBody>
      </p:sp>
      <p:sp>
        <p:nvSpPr>
          <p:cNvPr id="26629" name="Rectangle 6"/>
          <p:cNvSpPr>
            <a:spLocks noChangeArrowheads="1"/>
          </p:cNvSpPr>
          <p:nvPr/>
        </p:nvSpPr>
        <p:spPr bwMode="auto">
          <a:xfrm>
            <a:off x="1447800" y="3635375"/>
            <a:ext cx="62484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fi-FI" altLang="en-US" b="1" dirty="0">
                <a:solidFill>
                  <a:srgbClr val="FF0000"/>
                </a:solidFill>
                <a:latin typeface="Calibri (Body)"/>
              </a:rPr>
              <a:t>Trivial :-                </a:t>
            </a:r>
            <a:r>
              <a:rPr lang="fi-FI" altLang="en-US" dirty="0">
                <a:solidFill>
                  <a:srgbClr val="000000"/>
                </a:solidFill>
                <a:latin typeface="Calibri (Body)"/>
              </a:rPr>
              <a:t>staffNo, sName </a:t>
            </a:r>
            <a:r>
              <a:rPr lang="fi-FI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 sName</a:t>
            </a:r>
            <a:endParaRPr lang="fi-FI" altLang="en-US" dirty="0">
              <a:solidFill>
                <a:srgbClr val="000000"/>
              </a:solidFill>
              <a:latin typeface="Calibri (Body)"/>
            </a:endParaRPr>
          </a:p>
          <a:p>
            <a:pPr algn="l" eaLnBrk="1" hangingPunct="1"/>
            <a:r>
              <a:rPr lang="fi-FI" altLang="en-US" dirty="0">
                <a:solidFill>
                  <a:srgbClr val="000000"/>
                </a:solidFill>
                <a:latin typeface="Calibri (Body)"/>
              </a:rPr>
              <a:t>                               staffNo, sName </a:t>
            </a:r>
            <a:r>
              <a:rPr lang="fi-FI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 staffNo</a:t>
            </a:r>
          </a:p>
          <a:p>
            <a:pPr algn="l" eaLnBrk="1" hangingPunct="1"/>
            <a:endParaRPr lang="fi-FI" altLang="en-US" dirty="0">
              <a:solidFill>
                <a:srgbClr val="000000"/>
              </a:solidFill>
              <a:latin typeface="Calibri (Body)"/>
              <a:sym typeface="Wingdings" panose="05000000000000000000" pitchFamily="2" charset="2"/>
            </a:endParaRPr>
          </a:p>
          <a:p>
            <a:pPr algn="l" eaLnBrk="1" hangingPunct="1"/>
            <a:r>
              <a:rPr lang="fi-FI" altLang="en-US" b="1" dirty="0">
                <a:solidFill>
                  <a:srgbClr val="FF0000"/>
                </a:solidFill>
                <a:latin typeface="Calibri (Body)"/>
              </a:rPr>
              <a:t>NonTrivial :-         </a:t>
            </a:r>
            <a:r>
              <a:rPr lang="fi-FI" altLang="en-US" dirty="0">
                <a:solidFill>
                  <a:srgbClr val="000000"/>
                </a:solidFill>
                <a:latin typeface="Calibri (Body)"/>
              </a:rPr>
              <a:t>staffNo, sName </a:t>
            </a:r>
            <a:r>
              <a:rPr lang="fi-FI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 salary</a:t>
            </a:r>
            <a:endParaRPr lang="fi-FI" altLang="en-US" dirty="0">
              <a:solidFill>
                <a:srgbClr val="000000"/>
              </a:solidFill>
              <a:latin typeface="Calibri (Body)"/>
            </a:endParaRPr>
          </a:p>
          <a:p>
            <a:pPr algn="l" eaLnBrk="1" hangingPunct="1"/>
            <a:r>
              <a:rPr lang="fi-FI" altLang="en-US" dirty="0">
                <a:solidFill>
                  <a:srgbClr val="000000"/>
                </a:solidFill>
                <a:latin typeface="Calibri (Body)"/>
              </a:rPr>
              <a:t>                                           </a:t>
            </a:r>
            <a:endParaRPr lang="fi-FI" altLang="en-US" dirty="0">
              <a:solidFill>
                <a:srgbClr val="000000"/>
              </a:solidFill>
              <a:latin typeface="Calibri (Body)"/>
              <a:sym typeface="Wingdings" panose="05000000000000000000" pitchFamily="2" charset="2"/>
            </a:endParaRPr>
          </a:p>
          <a:p>
            <a:pPr algn="l" eaLnBrk="1" hangingPunct="1"/>
            <a:endParaRPr lang="en-US" altLang="en-US" dirty="0">
              <a:solidFill>
                <a:srgbClr val="000000"/>
              </a:solidFill>
              <a:latin typeface="Calibri (Body)"/>
            </a:endParaRPr>
          </a:p>
        </p:txBody>
      </p:sp>
      <p:pic>
        <p:nvPicPr>
          <p:cNvPr id="26630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44"/>
          <a:stretch/>
        </p:blipFill>
        <p:spPr bwMode="auto">
          <a:xfrm>
            <a:off x="914400" y="1295400"/>
            <a:ext cx="7315200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339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-457200" y="503237"/>
            <a:ext cx="7086600" cy="7921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Functional dependency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457200" y="1295400"/>
            <a:ext cx="8305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zh-TW" sz="2800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Given a set of FDs F, we can </a:t>
            </a:r>
            <a:r>
              <a:rPr lang="en-US" altLang="zh-TW" sz="2800" i="1" dirty="0">
                <a:solidFill>
                  <a:srgbClr val="FF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infer</a:t>
            </a:r>
            <a:r>
              <a:rPr lang="en-US" altLang="zh-TW" sz="2800" dirty="0">
                <a:solidFill>
                  <a:srgbClr val="FF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 additional FDs </a:t>
            </a:r>
            <a:r>
              <a:rPr lang="en-US" altLang="zh-TW" sz="2800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that hold whenever the FDs in F hold</a:t>
            </a:r>
          </a:p>
          <a:p>
            <a:pPr algn="l" eaLnBrk="1" hangingPunct="1"/>
            <a:endParaRPr lang="fi-FI" altLang="en-US" sz="2800" dirty="0">
              <a:latin typeface="Calibri (Body)"/>
              <a:ea typeface="新細明體" charset="-120"/>
              <a:cs typeface="Times New Roman" panose="02020603050405020304" pitchFamily="18" charset="0"/>
            </a:endParaRPr>
          </a:p>
        </p:txBody>
      </p:sp>
      <p:sp>
        <p:nvSpPr>
          <p:cNvPr id="27653" name="Rectangle 4"/>
          <p:cNvSpPr>
            <a:spLocks noChangeArrowheads="1"/>
          </p:cNvSpPr>
          <p:nvPr/>
        </p:nvSpPr>
        <p:spPr bwMode="auto">
          <a:xfrm>
            <a:off x="802944" y="2223448"/>
            <a:ext cx="7579056" cy="4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b="1" u="sng" dirty="0">
                <a:solidFill>
                  <a:srgbClr val="FF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Armstrong's inference rules:</a:t>
            </a: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IR1. (</a:t>
            </a:r>
            <a:r>
              <a:rPr lang="en-US" altLang="zh-TW" b="1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Reflexive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)            If Y </a:t>
            </a:r>
            <a:r>
              <a:rPr lang="en-US" altLang="zh-TW" i="1" u="sng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subset-of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X, then X</a:t>
            </a:r>
            <a:r>
              <a:rPr lang="en-US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  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Y</a:t>
            </a: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IR2. (</a:t>
            </a:r>
            <a:r>
              <a:rPr lang="en-US" altLang="zh-TW" b="1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Augmentation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)    If X </a:t>
            </a:r>
            <a:r>
              <a:rPr lang="en-US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Y, then XZ </a:t>
            </a:r>
            <a:r>
              <a:rPr lang="en-US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YZ</a:t>
            </a: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		(Notation: XZ stands for X U Z or {X, Z})</a:t>
            </a: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IR3. (</a:t>
            </a:r>
            <a:r>
              <a:rPr lang="en-US" altLang="zh-TW" b="1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Transitive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)            If X </a:t>
            </a:r>
            <a:r>
              <a:rPr lang="en-US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Y and Y </a:t>
            </a:r>
            <a:r>
              <a:rPr lang="en-US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Z, then X </a:t>
            </a:r>
            <a:r>
              <a:rPr lang="en-US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Z</a:t>
            </a: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dirty="0">
              <a:latin typeface="Calibri (Body)"/>
              <a:ea typeface="新細明體" charset="-120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b="1" u="sng" dirty="0">
                <a:solidFill>
                  <a:srgbClr val="FF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Additional inference rules</a:t>
            </a:r>
            <a:r>
              <a:rPr lang="en-US" altLang="zh-TW" sz="2800" u="sng" dirty="0">
                <a:solidFill>
                  <a:srgbClr val="FF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that are useful:</a:t>
            </a:r>
            <a:endParaRPr lang="en-US" altLang="zh-TW" sz="2800" dirty="0">
              <a:solidFill>
                <a:srgbClr val="FF0000"/>
              </a:solidFill>
              <a:latin typeface="Calibri (Body)"/>
              <a:ea typeface="新細明體" charset="-120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(</a:t>
            </a:r>
            <a:r>
              <a:rPr lang="en-US" altLang="zh-TW" b="1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Decomposition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) If X </a:t>
            </a:r>
            <a:r>
              <a:rPr lang="en-US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YZ, then X </a:t>
            </a:r>
            <a:r>
              <a:rPr lang="en-US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Y and X </a:t>
            </a:r>
            <a:r>
              <a:rPr lang="en-US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Z</a:t>
            </a: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(</a:t>
            </a:r>
            <a:r>
              <a:rPr lang="en-US" altLang="zh-TW" b="1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Union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) If X </a:t>
            </a:r>
            <a:r>
              <a:rPr lang="en-US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Y and X </a:t>
            </a:r>
            <a:r>
              <a:rPr lang="en-US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Z, then X </a:t>
            </a:r>
            <a:r>
              <a:rPr lang="en-US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YZ</a:t>
            </a: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(</a:t>
            </a:r>
            <a:r>
              <a:rPr lang="en-US" altLang="zh-TW" b="1" dirty="0" err="1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Psuedotransitivity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) If X </a:t>
            </a:r>
            <a:r>
              <a:rPr lang="en-US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Y and WY </a:t>
            </a:r>
            <a:r>
              <a:rPr lang="en-US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Z, then WX </a:t>
            </a:r>
            <a:r>
              <a:rPr lang="en-US" altLang="en-US" dirty="0">
                <a:solidFill>
                  <a:srgbClr val="000000"/>
                </a:solidFill>
                <a:latin typeface="Calibri (Body)"/>
                <a:sym typeface="Wingdings" panose="05000000000000000000" pitchFamily="2" charset="2"/>
              </a:rPr>
              <a:t></a:t>
            </a:r>
            <a:r>
              <a:rPr lang="en-US" altLang="zh-TW" dirty="0">
                <a:solidFill>
                  <a:srgbClr val="000000"/>
                </a:solidFill>
                <a:latin typeface="Calibri (Body)"/>
                <a:ea typeface="新細明體" charset="-120"/>
                <a:cs typeface="Times New Roman" panose="02020603050405020304" pitchFamily="18" charset="0"/>
              </a:rPr>
              <a:t> Z</a:t>
            </a: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dirty="0">
              <a:latin typeface="Calibri (Body)"/>
              <a:ea typeface="新細明體" charset="-120"/>
              <a:cs typeface="Times New Roman" panose="02020603050405020304" pitchFamily="18" charset="0"/>
            </a:endParaRPr>
          </a:p>
          <a:p>
            <a:pPr algn="l" eaLnBrk="1" hangingPunct="1"/>
            <a:endParaRPr lang="en-US" altLang="en-US" dirty="0">
              <a:latin typeface="Calibri (Body)"/>
              <a:ea typeface="新細明體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9087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838200"/>
            <a:ext cx="7086600" cy="7921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>
                <a:latin typeface="Calibri (Body)"/>
              </a:rPr>
              <a:t>Functional dependency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762000" y="2133600"/>
            <a:ext cx="7620000" cy="2751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TW" b="1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Closure</a:t>
            </a:r>
            <a:r>
              <a:rPr lang="en-US" altLang="zh-TW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 of a set F of FDs is the set F</a:t>
            </a:r>
            <a:r>
              <a:rPr lang="en-US" altLang="zh-TW" baseline="30000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+</a:t>
            </a:r>
            <a:r>
              <a:rPr lang="en-US" altLang="zh-TW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 of all FDs that can be inferred from F</a:t>
            </a:r>
          </a:p>
          <a:p>
            <a:pPr algn="l" eaLnBrk="1" hangingPunct="1">
              <a:lnSpc>
                <a:spcPct val="90000"/>
              </a:lnSpc>
            </a:pPr>
            <a:endParaRPr lang="en-US" altLang="zh-TW" dirty="0">
              <a:latin typeface="Calibri (Body)"/>
              <a:ea typeface="新細明體" charset="-120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90000"/>
              </a:lnSpc>
            </a:pPr>
            <a:r>
              <a:rPr lang="en-US" altLang="zh-TW" b="1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Closure</a:t>
            </a:r>
            <a:r>
              <a:rPr lang="en-US" altLang="zh-TW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 of a set of attributes X with respect to F is the set X </a:t>
            </a:r>
            <a:r>
              <a:rPr lang="en-US" altLang="zh-TW" baseline="30000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+</a:t>
            </a:r>
            <a:r>
              <a:rPr lang="en-US" altLang="zh-TW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 of all attributes that are functionally determined by X</a:t>
            </a:r>
          </a:p>
          <a:p>
            <a:pPr algn="l" eaLnBrk="1" hangingPunct="1">
              <a:lnSpc>
                <a:spcPct val="90000"/>
              </a:lnSpc>
            </a:pPr>
            <a:endParaRPr lang="en-US" altLang="zh-TW" dirty="0">
              <a:latin typeface="Calibri (Body)"/>
              <a:ea typeface="新細明體" charset="-120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90000"/>
              </a:lnSpc>
            </a:pPr>
            <a:r>
              <a:rPr lang="en-US" altLang="zh-TW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X </a:t>
            </a:r>
            <a:r>
              <a:rPr lang="en-US" altLang="zh-TW" baseline="30000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+</a:t>
            </a:r>
            <a:r>
              <a:rPr lang="en-US" altLang="zh-TW" dirty="0">
                <a:latin typeface="Calibri (Body)"/>
                <a:ea typeface="新細明體" charset="-120"/>
                <a:cs typeface="Times New Roman" panose="02020603050405020304" pitchFamily="18" charset="0"/>
              </a:rPr>
              <a:t> can be calculated by repeatedly applying IR1, IR2, IR3 using the FDs in F </a:t>
            </a:r>
          </a:p>
        </p:txBody>
      </p:sp>
    </p:spTree>
    <p:extLst>
      <p:ext uri="{BB962C8B-B14F-4D97-AF65-F5344CB8AC3E}">
        <p14:creationId xmlns:p14="http://schemas.microsoft.com/office/powerpoint/2010/main" val="7428068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17896" y="579437"/>
            <a:ext cx="7086600" cy="79216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Normalization</a:t>
            </a:r>
            <a:r>
              <a:rPr lang="en-US" sz="3600" b="1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 </a:t>
            </a:r>
            <a:br>
              <a:rPr lang="en-US" sz="3600" dirty="0">
                <a:solidFill>
                  <a:srgbClr val="333399"/>
                </a:solidFill>
                <a:latin typeface="Calibri (Body)"/>
              </a:rPr>
            </a:br>
            <a:endParaRPr lang="en-US" sz="3600" b="1" dirty="0">
              <a:latin typeface="Calibri (Body)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0" y="1295400"/>
            <a:ext cx="8382000" cy="5029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1313" indent="-341313" algn="l">
              <a:spcBef>
                <a:spcPts val="700"/>
              </a:spcBef>
              <a:buClr>
                <a:srgbClr val="FF0000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latin typeface="Calibri (Body)"/>
              </a:rPr>
              <a:t>Key points:</a:t>
            </a:r>
          </a:p>
          <a:p>
            <a:pPr marL="741363" lvl="1" indent="-284163" algn="l">
              <a:spcBef>
                <a:spcPts val="650"/>
              </a:spcBef>
              <a:buFont typeface="Arial" pitchFamily="34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Calibri (Body)"/>
              </a:rPr>
              <a:t>Redundancy is based on functional dependencies</a:t>
            </a:r>
          </a:p>
          <a:p>
            <a:pPr marL="741363" lvl="1" indent="-284163" algn="l">
              <a:spcBef>
                <a:spcPts val="650"/>
              </a:spcBef>
              <a:buFont typeface="Arial" pitchFamily="34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Calibri (Body)"/>
              </a:rPr>
              <a:t>Therefore, </a:t>
            </a:r>
            <a:r>
              <a:rPr lang="en-US" sz="2800" i="1" dirty="0">
                <a:solidFill>
                  <a:srgbClr val="000000"/>
                </a:solidFill>
                <a:latin typeface="Calibri (Body)"/>
              </a:rPr>
              <a:t>normalization</a:t>
            </a:r>
            <a:r>
              <a:rPr lang="en-US" sz="2800" dirty="0">
                <a:solidFill>
                  <a:srgbClr val="000000"/>
                </a:solidFill>
                <a:latin typeface="Calibri (Body)"/>
              </a:rPr>
              <a:t> is based on functional dependencies</a:t>
            </a:r>
          </a:p>
          <a:p>
            <a:pPr marL="741363" lvl="1" indent="-284163" algn="l">
              <a:spcBef>
                <a:spcPts val="650"/>
              </a:spcBef>
              <a:buFont typeface="Arial" pitchFamily="34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Calibri (Body)"/>
              </a:rPr>
              <a:t>Therefore, relational database schema need to be refined</a:t>
            </a:r>
          </a:p>
          <a:p>
            <a:pPr marL="341313" indent="-341313" algn="l">
              <a:spcBef>
                <a:spcPts val="700"/>
              </a:spcBef>
              <a:buClr>
                <a:srgbClr val="FF0000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latin typeface="Calibri (Body)"/>
              </a:rPr>
              <a:t>Schema Refinement Steps:</a:t>
            </a:r>
          </a:p>
          <a:p>
            <a:pPr marL="741363" lvl="1" indent="-284163" algn="l">
              <a:spcBef>
                <a:spcPts val="650"/>
              </a:spcBef>
              <a:buClr>
                <a:srgbClr val="3333CC"/>
              </a:buClr>
              <a:buFont typeface="Arial" pitchFamily="34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latin typeface="Calibri (Body)"/>
              </a:rPr>
              <a:t>Determine Functional dependencies for relation </a:t>
            </a:r>
          </a:p>
          <a:p>
            <a:pPr marL="741363" lvl="1" indent="-284163" algn="l">
              <a:spcBef>
                <a:spcPts val="650"/>
              </a:spcBef>
              <a:buClr>
                <a:srgbClr val="3333CC"/>
              </a:buClr>
              <a:buFont typeface="Arial" pitchFamily="34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latin typeface="Calibri (Body)"/>
              </a:rPr>
              <a:t>Find all keys in  relation</a:t>
            </a:r>
          </a:p>
          <a:p>
            <a:pPr marL="741363" lvl="1" indent="-284163" algn="l">
              <a:spcBef>
                <a:spcPts val="650"/>
              </a:spcBef>
              <a:buClr>
                <a:srgbClr val="3333CC"/>
              </a:buClr>
              <a:buFont typeface="Arial" pitchFamily="34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latin typeface="Calibri (Body)"/>
              </a:rPr>
              <a:t>Normalize the relation</a:t>
            </a:r>
          </a:p>
        </p:txBody>
      </p:sp>
    </p:spTree>
    <p:extLst>
      <p:ext uri="{BB962C8B-B14F-4D97-AF65-F5344CB8AC3E}">
        <p14:creationId xmlns:p14="http://schemas.microsoft.com/office/powerpoint/2010/main" val="2780688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-228600" y="503237"/>
            <a:ext cx="7086600" cy="79216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Database Basics - Review </a:t>
            </a:r>
            <a:br>
              <a:rPr lang="en-US" sz="4000" dirty="0">
                <a:solidFill>
                  <a:srgbClr val="333399"/>
                </a:solidFill>
                <a:latin typeface="Calibri (Body)"/>
              </a:rPr>
            </a:br>
            <a:endParaRPr lang="en-US" sz="4000" b="1" dirty="0">
              <a:latin typeface="Calibri (Body)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1295400"/>
            <a:ext cx="8001000" cy="5698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1313" indent="-341313" algn="l">
              <a:spcBef>
                <a:spcPts val="700"/>
              </a:spcBef>
              <a:buClr>
                <a:srgbClr val="FF0000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Review of some terms</a:t>
            </a:r>
          </a:p>
          <a:p>
            <a:pPr marL="342900" indent="-341313" algn="l">
              <a:spcBef>
                <a:spcPts val="700"/>
              </a:spcBef>
              <a:buClr>
                <a:srgbClr val="3333CC"/>
              </a:buClr>
              <a:buFont typeface="Arial" pitchFamily="34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sz="2800" b="1" dirty="0">
                <a:solidFill>
                  <a:srgbClr val="FF0000"/>
                </a:solidFill>
                <a:latin typeface="Calibri (Body)"/>
              </a:rPr>
              <a:t>Key: </a:t>
            </a:r>
            <a:r>
              <a:rPr lang="en-US" sz="2800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A key is a super key with the additional property that removal of any attributes from the key will not satisfy the key condition (minimal set of attributes) </a:t>
            </a:r>
          </a:p>
          <a:p>
            <a:pPr lvl="2" algn="l">
              <a:spcBef>
                <a:spcPts val="600"/>
              </a:spcBef>
              <a:buFont typeface="Arial" pitchFamily="34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e.g.  Student-No</a:t>
            </a:r>
          </a:p>
          <a:p>
            <a:pPr lvl="2" algn="l">
              <a:spcBef>
                <a:spcPts val="60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endParaRPr lang="en-US" sz="2800" dirty="0">
              <a:solidFill>
                <a:schemeClr val="tx1">
                  <a:lumMod val="75000"/>
                </a:schemeClr>
              </a:solidFill>
              <a:latin typeface="Calibri (Body)"/>
            </a:endParaRPr>
          </a:p>
          <a:p>
            <a:pPr marL="342900" indent="-341313" algn="l">
              <a:spcBef>
                <a:spcPts val="700"/>
              </a:spcBef>
              <a:buClr>
                <a:srgbClr val="3333CC"/>
              </a:buClr>
              <a:buFont typeface="Arial" pitchFamily="34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sz="2800" b="1" dirty="0" err="1">
                <a:solidFill>
                  <a:srgbClr val="FF0000"/>
                </a:solidFill>
                <a:latin typeface="Calibri (Body)"/>
              </a:rPr>
              <a:t>Superkey</a:t>
            </a:r>
            <a:r>
              <a:rPr lang="en-US" sz="2800" b="1" dirty="0">
                <a:solidFill>
                  <a:srgbClr val="FF0000"/>
                </a:solidFill>
                <a:latin typeface="Calibri (Body)"/>
              </a:rPr>
              <a:t>: </a:t>
            </a:r>
            <a:r>
              <a:rPr lang="en-US" sz="2800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Set of attributes S in relation R that can be used to identify each tuple uniquely.  </a:t>
            </a:r>
          </a:p>
          <a:p>
            <a:pPr lvl="2" algn="l">
              <a:spcBef>
                <a:spcPts val="600"/>
              </a:spcBef>
              <a:buFont typeface="Arial" pitchFamily="34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e.g.  ( Student-No, name)</a:t>
            </a:r>
          </a:p>
          <a:p>
            <a:pPr marL="342900" indent="-341313">
              <a:spcBef>
                <a:spcPts val="700"/>
              </a:spcBef>
              <a:buFont typeface="Arial" pitchFamily="34" charset="0"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endParaRPr lang="en-US" sz="2800" dirty="0">
              <a:solidFill>
                <a:srgbClr val="000000"/>
              </a:solidFill>
              <a:latin typeface="Calibri (Body)"/>
            </a:endParaRPr>
          </a:p>
          <a:p>
            <a:pPr marL="341313" indent="-341313" algn="l">
              <a:spcBef>
                <a:spcPts val="700"/>
              </a:spcBef>
              <a:buClr>
                <a:srgbClr val="FF0000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dirty="0">
              <a:solidFill>
                <a:schemeClr val="tx1">
                  <a:lumMod val="75000"/>
                </a:schemeClr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85768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5328" y="1981200"/>
            <a:ext cx="7813344" cy="3464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1313" indent="-341313" algn="l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b="1" dirty="0">
                <a:solidFill>
                  <a:srgbClr val="FF0000"/>
                </a:solidFill>
                <a:latin typeface="Calibri (Body)"/>
              </a:rPr>
              <a:t>Candidate Key: </a:t>
            </a:r>
            <a:r>
              <a:rPr lang="en-US" sz="2800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Each key of a relation is called a candidate key</a:t>
            </a:r>
          </a:p>
          <a:p>
            <a:pPr marL="341313" indent="-341313" algn="l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b="1" dirty="0">
                <a:solidFill>
                  <a:srgbClr val="FF0000"/>
                </a:solidFill>
                <a:latin typeface="Calibri (Body)"/>
              </a:rPr>
              <a:t>Primary Key: </a:t>
            </a:r>
            <a:r>
              <a:rPr lang="en-US" sz="2800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A candidate key is chosen to be the primary key</a:t>
            </a:r>
          </a:p>
          <a:p>
            <a:pPr marL="341313" indent="-341313" algn="l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b="1" dirty="0">
                <a:solidFill>
                  <a:srgbClr val="FF0000"/>
                </a:solidFill>
                <a:latin typeface="Calibri (Body)"/>
              </a:rPr>
              <a:t>Prime Attribute: </a:t>
            </a:r>
            <a:r>
              <a:rPr lang="en-US" sz="2800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an attribute which is a member of a candidate key</a:t>
            </a:r>
          </a:p>
          <a:p>
            <a:pPr marL="341313" indent="-341313" algn="l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b="1" dirty="0">
                <a:solidFill>
                  <a:srgbClr val="FF0000"/>
                </a:solidFill>
                <a:latin typeface="Calibri (Body)"/>
              </a:rPr>
              <a:t>Nonprime Attribute: </a:t>
            </a:r>
            <a:r>
              <a:rPr lang="en-US" sz="2800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An attribute which is not prime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38824" y="1066800"/>
            <a:ext cx="7086600" cy="56356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chemeClr val="tx1">
                    <a:lumMod val="75000"/>
                  </a:schemeClr>
                </a:solidFill>
                <a:latin typeface="Calibri (Body)"/>
              </a:rPr>
              <a:t>Database basics - Review </a:t>
            </a:r>
            <a:br>
              <a:rPr lang="en-US" sz="4000" dirty="0">
                <a:solidFill>
                  <a:srgbClr val="333399"/>
                </a:solidFill>
                <a:latin typeface="Calibri (Body)"/>
              </a:rPr>
            </a:br>
            <a:endParaRPr lang="en-US" sz="4000" b="1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7791845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0392" y="507204"/>
            <a:ext cx="7086600" cy="792163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>
                <a:solidFill>
                  <a:schemeClr val="tx1">
                    <a:lumMod val="75000"/>
                  </a:schemeClr>
                </a:solidFill>
                <a:latin typeface="Candara" panose="020E0502030303020204" pitchFamily="34" charset="0"/>
              </a:rPr>
              <a:t>Stages of Normalization</a:t>
            </a:r>
            <a:endParaRPr lang="en-US" sz="3600" b="1" dirty="0">
              <a:latin typeface="Candara" panose="020E0502030303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300162"/>
            <a:ext cx="7315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1313" indent="-341313" algn="l">
              <a:spcBef>
                <a:spcPts val="700"/>
              </a:spcBef>
              <a:buClr>
                <a:srgbClr val="3333CC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Candara" panose="020E0502030303020204" pitchFamily="34" charset="0"/>
              </a:rPr>
              <a:t>There are many Normal Forms proposed to reduce redundancies</a:t>
            </a:r>
          </a:p>
        </p:txBody>
      </p:sp>
      <p:grpSp>
        <p:nvGrpSpPr>
          <p:cNvPr id="32773" name="Group 4"/>
          <p:cNvGrpSpPr>
            <a:grpSpLocks/>
          </p:cNvGrpSpPr>
          <p:nvPr/>
        </p:nvGrpSpPr>
        <p:grpSpPr bwMode="auto">
          <a:xfrm>
            <a:off x="1295400" y="2259239"/>
            <a:ext cx="6600825" cy="3851275"/>
            <a:chOff x="1676400" y="1182688"/>
            <a:chExt cx="6600825" cy="3851275"/>
          </a:xfrm>
        </p:grpSpPr>
        <p:grpSp>
          <p:nvGrpSpPr>
            <p:cNvPr id="32774" name="Group 35"/>
            <p:cNvGrpSpPr>
              <a:grpSpLocks/>
            </p:cNvGrpSpPr>
            <p:nvPr/>
          </p:nvGrpSpPr>
          <p:grpSpPr bwMode="auto">
            <a:xfrm>
              <a:off x="1676400" y="1182688"/>
              <a:ext cx="6600827" cy="3036881"/>
              <a:chOff x="1676400" y="1182688"/>
              <a:chExt cx="6600827" cy="3036881"/>
            </a:xfrm>
          </p:grpSpPr>
          <p:grpSp>
            <p:nvGrpSpPr>
              <p:cNvPr id="32780" name="Group 34"/>
              <p:cNvGrpSpPr>
                <a:grpSpLocks/>
              </p:cNvGrpSpPr>
              <p:nvPr/>
            </p:nvGrpSpPr>
            <p:grpSpPr bwMode="auto">
              <a:xfrm>
                <a:off x="1701800" y="1182688"/>
                <a:ext cx="6575427" cy="2217740"/>
                <a:chOff x="1701800" y="1182688"/>
                <a:chExt cx="6575427" cy="2217740"/>
              </a:xfrm>
            </p:grpSpPr>
            <p:sp>
              <p:nvSpPr>
                <p:cNvPr id="32786" name="Rectangle 5"/>
                <p:cNvSpPr>
                  <a:spLocks noChangeArrowheads="1"/>
                </p:cNvSpPr>
                <p:nvPr/>
              </p:nvSpPr>
              <p:spPr bwMode="auto">
                <a:xfrm>
                  <a:off x="1728788" y="1182688"/>
                  <a:ext cx="1944687" cy="569912"/>
                </a:xfrm>
                <a:prstGeom prst="rect">
                  <a:avLst/>
                </a:prstGeom>
                <a:solidFill>
                  <a:srgbClr val="CCFFFF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GB" altLang="en-US" dirty="0" err="1">
                      <a:solidFill>
                        <a:schemeClr val="tx2"/>
                      </a:solidFill>
                      <a:latin typeface="Candara" panose="020E0502030303020204" pitchFamily="34" charset="0"/>
                    </a:rPr>
                    <a:t>Unnormalised</a:t>
                  </a:r>
                  <a:r>
                    <a:rPr lang="en-GB" altLang="en-US" dirty="0">
                      <a:solidFill>
                        <a:schemeClr val="tx2"/>
                      </a:solidFill>
                      <a:latin typeface="Candara" panose="020E0502030303020204" pitchFamily="34" charset="0"/>
                    </a:rPr>
                    <a:t> </a:t>
                  </a:r>
                </a:p>
                <a:p>
                  <a:pPr eaLnBrk="1" hangingPunct="1"/>
                  <a:r>
                    <a:rPr lang="en-GB" altLang="en-US" b="1" dirty="0">
                      <a:solidFill>
                        <a:srgbClr val="0000FF"/>
                      </a:solidFill>
                      <a:latin typeface="Candara" panose="020E0502030303020204" pitchFamily="34" charset="0"/>
                    </a:rPr>
                    <a:t>(UDF)</a:t>
                  </a:r>
                  <a:endParaRPr lang="en-GB" altLang="en-US" dirty="0">
                    <a:solidFill>
                      <a:schemeClr val="tx2"/>
                    </a:solidFill>
                    <a:latin typeface="Candara" panose="020E0502030303020204" pitchFamily="34" charset="0"/>
                  </a:endParaRPr>
                </a:p>
              </p:txBody>
            </p:sp>
            <p:grpSp>
              <p:nvGrpSpPr>
                <p:cNvPr id="32787" name="Group 47"/>
                <p:cNvGrpSpPr>
                  <a:grpSpLocks/>
                </p:cNvGrpSpPr>
                <p:nvPr/>
              </p:nvGrpSpPr>
              <p:grpSpPr bwMode="auto">
                <a:xfrm>
                  <a:off x="1717675" y="1497014"/>
                  <a:ext cx="6543677" cy="1076326"/>
                  <a:chOff x="1082" y="943"/>
                  <a:chExt cx="4122" cy="678"/>
                </a:xfrm>
              </p:grpSpPr>
              <p:sp>
                <p:nvSpPr>
                  <p:cNvPr id="32793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1082" y="1262"/>
                    <a:ext cx="1225" cy="359"/>
                  </a:xfrm>
                  <a:prstGeom prst="rect">
                    <a:avLst/>
                  </a:prstGeom>
                  <a:solidFill>
                    <a:srgbClr val="CCFFFF"/>
                  </a:solidFill>
                  <a:ln w="12700">
                    <a:solidFill>
                      <a:schemeClr val="tx2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altLang="en-US" dirty="0">
                        <a:solidFill>
                          <a:schemeClr val="tx2"/>
                        </a:solidFill>
                        <a:latin typeface="Candara" panose="020E0502030303020204" pitchFamily="34" charset="0"/>
                      </a:rPr>
                      <a:t>First normal form</a:t>
                    </a:r>
                  </a:p>
                  <a:p>
                    <a:pPr eaLnBrk="1" hangingPunct="1"/>
                    <a:r>
                      <a:rPr lang="en-GB" altLang="en-US" b="1" dirty="0">
                        <a:solidFill>
                          <a:srgbClr val="0000FF"/>
                        </a:solidFill>
                        <a:latin typeface="Candara" panose="020E0502030303020204" pitchFamily="34" charset="0"/>
                      </a:rPr>
                      <a:t>(1NF)</a:t>
                    </a:r>
                    <a:endParaRPr lang="en-GB" altLang="en-US" dirty="0">
                      <a:solidFill>
                        <a:schemeClr val="tx2"/>
                      </a:solidFill>
                      <a:latin typeface="Candara" panose="020E0502030303020204" pitchFamily="34" charset="0"/>
                    </a:endParaRPr>
                  </a:p>
                </p:txBody>
              </p:sp>
              <p:sp>
                <p:nvSpPr>
                  <p:cNvPr id="32794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654" y="1105"/>
                    <a:ext cx="0" cy="155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 type="none" w="sm" len="sm"/>
                    <a:tailEnd type="triangl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>
                      <a:latin typeface="Candara" panose="020E0502030303020204" pitchFamily="34" charset="0"/>
                    </a:endParaRPr>
                  </a:p>
                </p:txBody>
              </p:sp>
              <p:sp>
                <p:nvSpPr>
                  <p:cNvPr id="32795" name="Oval 25"/>
                  <p:cNvSpPr>
                    <a:spLocks noChangeArrowheads="1"/>
                  </p:cNvSpPr>
                  <p:nvPr/>
                </p:nvSpPr>
                <p:spPr bwMode="auto">
                  <a:xfrm>
                    <a:off x="2821" y="943"/>
                    <a:ext cx="2383" cy="41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altLang="en-US" sz="1600" dirty="0">
                        <a:solidFill>
                          <a:schemeClr val="tx2"/>
                        </a:solidFill>
                        <a:latin typeface="Candara" panose="020E0502030303020204" pitchFamily="34" charset="0"/>
                      </a:rPr>
                      <a:t>Remove </a:t>
                    </a:r>
                    <a:r>
                      <a:rPr lang="en-GB" altLang="en-US" sz="1600" dirty="0">
                        <a:solidFill>
                          <a:srgbClr val="0000FF"/>
                        </a:solidFill>
                        <a:latin typeface="Candara" panose="020E0502030303020204" pitchFamily="34" charset="0"/>
                      </a:rPr>
                      <a:t>repeating groups</a:t>
                    </a:r>
                    <a:endParaRPr lang="en-GB" altLang="en-US" sz="1600" dirty="0">
                      <a:solidFill>
                        <a:schemeClr val="tx2"/>
                      </a:solidFill>
                      <a:latin typeface="Candara" panose="020E0502030303020204" pitchFamily="34" charset="0"/>
                    </a:endParaRPr>
                  </a:p>
                </p:txBody>
              </p:sp>
              <p:sp>
                <p:nvSpPr>
                  <p:cNvPr id="32796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1654" y="1165"/>
                    <a:ext cx="116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prstDash val="dash"/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2788" name="Group 48"/>
                <p:cNvGrpSpPr>
                  <a:grpSpLocks/>
                </p:cNvGrpSpPr>
                <p:nvPr/>
              </p:nvGrpSpPr>
              <p:grpSpPr bwMode="auto">
                <a:xfrm>
                  <a:off x="1701800" y="2343152"/>
                  <a:ext cx="6575427" cy="1057276"/>
                  <a:chOff x="1072" y="1476"/>
                  <a:chExt cx="4142" cy="666"/>
                </a:xfrm>
              </p:grpSpPr>
              <p:sp>
                <p:nvSpPr>
                  <p:cNvPr id="32789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1072" y="1783"/>
                    <a:ext cx="1225" cy="359"/>
                  </a:xfrm>
                  <a:prstGeom prst="rect">
                    <a:avLst/>
                  </a:prstGeom>
                  <a:solidFill>
                    <a:srgbClr val="CCFFFF"/>
                  </a:solidFill>
                  <a:ln w="12700">
                    <a:solidFill>
                      <a:schemeClr val="tx2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altLang="en-US" dirty="0">
                        <a:solidFill>
                          <a:schemeClr val="tx2"/>
                        </a:solidFill>
                        <a:latin typeface="Candara" panose="020E0502030303020204" pitchFamily="34" charset="0"/>
                      </a:rPr>
                      <a:t>Second normal form</a:t>
                    </a:r>
                  </a:p>
                  <a:p>
                    <a:pPr eaLnBrk="1" hangingPunct="1"/>
                    <a:r>
                      <a:rPr lang="en-GB" altLang="en-US" b="1" dirty="0">
                        <a:solidFill>
                          <a:srgbClr val="0000FF"/>
                        </a:solidFill>
                        <a:latin typeface="Candara" panose="020E0502030303020204" pitchFamily="34" charset="0"/>
                      </a:rPr>
                      <a:t>(2NF)</a:t>
                    </a:r>
                    <a:endParaRPr lang="en-GB" altLang="en-US" dirty="0">
                      <a:solidFill>
                        <a:schemeClr val="tx2"/>
                      </a:solidFill>
                      <a:latin typeface="Candara" panose="020E0502030303020204" pitchFamily="34" charset="0"/>
                    </a:endParaRPr>
                  </a:p>
                </p:txBody>
              </p:sp>
              <p:sp>
                <p:nvSpPr>
                  <p:cNvPr id="32790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1630" y="1629"/>
                    <a:ext cx="0" cy="155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 type="none" w="sm" len="sm"/>
                    <a:tailEnd type="triangl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>
                      <a:latin typeface="Candara" panose="020E0502030303020204" pitchFamily="34" charset="0"/>
                    </a:endParaRPr>
                  </a:p>
                </p:txBody>
              </p:sp>
              <p:sp>
                <p:nvSpPr>
                  <p:cNvPr id="32791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2831" y="1476"/>
                    <a:ext cx="2383" cy="436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altLang="en-US" sz="1600" dirty="0">
                        <a:solidFill>
                          <a:schemeClr val="tx2"/>
                        </a:solidFill>
                        <a:latin typeface="Candara" panose="020E0502030303020204" pitchFamily="34" charset="0"/>
                      </a:rPr>
                      <a:t>Remove </a:t>
                    </a:r>
                    <a:r>
                      <a:rPr lang="en-GB" altLang="en-US" sz="1600" dirty="0">
                        <a:solidFill>
                          <a:srgbClr val="0000FF"/>
                        </a:solidFill>
                        <a:latin typeface="Candara" panose="020E0502030303020204" pitchFamily="34" charset="0"/>
                      </a:rPr>
                      <a:t>partial dependencies</a:t>
                    </a:r>
                    <a:endParaRPr lang="en-GB" altLang="en-US" sz="1600" dirty="0">
                      <a:solidFill>
                        <a:schemeClr val="tx2"/>
                      </a:solidFill>
                      <a:latin typeface="Candara" panose="020E0502030303020204" pitchFamily="34" charset="0"/>
                    </a:endParaRPr>
                  </a:p>
                </p:txBody>
              </p:sp>
              <p:sp>
                <p:nvSpPr>
                  <p:cNvPr id="32792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1648" y="1690"/>
                    <a:ext cx="116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prstDash val="dash"/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>
                      <a:latin typeface="Candara" panose="020E0502030303020204" pitchFamily="34" charset="0"/>
                    </a:endParaRPr>
                  </a:p>
                </p:txBody>
              </p:sp>
            </p:grpSp>
          </p:grpSp>
          <p:grpSp>
            <p:nvGrpSpPr>
              <p:cNvPr id="32781" name="Group 49"/>
              <p:cNvGrpSpPr>
                <a:grpSpLocks/>
              </p:cNvGrpSpPr>
              <p:nvPr/>
            </p:nvGrpSpPr>
            <p:grpSpPr bwMode="auto">
              <a:xfrm>
                <a:off x="1676400" y="3186108"/>
                <a:ext cx="6561139" cy="1033461"/>
                <a:chOff x="1056" y="2007"/>
                <a:chExt cx="4133" cy="651"/>
              </a:xfrm>
            </p:grpSpPr>
            <p:sp>
              <p:nvSpPr>
                <p:cNvPr id="32782" name="Rectangle 8"/>
                <p:cNvSpPr>
                  <a:spLocks noChangeArrowheads="1"/>
                </p:cNvSpPr>
                <p:nvPr/>
              </p:nvSpPr>
              <p:spPr bwMode="auto">
                <a:xfrm>
                  <a:off x="1056" y="2299"/>
                  <a:ext cx="1225" cy="359"/>
                </a:xfrm>
                <a:prstGeom prst="rect">
                  <a:avLst/>
                </a:prstGeom>
                <a:solidFill>
                  <a:srgbClr val="CCFFFF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GB" altLang="en-US" dirty="0">
                      <a:solidFill>
                        <a:schemeClr val="tx2"/>
                      </a:solidFill>
                      <a:latin typeface="Candara" panose="020E0502030303020204" pitchFamily="34" charset="0"/>
                    </a:rPr>
                    <a:t>Third normal form</a:t>
                  </a:r>
                </a:p>
                <a:p>
                  <a:pPr eaLnBrk="1" hangingPunct="1"/>
                  <a:r>
                    <a:rPr lang="en-GB" altLang="en-US" b="1" dirty="0">
                      <a:solidFill>
                        <a:srgbClr val="0000FF"/>
                      </a:solidFill>
                      <a:latin typeface="Candara" panose="020E0502030303020204" pitchFamily="34" charset="0"/>
                    </a:rPr>
                    <a:t>(3NF)</a:t>
                  </a:r>
                  <a:endParaRPr lang="en-GB" altLang="en-US" dirty="0">
                    <a:solidFill>
                      <a:schemeClr val="tx2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2783" name="Line 14"/>
                <p:cNvSpPr>
                  <a:spLocks noChangeShapeType="1"/>
                </p:cNvSpPr>
                <p:nvPr/>
              </p:nvSpPr>
              <p:spPr bwMode="auto">
                <a:xfrm>
                  <a:off x="1639" y="2152"/>
                  <a:ext cx="0" cy="15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 type="none" w="sm" len="sm"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2784" name="Oval 29"/>
                <p:cNvSpPr>
                  <a:spLocks noChangeArrowheads="1"/>
                </p:cNvSpPr>
                <p:nvPr/>
              </p:nvSpPr>
              <p:spPr bwMode="auto">
                <a:xfrm>
                  <a:off x="2806" y="2007"/>
                  <a:ext cx="2383" cy="411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GB" altLang="en-US" sz="1600" dirty="0">
                      <a:solidFill>
                        <a:schemeClr val="tx2"/>
                      </a:solidFill>
                      <a:latin typeface="Candara" panose="020E0502030303020204" pitchFamily="34" charset="0"/>
                    </a:rPr>
                    <a:t>Remove </a:t>
                  </a:r>
                  <a:r>
                    <a:rPr lang="en-GB" altLang="en-US" sz="1600" dirty="0">
                      <a:solidFill>
                        <a:srgbClr val="0000FF"/>
                      </a:solidFill>
                      <a:latin typeface="Candara" panose="020E0502030303020204" pitchFamily="34" charset="0"/>
                    </a:rPr>
                    <a:t>transitive dependencies</a:t>
                  </a:r>
                  <a:endParaRPr lang="en-GB" altLang="en-US" sz="1600" dirty="0">
                    <a:solidFill>
                      <a:schemeClr val="tx2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2785" name="Line 35"/>
                <p:cNvSpPr>
                  <a:spLocks noChangeShapeType="1"/>
                </p:cNvSpPr>
                <p:nvPr/>
              </p:nvSpPr>
              <p:spPr bwMode="auto">
                <a:xfrm>
                  <a:off x="1639" y="2213"/>
                  <a:ext cx="1166" cy="0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prstDash val="dash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32775" name="Group 50"/>
            <p:cNvGrpSpPr>
              <a:grpSpLocks/>
            </p:cNvGrpSpPr>
            <p:nvPr/>
          </p:nvGrpSpPr>
          <p:grpSpPr bwMode="auto">
            <a:xfrm>
              <a:off x="1677988" y="4003679"/>
              <a:ext cx="6545264" cy="1030289"/>
              <a:chOff x="1057" y="2522"/>
              <a:chExt cx="4123" cy="649"/>
            </a:xfrm>
          </p:grpSpPr>
          <p:sp>
            <p:nvSpPr>
              <p:cNvPr id="32776" name="Rectangle 9"/>
              <p:cNvSpPr>
                <a:spLocks noChangeArrowheads="1"/>
              </p:cNvSpPr>
              <p:nvPr/>
            </p:nvSpPr>
            <p:spPr bwMode="auto">
              <a:xfrm>
                <a:off x="1057" y="2812"/>
                <a:ext cx="1225" cy="359"/>
              </a:xfrm>
              <a:prstGeom prst="rect">
                <a:avLst/>
              </a:prstGeom>
              <a:solidFill>
                <a:srgbClr val="F0F5FE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GB" altLang="en-US" dirty="0">
                    <a:solidFill>
                      <a:schemeClr val="tx2"/>
                    </a:solidFill>
                    <a:latin typeface="Candara" panose="020E0502030303020204" pitchFamily="34" charset="0"/>
                  </a:rPr>
                  <a:t>Boyce-</a:t>
                </a:r>
                <a:r>
                  <a:rPr lang="en-GB" altLang="en-US" dirty="0" err="1">
                    <a:solidFill>
                      <a:schemeClr val="tx2"/>
                    </a:solidFill>
                    <a:latin typeface="Candara" panose="020E0502030303020204" pitchFamily="34" charset="0"/>
                  </a:rPr>
                  <a:t>Codd</a:t>
                </a:r>
                <a:r>
                  <a:rPr lang="en-GB" altLang="en-US" dirty="0">
                    <a:solidFill>
                      <a:schemeClr val="tx2"/>
                    </a:solidFill>
                    <a:latin typeface="Candara" panose="020E0502030303020204" pitchFamily="34" charset="0"/>
                  </a:rPr>
                  <a:t> normal</a:t>
                </a:r>
              </a:p>
              <a:p>
                <a:pPr eaLnBrk="1" hangingPunct="1"/>
                <a:r>
                  <a:rPr lang="en-GB" altLang="en-US" dirty="0">
                    <a:solidFill>
                      <a:schemeClr val="tx2"/>
                    </a:solidFill>
                    <a:latin typeface="Candara" panose="020E0502030303020204" pitchFamily="34" charset="0"/>
                  </a:rPr>
                  <a:t>form </a:t>
                </a:r>
                <a:r>
                  <a:rPr lang="en-GB" altLang="en-US" b="1" dirty="0">
                    <a:solidFill>
                      <a:srgbClr val="0000FF"/>
                    </a:solidFill>
                    <a:latin typeface="Candara" panose="020E0502030303020204" pitchFamily="34" charset="0"/>
                  </a:rPr>
                  <a:t>(BCNF)</a:t>
                </a:r>
                <a:endParaRPr lang="en-GB" altLang="en-US" dirty="0">
                  <a:solidFill>
                    <a:schemeClr val="tx2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32777" name="Line 15"/>
              <p:cNvSpPr>
                <a:spLocks noChangeShapeType="1"/>
              </p:cNvSpPr>
              <p:nvPr/>
            </p:nvSpPr>
            <p:spPr bwMode="auto">
              <a:xfrm>
                <a:off x="1621" y="2667"/>
                <a:ext cx="0" cy="15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32778" name="Oval 30"/>
              <p:cNvSpPr>
                <a:spLocks noChangeArrowheads="1"/>
              </p:cNvSpPr>
              <p:nvPr/>
            </p:nvSpPr>
            <p:spPr bwMode="auto">
              <a:xfrm>
                <a:off x="2797" y="2522"/>
                <a:ext cx="2383" cy="41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GB" altLang="en-US" sz="1600" dirty="0">
                    <a:solidFill>
                      <a:schemeClr val="tx2"/>
                    </a:solidFill>
                    <a:latin typeface="Candara" panose="020E0502030303020204" pitchFamily="34" charset="0"/>
                  </a:rPr>
                  <a:t>Remove remaining </a:t>
                </a:r>
                <a:r>
                  <a:rPr lang="en-GB" altLang="en-US" sz="1600" dirty="0">
                    <a:solidFill>
                      <a:srgbClr val="0000FF"/>
                    </a:solidFill>
                    <a:latin typeface="Candara" panose="020E0502030303020204" pitchFamily="34" charset="0"/>
                  </a:rPr>
                  <a:t>functional </a:t>
                </a:r>
              </a:p>
              <a:p>
                <a:pPr eaLnBrk="1" hangingPunct="1"/>
                <a:r>
                  <a:rPr lang="en-GB" altLang="en-US" sz="1600" dirty="0">
                    <a:solidFill>
                      <a:srgbClr val="0000FF"/>
                    </a:solidFill>
                    <a:latin typeface="Candara" panose="020E0502030303020204" pitchFamily="34" charset="0"/>
                  </a:rPr>
                  <a:t>dependency anomalies</a:t>
                </a:r>
                <a:endParaRPr lang="en-GB" altLang="en-US" sz="1600" dirty="0">
                  <a:solidFill>
                    <a:schemeClr val="tx2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32779" name="Line 36"/>
              <p:cNvSpPr>
                <a:spLocks noChangeShapeType="1"/>
              </p:cNvSpPr>
              <p:nvPr/>
            </p:nvSpPr>
            <p:spPr bwMode="auto">
              <a:xfrm>
                <a:off x="1630" y="2727"/>
                <a:ext cx="1166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>
                  <a:latin typeface="Candara" panose="020E0502030303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27201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003367"/>
            <a:ext cx="7696200" cy="7921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Un-normalized Normal Form (UNF)</a:t>
            </a:r>
          </a:p>
        </p:txBody>
      </p:sp>
      <p:sp>
        <p:nvSpPr>
          <p:cNvPr id="33796" name="Rectangle 3"/>
          <p:cNvSpPr>
            <a:spLocks noChangeArrowheads="1"/>
          </p:cNvSpPr>
          <p:nvPr/>
        </p:nvSpPr>
        <p:spPr bwMode="auto">
          <a:xfrm>
            <a:off x="524328" y="1828800"/>
            <a:ext cx="8077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dirty="0">
                <a:latin typeface="Candara" panose="020E0502030303020204" pitchFamily="34" charset="0"/>
              </a:rPr>
              <a:t>A relation is un-normalized when it has not had any normalization rules applied to it, and it suffers from various anomalies</a:t>
            </a:r>
          </a:p>
        </p:txBody>
      </p:sp>
    </p:spTree>
    <p:extLst>
      <p:ext uri="{BB962C8B-B14F-4D97-AF65-F5344CB8AC3E}">
        <p14:creationId xmlns:p14="http://schemas.microsoft.com/office/powerpoint/2010/main" val="28247128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-27904" y="503237"/>
            <a:ext cx="7086600" cy="7921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Normalization </a:t>
            </a:r>
            <a:r>
              <a:rPr lang="en-US" altLang="en-US" sz="3600" dirty="0"/>
              <a:t>-</a:t>
            </a:r>
            <a:r>
              <a:rPr lang="en-US" altLang="en-US" sz="3600" dirty="0">
                <a:solidFill>
                  <a:srgbClr val="333399"/>
                </a:solidFill>
              </a:rPr>
              <a:t> </a:t>
            </a:r>
            <a:r>
              <a:rPr lang="en-US" altLang="en-US" sz="3600" b="1" dirty="0">
                <a:latin typeface="Candara" panose="020E0502030303020204" pitchFamily="34" charset="0"/>
              </a:rPr>
              <a:t>1</a:t>
            </a:r>
            <a:r>
              <a:rPr lang="en-US" altLang="en-US" sz="3600" b="1" baseline="30000" dirty="0">
                <a:latin typeface="Candara" panose="020E0502030303020204" pitchFamily="34" charset="0"/>
              </a:rPr>
              <a:t>st</a:t>
            </a:r>
            <a:r>
              <a:rPr lang="en-US" altLang="en-US" sz="3600" b="1" dirty="0">
                <a:latin typeface="Candara" panose="020E0502030303020204" pitchFamily="34" charset="0"/>
              </a:rPr>
              <a:t> Normal Form</a:t>
            </a:r>
            <a:br>
              <a:rPr lang="en-US" altLang="en-US" sz="3600" dirty="0">
                <a:solidFill>
                  <a:srgbClr val="333399"/>
                </a:solidFill>
              </a:rPr>
            </a:br>
            <a:endParaRPr lang="en-US" altLang="en-US" sz="3600" b="1" dirty="0">
              <a:latin typeface="Candara" panose="020E0502030303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1295400"/>
            <a:ext cx="8077200" cy="4926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1313" algn="l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Font typeface="Arial" pitchFamily="34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dirty="0">
                <a:latin typeface="Candara" panose="020E0502030303020204" pitchFamily="34" charset="0"/>
              </a:rPr>
              <a:t>A relation R is in first normal form (1NF) if domains of all attributes in the relation are </a:t>
            </a:r>
            <a:r>
              <a:rPr lang="en-US" i="1" dirty="0">
                <a:latin typeface="Candara" panose="020E0502030303020204" pitchFamily="34" charset="0"/>
              </a:rPr>
              <a:t>atomic </a:t>
            </a:r>
            <a:r>
              <a:rPr lang="en-US" dirty="0">
                <a:latin typeface="Candara" panose="020E0502030303020204" pitchFamily="34" charset="0"/>
              </a:rPr>
              <a:t>(simple &amp; indivisible). </a:t>
            </a:r>
          </a:p>
          <a:p>
            <a:pPr marL="342900" indent="-341313" algn="l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Font typeface="Arial" pitchFamily="34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dirty="0">
                <a:latin typeface="Candara" panose="020E0502030303020204" pitchFamily="34" charset="0"/>
              </a:rPr>
              <a:t>Avoid multi valued &amp; composite attributes</a:t>
            </a:r>
          </a:p>
          <a:p>
            <a:pPr marL="342900" indent="-341313" algn="l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Font typeface="Arial" pitchFamily="34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dirty="0">
                <a:latin typeface="Candara" panose="020E0502030303020204" pitchFamily="34" charset="0"/>
              </a:rPr>
              <a:t>Remove repeating groups into a new relation</a:t>
            </a:r>
          </a:p>
          <a:p>
            <a:pPr marL="381000" indent="-3810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  <a:defRPr/>
            </a:pPr>
            <a:endParaRPr lang="en-US" b="1" dirty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pPr marL="381000" indent="-3810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andara" panose="020E0502030303020204" pitchFamily="34" charset="0"/>
              </a:rPr>
              <a:t>Steps from UNF to 1NF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: </a:t>
            </a:r>
          </a:p>
          <a:p>
            <a:pPr marL="381000" indent="-3810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v"/>
              <a:defRPr/>
            </a:pPr>
            <a:endParaRPr lang="en-US" sz="2000" dirty="0">
              <a:solidFill>
                <a:schemeClr val="tx2"/>
              </a:solidFill>
              <a:latin typeface="Candara" panose="020E0502030303020204" pitchFamily="34" charset="0"/>
            </a:endParaRPr>
          </a:p>
          <a:p>
            <a:pPr marL="381000" indent="-3810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v"/>
              <a:defRPr/>
            </a:pPr>
            <a:r>
              <a:rPr lang="en-US" sz="2000" dirty="0">
                <a:solidFill>
                  <a:schemeClr val="tx2"/>
                </a:solidFill>
                <a:latin typeface="Candara" panose="020E0502030303020204" pitchFamily="34" charset="0"/>
              </a:rPr>
              <a:t>Remove the outermost repeating group and create a new relation</a:t>
            </a:r>
          </a:p>
          <a:p>
            <a:pPr marL="381000" indent="-3810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v"/>
              <a:defRPr/>
            </a:pPr>
            <a:r>
              <a:rPr lang="en-US" sz="2000" dirty="0">
                <a:solidFill>
                  <a:schemeClr val="tx2"/>
                </a:solidFill>
                <a:latin typeface="Candara" panose="020E0502030303020204" pitchFamily="34" charset="0"/>
              </a:rPr>
              <a:t>Add to this relation a copy of the PK of the original  relation.</a:t>
            </a:r>
          </a:p>
          <a:p>
            <a:pPr marL="381000" indent="-3810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v"/>
              <a:defRPr/>
            </a:pPr>
            <a:r>
              <a:rPr lang="en-US" sz="2000" dirty="0">
                <a:solidFill>
                  <a:schemeClr val="tx2"/>
                </a:solidFill>
                <a:latin typeface="Candara" panose="020E0502030303020204" pitchFamily="34" charset="0"/>
              </a:rPr>
              <a:t>Name the new relation</a:t>
            </a:r>
          </a:p>
          <a:p>
            <a:pPr marL="381000" indent="-3810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v"/>
              <a:defRPr/>
            </a:pPr>
            <a:r>
              <a:rPr lang="en-US" sz="2000" dirty="0">
                <a:solidFill>
                  <a:schemeClr val="tx2"/>
                </a:solidFill>
                <a:latin typeface="Candara" panose="020E0502030303020204" pitchFamily="34" charset="0"/>
              </a:rPr>
              <a:t>Determine the PK of the new relation</a:t>
            </a:r>
          </a:p>
          <a:p>
            <a:pPr marL="381000" indent="-381000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v"/>
              <a:defRPr/>
            </a:pPr>
            <a:r>
              <a:rPr lang="en-US" sz="2000" dirty="0">
                <a:solidFill>
                  <a:schemeClr val="tx2"/>
                </a:solidFill>
                <a:latin typeface="Candara" panose="020E0502030303020204" pitchFamily="34" charset="0"/>
              </a:rPr>
              <a:t>Repeat steps until no more repeating groups.</a:t>
            </a:r>
          </a:p>
          <a:p>
            <a:pPr marL="342900" indent="-341313" algn="l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endParaRPr lang="en-US" dirty="0">
              <a:latin typeface="Candara" panose="020E0502030303020204" pitchFamily="34" charset="0"/>
            </a:endParaRPr>
          </a:p>
          <a:p>
            <a:pPr marL="342900" indent="-341313" algn="l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Font typeface="Arial" pitchFamily="34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endParaRPr lang="en-GB" dirty="0">
              <a:latin typeface="Candara" panose="020E0502030303020204" pitchFamily="34" charset="0"/>
            </a:endParaRPr>
          </a:p>
          <a:p>
            <a:pPr marL="342900" indent="-341313" algn="l">
              <a:lnSpc>
                <a:spcPct val="90000"/>
              </a:lnSpc>
              <a:spcBef>
                <a:spcPts val="700"/>
              </a:spcBef>
              <a:buClr>
                <a:srgbClr val="3333CC"/>
              </a:buClr>
              <a:buFont typeface="Arial" pitchFamily="34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34821" name="Rectangle 4"/>
          <p:cNvSpPr>
            <a:spLocks noChangeArrowheads="1"/>
          </p:cNvSpPr>
          <p:nvPr/>
        </p:nvSpPr>
        <p:spPr bwMode="auto">
          <a:xfrm>
            <a:off x="457200" y="3200400"/>
            <a:ext cx="7848600" cy="2286000"/>
          </a:xfrm>
          <a:prstGeom prst="rect">
            <a:avLst/>
          </a:prstGeom>
          <a:noFill/>
          <a:ln w="1905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2369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83710" y="466793"/>
            <a:ext cx="7086600" cy="7921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Normalization </a:t>
            </a:r>
            <a:r>
              <a:rPr lang="en-US" altLang="en-US" sz="3600" dirty="0"/>
              <a:t>-</a:t>
            </a:r>
            <a:r>
              <a:rPr lang="en-US" altLang="en-US" sz="3600" dirty="0">
                <a:solidFill>
                  <a:srgbClr val="333399"/>
                </a:solidFill>
              </a:rPr>
              <a:t> </a:t>
            </a:r>
            <a:r>
              <a:rPr lang="en-US" altLang="en-US" sz="3600" b="1" dirty="0">
                <a:latin typeface="Candara" panose="020E0502030303020204" pitchFamily="34" charset="0"/>
              </a:rPr>
              <a:t>1</a:t>
            </a:r>
            <a:r>
              <a:rPr lang="en-US" altLang="en-US" sz="3600" b="1" baseline="30000" dirty="0">
                <a:latin typeface="Candara" panose="020E0502030303020204" pitchFamily="34" charset="0"/>
              </a:rPr>
              <a:t>st</a:t>
            </a:r>
            <a:r>
              <a:rPr lang="en-US" altLang="en-US" sz="3600" b="1" dirty="0">
                <a:latin typeface="Candara" panose="020E0502030303020204" pitchFamily="34" charset="0"/>
              </a:rPr>
              <a:t> Normal Form</a:t>
            </a:r>
            <a:br>
              <a:rPr lang="en-US" altLang="en-US" sz="3600" dirty="0">
                <a:solidFill>
                  <a:srgbClr val="333399"/>
                </a:solidFill>
              </a:rPr>
            </a:br>
            <a:endParaRPr lang="en-US" altLang="en-US" sz="3600" b="1" dirty="0">
              <a:latin typeface="Candara" panose="020E0502030303020204" pitchFamily="34" charset="0"/>
            </a:endParaRPr>
          </a:p>
        </p:txBody>
      </p:sp>
      <p:sp>
        <p:nvSpPr>
          <p:cNvPr id="35844" name="Rectangle 3"/>
          <p:cNvSpPr>
            <a:spLocks noChangeArrowheads="1"/>
          </p:cNvSpPr>
          <p:nvPr/>
        </p:nvSpPr>
        <p:spPr bwMode="auto">
          <a:xfrm>
            <a:off x="1066800" y="1295400"/>
            <a:ext cx="7086600" cy="491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1313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ts val="700"/>
              </a:spcBef>
            </a:pPr>
            <a:r>
              <a:rPr lang="en-US" altLang="en-US" sz="2800" dirty="0">
                <a:latin typeface="Candara" panose="020E0502030303020204" pitchFamily="34" charset="0"/>
              </a:rPr>
              <a:t>For example: </a:t>
            </a:r>
          </a:p>
          <a:p>
            <a:pPr algn="l" eaLnBrk="1" hangingPunct="1">
              <a:spcBef>
                <a:spcPts val="500"/>
              </a:spcBef>
            </a:pPr>
            <a:r>
              <a:rPr lang="en-US" altLang="en-US" sz="2000" dirty="0">
                <a:latin typeface="Candara" panose="020E0502030303020204" pitchFamily="34" charset="0"/>
              </a:rPr>
              <a:t>DEPARTMENT (</a:t>
            </a:r>
            <a:r>
              <a:rPr lang="en-US" altLang="en-US" sz="2000" dirty="0" err="1">
                <a:latin typeface="Candara" panose="020E0502030303020204" pitchFamily="34" charset="0"/>
              </a:rPr>
              <a:t>Dname,</a:t>
            </a:r>
            <a:r>
              <a:rPr lang="en-US" altLang="en-US" sz="2000" u="sng" dirty="0" err="1">
                <a:latin typeface="Candara" panose="020E0502030303020204" pitchFamily="34" charset="0"/>
              </a:rPr>
              <a:t>Dnumber</a:t>
            </a:r>
            <a:r>
              <a:rPr lang="en-US" altLang="en-US" sz="2000" dirty="0">
                <a:latin typeface="Candara" panose="020E0502030303020204" pitchFamily="34" charset="0"/>
              </a:rPr>
              <a:t>, DMGRSSN, (</a:t>
            </a:r>
            <a:r>
              <a:rPr lang="en-US" altLang="en-US" sz="2000" dirty="0" err="1">
                <a:latin typeface="Candara" panose="020E0502030303020204" pitchFamily="34" charset="0"/>
              </a:rPr>
              <a:t>DLocation</a:t>
            </a:r>
            <a:r>
              <a:rPr lang="en-US" altLang="en-US" sz="2000" dirty="0">
                <a:latin typeface="Candara" panose="020E0502030303020204" pitchFamily="34" charset="0"/>
              </a:rPr>
              <a:t>))</a:t>
            </a:r>
          </a:p>
          <a:p>
            <a:pPr eaLnBrk="1" hangingPunct="1">
              <a:spcBef>
                <a:spcPts val="500"/>
              </a:spcBef>
            </a:pPr>
            <a:endParaRPr lang="en-US" altLang="en-US" sz="2000" dirty="0">
              <a:latin typeface="Candara" panose="020E0502030303020204" pitchFamily="34" charset="0"/>
            </a:endParaRPr>
          </a:p>
          <a:p>
            <a:pPr eaLnBrk="1" hangingPunct="1">
              <a:spcBef>
                <a:spcPts val="500"/>
              </a:spcBef>
            </a:pPr>
            <a:endParaRPr lang="en-US" altLang="en-US" sz="2000" dirty="0">
              <a:latin typeface="Candara" panose="020E0502030303020204" pitchFamily="34" charset="0"/>
            </a:endParaRPr>
          </a:p>
          <a:p>
            <a:pPr eaLnBrk="1" hangingPunct="1">
              <a:spcBef>
                <a:spcPts val="500"/>
              </a:spcBef>
            </a:pPr>
            <a:endParaRPr lang="en-US" altLang="en-US" sz="2000" dirty="0">
              <a:latin typeface="Candara" panose="020E0502030303020204" pitchFamily="34" charset="0"/>
            </a:endParaRPr>
          </a:p>
          <a:p>
            <a:pPr eaLnBrk="1" hangingPunct="1">
              <a:spcBef>
                <a:spcPts val="500"/>
              </a:spcBef>
            </a:pPr>
            <a:endParaRPr lang="en-US" altLang="en-US" sz="2000" dirty="0">
              <a:latin typeface="Candara" panose="020E0502030303020204" pitchFamily="34" charset="0"/>
            </a:endParaRPr>
          </a:p>
          <a:p>
            <a:pPr eaLnBrk="1" hangingPunct="1">
              <a:spcBef>
                <a:spcPts val="500"/>
              </a:spcBef>
            </a:pPr>
            <a:endParaRPr lang="en-US" altLang="en-US" sz="2000" dirty="0">
              <a:latin typeface="Candara" panose="020E0502030303020204" pitchFamily="34" charset="0"/>
            </a:endParaRPr>
          </a:p>
          <a:p>
            <a:pPr eaLnBrk="1" hangingPunct="1">
              <a:spcBef>
                <a:spcPts val="500"/>
              </a:spcBef>
            </a:pPr>
            <a:endParaRPr lang="en-US" altLang="en-US" sz="2000" dirty="0">
              <a:latin typeface="Candara" panose="020E0502030303020204" pitchFamily="34" charset="0"/>
            </a:endParaRPr>
          </a:p>
          <a:p>
            <a:pPr eaLnBrk="1" hangingPunct="1">
              <a:spcBef>
                <a:spcPts val="600"/>
              </a:spcBef>
              <a:buClr>
                <a:srgbClr val="3333CC"/>
              </a:buClr>
              <a:buFont typeface="Arial" panose="020B0604020202020204" pitchFamily="34" charset="0"/>
              <a:buNone/>
            </a:pPr>
            <a:endParaRPr lang="en-US" altLang="en-US" dirty="0">
              <a:latin typeface="Candara" panose="020E0502030303020204" pitchFamily="34" charset="0"/>
            </a:endParaRPr>
          </a:p>
          <a:p>
            <a:pPr algn="l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Candara" panose="020E0502030303020204" pitchFamily="34" charset="0"/>
              </a:rPr>
              <a:t>Department is in UNF</a:t>
            </a:r>
          </a:p>
          <a:p>
            <a:pPr algn="l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Candara" panose="020E0502030303020204" pitchFamily="34" charset="0"/>
              </a:rPr>
              <a:t>Department relation not in 1NF</a:t>
            </a:r>
          </a:p>
          <a:p>
            <a:pPr algn="l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Candara" panose="020E0502030303020204" pitchFamily="34" charset="0"/>
              </a:rPr>
              <a:t>How to take into 1NF ?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75772" y="2409372"/>
            <a:ext cx="8609013" cy="2157413"/>
            <a:chOff x="275772" y="2409372"/>
            <a:chExt cx="8609013" cy="2157413"/>
          </a:xfrm>
        </p:grpSpPr>
        <p:sp>
          <p:nvSpPr>
            <p:cNvPr id="35846" name="Rectangle 4"/>
            <p:cNvSpPr>
              <a:spLocks noChangeArrowheads="1"/>
            </p:cNvSpPr>
            <p:nvPr/>
          </p:nvSpPr>
          <p:spPr bwMode="auto">
            <a:xfrm>
              <a:off x="523422" y="2409372"/>
              <a:ext cx="1573213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b="1" dirty="0">
                  <a:solidFill>
                    <a:srgbClr val="000000"/>
                  </a:solidFill>
                  <a:latin typeface="Candara" panose="020E0502030303020204" pitchFamily="34" charset="0"/>
                </a:rPr>
                <a:t>DEPARTMENT</a:t>
              </a:r>
            </a:p>
          </p:txBody>
        </p:sp>
        <p:grpSp>
          <p:nvGrpSpPr>
            <p:cNvPr id="35847" name="Group 5"/>
            <p:cNvGrpSpPr>
              <a:grpSpLocks/>
            </p:cNvGrpSpPr>
            <p:nvPr/>
          </p:nvGrpSpPr>
          <p:grpSpPr bwMode="auto">
            <a:xfrm>
              <a:off x="275772" y="2871335"/>
              <a:ext cx="8609013" cy="1695450"/>
              <a:chOff x="432" y="1971"/>
              <a:chExt cx="5423" cy="1068"/>
            </a:xfrm>
          </p:grpSpPr>
          <p:grpSp>
            <p:nvGrpSpPr>
              <p:cNvPr id="35848" name="Group 6"/>
              <p:cNvGrpSpPr>
                <a:grpSpLocks/>
              </p:cNvGrpSpPr>
              <p:nvPr/>
            </p:nvGrpSpPr>
            <p:grpSpPr bwMode="auto">
              <a:xfrm>
                <a:off x="437" y="1972"/>
                <a:ext cx="5412" cy="1065"/>
                <a:chOff x="437" y="1972"/>
                <a:chExt cx="5412" cy="1065"/>
              </a:xfrm>
            </p:grpSpPr>
            <p:grpSp>
              <p:nvGrpSpPr>
                <p:cNvPr id="35850" name="Group 7"/>
                <p:cNvGrpSpPr>
                  <a:grpSpLocks/>
                </p:cNvGrpSpPr>
                <p:nvPr/>
              </p:nvGrpSpPr>
              <p:grpSpPr bwMode="auto">
                <a:xfrm>
                  <a:off x="437" y="1972"/>
                  <a:ext cx="1137" cy="432"/>
                  <a:chOff x="437" y="1972"/>
                  <a:chExt cx="1137" cy="432"/>
                </a:xfrm>
              </p:grpSpPr>
              <p:sp>
                <p:nvSpPr>
                  <p:cNvPr id="35896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511" y="1972"/>
                    <a:ext cx="988" cy="43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  <a:p>
                    <a:pPr eaLnBrk="1" hangingPunct="1"/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DNAME</a:t>
                    </a:r>
                  </a:p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97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437" y="1972"/>
                    <a:ext cx="1137" cy="43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5851" name="Group 10"/>
                <p:cNvGrpSpPr>
                  <a:grpSpLocks/>
                </p:cNvGrpSpPr>
                <p:nvPr/>
              </p:nvGrpSpPr>
              <p:grpSpPr bwMode="auto">
                <a:xfrm>
                  <a:off x="1574" y="1972"/>
                  <a:ext cx="1001" cy="432"/>
                  <a:chOff x="1574" y="1972"/>
                  <a:chExt cx="1001" cy="432"/>
                </a:xfrm>
              </p:grpSpPr>
              <p:sp>
                <p:nvSpPr>
                  <p:cNvPr id="35894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1648" y="1972"/>
                    <a:ext cx="852" cy="43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sz="1600" b="1" u="sng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  <a:p>
                    <a:pPr eaLnBrk="1" hangingPunct="1"/>
                    <a:r>
                      <a:rPr lang="en-US" altLang="en-US" sz="1600" b="1" u="sng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DNUMBER</a:t>
                    </a:r>
                  </a:p>
                  <a:p>
                    <a:pPr eaLnBrk="1" hangingPunct="1"/>
                    <a:endParaRPr lang="en-US" altLang="en-US" sz="1600" b="1" u="sng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95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1574" y="1972"/>
                    <a:ext cx="1001" cy="43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5852" name="Group 13"/>
                <p:cNvGrpSpPr>
                  <a:grpSpLocks/>
                </p:cNvGrpSpPr>
                <p:nvPr/>
              </p:nvGrpSpPr>
              <p:grpSpPr bwMode="auto">
                <a:xfrm>
                  <a:off x="2575" y="1972"/>
                  <a:ext cx="1073" cy="432"/>
                  <a:chOff x="2575" y="1972"/>
                  <a:chExt cx="1073" cy="432"/>
                </a:xfrm>
              </p:grpSpPr>
              <p:sp>
                <p:nvSpPr>
                  <p:cNvPr id="35892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2649" y="1972"/>
                    <a:ext cx="925" cy="43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  <a:p>
                    <a:pPr eaLnBrk="1" hangingPunct="1"/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DMGRSSN</a:t>
                    </a:r>
                  </a:p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93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2575" y="1972"/>
                    <a:ext cx="1073" cy="43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5853" name="Group 16"/>
                <p:cNvGrpSpPr>
                  <a:grpSpLocks/>
                </p:cNvGrpSpPr>
                <p:nvPr/>
              </p:nvGrpSpPr>
              <p:grpSpPr bwMode="auto">
                <a:xfrm>
                  <a:off x="3648" y="1972"/>
                  <a:ext cx="2201" cy="432"/>
                  <a:chOff x="3648" y="1972"/>
                  <a:chExt cx="2201" cy="432"/>
                </a:xfrm>
              </p:grpSpPr>
              <p:sp>
                <p:nvSpPr>
                  <p:cNvPr id="35890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3722" y="1972"/>
                    <a:ext cx="2053" cy="43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  <a:p>
                    <a:pPr eaLnBrk="1" hangingPunct="1"/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DLOCATIONS</a:t>
                    </a:r>
                  </a:p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91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1972"/>
                    <a:ext cx="2201" cy="43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5854" name="Group 19"/>
                <p:cNvGrpSpPr>
                  <a:grpSpLocks/>
                </p:cNvGrpSpPr>
                <p:nvPr/>
              </p:nvGrpSpPr>
              <p:grpSpPr bwMode="auto">
                <a:xfrm>
                  <a:off x="437" y="2404"/>
                  <a:ext cx="1137" cy="228"/>
                  <a:chOff x="437" y="2404"/>
                  <a:chExt cx="1137" cy="228"/>
                </a:xfrm>
              </p:grpSpPr>
              <p:sp>
                <p:nvSpPr>
                  <p:cNvPr id="35888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511" y="2404"/>
                    <a:ext cx="988" cy="2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Research</a:t>
                    </a:r>
                  </a:p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89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437" y="2404"/>
                    <a:ext cx="1137" cy="228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5855" name="Group 22"/>
                <p:cNvGrpSpPr>
                  <a:grpSpLocks/>
                </p:cNvGrpSpPr>
                <p:nvPr/>
              </p:nvGrpSpPr>
              <p:grpSpPr bwMode="auto">
                <a:xfrm>
                  <a:off x="1574" y="2404"/>
                  <a:ext cx="1001" cy="228"/>
                  <a:chOff x="1574" y="2404"/>
                  <a:chExt cx="1001" cy="228"/>
                </a:xfrm>
              </p:grpSpPr>
              <p:sp>
                <p:nvSpPr>
                  <p:cNvPr id="35886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1648" y="2404"/>
                    <a:ext cx="852" cy="2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5</a:t>
                    </a:r>
                  </a:p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87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1574" y="2404"/>
                    <a:ext cx="1001" cy="228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5856" name="Group 25"/>
                <p:cNvGrpSpPr>
                  <a:grpSpLocks/>
                </p:cNvGrpSpPr>
                <p:nvPr/>
              </p:nvGrpSpPr>
              <p:grpSpPr bwMode="auto">
                <a:xfrm>
                  <a:off x="2575" y="2404"/>
                  <a:ext cx="1073" cy="228"/>
                  <a:chOff x="2575" y="2404"/>
                  <a:chExt cx="1073" cy="228"/>
                </a:xfrm>
              </p:grpSpPr>
              <p:sp>
                <p:nvSpPr>
                  <p:cNvPr id="35884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2649" y="2404"/>
                    <a:ext cx="925" cy="2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333445555</a:t>
                    </a:r>
                  </a:p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85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2575" y="2404"/>
                    <a:ext cx="1073" cy="228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5857" name="Group 28"/>
                <p:cNvGrpSpPr>
                  <a:grpSpLocks/>
                </p:cNvGrpSpPr>
                <p:nvPr/>
              </p:nvGrpSpPr>
              <p:grpSpPr bwMode="auto">
                <a:xfrm>
                  <a:off x="3648" y="2404"/>
                  <a:ext cx="2201" cy="228"/>
                  <a:chOff x="3648" y="2404"/>
                  <a:chExt cx="2201" cy="228"/>
                </a:xfrm>
              </p:grpSpPr>
              <p:sp>
                <p:nvSpPr>
                  <p:cNvPr id="35882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3722" y="2404"/>
                    <a:ext cx="2053" cy="2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{</a:t>
                    </a:r>
                    <a:r>
                      <a:rPr lang="en-US" altLang="en-US" sz="1600" b="1" dirty="0" err="1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Mathara</a:t>
                    </a:r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, Kandy, Colombo}</a:t>
                    </a:r>
                  </a:p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83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2404"/>
                    <a:ext cx="2201" cy="228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5858" name="Group 31"/>
                <p:cNvGrpSpPr>
                  <a:grpSpLocks/>
                </p:cNvGrpSpPr>
                <p:nvPr/>
              </p:nvGrpSpPr>
              <p:grpSpPr bwMode="auto">
                <a:xfrm>
                  <a:off x="437" y="2632"/>
                  <a:ext cx="1193" cy="228"/>
                  <a:chOff x="437" y="2632"/>
                  <a:chExt cx="1193" cy="228"/>
                </a:xfrm>
              </p:grpSpPr>
              <p:sp>
                <p:nvSpPr>
                  <p:cNvPr id="35880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511" y="2632"/>
                    <a:ext cx="1119" cy="2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Administration</a:t>
                    </a:r>
                  </a:p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81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437" y="2632"/>
                    <a:ext cx="1136" cy="228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5859" name="Group 34"/>
                <p:cNvGrpSpPr>
                  <a:grpSpLocks/>
                </p:cNvGrpSpPr>
                <p:nvPr/>
              </p:nvGrpSpPr>
              <p:grpSpPr bwMode="auto">
                <a:xfrm>
                  <a:off x="1574" y="2632"/>
                  <a:ext cx="1001" cy="228"/>
                  <a:chOff x="1574" y="2632"/>
                  <a:chExt cx="1001" cy="228"/>
                </a:xfrm>
              </p:grpSpPr>
              <p:sp>
                <p:nvSpPr>
                  <p:cNvPr id="35878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1648" y="2632"/>
                    <a:ext cx="852" cy="2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4</a:t>
                    </a:r>
                  </a:p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79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1574" y="2632"/>
                    <a:ext cx="1001" cy="228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5860" name="Group 37"/>
                <p:cNvGrpSpPr>
                  <a:grpSpLocks/>
                </p:cNvGrpSpPr>
                <p:nvPr/>
              </p:nvGrpSpPr>
              <p:grpSpPr bwMode="auto">
                <a:xfrm>
                  <a:off x="2575" y="2632"/>
                  <a:ext cx="1073" cy="228"/>
                  <a:chOff x="2575" y="2632"/>
                  <a:chExt cx="1073" cy="228"/>
                </a:xfrm>
              </p:grpSpPr>
              <p:sp>
                <p:nvSpPr>
                  <p:cNvPr id="35876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2649" y="2632"/>
                    <a:ext cx="925" cy="2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987654321</a:t>
                    </a:r>
                  </a:p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77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2575" y="2632"/>
                    <a:ext cx="1073" cy="228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5861" name="Group 40"/>
                <p:cNvGrpSpPr>
                  <a:grpSpLocks/>
                </p:cNvGrpSpPr>
                <p:nvPr/>
              </p:nvGrpSpPr>
              <p:grpSpPr bwMode="auto">
                <a:xfrm>
                  <a:off x="3648" y="2632"/>
                  <a:ext cx="2201" cy="228"/>
                  <a:chOff x="3648" y="2632"/>
                  <a:chExt cx="2201" cy="228"/>
                </a:xfrm>
              </p:grpSpPr>
              <p:sp>
                <p:nvSpPr>
                  <p:cNvPr id="35874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3722" y="2632"/>
                    <a:ext cx="2053" cy="2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{</a:t>
                    </a:r>
                    <a:r>
                      <a:rPr lang="en-US" altLang="en-US" sz="1600" b="1" dirty="0" err="1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Malabe</a:t>
                    </a:r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}</a:t>
                    </a:r>
                  </a:p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75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2632"/>
                    <a:ext cx="2201" cy="228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5862" name="Group 43"/>
                <p:cNvGrpSpPr>
                  <a:grpSpLocks/>
                </p:cNvGrpSpPr>
                <p:nvPr/>
              </p:nvGrpSpPr>
              <p:grpSpPr bwMode="auto">
                <a:xfrm>
                  <a:off x="437" y="2860"/>
                  <a:ext cx="1137" cy="177"/>
                  <a:chOff x="437" y="2860"/>
                  <a:chExt cx="1137" cy="177"/>
                </a:xfrm>
              </p:grpSpPr>
              <p:sp>
                <p:nvSpPr>
                  <p:cNvPr id="35872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511" y="2860"/>
                    <a:ext cx="988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Headquarters</a:t>
                    </a:r>
                  </a:p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73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437" y="2860"/>
                    <a:ext cx="1137" cy="177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5863" name="Group 46"/>
                <p:cNvGrpSpPr>
                  <a:grpSpLocks/>
                </p:cNvGrpSpPr>
                <p:nvPr/>
              </p:nvGrpSpPr>
              <p:grpSpPr bwMode="auto">
                <a:xfrm>
                  <a:off x="1574" y="2860"/>
                  <a:ext cx="1001" cy="177"/>
                  <a:chOff x="1574" y="2860"/>
                  <a:chExt cx="1001" cy="177"/>
                </a:xfrm>
              </p:grpSpPr>
              <p:sp>
                <p:nvSpPr>
                  <p:cNvPr id="35870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648" y="2860"/>
                    <a:ext cx="852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1</a:t>
                    </a:r>
                  </a:p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71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1574" y="2860"/>
                    <a:ext cx="1001" cy="177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5864" name="Group 49"/>
                <p:cNvGrpSpPr>
                  <a:grpSpLocks/>
                </p:cNvGrpSpPr>
                <p:nvPr/>
              </p:nvGrpSpPr>
              <p:grpSpPr bwMode="auto">
                <a:xfrm>
                  <a:off x="2575" y="2860"/>
                  <a:ext cx="1073" cy="177"/>
                  <a:chOff x="2575" y="2860"/>
                  <a:chExt cx="1073" cy="177"/>
                </a:xfrm>
              </p:grpSpPr>
              <p:sp>
                <p:nvSpPr>
                  <p:cNvPr id="35868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2649" y="2860"/>
                    <a:ext cx="925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888665555</a:t>
                    </a:r>
                  </a:p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69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2575" y="2860"/>
                    <a:ext cx="1073" cy="177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5865" name="Group 52"/>
                <p:cNvGrpSpPr>
                  <a:grpSpLocks/>
                </p:cNvGrpSpPr>
                <p:nvPr/>
              </p:nvGrpSpPr>
              <p:grpSpPr bwMode="auto">
                <a:xfrm>
                  <a:off x="3648" y="2860"/>
                  <a:ext cx="2201" cy="177"/>
                  <a:chOff x="3648" y="2860"/>
                  <a:chExt cx="2201" cy="177"/>
                </a:xfrm>
              </p:grpSpPr>
              <p:sp>
                <p:nvSpPr>
                  <p:cNvPr id="35866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3722" y="2860"/>
                    <a:ext cx="2053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6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{Colombo}</a:t>
                    </a:r>
                  </a:p>
                  <a:p>
                    <a:pPr eaLnBrk="1" hangingPunct="1"/>
                    <a:endParaRPr lang="en-US" altLang="en-US" sz="16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67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2860"/>
                    <a:ext cx="2201" cy="177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</p:grpSp>
          <p:sp>
            <p:nvSpPr>
              <p:cNvPr id="35849" name="Rectangle 55"/>
              <p:cNvSpPr>
                <a:spLocks noChangeArrowheads="1"/>
              </p:cNvSpPr>
              <p:nvPr/>
            </p:nvSpPr>
            <p:spPr bwMode="auto">
              <a:xfrm>
                <a:off x="432" y="1971"/>
                <a:ext cx="5423" cy="1068"/>
              </a:xfrm>
              <a:prstGeom prst="rect">
                <a:avLst/>
              </a:prstGeom>
              <a:noFill/>
              <a:ln w="9360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b="1" dirty="0">
                  <a:latin typeface="Candara" panose="020E0502030303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207020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1287" y="411486"/>
            <a:ext cx="7086600" cy="7921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Solution </a:t>
            </a:r>
            <a:br>
              <a:rPr lang="en-US" altLang="en-US" sz="3600" dirty="0">
                <a:solidFill>
                  <a:srgbClr val="FF0000"/>
                </a:solidFill>
              </a:rPr>
            </a:br>
            <a:endParaRPr lang="en-US" altLang="en-US" sz="3600" b="1" dirty="0">
              <a:latin typeface="Candara" panose="020E0502030303020204" pitchFamily="34" charset="0"/>
            </a:endParaRPr>
          </a:p>
        </p:txBody>
      </p:sp>
      <p:sp>
        <p:nvSpPr>
          <p:cNvPr id="36868" name="Rectangle 3"/>
          <p:cNvSpPr>
            <a:spLocks noChangeArrowheads="1"/>
          </p:cNvSpPr>
          <p:nvPr/>
        </p:nvSpPr>
        <p:spPr bwMode="auto">
          <a:xfrm>
            <a:off x="152400" y="1295400"/>
            <a:ext cx="87630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dirty="0">
                <a:latin typeface="Candara" panose="020E0502030303020204" pitchFamily="34" charset="0"/>
              </a:rPr>
              <a:t>: Create a separate DEPT_LOCATION relation with foreign key</a:t>
            </a:r>
          </a:p>
        </p:txBody>
      </p:sp>
      <p:grpSp>
        <p:nvGrpSpPr>
          <p:cNvPr id="36869" name="Group 2"/>
          <p:cNvGrpSpPr>
            <a:grpSpLocks/>
          </p:cNvGrpSpPr>
          <p:nvPr/>
        </p:nvGrpSpPr>
        <p:grpSpPr bwMode="auto">
          <a:xfrm>
            <a:off x="609600" y="1905000"/>
            <a:ext cx="3962400" cy="2208213"/>
            <a:chOff x="432" y="1248"/>
            <a:chExt cx="2496" cy="1391"/>
          </a:xfrm>
        </p:grpSpPr>
        <p:sp>
          <p:nvSpPr>
            <p:cNvPr id="36912" name="Text Box 3"/>
            <p:cNvSpPr txBox="1">
              <a:spLocks noChangeArrowheads="1"/>
            </p:cNvSpPr>
            <p:nvPr/>
          </p:nvSpPr>
          <p:spPr bwMode="auto">
            <a:xfrm>
              <a:off x="512" y="1248"/>
              <a:ext cx="111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b="1" dirty="0">
                  <a:solidFill>
                    <a:srgbClr val="000000"/>
                  </a:solidFill>
                  <a:latin typeface="Candara" panose="020E0502030303020204" pitchFamily="34" charset="0"/>
                </a:rPr>
                <a:t>DEPT_LOCATIONS</a:t>
              </a:r>
            </a:p>
          </p:txBody>
        </p:sp>
        <p:grpSp>
          <p:nvGrpSpPr>
            <p:cNvPr id="36913" name="Group 4"/>
            <p:cNvGrpSpPr>
              <a:grpSpLocks/>
            </p:cNvGrpSpPr>
            <p:nvPr/>
          </p:nvGrpSpPr>
          <p:grpSpPr bwMode="auto">
            <a:xfrm>
              <a:off x="432" y="1568"/>
              <a:ext cx="2496" cy="1071"/>
              <a:chOff x="432" y="1568"/>
              <a:chExt cx="2496" cy="1071"/>
            </a:xfrm>
          </p:grpSpPr>
          <p:grpSp>
            <p:nvGrpSpPr>
              <p:cNvPr id="36914" name="Group 5"/>
              <p:cNvGrpSpPr>
                <a:grpSpLocks/>
              </p:cNvGrpSpPr>
              <p:nvPr/>
            </p:nvGrpSpPr>
            <p:grpSpPr bwMode="auto">
              <a:xfrm>
                <a:off x="436" y="1569"/>
                <a:ext cx="2486" cy="1070"/>
                <a:chOff x="436" y="1569"/>
                <a:chExt cx="2486" cy="1070"/>
              </a:xfrm>
            </p:grpSpPr>
            <p:grpSp>
              <p:nvGrpSpPr>
                <p:cNvPr id="36916" name="Group 9"/>
                <p:cNvGrpSpPr>
                  <a:grpSpLocks/>
                </p:cNvGrpSpPr>
                <p:nvPr/>
              </p:nvGrpSpPr>
              <p:grpSpPr bwMode="auto">
                <a:xfrm>
                  <a:off x="436" y="1569"/>
                  <a:ext cx="1380" cy="185"/>
                  <a:chOff x="436" y="1569"/>
                  <a:chExt cx="1380" cy="185"/>
                </a:xfrm>
              </p:grpSpPr>
              <p:sp>
                <p:nvSpPr>
                  <p:cNvPr id="36950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502" y="1569"/>
                    <a:ext cx="1249" cy="18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u="sng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DNUMBER</a:t>
                    </a:r>
                  </a:p>
                  <a:p>
                    <a:pPr eaLnBrk="1" hangingPunct="1"/>
                    <a:endParaRPr lang="en-US" altLang="en-US" sz="1400" b="1" u="sng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51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436" y="1569"/>
                    <a:ext cx="1380" cy="185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917" name="Group 9"/>
                <p:cNvGrpSpPr>
                  <a:grpSpLocks/>
                </p:cNvGrpSpPr>
                <p:nvPr/>
              </p:nvGrpSpPr>
              <p:grpSpPr bwMode="auto">
                <a:xfrm>
                  <a:off x="1816" y="1569"/>
                  <a:ext cx="1106" cy="185"/>
                  <a:chOff x="1816" y="1569"/>
                  <a:chExt cx="1106" cy="185"/>
                </a:xfrm>
              </p:grpSpPr>
              <p:sp>
                <p:nvSpPr>
                  <p:cNvPr id="36948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1882" y="1569"/>
                    <a:ext cx="975" cy="18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u="sng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DLOCATIONS</a:t>
                    </a:r>
                  </a:p>
                  <a:p>
                    <a:pPr eaLnBrk="1" hangingPunct="1"/>
                    <a:endParaRPr lang="en-US" altLang="en-US" sz="1400" b="1" u="sng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49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1816" y="1569"/>
                    <a:ext cx="1106" cy="185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918" name="Group 12"/>
                <p:cNvGrpSpPr>
                  <a:grpSpLocks/>
                </p:cNvGrpSpPr>
                <p:nvPr/>
              </p:nvGrpSpPr>
              <p:grpSpPr bwMode="auto">
                <a:xfrm>
                  <a:off x="436" y="1755"/>
                  <a:ext cx="1380" cy="177"/>
                  <a:chOff x="436" y="1755"/>
                  <a:chExt cx="1380" cy="177"/>
                </a:xfrm>
              </p:grpSpPr>
              <p:sp>
                <p:nvSpPr>
                  <p:cNvPr id="36946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502" y="1755"/>
                    <a:ext cx="1249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1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47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436" y="1755"/>
                    <a:ext cx="1380" cy="177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919" name="Group 15"/>
                <p:cNvGrpSpPr>
                  <a:grpSpLocks/>
                </p:cNvGrpSpPr>
                <p:nvPr/>
              </p:nvGrpSpPr>
              <p:grpSpPr bwMode="auto">
                <a:xfrm>
                  <a:off x="1816" y="1755"/>
                  <a:ext cx="1106" cy="177"/>
                  <a:chOff x="1816" y="1755"/>
                  <a:chExt cx="1106" cy="177"/>
                </a:xfrm>
              </p:grpSpPr>
              <p:sp>
                <p:nvSpPr>
                  <p:cNvPr id="36944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1882" y="1755"/>
                    <a:ext cx="975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Colombo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45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1816" y="1755"/>
                    <a:ext cx="1106" cy="177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920" name="Group 18"/>
                <p:cNvGrpSpPr>
                  <a:grpSpLocks/>
                </p:cNvGrpSpPr>
                <p:nvPr/>
              </p:nvGrpSpPr>
              <p:grpSpPr bwMode="auto">
                <a:xfrm>
                  <a:off x="436" y="1931"/>
                  <a:ext cx="1380" cy="177"/>
                  <a:chOff x="436" y="1931"/>
                  <a:chExt cx="1380" cy="177"/>
                </a:xfrm>
              </p:grpSpPr>
              <p:sp>
                <p:nvSpPr>
                  <p:cNvPr id="36942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502" y="1931"/>
                    <a:ext cx="1249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4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43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436" y="1931"/>
                    <a:ext cx="1380" cy="177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921" name="Group 21"/>
                <p:cNvGrpSpPr>
                  <a:grpSpLocks/>
                </p:cNvGrpSpPr>
                <p:nvPr/>
              </p:nvGrpSpPr>
              <p:grpSpPr bwMode="auto">
                <a:xfrm>
                  <a:off x="1816" y="1931"/>
                  <a:ext cx="1106" cy="177"/>
                  <a:chOff x="1816" y="1931"/>
                  <a:chExt cx="1106" cy="177"/>
                </a:xfrm>
              </p:grpSpPr>
              <p:sp>
                <p:nvSpPr>
                  <p:cNvPr id="36940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1882" y="1931"/>
                    <a:ext cx="975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 err="1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Malabe</a:t>
                    </a:r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41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1816" y="1931"/>
                    <a:ext cx="1106" cy="177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922" name="Group 24"/>
                <p:cNvGrpSpPr>
                  <a:grpSpLocks/>
                </p:cNvGrpSpPr>
                <p:nvPr/>
              </p:nvGrpSpPr>
              <p:grpSpPr bwMode="auto">
                <a:xfrm>
                  <a:off x="436" y="2108"/>
                  <a:ext cx="1380" cy="177"/>
                  <a:chOff x="436" y="2108"/>
                  <a:chExt cx="1380" cy="177"/>
                </a:xfrm>
              </p:grpSpPr>
              <p:sp>
                <p:nvSpPr>
                  <p:cNvPr id="36938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502" y="2108"/>
                    <a:ext cx="1249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5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39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436" y="2108"/>
                    <a:ext cx="1380" cy="177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923" name="Group 27"/>
                <p:cNvGrpSpPr>
                  <a:grpSpLocks/>
                </p:cNvGrpSpPr>
                <p:nvPr/>
              </p:nvGrpSpPr>
              <p:grpSpPr bwMode="auto">
                <a:xfrm>
                  <a:off x="1816" y="2108"/>
                  <a:ext cx="1106" cy="177"/>
                  <a:chOff x="1816" y="2108"/>
                  <a:chExt cx="1106" cy="177"/>
                </a:xfrm>
              </p:grpSpPr>
              <p:sp>
                <p:nvSpPr>
                  <p:cNvPr id="36936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1882" y="2108"/>
                    <a:ext cx="975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 err="1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Mathara</a:t>
                    </a:r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37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1816" y="2108"/>
                    <a:ext cx="1106" cy="177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924" name="Group 30"/>
                <p:cNvGrpSpPr>
                  <a:grpSpLocks/>
                </p:cNvGrpSpPr>
                <p:nvPr/>
              </p:nvGrpSpPr>
              <p:grpSpPr bwMode="auto">
                <a:xfrm>
                  <a:off x="436" y="2285"/>
                  <a:ext cx="1380" cy="177"/>
                  <a:chOff x="436" y="2285"/>
                  <a:chExt cx="1380" cy="177"/>
                </a:xfrm>
              </p:grpSpPr>
              <p:sp>
                <p:nvSpPr>
                  <p:cNvPr id="36934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502" y="2285"/>
                    <a:ext cx="1249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5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35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436" y="2285"/>
                    <a:ext cx="1380" cy="177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925" name="Group 33"/>
                <p:cNvGrpSpPr>
                  <a:grpSpLocks/>
                </p:cNvGrpSpPr>
                <p:nvPr/>
              </p:nvGrpSpPr>
              <p:grpSpPr bwMode="auto">
                <a:xfrm>
                  <a:off x="1816" y="2285"/>
                  <a:ext cx="1106" cy="177"/>
                  <a:chOff x="1816" y="2285"/>
                  <a:chExt cx="1106" cy="177"/>
                </a:xfrm>
              </p:grpSpPr>
              <p:sp>
                <p:nvSpPr>
                  <p:cNvPr id="36932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1882" y="2285"/>
                    <a:ext cx="975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Kandy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33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1816" y="2285"/>
                    <a:ext cx="1106" cy="177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926" name="Group 36"/>
                <p:cNvGrpSpPr>
                  <a:grpSpLocks/>
                </p:cNvGrpSpPr>
                <p:nvPr/>
              </p:nvGrpSpPr>
              <p:grpSpPr bwMode="auto">
                <a:xfrm>
                  <a:off x="436" y="2462"/>
                  <a:ext cx="1380" cy="177"/>
                  <a:chOff x="436" y="2462"/>
                  <a:chExt cx="1380" cy="177"/>
                </a:xfrm>
              </p:grpSpPr>
              <p:sp>
                <p:nvSpPr>
                  <p:cNvPr id="36930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502" y="2462"/>
                    <a:ext cx="1249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5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31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436" y="2462"/>
                    <a:ext cx="1380" cy="177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927" name="Group 39"/>
                <p:cNvGrpSpPr>
                  <a:grpSpLocks/>
                </p:cNvGrpSpPr>
                <p:nvPr/>
              </p:nvGrpSpPr>
              <p:grpSpPr bwMode="auto">
                <a:xfrm>
                  <a:off x="1816" y="2462"/>
                  <a:ext cx="1106" cy="177"/>
                  <a:chOff x="1816" y="2462"/>
                  <a:chExt cx="1106" cy="177"/>
                </a:xfrm>
              </p:grpSpPr>
              <p:sp>
                <p:nvSpPr>
                  <p:cNvPr id="36928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1882" y="2462"/>
                    <a:ext cx="975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Colombo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29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1816" y="2462"/>
                    <a:ext cx="1106" cy="177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</p:grpSp>
          <p:sp>
            <p:nvSpPr>
              <p:cNvPr id="36915" name="Rectangle 42"/>
              <p:cNvSpPr>
                <a:spLocks noChangeArrowheads="1"/>
              </p:cNvSpPr>
              <p:nvPr/>
            </p:nvSpPr>
            <p:spPr bwMode="auto">
              <a:xfrm>
                <a:off x="432" y="1568"/>
                <a:ext cx="2496" cy="1071"/>
              </a:xfrm>
              <a:prstGeom prst="rect">
                <a:avLst/>
              </a:prstGeom>
              <a:noFill/>
              <a:ln w="9360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b="1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36870" name="Group 43"/>
          <p:cNvGrpSpPr>
            <a:grpSpLocks/>
          </p:cNvGrpSpPr>
          <p:nvPr/>
        </p:nvGrpSpPr>
        <p:grpSpPr bwMode="auto">
          <a:xfrm>
            <a:off x="381000" y="4235449"/>
            <a:ext cx="5257801" cy="1936751"/>
            <a:chOff x="202" y="2832"/>
            <a:chExt cx="3312" cy="1220"/>
          </a:xfrm>
        </p:grpSpPr>
        <p:grpSp>
          <p:nvGrpSpPr>
            <p:cNvPr id="36872" name="Group 44"/>
            <p:cNvGrpSpPr>
              <a:grpSpLocks/>
            </p:cNvGrpSpPr>
            <p:nvPr/>
          </p:nvGrpSpPr>
          <p:grpSpPr bwMode="auto">
            <a:xfrm>
              <a:off x="202" y="3140"/>
              <a:ext cx="3312" cy="912"/>
              <a:chOff x="202" y="3140"/>
              <a:chExt cx="3312" cy="912"/>
            </a:xfrm>
          </p:grpSpPr>
          <p:grpSp>
            <p:nvGrpSpPr>
              <p:cNvPr id="36874" name="Group 45"/>
              <p:cNvGrpSpPr>
                <a:grpSpLocks/>
              </p:cNvGrpSpPr>
              <p:nvPr/>
            </p:nvGrpSpPr>
            <p:grpSpPr bwMode="auto">
              <a:xfrm>
                <a:off x="206" y="3141"/>
                <a:ext cx="3302" cy="909"/>
                <a:chOff x="206" y="3141"/>
                <a:chExt cx="3302" cy="909"/>
              </a:xfrm>
            </p:grpSpPr>
            <p:grpSp>
              <p:nvGrpSpPr>
                <p:cNvPr id="36876" name="Group 46"/>
                <p:cNvGrpSpPr>
                  <a:grpSpLocks/>
                </p:cNvGrpSpPr>
                <p:nvPr/>
              </p:nvGrpSpPr>
              <p:grpSpPr bwMode="auto">
                <a:xfrm>
                  <a:off x="206" y="3141"/>
                  <a:ext cx="1366" cy="272"/>
                  <a:chOff x="206" y="3141"/>
                  <a:chExt cx="1366" cy="272"/>
                </a:xfrm>
              </p:grpSpPr>
              <p:sp>
                <p:nvSpPr>
                  <p:cNvPr id="36910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272" y="3141"/>
                    <a:ext cx="1234" cy="27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DNAME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11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206" y="3141"/>
                    <a:ext cx="1366" cy="27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877" name="Group 49"/>
                <p:cNvGrpSpPr>
                  <a:grpSpLocks/>
                </p:cNvGrpSpPr>
                <p:nvPr/>
              </p:nvGrpSpPr>
              <p:grpSpPr bwMode="auto">
                <a:xfrm>
                  <a:off x="1572" y="3141"/>
                  <a:ext cx="1096" cy="272"/>
                  <a:chOff x="1572" y="3141"/>
                  <a:chExt cx="1096" cy="272"/>
                </a:xfrm>
              </p:grpSpPr>
              <p:sp>
                <p:nvSpPr>
                  <p:cNvPr id="36908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1637" y="3141"/>
                    <a:ext cx="965" cy="27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u="sng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DNUMBER</a:t>
                    </a:r>
                  </a:p>
                  <a:p>
                    <a:pPr eaLnBrk="1" hangingPunct="1"/>
                    <a:endParaRPr lang="en-US" altLang="en-US" sz="1400" b="1" u="sng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09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1572" y="3141"/>
                    <a:ext cx="1096" cy="27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878" name="Group 52"/>
                <p:cNvGrpSpPr>
                  <a:grpSpLocks/>
                </p:cNvGrpSpPr>
                <p:nvPr/>
              </p:nvGrpSpPr>
              <p:grpSpPr bwMode="auto">
                <a:xfrm>
                  <a:off x="2668" y="3141"/>
                  <a:ext cx="840" cy="272"/>
                  <a:chOff x="2668" y="3141"/>
                  <a:chExt cx="840" cy="272"/>
                </a:xfrm>
              </p:grpSpPr>
              <p:sp>
                <p:nvSpPr>
                  <p:cNvPr id="36906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2734" y="3141"/>
                    <a:ext cx="709" cy="27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DMGRSSN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07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2668" y="3141"/>
                    <a:ext cx="840" cy="27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879" name="Group 55"/>
                <p:cNvGrpSpPr>
                  <a:grpSpLocks/>
                </p:cNvGrpSpPr>
                <p:nvPr/>
              </p:nvGrpSpPr>
              <p:grpSpPr bwMode="auto">
                <a:xfrm>
                  <a:off x="206" y="3414"/>
                  <a:ext cx="1366" cy="212"/>
                  <a:chOff x="206" y="3414"/>
                  <a:chExt cx="1366" cy="212"/>
                </a:xfrm>
              </p:grpSpPr>
              <p:sp>
                <p:nvSpPr>
                  <p:cNvPr id="36904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272" y="3414"/>
                    <a:ext cx="123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Research 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05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206" y="3414"/>
                    <a:ext cx="1366" cy="21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880" name="Group 58"/>
                <p:cNvGrpSpPr>
                  <a:grpSpLocks/>
                </p:cNvGrpSpPr>
                <p:nvPr/>
              </p:nvGrpSpPr>
              <p:grpSpPr bwMode="auto">
                <a:xfrm>
                  <a:off x="1572" y="3414"/>
                  <a:ext cx="1096" cy="212"/>
                  <a:chOff x="1572" y="3414"/>
                  <a:chExt cx="1096" cy="212"/>
                </a:xfrm>
              </p:grpSpPr>
              <p:sp>
                <p:nvSpPr>
                  <p:cNvPr id="36902" name="Rectangle 59"/>
                  <p:cNvSpPr>
                    <a:spLocks noChangeArrowheads="1"/>
                  </p:cNvSpPr>
                  <p:nvPr/>
                </p:nvSpPr>
                <p:spPr bwMode="auto">
                  <a:xfrm>
                    <a:off x="1637" y="3414"/>
                    <a:ext cx="965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5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03" name="Rectangle 60"/>
                  <p:cNvSpPr>
                    <a:spLocks noChangeArrowheads="1"/>
                  </p:cNvSpPr>
                  <p:nvPr/>
                </p:nvSpPr>
                <p:spPr bwMode="auto">
                  <a:xfrm>
                    <a:off x="1572" y="3414"/>
                    <a:ext cx="1096" cy="21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881" name="Group 61"/>
                <p:cNvGrpSpPr>
                  <a:grpSpLocks/>
                </p:cNvGrpSpPr>
                <p:nvPr/>
              </p:nvGrpSpPr>
              <p:grpSpPr bwMode="auto">
                <a:xfrm>
                  <a:off x="2668" y="3414"/>
                  <a:ext cx="840" cy="212"/>
                  <a:chOff x="2668" y="3414"/>
                  <a:chExt cx="840" cy="212"/>
                </a:xfrm>
              </p:grpSpPr>
              <p:sp>
                <p:nvSpPr>
                  <p:cNvPr id="36900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2734" y="3414"/>
                    <a:ext cx="709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333445555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901" name="Rectangle 63"/>
                  <p:cNvSpPr>
                    <a:spLocks noChangeArrowheads="1"/>
                  </p:cNvSpPr>
                  <p:nvPr/>
                </p:nvSpPr>
                <p:spPr bwMode="auto">
                  <a:xfrm>
                    <a:off x="2668" y="3414"/>
                    <a:ext cx="840" cy="21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882" name="Group 64"/>
                <p:cNvGrpSpPr>
                  <a:grpSpLocks/>
                </p:cNvGrpSpPr>
                <p:nvPr/>
              </p:nvGrpSpPr>
              <p:grpSpPr bwMode="auto">
                <a:xfrm>
                  <a:off x="206" y="3626"/>
                  <a:ext cx="1366" cy="212"/>
                  <a:chOff x="206" y="3626"/>
                  <a:chExt cx="1366" cy="212"/>
                </a:xfrm>
              </p:grpSpPr>
              <p:sp>
                <p:nvSpPr>
                  <p:cNvPr id="36898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272" y="3626"/>
                    <a:ext cx="123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Administration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899" name="Rectangle 66"/>
                  <p:cNvSpPr>
                    <a:spLocks noChangeArrowheads="1"/>
                  </p:cNvSpPr>
                  <p:nvPr/>
                </p:nvSpPr>
                <p:spPr bwMode="auto">
                  <a:xfrm>
                    <a:off x="206" y="3626"/>
                    <a:ext cx="1366" cy="21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883" name="Group 67"/>
                <p:cNvGrpSpPr>
                  <a:grpSpLocks/>
                </p:cNvGrpSpPr>
                <p:nvPr/>
              </p:nvGrpSpPr>
              <p:grpSpPr bwMode="auto">
                <a:xfrm>
                  <a:off x="1572" y="3626"/>
                  <a:ext cx="1096" cy="212"/>
                  <a:chOff x="1572" y="3626"/>
                  <a:chExt cx="1096" cy="212"/>
                </a:xfrm>
              </p:grpSpPr>
              <p:sp>
                <p:nvSpPr>
                  <p:cNvPr id="36896" name="Rectangle 68"/>
                  <p:cNvSpPr>
                    <a:spLocks noChangeArrowheads="1"/>
                  </p:cNvSpPr>
                  <p:nvPr/>
                </p:nvSpPr>
                <p:spPr bwMode="auto">
                  <a:xfrm>
                    <a:off x="1637" y="3626"/>
                    <a:ext cx="965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4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897" name="Rectangle 69"/>
                  <p:cNvSpPr>
                    <a:spLocks noChangeArrowheads="1"/>
                  </p:cNvSpPr>
                  <p:nvPr/>
                </p:nvSpPr>
                <p:spPr bwMode="auto">
                  <a:xfrm>
                    <a:off x="1572" y="3626"/>
                    <a:ext cx="1096" cy="21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884" name="Group 70"/>
                <p:cNvGrpSpPr>
                  <a:grpSpLocks/>
                </p:cNvGrpSpPr>
                <p:nvPr/>
              </p:nvGrpSpPr>
              <p:grpSpPr bwMode="auto">
                <a:xfrm>
                  <a:off x="2668" y="3626"/>
                  <a:ext cx="840" cy="212"/>
                  <a:chOff x="2668" y="3626"/>
                  <a:chExt cx="840" cy="212"/>
                </a:xfrm>
              </p:grpSpPr>
              <p:sp>
                <p:nvSpPr>
                  <p:cNvPr id="36894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2734" y="3626"/>
                    <a:ext cx="709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987654321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895" name="Rectangle 72"/>
                  <p:cNvSpPr>
                    <a:spLocks noChangeArrowheads="1"/>
                  </p:cNvSpPr>
                  <p:nvPr/>
                </p:nvSpPr>
                <p:spPr bwMode="auto">
                  <a:xfrm>
                    <a:off x="2668" y="3626"/>
                    <a:ext cx="840" cy="21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885" name="Group 73"/>
                <p:cNvGrpSpPr>
                  <a:grpSpLocks/>
                </p:cNvGrpSpPr>
                <p:nvPr/>
              </p:nvGrpSpPr>
              <p:grpSpPr bwMode="auto">
                <a:xfrm>
                  <a:off x="206" y="3838"/>
                  <a:ext cx="1366" cy="212"/>
                  <a:chOff x="206" y="3838"/>
                  <a:chExt cx="1366" cy="212"/>
                </a:xfrm>
              </p:grpSpPr>
              <p:sp>
                <p:nvSpPr>
                  <p:cNvPr id="36892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272" y="3838"/>
                    <a:ext cx="123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Headquarters 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893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206" y="3838"/>
                    <a:ext cx="1366" cy="21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886" name="Group 76"/>
                <p:cNvGrpSpPr>
                  <a:grpSpLocks/>
                </p:cNvGrpSpPr>
                <p:nvPr/>
              </p:nvGrpSpPr>
              <p:grpSpPr bwMode="auto">
                <a:xfrm>
                  <a:off x="1572" y="3838"/>
                  <a:ext cx="1096" cy="212"/>
                  <a:chOff x="1572" y="3838"/>
                  <a:chExt cx="1096" cy="212"/>
                </a:xfrm>
              </p:grpSpPr>
              <p:sp>
                <p:nvSpPr>
                  <p:cNvPr id="36890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1637" y="3838"/>
                    <a:ext cx="965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1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891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1572" y="3838"/>
                    <a:ext cx="1096" cy="21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  <p:grpSp>
              <p:nvGrpSpPr>
                <p:cNvPr id="36887" name="Group 79"/>
                <p:cNvGrpSpPr>
                  <a:grpSpLocks/>
                </p:cNvGrpSpPr>
                <p:nvPr/>
              </p:nvGrpSpPr>
              <p:grpSpPr bwMode="auto">
                <a:xfrm>
                  <a:off x="2668" y="3838"/>
                  <a:ext cx="840" cy="212"/>
                  <a:chOff x="2668" y="3838"/>
                  <a:chExt cx="840" cy="212"/>
                </a:xfrm>
              </p:grpSpPr>
              <p:sp>
                <p:nvSpPr>
                  <p:cNvPr id="36888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2734" y="3838"/>
                    <a:ext cx="709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400" b="1" dirty="0">
                        <a:solidFill>
                          <a:srgbClr val="000000"/>
                        </a:solidFill>
                        <a:latin typeface="Candara" panose="020E0502030303020204" pitchFamily="34" charset="0"/>
                        <a:cs typeface="Times New Roman" panose="02020603050405020304" pitchFamily="18" charset="0"/>
                      </a:rPr>
                      <a:t>888665555</a:t>
                    </a:r>
                  </a:p>
                  <a:p>
                    <a:pPr eaLnBrk="1" hangingPunct="1"/>
                    <a:endParaRPr lang="en-US" altLang="en-US" sz="1400" b="1" dirty="0">
                      <a:solidFill>
                        <a:srgbClr val="000000"/>
                      </a:solidFill>
                      <a:latin typeface="Candara" panose="020E050203030302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889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2668" y="3838"/>
                    <a:ext cx="840" cy="21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 b="1" dirty="0">
                      <a:latin typeface="Candara" panose="020E0502030303020204" pitchFamily="34" charset="0"/>
                    </a:endParaRPr>
                  </a:p>
                </p:txBody>
              </p:sp>
            </p:grpSp>
          </p:grpSp>
          <p:sp>
            <p:nvSpPr>
              <p:cNvPr id="36875" name="Rectangle 82"/>
              <p:cNvSpPr>
                <a:spLocks noChangeArrowheads="1"/>
              </p:cNvSpPr>
              <p:nvPr/>
            </p:nvSpPr>
            <p:spPr bwMode="auto">
              <a:xfrm>
                <a:off x="202" y="3140"/>
                <a:ext cx="3312" cy="912"/>
              </a:xfrm>
              <a:prstGeom prst="rect">
                <a:avLst/>
              </a:prstGeom>
              <a:noFill/>
              <a:ln w="9360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b="1" dirty="0"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36873" name="Text Box 83"/>
            <p:cNvSpPr txBox="1">
              <a:spLocks noChangeArrowheads="1"/>
            </p:cNvSpPr>
            <p:nvPr/>
          </p:nvSpPr>
          <p:spPr bwMode="auto">
            <a:xfrm>
              <a:off x="532" y="2832"/>
              <a:ext cx="88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b="1" dirty="0">
                  <a:solidFill>
                    <a:srgbClr val="000000"/>
                  </a:solidFill>
                  <a:latin typeface="Candara" panose="020E0502030303020204" pitchFamily="34" charset="0"/>
                </a:rPr>
                <a:t>DEPARTMENT</a:t>
              </a:r>
            </a:p>
          </p:txBody>
        </p:sp>
      </p:grpSp>
      <p:sp>
        <p:nvSpPr>
          <p:cNvPr id="36871" name="Text Box 1"/>
          <p:cNvSpPr txBox="1">
            <a:spLocks noChangeArrowheads="1"/>
          </p:cNvSpPr>
          <p:nvPr/>
        </p:nvSpPr>
        <p:spPr bwMode="auto">
          <a:xfrm>
            <a:off x="5334000" y="1981200"/>
            <a:ext cx="3810000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Candara" panose="020E0502030303020204" pitchFamily="34" charset="0"/>
              </a:rPr>
              <a:t>Remove the attribute DLOCTION and place it in a separate relation DEPT_LOCTIONS along with the primary key DNUMBER of DEPARTMENT.</a:t>
            </a:r>
          </a:p>
          <a:p>
            <a:pPr algn="l" eaLnBrk="1" hangingPunct="1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Candara" panose="020E0502030303020204" pitchFamily="34" charset="0"/>
              </a:rPr>
              <a:t>The PK is the combination {DNUMBER, DLOCTION}</a:t>
            </a:r>
          </a:p>
          <a:p>
            <a:pPr algn="l" eaLnBrk="1" hangingPunct="1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Candara" panose="020E0502030303020204" pitchFamily="34" charset="0"/>
              </a:rPr>
              <a:t>This decompose the non-INF relation into two INF relation.</a:t>
            </a:r>
          </a:p>
          <a:p>
            <a:pPr eaLnBrk="1" hangingPunct="1">
              <a:spcBef>
                <a:spcPts val="500"/>
              </a:spcBef>
              <a:buClr>
                <a:srgbClr val="3333CC"/>
              </a:buClr>
              <a:buFont typeface="Arial" panose="020B0604020202020204" pitchFamily="34" charset="0"/>
              <a:buNone/>
            </a:pPr>
            <a:endParaRPr lang="en-US" altLang="en-US" sz="2000" dirty="0">
              <a:solidFill>
                <a:srgbClr val="3333CC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3898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19775" y="456185"/>
            <a:ext cx="7086600" cy="7921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Full Functional Dependency</a:t>
            </a:r>
            <a:br>
              <a:rPr lang="en-US" altLang="en-US" sz="3600" dirty="0">
                <a:solidFill>
                  <a:srgbClr val="333399"/>
                </a:solidFill>
              </a:rPr>
            </a:br>
            <a:endParaRPr lang="en-US" altLang="en-US" sz="3600" b="1" dirty="0">
              <a:latin typeface="Candara" panose="020E0502030303020204" pitchFamily="34" charset="0"/>
            </a:endParaRPr>
          </a:p>
        </p:txBody>
      </p:sp>
      <p:sp>
        <p:nvSpPr>
          <p:cNvPr id="4" name="Text Box 1"/>
          <p:cNvSpPr txBox="1">
            <a:spLocks noChangeArrowheads="1"/>
          </p:cNvSpPr>
          <p:nvPr/>
        </p:nvSpPr>
        <p:spPr bwMode="auto">
          <a:xfrm>
            <a:off x="351972" y="1295400"/>
            <a:ext cx="84582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1313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en-US" altLang="en-US" dirty="0">
                <a:solidFill>
                  <a:srgbClr val="3333CC"/>
                </a:solidFill>
                <a:latin typeface="Candara" panose="020E0502030303020204" pitchFamily="34" charset="0"/>
              </a:rPr>
              <a:t>     </a:t>
            </a:r>
            <a:r>
              <a:rPr lang="en-US" altLang="en-US" dirty="0">
                <a:latin typeface="Candara" panose="020E0502030303020204" pitchFamily="34" charset="0"/>
              </a:rPr>
              <a:t>A functional dependency, X </a:t>
            </a:r>
            <a:r>
              <a:rPr lang="en-US" altLang="en-US" dirty="0">
                <a:latin typeface="Candara" panose="020E0502030303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dirty="0">
                <a:latin typeface="Candara" panose="020E0502030303020204" pitchFamily="34" charset="0"/>
              </a:rPr>
              <a:t> Y is a full functional dependency if removal of any attribute A from X means that the dependency does not hold </a:t>
            </a:r>
          </a:p>
          <a:p>
            <a:pPr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en-US" altLang="en-US" dirty="0">
                <a:latin typeface="Candara" panose="020E0502030303020204" pitchFamily="34" charset="0"/>
              </a:rPr>
              <a:t>				(i.e. (X –{A}) </a:t>
            </a:r>
            <a:r>
              <a:rPr lang="en-US" altLang="en-US" dirty="0">
                <a:latin typeface="Candara" panose="020E0502030303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dirty="0">
                <a:latin typeface="Candara" panose="020E0502030303020204" pitchFamily="34" charset="0"/>
              </a:rPr>
              <a:t> Y does not hold )</a:t>
            </a:r>
          </a:p>
          <a:p>
            <a:pPr algn="just" eaLnBrk="1" hangingPunct="1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Font typeface="Arial" panose="020B0604020202020204" pitchFamily="34" charset="0"/>
              <a:buNone/>
            </a:pPr>
            <a:endParaRPr lang="en-US" altLang="en-US" dirty="0">
              <a:solidFill>
                <a:srgbClr val="3333CC"/>
              </a:solidFill>
              <a:latin typeface="Candara" panose="020E0502030303020204" pitchFamily="34" charset="0"/>
            </a:endParaRPr>
          </a:p>
          <a:p>
            <a:pPr algn="just" eaLnBrk="1" hangingPunct="1">
              <a:lnSpc>
                <a:spcPct val="90000"/>
              </a:lnSpc>
              <a:spcBef>
                <a:spcPts val="600"/>
              </a:spcBef>
              <a:buClr>
                <a:srgbClr val="3333CC"/>
              </a:buClr>
              <a:buFont typeface="Arial" panose="020B0604020202020204" pitchFamily="34" charset="0"/>
              <a:buNone/>
            </a:pPr>
            <a:endParaRPr lang="en-US" altLang="en-US" dirty="0">
              <a:solidFill>
                <a:srgbClr val="3333CC"/>
              </a:solidFill>
              <a:latin typeface="Candara" panose="020E0502030303020204" pitchFamily="34" charset="0"/>
            </a:endParaRPr>
          </a:p>
        </p:txBody>
      </p:sp>
      <p:sp>
        <p:nvSpPr>
          <p:cNvPr id="37893" name="Text Box 2"/>
          <p:cNvSpPr txBox="1">
            <a:spLocks noChangeArrowheads="1"/>
          </p:cNvSpPr>
          <p:nvPr/>
        </p:nvSpPr>
        <p:spPr bwMode="auto">
          <a:xfrm>
            <a:off x="762000" y="2467669"/>
            <a:ext cx="911125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000000"/>
                </a:solidFill>
                <a:latin typeface="Candara" panose="020E0502030303020204" pitchFamily="34" charset="0"/>
              </a:rPr>
              <a:t>TEACH</a:t>
            </a:r>
          </a:p>
        </p:txBody>
      </p:sp>
      <p:graphicFrame>
        <p:nvGraphicFramePr>
          <p:cNvPr id="6" name="Group 3"/>
          <p:cNvGraphicFramePr>
            <a:graphicFrameLocks noGrp="1"/>
          </p:cNvGraphicFramePr>
          <p:nvPr/>
        </p:nvGraphicFramePr>
        <p:xfrm>
          <a:off x="881742" y="2895600"/>
          <a:ext cx="7392988" cy="2514602"/>
        </p:xfrm>
        <a:graphic>
          <a:graphicData uri="http://schemas.openxmlformats.org/drawingml/2006/table">
            <a:tbl>
              <a:tblPr/>
              <a:tblGrid>
                <a:gridCol w="165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26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STUDENT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COURSE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TEACHER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CAMPUS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59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Narayan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Database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ABC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Colombo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59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Smith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Database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XYZ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Malabe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ndara" panose="020E0502030303020204" pitchFamily="34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59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Nalin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Operating Systems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Samantha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Colombo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59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Kamal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Operating Systems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ABC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Malabe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F81BD"/>
                        </a:solidFill>
                        <a:effectLst/>
                        <a:latin typeface="Candara" panose="020E0502030303020204" pitchFamily="34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59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Janith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Database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ABC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Colombo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59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Ranil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Operating Systems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Samantha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Colombo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59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Saman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Operating Systems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ABC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Malabe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F81BD"/>
                        </a:solidFill>
                        <a:effectLst/>
                        <a:latin typeface="Candara" panose="020E0502030303020204" pitchFamily="34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59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Ruwan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Database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XYZ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ndara" panose="020E0502030303020204" pitchFamily="34" charset="0"/>
                          <a:ea typeface="Calibri" pitchFamily="32" charset="0"/>
                          <a:cs typeface="Calibri" pitchFamily="32" charset="0"/>
                        </a:rPr>
                        <a:t>Malabe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ndara" panose="020E0502030303020204" pitchFamily="34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7946" name="Text Box 125"/>
          <p:cNvSpPr txBox="1">
            <a:spLocks noChangeArrowheads="1"/>
          </p:cNvSpPr>
          <p:nvPr/>
        </p:nvSpPr>
        <p:spPr bwMode="auto">
          <a:xfrm>
            <a:off x="337458" y="5619510"/>
            <a:ext cx="4724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ndara" panose="020E0502030303020204" pitchFamily="34" charset="0"/>
              </a:rPr>
              <a:t>{Teacher, Campus} </a:t>
            </a:r>
            <a:r>
              <a:rPr lang="en-US" altLang="en-US" dirty="0">
                <a:solidFill>
                  <a:srgbClr val="000000"/>
                </a:solidFill>
                <a:latin typeface="Candara" panose="020E0502030303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dirty="0">
                <a:solidFill>
                  <a:srgbClr val="000000"/>
                </a:solidFill>
                <a:latin typeface="Candara" panose="020E0502030303020204" pitchFamily="34" charset="0"/>
              </a:rPr>
              <a:t> Course</a:t>
            </a:r>
          </a:p>
        </p:txBody>
      </p:sp>
      <p:sp>
        <p:nvSpPr>
          <p:cNvPr id="37947" name="Text Box 127"/>
          <p:cNvSpPr txBox="1">
            <a:spLocks noChangeArrowheads="1"/>
          </p:cNvSpPr>
          <p:nvPr/>
        </p:nvSpPr>
        <p:spPr bwMode="auto">
          <a:xfrm>
            <a:off x="4572000" y="5486642"/>
            <a:ext cx="4724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Candara" panose="020E0502030303020204" pitchFamily="34" charset="0"/>
              </a:rPr>
              <a:t>Teacher does NOT determine course</a:t>
            </a:r>
          </a:p>
        </p:txBody>
      </p:sp>
    </p:spTree>
    <p:extLst>
      <p:ext uri="{BB962C8B-B14F-4D97-AF65-F5344CB8AC3E}">
        <p14:creationId xmlns:p14="http://schemas.microsoft.com/office/powerpoint/2010/main" val="140527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576262"/>
            <a:ext cx="7620000" cy="7921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Normalization </a:t>
            </a:r>
            <a:r>
              <a:rPr lang="en-US" altLang="en-US" sz="3600" dirty="0"/>
              <a:t>–</a:t>
            </a:r>
            <a:r>
              <a:rPr lang="en-US" altLang="en-US" sz="3600" dirty="0">
                <a:solidFill>
                  <a:srgbClr val="333399"/>
                </a:solidFill>
              </a:rPr>
              <a:t> </a:t>
            </a:r>
            <a:r>
              <a:rPr lang="en-US" altLang="en-US" sz="3600" b="1" dirty="0">
                <a:latin typeface="Candara" panose="020E0502030303020204" pitchFamily="34" charset="0"/>
              </a:rPr>
              <a:t>2</a:t>
            </a:r>
            <a:r>
              <a:rPr lang="en-US" altLang="en-US" sz="3600" b="1" baseline="30000" dirty="0">
                <a:latin typeface="Candara" panose="020E0502030303020204" pitchFamily="34" charset="0"/>
              </a:rPr>
              <a:t>nd</a:t>
            </a:r>
            <a:r>
              <a:rPr lang="en-US" altLang="en-US" sz="3600" b="1" dirty="0">
                <a:latin typeface="Candara" panose="020E0502030303020204" pitchFamily="34" charset="0"/>
              </a:rPr>
              <a:t>  Normal Form</a:t>
            </a:r>
          </a:p>
        </p:txBody>
      </p:sp>
      <p:sp>
        <p:nvSpPr>
          <p:cNvPr id="38916" name="Rectangle 3"/>
          <p:cNvSpPr>
            <a:spLocks noChangeArrowheads="1"/>
          </p:cNvSpPr>
          <p:nvPr/>
        </p:nvSpPr>
        <p:spPr bwMode="auto">
          <a:xfrm>
            <a:off x="304800" y="1295400"/>
            <a:ext cx="8610600" cy="157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1313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Candara" panose="020E0502030303020204" pitchFamily="34" charset="0"/>
              </a:rPr>
              <a:t>A relation R is in second normal form (2NF) if every nonprime attribute A in R is </a:t>
            </a:r>
            <a:r>
              <a:rPr lang="en-US" altLang="en-US" b="1" dirty="0">
                <a:latin typeface="Candara" panose="020E0502030303020204" pitchFamily="34" charset="0"/>
              </a:rPr>
              <a:t>not</a:t>
            </a:r>
            <a:r>
              <a:rPr lang="en-US" altLang="en-US" dirty="0">
                <a:latin typeface="Candara" panose="020E0502030303020204" pitchFamily="34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Candara" panose="020E0502030303020204" pitchFamily="34" charset="0"/>
              </a:rPr>
              <a:t>partially dependent </a:t>
            </a:r>
            <a:r>
              <a:rPr lang="en-US" altLang="en-US" dirty="0">
                <a:latin typeface="Candara" panose="020E0502030303020204" pitchFamily="34" charset="0"/>
              </a:rPr>
              <a:t>on any key of R</a:t>
            </a:r>
          </a:p>
          <a:p>
            <a:pPr algn="just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Candara" panose="020E0502030303020204" pitchFamily="34" charset="0"/>
              </a:rPr>
              <a:t>Remove partial functional dependencies into a new relation</a:t>
            </a:r>
            <a:endParaRPr lang="en-GB" altLang="en-US" dirty="0">
              <a:latin typeface="Candara" panose="020E0502030303020204" pitchFamily="34" charset="0"/>
            </a:endParaRPr>
          </a:p>
          <a:p>
            <a:pPr algn="just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38917" name="Text Box 83"/>
          <p:cNvSpPr txBox="1">
            <a:spLocks noChangeArrowheads="1"/>
          </p:cNvSpPr>
          <p:nvPr/>
        </p:nvSpPr>
        <p:spPr bwMode="auto">
          <a:xfrm>
            <a:off x="76200" y="2435225"/>
            <a:ext cx="4267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ndara" panose="020E0502030303020204" pitchFamily="34" charset="0"/>
              </a:rPr>
              <a:t>Example: Not in 2NF</a:t>
            </a:r>
          </a:p>
        </p:txBody>
      </p:sp>
      <p:cxnSp>
        <p:nvCxnSpPr>
          <p:cNvPr id="38959" name="AutoShape 78"/>
          <p:cNvCxnSpPr>
            <a:cxnSpLocks noChangeShapeType="1"/>
          </p:cNvCxnSpPr>
          <p:nvPr/>
        </p:nvCxnSpPr>
        <p:spPr bwMode="auto">
          <a:xfrm>
            <a:off x="1697831" y="2898773"/>
            <a:ext cx="5083969" cy="15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2" name="Group 3"/>
          <p:cNvGraphicFramePr>
            <a:graphicFrameLocks noGrp="1"/>
          </p:cNvGraphicFramePr>
          <p:nvPr/>
        </p:nvGraphicFramePr>
        <p:xfrm>
          <a:off x="838200" y="3117850"/>
          <a:ext cx="7621588" cy="1643065"/>
        </p:xfrm>
        <a:graphic>
          <a:graphicData uri="http://schemas.openxmlformats.org/drawingml/2006/table">
            <a:tbl>
              <a:tblPr/>
              <a:tblGrid>
                <a:gridCol w="133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0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TEACHER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CAMPUS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COURSE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ADDRESS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Kapila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2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Colombo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Database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BoC Merchant Tower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Nuwan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2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Malabe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Database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New Kandy Road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Samantha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Colombo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Operating Systems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BoC Merchant Tower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Kapila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2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Malabe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Operating Systems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New Kandy Road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8956" name="AutoShape 74"/>
          <p:cNvCxnSpPr>
            <a:cxnSpLocks noChangeShapeType="1"/>
          </p:cNvCxnSpPr>
          <p:nvPr/>
        </p:nvCxnSpPr>
        <p:spPr bwMode="auto">
          <a:xfrm>
            <a:off x="2895602" y="5243786"/>
            <a:ext cx="3884123" cy="15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57" name="AutoShape 75"/>
          <p:cNvCxnSpPr>
            <a:cxnSpLocks noChangeShapeType="1"/>
          </p:cNvCxnSpPr>
          <p:nvPr/>
        </p:nvCxnSpPr>
        <p:spPr bwMode="auto">
          <a:xfrm flipV="1">
            <a:off x="2895602" y="4872194"/>
            <a:ext cx="2075" cy="37159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53" name="Text Box 84"/>
          <p:cNvSpPr txBox="1">
            <a:spLocks noChangeArrowheads="1"/>
          </p:cNvSpPr>
          <p:nvPr/>
        </p:nvSpPr>
        <p:spPr bwMode="auto">
          <a:xfrm>
            <a:off x="4267200" y="5251450"/>
            <a:ext cx="27876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Candara" panose="020E0502030303020204" pitchFamily="34" charset="0"/>
              </a:rPr>
              <a:t>Partial dependency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781800" y="2889250"/>
            <a:ext cx="0" cy="2286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12" idx="0"/>
          </p:cNvCxnSpPr>
          <p:nvPr/>
        </p:nvCxnSpPr>
        <p:spPr>
          <a:xfrm>
            <a:off x="4648200" y="2889250"/>
            <a:ext cx="794" cy="2286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2895602" y="2898773"/>
            <a:ext cx="0" cy="219077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1690048" y="2889250"/>
            <a:ext cx="0" cy="219077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6781800" y="4876626"/>
            <a:ext cx="0" cy="371592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267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79437"/>
            <a:ext cx="7696200" cy="7921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Normalization </a:t>
            </a:r>
            <a:r>
              <a:rPr lang="en-US" altLang="en-US" sz="3600" dirty="0"/>
              <a:t>–</a:t>
            </a:r>
            <a:r>
              <a:rPr lang="en-US" altLang="en-US" sz="3600" dirty="0">
                <a:solidFill>
                  <a:srgbClr val="333399"/>
                </a:solidFill>
              </a:rPr>
              <a:t> </a:t>
            </a:r>
            <a:r>
              <a:rPr lang="en-US" altLang="en-US" sz="3600" b="1" dirty="0">
                <a:latin typeface="Candara" panose="020E0502030303020204" pitchFamily="34" charset="0"/>
              </a:rPr>
              <a:t>2</a:t>
            </a:r>
            <a:r>
              <a:rPr lang="en-US" altLang="en-US" sz="3600" b="1" baseline="30000" dirty="0">
                <a:latin typeface="Candara" panose="020E0502030303020204" pitchFamily="34" charset="0"/>
              </a:rPr>
              <a:t>nd</a:t>
            </a:r>
            <a:r>
              <a:rPr lang="en-US" altLang="en-US" sz="3600" b="1" dirty="0">
                <a:latin typeface="Candara" panose="020E0502030303020204" pitchFamily="34" charset="0"/>
              </a:rPr>
              <a:t>  Normal Form</a:t>
            </a:r>
          </a:p>
        </p:txBody>
      </p:sp>
      <p:sp>
        <p:nvSpPr>
          <p:cNvPr id="39940" name="Rectangle 3"/>
          <p:cNvSpPr>
            <a:spLocks noChangeArrowheads="1"/>
          </p:cNvSpPr>
          <p:nvPr/>
        </p:nvSpPr>
        <p:spPr bwMode="auto">
          <a:xfrm>
            <a:off x="533400" y="1295400"/>
            <a:ext cx="8077200" cy="3625608"/>
          </a:xfrm>
          <a:prstGeom prst="rect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39941" name="TextBox 4"/>
          <p:cNvSpPr txBox="1">
            <a:spLocks noChangeArrowheads="1"/>
          </p:cNvSpPr>
          <p:nvPr/>
        </p:nvSpPr>
        <p:spPr bwMode="auto">
          <a:xfrm>
            <a:off x="609600" y="1295400"/>
            <a:ext cx="7924800" cy="3625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en-US" b="1" dirty="0">
                <a:solidFill>
                  <a:srgbClr val="FF0000"/>
                </a:solidFill>
                <a:latin typeface="Candara" panose="020E0502030303020204" pitchFamily="34" charset="0"/>
              </a:rPr>
              <a:t>  Steps from 1NF to 2NF</a:t>
            </a:r>
            <a:r>
              <a:rPr lang="en-US" altLang="en-US" dirty="0">
                <a:solidFill>
                  <a:srgbClr val="FF0000"/>
                </a:solidFill>
                <a:latin typeface="Candara" panose="020E0502030303020204" pitchFamily="34" charset="0"/>
              </a:rPr>
              <a:t>: 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Char char="v"/>
            </a:pPr>
            <a:r>
              <a:rPr lang="en-US" altLang="en-US" sz="2000" dirty="0">
                <a:solidFill>
                  <a:schemeClr val="tx2"/>
                </a:solidFill>
                <a:latin typeface="Candara" panose="020E0502030303020204" pitchFamily="34" charset="0"/>
              </a:rPr>
              <a:t>Remove the attributes that are only partially functionally dependent on the composite key, and place them in a new relation.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Char char="v"/>
            </a:pPr>
            <a:endParaRPr lang="en-US" altLang="en-US" sz="2000" dirty="0">
              <a:solidFill>
                <a:schemeClr val="tx2"/>
              </a:solidFill>
              <a:latin typeface="Candara" panose="020E0502030303020204" pitchFamily="34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Char char="v"/>
            </a:pPr>
            <a:r>
              <a:rPr lang="en-US" altLang="en-US" sz="2000" dirty="0">
                <a:solidFill>
                  <a:schemeClr val="tx2"/>
                </a:solidFill>
                <a:latin typeface="Candara" panose="020E0502030303020204" pitchFamily="34" charset="0"/>
              </a:rPr>
              <a:t>Add to this relation a copy of the attribute(s) which are the determinants of these offending attributes. These will automatically become the primary key of this new relation.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Char char="v"/>
            </a:pPr>
            <a:endParaRPr lang="en-US" altLang="en-US" sz="2000" dirty="0">
              <a:solidFill>
                <a:schemeClr val="tx2"/>
              </a:solidFill>
              <a:latin typeface="Candara" panose="020E0502030303020204" pitchFamily="34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Char char="v"/>
            </a:pPr>
            <a:r>
              <a:rPr lang="en-US" altLang="en-US" sz="2000" dirty="0">
                <a:solidFill>
                  <a:schemeClr val="tx2"/>
                </a:solidFill>
                <a:latin typeface="Candara" panose="020E0502030303020204" pitchFamily="34" charset="0"/>
              </a:rPr>
              <a:t>Name the new relation</a:t>
            </a:r>
            <a:endParaRPr lang="en-US" altLang="en-US" sz="2000" i="1" dirty="0">
              <a:solidFill>
                <a:srgbClr val="0000FF"/>
              </a:solidFill>
              <a:latin typeface="Candara" panose="020E0502030303020204" pitchFamily="34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Char char="v"/>
            </a:pPr>
            <a:endParaRPr lang="en-US" altLang="en-US" sz="2000" dirty="0">
              <a:solidFill>
                <a:schemeClr val="tx2"/>
              </a:solidFill>
              <a:latin typeface="Candara" panose="020E0502030303020204" pitchFamily="34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Char char="v"/>
            </a:pPr>
            <a:r>
              <a:rPr lang="en-US" altLang="en-US" sz="2000" dirty="0">
                <a:solidFill>
                  <a:schemeClr val="tx2"/>
                </a:solidFill>
                <a:latin typeface="Candara" panose="020E0502030303020204" pitchFamily="34" charset="0"/>
              </a:rPr>
              <a:t>Rename the original relation </a:t>
            </a:r>
          </a:p>
        </p:txBody>
      </p:sp>
    </p:spTree>
    <p:extLst>
      <p:ext uri="{BB962C8B-B14F-4D97-AF65-F5344CB8AC3E}">
        <p14:creationId xmlns:p14="http://schemas.microsoft.com/office/powerpoint/2010/main" val="39771492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79437"/>
            <a:ext cx="7772400" cy="7921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Normalization </a:t>
            </a:r>
            <a:r>
              <a:rPr lang="en-US" altLang="en-US" sz="3600" dirty="0"/>
              <a:t>–</a:t>
            </a:r>
            <a:r>
              <a:rPr lang="en-US" altLang="en-US" sz="3600" dirty="0">
                <a:solidFill>
                  <a:srgbClr val="333399"/>
                </a:solidFill>
              </a:rPr>
              <a:t> </a:t>
            </a:r>
            <a:r>
              <a:rPr lang="en-US" altLang="en-US" sz="3600" b="1" dirty="0">
                <a:latin typeface="Candara" panose="020E0502030303020204" pitchFamily="34" charset="0"/>
              </a:rPr>
              <a:t>2</a:t>
            </a:r>
            <a:r>
              <a:rPr lang="en-US" altLang="en-US" sz="3600" b="1" baseline="30000" dirty="0">
                <a:latin typeface="Candara" panose="020E0502030303020204" pitchFamily="34" charset="0"/>
              </a:rPr>
              <a:t>nd</a:t>
            </a:r>
            <a:r>
              <a:rPr lang="en-US" altLang="en-US" sz="3600" b="1" dirty="0">
                <a:latin typeface="Candara" panose="020E0502030303020204" pitchFamily="34" charset="0"/>
              </a:rPr>
              <a:t>  Normal Form</a:t>
            </a:r>
          </a:p>
        </p:txBody>
      </p:sp>
      <p:sp>
        <p:nvSpPr>
          <p:cNvPr id="40964" name="Rectangle 3"/>
          <p:cNvSpPr>
            <a:spLocks noChangeArrowheads="1"/>
          </p:cNvSpPr>
          <p:nvPr/>
        </p:nvSpPr>
        <p:spPr bwMode="auto">
          <a:xfrm>
            <a:off x="838200" y="1290637"/>
            <a:ext cx="7543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dirty="0">
                <a:latin typeface="Candara" panose="020E0502030303020204" pitchFamily="34" charset="0"/>
              </a:rPr>
              <a:t>Example: After normalized into 2NF</a:t>
            </a:r>
          </a:p>
        </p:txBody>
      </p:sp>
      <p:graphicFrame>
        <p:nvGraphicFramePr>
          <p:cNvPr id="6" name="Group 26"/>
          <p:cNvGraphicFramePr>
            <a:graphicFrameLocks noGrp="1"/>
          </p:cNvGraphicFramePr>
          <p:nvPr/>
        </p:nvGraphicFramePr>
        <p:xfrm>
          <a:off x="912812" y="1828800"/>
          <a:ext cx="5564188" cy="1960564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7212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TEACHER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CAMPUS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COURSE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Kapila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2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Metro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Database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Nuwan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2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Malabe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Database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Samantha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Metro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Operating Systems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Kapila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2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Malabe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2" charset="0"/>
                        <a:ea typeface="Calibri" pitchFamily="32" charset="0"/>
                        <a:cs typeface="Calibri" pitchFamily="32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Operating Systems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roup 2"/>
          <p:cNvGraphicFramePr>
            <a:graphicFrameLocks noGrp="1"/>
          </p:cNvGraphicFramePr>
          <p:nvPr/>
        </p:nvGraphicFramePr>
        <p:xfrm>
          <a:off x="4800600" y="4191000"/>
          <a:ext cx="3811588" cy="1066800"/>
        </p:xfrm>
        <a:graphic>
          <a:graphicData uri="http://schemas.openxmlformats.org/drawingml/2006/table">
            <a:tbl>
              <a:tblPr/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CAMPUS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ADDRESS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Metro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BoC Merchant Tower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Malabe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Malabe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2" charset="0"/>
                          <a:ea typeface="Calibri" pitchFamily="32" charset="0"/>
                          <a:cs typeface="Calibri" pitchFamily="32" charset="0"/>
                        </a:rPr>
                        <a:t> Campus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62881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1"/>
          <p:cNvSpPr txBox="1">
            <a:spLocks noChangeArrowheads="1"/>
          </p:cNvSpPr>
          <p:nvPr/>
        </p:nvSpPr>
        <p:spPr bwMode="auto">
          <a:xfrm>
            <a:off x="152400" y="923349"/>
            <a:ext cx="3048000" cy="7530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2900" indent="-341313"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sz="3200" dirty="0">
                <a:solidFill>
                  <a:schemeClr val="tx1">
                    <a:lumMod val="50000"/>
                  </a:schemeClr>
                </a:solidFill>
                <a:latin typeface="Candara" panose="020E0502030303020204" pitchFamily="34" charset="0"/>
              </a:rPr>
              <a:t>EMP_PROJ</a:t>
            </a:r>
          </a:p>
          <a:p>
            <a:pPr marL="342900" indent="-341313"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endParaRPr lang="en-US" sz="1800" dirty="0">
              <a:solidFill>
                <a:srgbClr val="3333CC"/>
              </a:solidFill>
              <a:latin typeface="Candara" panose="020E0502030303020204" pitchFamily="34" charset="0"/>
            </a:endParaRPr>
          </a:p>
        </p:txBody>
      </p:sp>
      <p:graphicFrame>
        <p:nvGraphicFramePr>
          <p:cNvPr id="38914" name="Group 2"/>
          <p:cNvGraphicFramePr>
            <a:graphicFrameLocks noGrp="1"/>
          </p:cNvGraphicFramePr>
          <p:nvPr/>
        </p:nvGraphicFramePr>
        <p:xfrm>
          <a:off x="762000" y="1524001"/>
          <a:ext cx="8154988" cy="599064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7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9064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4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SSN</a:t>
                      </a:r>
                    </a:p>
                  </a:txBody>
                  <a:tcPr marL="90000" marR="90000" marT="46806" marB="4680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4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PNUM</a:t>
                      </a:r>
                    </a:p>
                  </a:txBody>
                  <a:tcPr marL="90000" marR="90000" marT="46806" marB="4680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HOURS</a:t>
                      </a:r>
                    </a:p>
                  </a:txBody>
                  <a:tcPr marL="90000" marR="90000" marT="46806" marB="4680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ENAME</a:t>
                      </a:r>
                    </a:p>
                  </a:txBody>
                  <a:tcPr marL="90000" marR="90000" marT="46806" marB="4680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PNAME</a:t>
                      </a:r>
                    </a:p>
                  </a:txBody>
                  <a:tcPr marL="90000" marR="90000" marT="46806" marB="4680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LOC</a:t>
                      </a:r>
                    </a:p>
                  </a:txBody>
                  <a:tcPr marL="90000" marR="90000" marT="46806" marB="4680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2003" name="Group 28"/>
          <p:cNvGrpSpPr>
            <a:grpSpLocks/>
          </p:cNvGrpSpPr>
          <p:nvPr/>
        </p:nvGrpSpPr>
        <p:grpSpPr bwMode="auto">
          <a:xfrm>
            <a:off x="533400" y="2132012"/>
            <a:ext cx="3579813" cy="458788"/>
            <a:chOff x="528" y="1200"/>
            <a:chExt cx="2255" cy="289"/>
          </a:xfrm>
        </p:grpSpPr>
        <p:sp>
          <p:nvSpPr>
            <p:cNvPr id="42058" name="Line 29"/>
            <p:cNvSpPr>
              <a:spLocks noChangeShapeType="1"/>
            </p:cNvSpPr>
            <p:nvPr/>
          </p:nvSpPr>
          <p:spPr bwMode="auto">
            <a:xfrm>
              <a:off x="960" y="1222"/>
              <a:ext cx="1" cy="24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2059" name="Line 30"/>
            <p:cNvSpPr>
              <a:spLocks noChangeShapeType="1"/>
            </p:cNvSpPr>
            <p:nvPr/>
          </p:nvSpPr>
          <p:spPr bwMode="auto">
            <a:xfrm>
              <a:off x="1632" y="1222"/>
              <a:ext cx="1" cy="24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2060" name="Line 31"/>
            <p:cNvSpPr>
              <a:spLocks noChangeShapeType="1"/>
            </p:cNvSpPr>
            <p:nvPr/>
          </p:nvSpPr>
          <p:spPr bwMode="auto">
            <a:xfrm>
              <a:off x="960" y="1462"/>
              <a:ext cx="1824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2061" name="Line 32"/>
            <p:cNvSpPr>
              <a:spLocks noChangeShapeType="1"/>
            </p:cNvSpPr>
            <p:nvPr/>
          </p:nvSpPr>
          <p:spPr bwMode="auto">
            <a:xfrm flipV="1">
              <a:off x="2784" y="1221"/>
              <a:ext cx="1" cy="242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2062" name="Text Box 33"/>
            <p:cNvSpPr txBox="1">
              <a:spLocks noChangeArrowheads="1"/>
            </p:cNvSpPr>
            <p:nvPr/>
          </p:nvSpPr>
          <p:spPr bwMode="auto">
            <a:xfrm>
              <a:off x="528" y="1200"/>
              <a:ext cx="544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FD1</a:t>
              </a:r>
            </a:p>
          </p:txBody>
        </p:sp>
      </p:grpSp>
      <p:grpSp>
        <p:nvGrpSpPr>
          <p:cNvPr id="42004" name="Group 34"/>
          <p:cNvGrpSpPr>
            <a:grpSpLocks/>
          </p:cNvGrpSpPr>
          <p:nvPr/>
        </p:nvGrpSpPr>
        <p:grpSpPr bwMode="auto">
          <a:xfrm>
            <a:off x="533400" y="2513012"/>
            <a:ext cx="5027613" cy="458788"/>
            <a:chOff x="432" y="1392"/>
            <a:chExt cx="3167" cy="289"/>
          </a:xfrm>
        </p:grpSpPr>
        <p:sp>
          <p:nvSpPr>
            <p:cNvPr id="42054" name="Line 35"/>
            <p:cNvSpPr>
              <a:spLocks noChangeShapeType="1"/>
            </p:cNvSpPr>
            <p:nvPr/>
          </p:nvSpPr>
          <p:spPr bwMode="auto">
            <a:xfrm>
              <a:off x="864" y="1440"/>
              <a:ext cx="1" cy="192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2055" name="Line 36"/>
            <p:cNvSpPr>
              <a:spLocks noChangeShapeType="1"/>
            </p:cNvSpPr>
            <p:nvPr/>
          </p:nvSpPr>
          <p:spPr bwMode="auto">
            <a:xfrm>
              <a:off x="864" y="1632"/>
              <a:ext cx="2736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2056" name="Line 37"/>
            <p:cNvSpPr>
              <a:spLocks noChangeShapeType="1"/>
            </p:cNvSpPr>
            <p:nvPr/>
          </p:nvSpPr>
          <p:spPr bwMode="auto">
            <a:xfrm flipV="1">
              <a:off x="3600" y="1439"/>
              <a:ext cx="1" cy="19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2057" name="Text Box 38"/>
            <p:cNvSpPr txBox="1">
              <a:spLocks noChangeArrowheads="1"/>
            </p:cNvSpPr>
            <p:nvPr/>
          </p:nvSpPr>
          <p:spPr bwMode="auto">
            <a:xfrm>
              <a:off x="432" y="1392"/>
              <a:ext cx="544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FD2</a:t>
              </a:r>
            </a:p>
          </p:txBody>
        </p:sp>
      </p:grpSp>
      <p:grpSp>
        <p:nvGrpSpPr>
          <p:cNvPr id="42005" name="Group 39"/>
          <p:cNvGrpSpPr>
            <a:grpSpLocks/>
          </p:cNvGrpSpPr>
          <p:nvPr/>
        </p:nvGrpSpPr>
        <p:grpSpPr bwMode="auto">
          <a:xfrm>
            <a:off x="381000" y="2970212"/>
            <a:ext cx="7999413" cy="534988"/>
            <a:chOff x="336" y="1680"/>
            <a:chExt cx="5039" cy="337"/>
          </a:xfrm>
        </p:grpSpPr>
        <p:sp>
          <p:nvSpPr>
            <p:cNvPr id="42049" name="Line 40"/>
            <p:cNvSpPr>
              <a:spLocks noChangeShapeType="1"/>
            </p:cNvSpPr>
            <p:nvPr/>
          </p:nvSpPr>
          <p:spPr bwMode="auto">
            <a:xfrm>
              <a:off x="1440" y="1680"/>
              <a:ext cx="1" cy="24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2050" name="Line 41"/>
            <p:cNvSpPr>
              <a:spLocks noChangeShapeType="1"/>
            </p:cNvSpPr>
            <p:nvPr/>
          </p:nvSpPr>
          <p:spPr bwMode="auto">
            <a:xfrm>
              <a:off x="1440" y="1920"/>
              <a:ext cx="3936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2051" name="Line 42"/>
            <p:cNvSpPr>
              <a:spLocks noChangeShapeType="1"/>
            </p:cNvSpPr>
            <p:nvPr/>
          </p:nvSpPr>
          <p:spPr bwMode="auto">
            <a:xfrm flipV="1">
              <a:off x="4512" y="1679"/>
              <a:ext cx="1" cy="242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2052" name="Line 43"/>
            <p:cNvSpPr>
              <a:spLocks noChangeShapeType="1"/>
            </p:cNvSpPr>
            <p:nvPr/>
          </p:nvSpPr>
          <p:spPr bwMode="auto">
            <a:xfrm flipV="1">
              <a:off x="5376" y="1679"/>
              <a:ext cx="1" cy="242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2053" name="Text Box 44"/>
            <p:cNvSpPr txBox="1">
              <a:spLocks noChangeArrowheads="1"/>
            </p:cNvSpPr>
            <p:nvPr/>
          </p:nvSpPr>
          <p:spPr bwMode="auto">
            <a:xfrm>
              <a:off x="336" y="1728"/>
              <a:ext cx="544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FD3</a:t>
              </a:r>
            </a:p>
          </p:txBody>
        </p:sp>
      </p:grpSp>
      <p:graphicFrame>
        <p:nvGraphicFramePr>
          <p:cNvPr id="38957" name="Group 45"/>
          <p:cNvGraphicFramePr>
            <a:graphicFrameLocks noGrp="1"/>
          </p:cNvGraphicFramePr>
          <p:nvPr/>
        </p:nvGraphicFramePr>
        <p:xfrm>
          <a:off x="1446212" y="3810000"/>
          <a:ext cx="4268788" cy="523875"/>
        </p:xfrm>
        <a:graphic>
          <a:graphicData uri="http://schemas.openxmlformats.org/drawingml/2006/table">
            <a:tbl>
              <a:tblPr/>
              <a:tblGrid>
                <a:gridCol w="1131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SSN</a:t>
                      </a:r>
                    </a:p>
                  </a:txBody>
                  <a:tcPr marL="90000" marR="90000" marT="46738" marB="4673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PNUM</a:t>
                      </a:r>
                    </a:p>
                  </a:txBody>
                  <a:tcPr marL="90000" marR="90000" marT="46738" marB="4673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HOURS</a:t>
                      </a:r>
                    </a:p>
                  </a:txBody>
                  <a:tcPr marL="90000" marR="90000" marT="46738" marB="4673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971" name="Group 59"/>
          <p:cNvGraphicFramePr>
            <a:graphicFrameLocks noGrp="1"/>
          </p:cNvGraphicFramePr>
          <p:nvPr/>
        </p:nvGraphicFramePr>
        <p:xfrm>
          <a:off x="994436" y="5181600"/>
          <a:ext cx="2592388" cy="523875"/>
        </p:xfrm>
        <a:graphic>
          <a:graphicData uri="http://schemas.openxmlformats.org/drawingml/2006/table">
            <a:tbl>
              <a:tblPr/>
              <a:tblGrid>
                <a:gridCol w="1071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SSN</a:t>
                      </a:r>
                    </a:p>
                  </a:txBody>
                  <a:tcPr marL="90000" marR="90000" marT="46738" marB="4673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ENAME</a:t>
                      </a:r>
                    </a:p>
                  </a:txBody>
                  <a:tcPr marL="90000" marR="90000" marT="46738" marB="4673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981" name="Group 69"/>
          <p:cNvGraphicFramePr>
            <a:graphicFrameLocks noGrp="1"/>
          </p:cNvGraphicFramePr>
          <p:nvPr/>
        </p:nvGraphicFramePr>
        <p:xfrm>
          <a:off x="4342473" y="5181600"/>
          <a:ext cx="4268788" cy="523875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PNUM</a:t>
                      </a:r>
                    </a:p>
                  </a:txBody>
                  <a:tcPr marL="90000" marR="90000" marT="46738" marB="46738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PNAME</a:t>
                      </a:r>
                    </a:p>
                  </a:txBody>
                  <a:tcPr marL="90000" marR="90000" marT="46738" marB="4673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PLOC</a:t>
                      </a:r>
                    </a:p>
                  </a:txBody>
                  <a:tcPr marL="90000" marR="90000" marT="46738" marB="46738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034" name="Text Box 83"/>
          <p:cNvSpPr txBox="1">
            <a:spLocks noChangeArrowheads="1"/>
          </p:cNvSpPr>
          <p:nvPr/>
        </p:nvSpPr>
        <p:spPr bwMode="auto">
          <a:xfrm>
            <a:off x="456539" y="3962400"/>
            <a:ext cx="72998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FD1</a:t>
            </a:r>
          </a:p>
        </p:txBody>
      </p:sp>
      <p:sp>
        <p:nvSpPr>
          <p:cNvPr id="42035" name="Text Box 84"/>
          <p:cNvSpPr txBox="1">
            <a:spLocks noChangeArrowheads="1"/>
          </p:cNvSpPr>
          <p:nvPr/>
        </p:nvSpPr>
        <p:spPr bwMode="auto">
          <a:xfrm>
            <a:off x="381000" y="5181600"/>
            <a:ext cx="72998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FD2</a:t>
            </a:r>
          </a:p>
        </p:txBody>
      </p:sp>
      <p:sp>
        <p:nvSpPr>
          <p:cNvPr id="42036" name="Text Box 85"/>
          <p:cNvSpPr txBox="1">
            <a:spLocks noChangeArrowheads="1"/>
          </p:cNvSpPr>
          <p:nvPr/>
        </p:nvSpPr>
        <p:spPr bwMode="auto">
          <a:xfrm>
            <a:off x="4191000" y="4724400"/>
            <a:ext cx="72998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FD3</a:t>
            </a:r>
          </a:p>
        </p:txBody>
      </p:sp>
      <p:sp>
        <p:nvSpPr>
          <p:cNvPr id="42037" name="Line 86"/>
          <p:cNvSpPr>
            <a:spLocks noChangeShapeType="1"/>
          </p:cNvSpPr>
          <p:nvPr/>
        </p:nvSpPr>
        <p:spPr bwMode="auto">
          <a:xfrm>
            <a:off x="1598612" y="434340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2038" name="Line 87"/>
          <p:cNvSpPr>
            <a:spLocks noChangeShapeType="1"/>
          </p:cNvSpPr>
          <p:nvPr/>
        </p:nvSpPr>
        <p:spPr bwMode="auto">
          <a:xfrm>
            <a:off x="2970212" y="434340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2039" name="Line 88"/>
          <p:cNvSpPr>
            <a:spLocks noChangeShapeType="1"/>
          </p:cNvSpPr>
          <p:nvPr/>
        </p:nvSpPr>
        <p:spPr bwMode="auto">
          <a:xfrm>
            <a:off x="1617948" y="4648200"/>
            <a:ext cx="29718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2040" name="Line 89"/>
          <p:cNvSpPr>
            <a:spLocks noChangeShapeType="1"/>
          </p:cNvSpPr>
          <p:nvPr/>
        </p:nvSpPr>
        <p:spPr bwMode="auto">
          <a:xfrm flipV="1">
            <a:off x="4570412" y="4343400"/>
            <a:ext cx="1588" cy="3079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2041" name="Line 90"/>
          <p:cNvSpPr>
            <a:spLocks noChangeShapeType="1"/>
          </p:cNvSpPr>
          <p:nvPr/>
        </p:nvSpPr>
        <p:spPr bwMode="auto">
          <a:xfrm>
            <a:off x="1299236" y="5716587"/>
            <a:ext cx="1588" cy="228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2042" name="Line 91"/>
          <p:cNvSpPr>
            <a:spLocks noChangeShapeType="1"/>
          </p:cNvSpPr>
          <p:nvPr/>
        </p:nvSpPr>
        <p:spPr bwMode="auto">
          <a:xfrm>
            <a:off x="1299236" y="5945187"/>
            <a:ext cx="16002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2043" name="Line 92"/>
          <p:cNvSpPr>
            <a:spLocks noChangeShapeType="1"/>
          </p:cNvSpPr>
          <p:nvPr/>
        </p:nvSpPr>
        <p:spPr bwMode="auto">
          <a:xfrm flipV="1">
            <a:off x="2897848" y="5715000"/>
            <a:ext cx="1588" cy="2317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2044" name="Line 93"/>
          <p:cNvSpPr>
            <a:spLocks noChangeShapeType="1"/>
          </p:cNvSpPr>
          <p:nvPr/>
        </p:nvSpPr>
        <p:spPr bwMode="auto">
          <a:xfrm>
            <a:off x="5028273" y="571500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2045" name="Line 94"/>
          <p:cNvSpPr>
            <a:spLocks noChangeShapeType="1"/>
          </p:cNvSpPr>
          <p:nvPr/>
        </p:nvSpPr>
        <p:spPr bwMode="auto">
          <a:xfrm>
            <a:off x="5028273" y="6019799"/>
            <a:ext cx="2895600" cy="8949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2046" name="Line 95"/>
          <p:cNvSpPr>
            <a:spLocks noChangeShapeType="1"/>
          </p:cNvSpPr>
          <p:nvPr/>
        </p:nvSpPr>
        <p:spPr bwMode="auto">
          <a:xfrm flipV="1">
            <a:off x="6476073" y="5715000"/>
            <a:ext cx="1588" cy="3079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2047" name="Line 96"/>
          <p:cNvSpPr>
            <a:spLocks noChangeShapeType="1"/>
          </p:cNvSpPr>
          <p:nvPr/>
        </p:nvSpPr>
        <p:spPr bwMode="auto">
          <a:xfrm flipV="1">
            <a:off x="7923873" y="5715000"/>
            <a:ext cx="1588" cy="3079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0247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/>
          <p:cNvSpPr txBox="1">
            <a:spLocks noChangeArrowheads="1"/>
          </p:cNvSpPr>
          <p:nvPr/>
        </p:nvSpPr>
        <p:spPr bwMode="auto">
          <a:xfrm>
            <a:off x="1676400" y="361950"/>
            <a:ext cx="6324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4000" dirty="0">
              <a:solidFill>
                <a:srgbClr val="333399"/>
              </a:solidFill>
              <a:latin typeface="Candara" panose="020E0502030303020204" pitchFamily="34" charset="0"/>
            </a:endParaRPr>
          </a:p>
        </p:txBody>
      </p:sp>
      <p:sp>
        <p:nvSpPr>
          <p:cNvPr id="38915" name="Text Box 2"/>
          <p:cNvSpPr txBox="1">
            <a:spLocks noChangeArrowheads="1"/>
          </p:cNvSpPr>
          <p:nvPr/>
        </p:nvSpPr>
        <p:spPr bwMode="auto">
          <a:xfrm>
            <a:off x="685800" y="1503581"/>
            <a:ext cx="7772400" cy="5181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2900" indent="-341313" algn="just">
              <a:spcBef>
                <a:spcPts val="700"/>
              </a:spcBef>
              <a:buClr>
                <a:srgbClr val="3333CC"/>
              </a:buClr>
              <a:buFont typeface="Arial" pitchFamily="34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  <a:latin typeface="Candara" panose="020E0502030303020204" pitchFamily="34" charset="0"/>
              </a:rPr>
              <a:t>A relation R is in 3</a:t>
            </a:r>
            <a:r>
              <a:rPr lang="en-US" sz="2800" baseline="30000" dirty="0">
                <a:solidFill>
                  <a:schemeClr val="tx1">
                    <a:lumMod val="50000"/>
                  </a:schemeClr>
                </a:solidFill>
                <a:latin typeface="Candara" panose="020E0502030303020204" pitchFamily="34" charset="0"/>
              </a:rPr>
              <a:t>rd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  <a:latin typeface="Candara" panose="020E0502030303020204" pitchFamily="34" charset="0"/>
              </a:rPr>
              <a:t> normal form (3NF) if every </a:t>
            </a:r>
          </a:p>
          <a:p>
            <a:pPr marL="741363" lvl="1" indent="-284163" algn="just">
              <a:spcBef>
                <a:spcPts val="600"/>
              </a:spcBef>
              <a:buClr>
                <a:srgbClr val="3333CC"/>
              </a:buClr>
              <a:buFont typeface="Arial" pitchFamily="34" charset="0"/>
              <a:buChar char="–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ndara" panose="020E0502030303020204" pitchFamily="34" charset="0"/>
              </a:rPr>
              <a:t>R is in 2NF, and</a:t>
            </a:r>
          </a:p>
          <a:p>
            <a:pPr marL="741363" lvl="1" indent="-284163" algn="just">
              <a:spcBef>
                <a:spcPts val="600"/>
              </a:spcBef>
              <a:buClr>
                <a:srgbClr val="3333CC"/>
              </a:buClr>
              <a:buFont typeface="Arial" pitchFamily="34" charset="0"/>
              <a:buChar char="–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ndara" panose="020E0502030303020204" pitchFamily="34" charset="0"/>
              </a:rPr>
              <a:t>No nonprime attribute is transitively dependent on any key</a:t>
            </a:r>
          </a:p>
          <a:p>
            <a:pPr marL="741363" lvl="1" indent="-284163" algn="just">
              <a:spcBef>
                <a:spcPts val="600"/>
              </a:spcBef>
              <a:buClr>
                <a:srgbClr val="3333CC"/>
              </a:buClr>
              <a:buFont typeface="Arial" pitchFamily="34" charset="0"/>
              <a:buChar char="–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ndara" panose="020E0502030303020204" pitchFamily="34" charset="0"/>
              </a:rPr>
              <a:t>Remove transitive dependencies into a new relation</a:t>
            </a:r>
            <a:endParaRPr lang="en-GB" dirty="0">
              <a:solidFill>
                <a:schemeClr val="tx1">
                  <a:lumMod val="50000"/>
                </a:schemeClr>
              </a:solidFill>
              <a:latin typeface="Candara" panose="020E0502030303020204" pitchFamily="34" charset="0"/>
            </a:endParaRPr>
          </a:p>
          <a:p>
            <a:pPr marL="741363" lvl="1" indent="-284163" algn="just">
              <a:spcBef>
                <a:spcPts val="600"/>
              </a:spcBef>
              <a:buClr>
                <a:srgbClr val="3333CC"/>
              </a:buCl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endParaRPr lang="en-US" dirty="0">
              <a:solidFill>
                <a:schemeClr val="tx1">
                  <a:lumMod val="50000"/>
                </a:schemeClr>
              </a:solidFill>
              <a:latin typeface="Candara" panose="020E0502030303020204" pitchFamily="34" charset="0"/>
            </a:endParaRPr>
          </a:p>
          <a:p>
            <a:pPr marL="342900" indent="-341313">
              <a:spcBef>
                <a:spcPts val="600"/>
              </a:spcBef>
              <a:buClr>
                <a:srgbClr val="3333CC"/>
              </a:buClr>
              <a:buFont typeface="Arial" pitchFamily="34" charset="0"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endParaRPr lang="en-US" dirty="0">
              <a:solidFill>
                <a:srgbClr val="3333CC"/>
              </a:solidFill>
              <a:latin typeface="Candara" panose="020E0502030303020204" pitchFamily="34" charset="0"/>
            </a:endParaRPr>
          </a:p>
        </p:txBody>
      </p:sp>
      <p:pic>
        <p:nvPicPr>
          <p:cNvPr id="430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825" y="3733800"/>
            <a:ext cx="6378575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43014" name="Rectangle 5"/>
          <p:cNvSpPr>
            <a:spLocks noChangeArrowheads="1"/>
          </p:cNvSpPr>
          <p:nvPr/>
        </p:nvSpPr>
        <p:spPr bwMode="auto">
          <a:xfrm>
            <a:off x="661115" y="744426"/>
            <a:ext cx="7620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3600" b="1" dirty="0">
                <a:latin typeface="Candara" panose="020E0502030303020204" pitchFamily="34" charset="0"/>
              </a:rPr>
              <a:t>Normalization –</a:t>
            </a:r>
            <a:r>
              <a:rPr lang="en-US" altLang="en-US" sz="3600" b="1" dirty="0">
                <a:solidFill>
                  <a:srgbClr val="333399"/>
                </a:solidFill>
                <a:latin typeface="Candara" panose="020E0502030303020204" pitchFamily="34" charset="0"/>
              </a:rPr>
              <a:t> </a:t>
            </a:r>
            <a:r>
              <a:rPr lang="en-US" altLang="en-US" sz="3600" b="1" dirty="0">
                <a:latin typeface="Candara" panose="020E0502030303020204" pitchFamily="34" charset="0"/>
              </a:rPr>
              <a:t>3</a:t>
            </a:r>
            <a:r>
              <a:rPr lang="en-US" altLang="en-US" sz="3600" b="1" baseline="30000" dirty="0">
                <a:latin typeface="Candara" panose="020E0502030303020204" pitchFamily="34" charset="0"/>
              </a:rPr>
              <a:t>rd</a:t>
            </a:r>
            <a:r>
              <a:rPr lang="en-US" altLang="en-US" sz="3600" b="1" dirty="0">
                <a:latin typeface="Candara" panose="020E0502030303020204" pitchFamily="34" charset="0"/>
              </a:rPr>
              <a:t>   Normal Form</a:t>
            </a:r>
          </a:p>
        </p:txBody>
      </p:sp>
    </p:spTree>
    <p:extLst>
      <p:ext uri="{BB962C8B-B14F-4D97-AF65-F5344CB8AC3E}">
        <p14:creationId xmlns:p14="http://schemas.microsoft.com/office/powerpoint/2010/main" val="8812882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-152400" y="534361"/>
            <a:ext cx="7924800" cy="7921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Normalization –</a:t>
            </a:r>
            <a:r>
              <a:rPr lang="en-US" altLang="en-US" sz="3600" b="1" dirty="0">
                <a:solidFill>
                  <a:srgbClr val="333399"/>
                </a:solidFill>
                <a:latin typeface="Candara" panose="020E0502030303020204" pitchFamily="34" charset="0"/>
              </a:rPr>
              <a:t> </a:t>
            </a:r>
            <a:r>
              <a:rPr lang="en-US" altLang="en-US" sz="3600" b="1" dirty="0">
                <a:latin typeface="Candara" panose="020E0502030303020204" pitchFamily="34" charset="0"/>
              </a:rPr>
              <a:t>3</a:t>
            </a:r>
            <a:r>
              <a:rPr lang="en-US" altLang="en-US" sz="3600" b="1" baseline="30000" dirty="0">
                <a:latin typeface="Candara" panose="020E0502030303020204" pitchFamily="34" charset="0"/>
              </a:rPr>
              <a:t>rd</a:t>
            </a:r>
            <a:r>
              <a:rPr lang="en-US" altLang="en-US" sz="3600" b="1" dirty="0">
                <a:latin typeface="Candara" panose="020E0502030303020204" pitchFamily="34" charset="0"/>
              </a:rPr>
              <a:t>   Normal Form</a:t>
            </a:r>
            <a:br>
              <a:rPr lang="en-US" altLang="en-US" sz="3600" b="1" dirty="0">
                <a:latin typeface="Candara" panose="020E0502030303020204" pitchFamily="34" charset="0"/>
              </a:rPr>
            </a:br>
            <a:br>
              <a:rPr lang="en-US" altLang="en-US" sz="3600" b="1" dirty="0">
                <a:latin typeface="Candara" panose="020E0502030303020204" pitchFamily="34" charset="0"/>
              </a:rPr>
            </a:br>
            <a:endParaRPr lang="en-US" altLang="en-US" sz="3600" b="1" dirty="0">
              <a:latin typeface="Candara" panose="020E0502030303020204" pitchFamily="34" charset="0"/>
            </a:endParaRPr>
          </a:p>
        </p:txBody>
      </p:sp>
      <p:sp>
        <p:nvSpPr>
          <p:cNvPr id="44036" name="Rectangle 3"/>
          <p:cNvSpPr>
            <a:spLocks noChangeArrowheads="1"/>
          </p:cNvSpPr>
          <p:nvPr/>
        </p:nvSpPr>
        <p:spPr bwMode="auto">
          <a:xfrm>
            <a:off x="533400" y="1295400"/>
            <a:ext cx="8077200" cy="4572000"/>
          </a:xfrm>
          <a:prstGeom prst="rect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44037" name="Rectangle 4"/>
          <p:cNvSpPr>
            <a:spLocks noChangeArrowheads="1"/>
          </p:cNvSpPr>
          <p:nvPr/>
        </p:nvSpPr>
        <p:spPr bwMode="auto">
          <a:xfrm>
            <a:off x="762000" y="1295400"/>
            <a:ext cx="7620000" cy="4315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altLang="en-US" sz="2800" b="1" dirty="0">
                <a:solidFill>
                  <a:srgbClr val="000000"/>
                </a:solidFill>
                <a:latin typeface="Candara" panose="020E0502030303020204" pitchFamily="34" charset="0"/>
              </a:rPr>
              <a:t>Steps from 2NF to 3NF: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Candara" panose="020E0502030303020204" pitchFamily="34" charset="0"/>
              </a:rPr>
              <a:t>Remove the offending attributes that are transitively dependent on non-key attribute(s), and place them in a new relation.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Candara" panose="020E0502030303020204" pitchFamily="34" charset="0"/>
              </a:rPr>
              <a:t>Add to this relation a copy of the attribute(s) which are the determinants of these offending attributes. These will automatically become the primary key of this new relation.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Candara" panose="020E0502030303020204" pitchFamily="34" charset="0"/>
              </a:rPr>
              <a:t>Name the new relation.</a:t>
            </a:r>
            <a:endParaRPr lang="en-US" altLang="en-US" sz="2800" i="1" dirty="0">
              <a:solidFill>
                <a:srgbClr val="000000"/>
              </a:solidFill>
              <a:latin typeface="Candara" panose="020E0502030303020204" pitchFamily="34" charset="0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Candara" panose="020E0502030303020204" pitchFamily="34" charset="0"/>
              </a:rPr>
              <a:t>Rename the original relation. </a:t>
            </a:r>
          </a:p>
        </p:txBody>
      </p:sp>
    </p:spTree>
    <p:extLst>
      <p:ext uri="{BB962C8B-B14F-4D97-AF65-F5344CB8AC3E}">
        <p14:creationId xmlns:p14="http://schemas.microsoft.com/office/powerpoint/2010/main" val="3483653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"/>
          <p:cNvSpPr txBox="1">
            <a:spLocks noChangeArrowheads="1"/>
          </p:cNvSpPr>
          <p:nvPr/>
        </p:nvSpPr>
        <p:spPr bwMode="auto">
          <a:xfrm>
            <a:off x="381000" y="359392"/>
            <a:ext cx="8382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Normalization –</a:t>
            </a:r>
            <a:r>
              <a:rPr lang="en-US" altLang="en-US" sz="3600" b="1" dirty="0">
                <a:solidFill>
                  <a:srgbClr val="333399"/>
                </a:solidFill>
                <a:latin typeface="Candara" panose="020E0502030303020204" pitchFamily="34" charset="0"/>
              </a:rPr>
              <a:t> </a:t>
            </a:r>
            <a:r>
              <a:rPr lang="en-US" altLang="en-US" sz="3600" b="1" dirty="0">
                <a:latin typeface="Candara" panose="020E0502030303020204" pitchFamily="34" charset="0"/>
              </a:rPr>
              <a:t>3</a:t>
            </a:r>
            <a:r>
              <a:rPr lang="en-US" altLang="en-US" sz="3600" b="1" baseline="30000" dirty="0">
                <a:latin typeface="Candara" panose="020E0502030303020204" pitchFamily="34" charset="0"/>
              </a:rPr>
              <a:t>rd</a:t>
            </a:r>
            <a:r>
              <a:rPr lang="en-US" altLang="en-US" sz="3600" b="1" dirty="0">
                <a:latin typeface="Candara" panose="020E0502030303020204" pitchFamily="34" charset="0"/>
              </a:rPr>
              <a:t>   </a:t>
            </a:r>
            <a:r>
              <a:rPr lang="en-US" altLang="en-US" sz="3600" b="1" dirty="0" err="1">
                <a:latin typeface="Candara" panose="020E0502030303020204" pitchFamily="34" charset="0"/>
              </a:rPr>
              <a:t>NormalForm</a:t>
            </a:r>
            <a:endParaRPr lang="en-US" altLang="en-US" sz="3600" dirty="0">
              <a:solidFill>
                <a:srgbClr val="333399"/>
              </a:solidFill>
              <a:latin typeface="Candara" panose="020E0502030303020204" pitchFamily="34" charset="0"/>
            </a:endParaRP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228600" y="12954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1313" eaLnBrk="0" hangingPunct="0"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700"/>
              </a:spcBef>
            </a:pPr>
            <a:r>
              <a:rPr lang="en-US" altLang="en-US" sz="2800" dirty="0">
                <a:solidFill>
                  <a:srgbClr val="3333CC"/>
                </a:solidFill>
                <a:latin typeface="Candara" panose="020E0502030303020204" pitchFamily="34" charset="0"/>
              </a:rPr>
              <a:t>FD1</a:t>
            </a:r>
          </a:p>
          <a:p>
            <a:pPr eaLnBrk="1" hangingPunct="1">
              <a:spcBef>
                <a:spcPts val="700"/>
              </a:spcBef>
            </a:pPr>
            <a:endParaRPr lang="en-US" altLang="en-US" sz="2800" dirty="0">
              <a:solidFill>
                <a:srgbClr val="3333CC"/>
              </a:solidFill>
              <a:latin typeface="Candara" panose="020E0502030303020204" pitchFamily="34" charset="0"/>
            </a:endParaRPr>
          </a:p>
          <a:p>
            <a:pPr eaLnBrk="1" hangingPunct="1">
              <a:spcBef>
                <a:spcPts val="700"/>
              </a:spcBef>
            </a:pPr>
            <a:endParaRPr lang="en-US" altLang="en-US" sz="2800" dirty="0">
              <a:solidFill>
                <a:srgbClr val="3333CC"/>
              </a:solidFill>
              <a:latin typeface="Candara" panose="020E0502030303020204" pitchFamily="34" charset="0"/>
            </a:endParaRPr>
          </a:p>
          <a:p>
            <a:pPr eaLnBrk="1" hangingPunct="1">
              <a:spcBef>
                <a:spcPts val="700"/>
              </a:spcBef>
            </a:pPr>
            <a:r>
              <a:rPr lang="en-US" altLang="en-US" sz="2800" dirty="0">
                <a:solidFill>
                  <a:srgbClr val="3333CC"/>
                </a:solidFill>
                <a:latin typeface="Candara" panose="020E0502030303020204" pitchFamily="34" charset="0"/>
              </a:rPr>
              <a:t>FD2</a:t>
            </a:r>
          </a:p>
          <a:p>
            <a:pPr eaLnBrk="1" hangingPunct="1">
              <a:spcBef>
                <a:spcPts val="700"/>
              </a:spcBef>
            </a:pPr>
            <a:endParaRPr lang="en-US" altLang="en-US" sz="2800" dirty="0">
              <a:solidFill>
                <a:srgbClr val="3333CC"/>
              </a:solidFill>
              <a:latin typeface="Candara" panose="020E0502030303020204" pitchFamily="34" charset="0"/>
            </a:endParaRPr>
          </a:p>
        </p:txBody>
      </p:sp>
      <p:graphicFrame>
        <p:nvGraphicFramePr>
          <p:cNvPr id="40963" name="Group 3"/>
          <p:cNvGraphicFramePr>
            <a:graphicFrameLocks noGrp="1"/>
          </p:cNvGraphicFramePr>
          <p:nvPr/>
        </p:nvGraphicFramePr>
        <p:xfrm>
          <a:off x="1217612" y="1981200"/>
          <a:ext cx="6402388" cy="447676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1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676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ENAME</a:t>
                      </a:r>
                    </a:p>
                  </a:txBody>
                  <a:tcPr marL="90000" marR="90000" marT="46806" marB="46806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4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SSN</a:t>
                      </a:r>
                    </a:p>
                  </a:txBody>
                  <a:tcPr marL="90000" marR="90000" marT="46806" marB="4680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BDATE</a:t>
                      </a:r>
                    </a:p>
                  </a:txBody>
                  <a:tcPr marL="90000" marR="90000" marT="46806" marB="4680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ADD</a:t>
                      </a:r>
                    </a:p>
                  </a:txBody>
                  <a:tcPr marL="90000" marR="90000" marT="46806" marB="4680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DNUM</a:t>
                      </a:r>
                    </a:p>
                  </a:txBody>
                  <a:tcPr marL="90000" marR="90000" marT="46806" marB="46806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985" name="Group 25"/>
          <p:cNvGraphicFramePr>
            <a:graphicFrameLocks noGrp="1"/>
          </p:cNvGraphicFramePr>
          <p:nvPr/>
        </p:nvGraphicFramePr>
        <p:xfrm>
          <a:off x="1522412" y="3430587"/>
          <a:ext cx="6097588" cy="534990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99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4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DNUM</a:t>
                      </a:r>
                    </a:p>
                  </a:txBody>
                  <a:tcPr marL="90000" marR="90000" marT="46800" marB="46800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DNAME</a:t>
                      </a:r>
                    </a:p>
                  </a:txBody>
                  <a:tcPr marL="90000" marR="90000" marT="46800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DMGR</a:t>
                      </a:r>
                    </a:p>
                  </a:txBody>
                  <a:tcPr marL="90000" marR="90000" marT="46800" marB="4680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084" name="Line 39"/>
          <p:cNvSpPr>
            <a:spLocks noChangeShapeType="1"/>
          </p:cNvSpPr>
          <p:nvPr/>
        </p:nvSpPr>
        <p:spPr bwMode="auto">
          <a:xfrm>
            <a:off x="3122612" y="2387601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5085" name="Line 40"/>
          <p:cNvSpPr>
            <a:spLocks noChangeShapeType="1"/>
          </p:cNvSpPr>
          <p:nvPr/>
        </p:nvSpPr>
        <p:spPr bwMode="auto">
          <a:xfrm>
            <a:off x="1598612" y="2692401"/>
            <a:ext cx="53340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5086" name="Line 41"/>
          <p:cNvSpPr>
            <a:spLocks noChangeShapeType="1"/>
          </p:cNvSpPr>
          <p:nvPr/>
        </p:nvSpPr>
        <p:spPr bwMode="auto">
          <a:xfrm flipV="1">
            <a:off x="1598612" y="2428875"/>
            <a:ext cx="0" cy="266699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5087" name="Line 42"/>
          <p:cNvSpPr>
            <a:spLocks noChangeShapeType="1"/>
          </p:cNvSpPr>
          <p:nvPr/>
        </p:nvSpPr>
        <p:spPr bwMode="auto">
          <a:xfrm flipV="1">
            <a:off x="4570412" y="2387601"/>
            <a:ext cx="1588" cy="3079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5088" name="Line 43"/>
          <p:cNvSpPr>
            <a:spLocks noChangeShapeType="1"/>
          </p:cNvSpPr>
          <p:nvPr/>
        </p:nvSpPr>
        <p:spPr bwMode="auto">
          <a:xfrm flipV="1">
            <a:off x="5865812" y="2387601"/>
            <a:ext cx="1588" cy="3079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5089" name="Line 44"/>
          <p:cNvSpPr>
            <a:spLocks noChangeShapeType="1"/>
          </p:cNvSpPr>
          <p:nvPr/>
        </p:nvSpPr>
        <p:spPr bwMode="auto">
          <a:xfrm flipV="1">
            <a:off x="6932612" y="2387601"/>
            <a:ext cx="1588" cy="3079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grpSp>
        <p:nvGrpSpPr>
          <p:cNvPr id="45090" name="Group 45"/>
          <p:cNvGrpSpPr>
            <a:grpSpLocks/>
          </p:cNvGrpSpPr>
          <p:nvPr/>
        </p:nvGrpSpPr>
        <p:grpSpPr bwMode="auto">
          <a:xfrm>
            <a:off x="2436812" y="3963987"/>
            <a:ext cx="4189413" cy="379413"/>
            <a:chOff x="1152" y="3504"/>
            <a:chExt cx="2639" cy="239"/>
          </a:xfrm>
        </p:grpSpPr>
        <p:sp>
          <p:nvSpPr>
            <p:cNvPr id="45092" name="Line 46"/>
            <p:cNvSpPr>
              <a:spLocks noChangeShapeType="1"/>
            </p:cNvSpPr>
            <p:nvPr/>
          </p:nvSpPr>
          <p:spPr bwMode="auto">
            <a:xfrm>
              <a:off x="1152" y="3744"/>
              <a:ext cx="2640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5093" name="Line 47"/>
            <p:cNvSpPr>
              <a:spLocks noChangeShapeType="1"/>
            </p:cNvSpPr>
            <p:nvPr/>
          </p:nvSpPr>
          <p:spPr bwMode="auto">
            <a:xfrm flipV="1">
              <a:off x="2496" y="3503"/>
              <a:ext cx="1" cy="242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5094" name="Line 48"/>
            <p:cNvSpPr>
              <a:spLocks noChangeShapeType="1"/>
            </p:cNvSpPr>
            <p:nvPr/>
          </p:nvSpPr>
          <p:spPr bwMode="auto">
            <a:xfrm flipV="1">
              <a:off x="1152" y="3503"/>
              <a:ext cx="1" cy="242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5095" name="Line 49"/>
            <p:cNvSpPr>
              <a:spLocks noChangeShapeType="1"/>
            </p:cNvSpPr>
            <p:nvPr/>
          </p:nvSpPr>
          <p:spPr bwMode="auto">
            <a:xfrm flipV="1">
              <a:off x="3792" y="3503"/>
              <a:ext cx="1" cy="242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99216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1"/>
          <p:cNvSpPr txBox="1">
            <a:spLocks noChangeArrowheads="1"/>
          </p:cNvSpPr>
          <p:nvPr/>
        </p:nvSpPr>
        <p:spPr bwMode="auto">
          <a:xfrm>
            <a:off x="1752600" y="590550"/>
            <a:ext cx="57150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4000" b="1" dirty="0">
              <a:latin typeface="Candara" panose="020E0502030303020204" pitchFamily="34" charset="0"/>
            </a:endParaRPr>
          </a:p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Boyce-</a:t>
            </a:r>
            <a:r>
              <a:rPr lang="en-US" altLang="en-US" sz="3600" b="1" dirty="0" err="1">
                <a:latin typeface="Candara" panose="020E0502030303020204" pitchFamily="34" charset="0"/>
              </a:rPr>
              <a:t>Codd</a:t>
            </a:r>
            <a:r>
              <a:rPr lang="en-US" altLang="en-US" sz="3600" b="1" dirty="0">
                <a:latin typeface="Candara" panose="020E0502030303020204" pitchFamily="34" charset="0"/>
              </a:rPr>
              <a:t> Normal Form</a:t>
            </a:r>
          </a:p>
          <a:p>
            <a:pPr eaLnBrk="1" hangingPunct="1"/>
            <a:r>
              <a:rPr lang="en-US" altLang="en-US" sz="4000" b="1" dirty="0">
                <a:solidFill>
                  <a:srgbClr val="333399"/>
                </a:solidFill>
                <a:latin typeface="Candara" panose="020E0502030303020204" pitchFamily="34" charset="0"/>
              </a:rPr>
              <a:t> </a:t>
            </a:r>
            <a:endParaRPr lang="en-US" altLang="en-US" sz="4000" dirty="0">
              <a:solidFill>
                <a:srgbClr val="333399"/>
              </a:solidFill>
              <a:latin typeface="Candara" panose="020E0502030303020204" pitchFamily="34" charset="0"/>
            </a:endParaRPr>
          </a:p>
        </p:txBody>
      </p:sp>
      <p:sp>
        <p:nvSpPr>
          <p:cNvPr id="46083" name="Text Box 2"/>
          <p:cNvSpPr txBox="1">
            <a:spLocks noChangeArrowheads="1"/>
          </p:cNvSpPr>
          <p:nvPr/>
        </p:nvSpPr>
        <p:spPr bwMode="auto">
          <a:xfrm>
            <a:off x="571500" y="1752600"/>
            <a:ext cx="80010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1313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1363" indent="-284163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700"/>
              </a:spcBef>
            </a:pPr>
            <a:r>
              <a:rPr lang="en-US" altLang="en-US" sz="2800" dirty="0">
                <a:latin typeface="Candara" panose="020E0502030303020204" pitchFamily="34" charset="0"/>
              </a:rPr>
              <a:t>A relation schema is in Boyce-</a:t>
            </a:r>
            <a:r>
              <a:rPr lang="en-US" altLang="en-US" sz="2800" dirty="0" err="1">
                <a:latin typeface="Candara" panose="020E0502030303020204" pitchFamily="34" charset="0"/>
              </a:rPr>
              <a:t>Codd</a:t>
            </a:r>
            <a:r>
              <a:rPr lang="en-US" altLang="en-US" sz="2800" dirty="0">
                <a:latin typeface="Candara" panose="020E0502030303020204" pitchFamily="34" charset="0"/>
              </a:rPr>
              <a:t> Normal Form </a:t>
            </a:r>
          </a:p>
          <a:p>
            <a:pPr lvl="1" algn="just" eaLnBrk="1" hangingPunct="1">
              <a:spcBef>
                <a:spcPts val="650"/>
              </a:spcBef>
              <a:buClr>
                <a:srgbClr val="3333CC"/>
              </a:buClr>
              <a:buFont typeface="Arial" panose="020B0604020202020204" pitchFamily="34" charset="0"/>
              <a:buChar char="–"/>
            </a:pPr>
            <a:r>
              <a:rPr lang="en-US" altLang="en-US" sz="2600" dirty="0">
                <a:latin typeface="Candara" panose="020E0502030303020204" pitchFamily="34" charset="0"/>
              </a:rPr>
              <a:t>If every nontrivial functional dependency X</a:t>
            </a:r>
            <a:r>
              <a:rPr lang="en-US" altLang="en-US" sz="2600" dirty="0">
                <a:latin typeface="Candara" panose="020E0502030303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2600" dirty="0">
                <a:latin typeface="Candara" panose="020E0502030303020204" pitchFamily="34" charset="0"/>
              </a:rPr>
              <a:t>A hold in R, then X is a </a:t>
            </a:r>
            <a:r>
              <a:rPr lang="en-US" altLang="en-US" sz="2600" dirty="0" err="1">
                <a:latin typeface="Candara" panose="020E0502030303020204" pitchFamily="34" charset="0"/>
              </a:rPr>
              <a:t>superkey</a:t>
            </a:r>
            <a:r>
              <a:rPr lang="en-US" altLang="en-US" sz="2600" dirty="0">
                <a:latin typeface="Candara" panose="020E0502030303020204" pitchFamily="34" charset="0"/>
              </a:rPr>
              <a:t> of R</a:t>
            </a:r>
          </a:p>
          <a:p>
            <a:pPr lvl="1" algn="just" eaLnBrk="1" hangingPunct="1">
              <a:spcBef>
                <a:spcPts val="650"/>
              </a:spcBef>
              <a:buClr>
                <a:srgbClr val="3333CC"/>
              </a:buClr>
              <a:buFont typeface="Arial" panose="020B0604020202020204" pitchFamily="34" charset="0"/>
              <a:buChar char="–"/>
            </a:pPr>
            <a:r>
              <a:rPr lang="en-US" altLang="en-US" sz="2600" dirty="0">
                <a:latin typeface="Candara" panose="020E0502030303020204" pitchFamily="34" charset="0"/>
              </a:rPr>
              <a:t>A relation is in BCNF if and only if, every determinant is a candidate key</a:t>
            </a:r>
          </a:p>
          <a:p>
            <a:pPr lvl="1" algn="just" eaLnBrk="1" hangingPunct="1">
              <a:spcBef>
                <a:spcPts val="650"/>
              </a:spcBef>
              <a:buClr>
                <a:srgbClr val="3333CC"/>
              </a:buClr>
              <a:buFont typeface="Arial" panose="020B0604020202020204" pitchFamily="34" charset="0"/>
              <a:buChar char="–"/>
            </a:pPr>
            <a:r>
              <a:rPr lang="en-US" altLang="en-US" sz="2600" dirty="0">
                <a:latin typeface="Candara" panose="020E0502030303020204" pitchFamily="34" charset="0"/>
              </a:rPr>
              <a:t>Every relation in BCNF is also in 3NF</a:t>
            </a:r>
          </a:p>
          <a:p>
            <a:pPr lvl="1" algn="just" eaLnBrk="1" hangingPunct="1">
              <a:spcBef>
                <a:spcPts val="650"/>
              </a:spcBef>
              <a:buClr>
                <a:srgbClr val="3333CC"/>
              </a:buClr>
              <a:buFont typeface="Arial" panose="020B0604020202020204" pitchFamily="34" charset="0"/>
              <a:buNone/>
            </a:pPr>
            <a:endParaRPr lang="en-US" altLang="en-US" sz="2600" dirty="0">
              <a:solidFill>
                <a:srgbClr val="3333CC"/>
              </a:solidFill>
              <a:latin typeface="Candara" panose="020E0502030303020204" pitchFamily="34" charset="0"/>
            </a:endParaRPr>
          </a:p>
          <a:p>
            <a:pPr algn="just" eaLnBrk="1" hangingPunct="1"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C5000B"/>
                </a:solidFill>
                <a:latin typeface="Candara" panose="020E0502030303020204" pitchFamily="34" charset="0"/>
              </a:rPr>
              <a:t>A relation is in BCNF, if and only if, every determinant is a candidate key</a:t>
            </a:r>
          </a:p>
          <a:p>
            <a:pPr lvl="1" eaLnBrk="1" hangingPunct="1">
              <a:spcBef>
                <a:spcPts val="650"/>
              </a:spcBef>
              <a:buClr>
                <a:srgbClr val="3333CC"/>
              </a:buClr>
              <a:buFont typeface="Arial" panose="020B0604020202020204" pitchFamily="34" charset="0"/>
              <a:buNone/>
            </a:pPr>
            <a:endParaRPr lang="en-US" altLang="en-US" sz="2600" dirty="0">
              <a:solidFill>
                <a:srgbClr val="3333CC"/>
              </a:solidFill>
              <a:latin typeface="Candara" panose="020E0502030303020204" pitchFamily="34" charset="0"/>
            </a:endParaRPr>
          </a:p>
          <a:p>
            <a:pPr eaLnBrk="1" hangingPunct="1">
              <a:spcBef>
                <a:spcPts val="700"/>
              </a:spcBef>
              <a:buClr>
                <a:srgbClr val="3333CC"/>
              </a:buClr>
              <a:buFont typeface="Arial" panose="020B0604020202020204" pitchFamily="34" charset="0"/>
              <a:buNone/>
            </a:pPr>
            <a:endParaRPr lang="en-US" altLang="en-US" sz="2800" dirty="0">
              <a:solidFill>
                <a:srgbClr val="3333CC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2698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228600" y="12954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1313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00"/>
              </a:spcBef>
            </a:pPr>
            <a:endParaRPr lang="en-US" altLang="en-US" sz="2800" dirty="0">
              <a:solidFill>
                <a:srgbClr val="3333CC"/>
              </a:solidFill>
              <a:latin typeface="Candara" panose="020E0502030303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700"/>
              </a:spcBef>
            </a:pPr>
            <a:endParaRPr lang="en-US" altLang="en-US" sz="2800" dirty="0">
              <a:solidFill>
                <a:srgbClr val="3333CC"/>
              </a:solidFill>
              <a:latin typeface="Candara" panose="020E0502030303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700"/>
              </a:spcBef>
            </a:pPr>
            <a:endParaRPr lang="en-US" altLang="en-US" sz="2800" dirty="0">
              <a:solidFill>
                <a:srgbClr val="3333CC"/>
              </a:solidFill>
              <a:latin typeface="Candara" panose="020E0502030303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700"/>
              </a:spcBef>
            </a:pPr>
            <a:endParaRPr lang="en-US" altLang="en-US" sz="2800" dirty="0">
              <a:solidFill>
                <a:srgbClr val="3333CC"/>
              </a:solidFill>
              <a:latin typeface="Candara" panose="020E0502030303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700"/>
              </a:spcBef>
            </a:pPr>
            <a:endParaRPr lang="en-US" altLang="en-US" sz="2800" dirty="0">
              <a:solidFill>
                <a:srgbClr val="3333CC"/>
              </a:solidFill>
              <a:latin typeface="Candara" panose="020E0502030303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700"/>
              </a:spcBef>
            </a:pPr>
            <a:endParaRPr lang="en-US" altLang="en-US" sz="2800" dirty="0">
              <a:solidFill>
                <a:srgbClr val="3333CC"/>
              </a:solidFill>
              <a:latin typeface="Candara" panose="020E0502030303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700"/>
              </a:spcBef>
            </a:pPr>
            <a:endParaRPr lang="en-US" altLang="en-US" sz="2800" dirty="0">
              <a:solidFill>
                <a:srgbClr val="3333CC"/>
              </a:solidFill>
              <a:latin typeface="Candara" panose="020E0502030303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</a:pPr>
            <a:endParaRPr lang="en-US" altLang="en-US" dirty="0">
              <a:solidFill>
                <a:srgbClr val="3333CC"/>
              </a:solidFill>
              <a:latin typeface="Candara" panose="020E0502030303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</a:pPr>
            <a:endParaRPr lang="en-US" altLang="en-US" dirty="0">
              <a:solidFill>
                <a:srgbClr val="3333CC"/>
              </a:solidFill>
              <a:latin typeface="Candara" panose="020E0502030303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</a:pPr>
            <a:r>
              <a:rPr lang="en-US" altLang="en-US" dirty="0">
                <a:solidFill>
                  <a:srgbClr val="3333CC"/>
                </a:solidFill>
                <a:latin typeface="Candara" panose="020E0502030303020204" pitchFamily="34" charset="0"/>
              </a:rPr>
              <a:t>Keys: </a:t>
            </a:r>
            <a:r>
              <a:rPr lang="en-US" altLang="en-US" dirty="0" err="1">
                <a:solidFill>
                  <a:srgbClr val="3333CC"/>
                </a:solidFill>
                <a:latin typeface="Candara" panose="020E0502030303020204" pitchFamily="34" charset="0"/>
              </a:rPr>
              <a:t>PropertyID</a:t>
            </a:r>
            <a:r>
              <a:rPr lang="en-US" altLang="en-US" dirty="0">
                <a:solidFill>
                  <a:srgbClr val="3333CC"/>
                </a:solidFill>
                <a:latin typeface="Candara" panose="020E0502030303020204" pitchFamily="34" charset="0"/>
              </a:rPr>
              <a:t>, (</a:t>
            </a:r>
            <a:r>
              <a:rPr lang="en-US" altLang="en-US" dirty="0" err="1">
                <a:solidFill>
                  <a:srgbClr val="3333CC"/>
                </a:solidFill>
                <a:latin typeface="Candara" panose="020E0502030303020204" pitchFamily="34" charset="0"/>
              </a:rPr>
              <a:t>County_Name</a:t>
            </a:r>
            <a:r>
              <a:rPr lang="en-US" altLang="en-US" dirty="0">
                <a:solidFill>
                  <a:srgbClr val="3333CC"/>
                </a:solidFill>
                <a:latin typeface="Candara" panose="020E0502030303020204" pitchFamily="34" charset="0"/>
              </a:rPr>
              <a:t>, Lot#)</a:t>
            </a:r>
          </a:p>
        </p:txBody>
      </p:sp>
      <p:graphicFrame>
        <p:nvGraphicFramePr>
          <p:cNvPr id="41987" name="Group 3"/>
          <p:cNvGraphicFramePr>
            <a:graphicFrameLocks noGrp="1"/>
          </p:cNvGraphicFramePr>
          <p:nvPr/>
        </p:nvGraphicFramePr>
        <p:xfrm>
          <a:off x="304800" y="1981201"/>
          <a:ext cx="8383588" cy="382588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2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55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258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PROPERTY_ID</a:t>
                      </a:r>
                    </a:p>
                  </a:txBody>
                  <a:tcPr marL="90000" marR="90000" marT="46779" marB="46779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COUNTY_NAME</a:t>
                      </a:r>
                    </a:p>
                  </a:txBody>
                  <a:tcPr marL="90000" marR="90000" marT="46779" marB="46779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LOT#</a:t>
                      </a:r>
                    </a:p>
                  </a:txBody>
                  <a:tcPr marL="90000" marR="90000" marT="46779" marB="46779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AREA</a:t>
                      </a:r>
                    </a:p>
                  </a:txBody>
                  <a:tcPr marL="90000" marR="90000" marT="46779" marB="46779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PRICE</a:t>
                      </a:r>
                    </a:p>
                  </a:txBody>
                  <a:tcPr marL="90000" marR="90000" marT="46779" marB="46779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2" charset="0"/>
                          <a:ea typeface="Lucida Sans Unicode" charset="0"/>
                          <a:cs typeface="Lucida Sans Unicode" charset="0"/>
                        </a:rPr>
                        <a:t>TAX_RATE</a:t>
                      </a:r>
                    </a:p>
                  </a:txBody>
                  <a:tcPr marL="90000" marR="90000" marT="46779" marB="46779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145" name="Line 30"/>
          <p:cNvSpPr>
            <a:spLocks noChangeShapeType="1"/>
          </p:cNvSpPr>
          <p:nvPr/>
        </p:nvSpPr>
        <p:spPr bwMode="auto">
          <a:xfrm>
            <a:off x="1219201" y="2362200"/>
            <a:ext cx="0" cy="45719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7146" name="Line 31"/>
          <p:cNvSpPr>
            <a:spLocks noChangeShapeType="1"/>
          </p:cNvSpPr>
          <p:nvPr/>
        </p:nvSpPr>
        <p:spPr bwMode="auto">
          <a:xfrm>
            <a:off x="1219200" y="2819400"/>
            <a:ext cx="68580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7147" name="Line 32"/>
          <p:cNvSpPr>
            <a:spLocks noChangeShapeType="1"/>
          </p:cNvSpPr>
          <p:nvPr/>
        </p:nvSpPr>
        <p:spPr bwMode="auto">
          <a:xfrm flipV="1">
            <a:off x="8077200" y="2360612"/>
            <a:ext cx="1587" cy="458789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7148" name="Line 33"/>
          <p:cNvSpPr>
            <a:spLocks noChangeShapeType="1"/>
          </p:cNvSpPr>
          <p:nvPr/>
        </p:nvSpPr>
        <p:spPr bwMode="auto">
          <a:xfrm flipV="1">
            <a:off x="3276600" y="2362199"/>
            <a:ext cx="0" cy="457199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7149" name="Line 34"/>
          <p:cNvSpPr>
            <a:spLocks noChangeShapeType="1"/>
          </p:cNvSpPr>
          <p:nvPr/>
        </p:nvSpPr>
        <p:spPr bwMode="auto">
          <a:xfrm flipV="1">
            <a:off x="4800600" y="2359024"/>
            <a:ext cx="0" cy="4603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7150" name="Line 35"/>
          <p:cNvSpPr>
            <a:spLocks noChangeShapeType="1"/>
          </p:cNvSpPr>
          <p:nvPr/>
        </p:nvSpPr>
        <p:spPr bwMode="auto">
          <a:xfrm flipV="1">
            <a:off x="5638800" y="2362199"/>
            <a:ext cx="1587" cy="457201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7151" name="Line 36"/>
          <p:cNvSpPr>
            <a:spLocks noChangeShapeType="1"/>
          </p:cNvSpPr>
          <p:nvPr/>
        </p:nvSpPr>
        <p:spPr bwMode="auto">
          <a:xfrm flipV="1">
            <a:off x="6705600" y="2360612"/>
            <a:ext cx="1587" cy="460376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7152" name="Text Box 37"/>
          <p:cNvSpPr txBox="1">
            <a:spLocks noChangeArrowheads="1"/>
          </p:cNvSpPr>
          <p:nvPr/>
        </p:nvSpPr>
        <p:spPr bwMode="auto">
          <a:xfrm>
            <a:off x="376238" y="2362200"/>
            <a:ext cx="7381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FD1</a:t>
            </a:r>
          </a:p>
        </p:txBody>
      </p:sp>
      <p:sp>
        <p:nvSpPr>
          <p:cNvPr id="47137" name="Line 39"/>
          <p:cNvSpPr>
            <a:spLocks noChangeShapeType="1"/>
          </p:cNvSpPr>
          <p:nvPr/>
        </p:nvSpPr>
        <p:spPr bwMode="auto">
          <a:xfrm>
            <a:off x="3274993" y="3048000"/>
            <a:ext cx="1607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7138" name="Line 40"/>
          <p:cNvSpPr>
            <a:spLocks noChangeShapeType="1"/>
          </p:cNvSpPr>
          <p:nvPr/>
        </p:nvSpPr>
        <p:spPr bwMode="auto">
          <a:xfrm>
            <a:off x="4798993" y="3048000"/>
            <a:ext cx="1607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7139" name="Line 41"/>
          <p:cNvSpPr>
            <a:spLocks noChangeShapeType="1"/>
          </p:cNvSpPr>
          <p:nvPr/>
        </p:nvSpPr>
        <p:spPr bwMode="auto">
          <a:xfrm>
            <a:off x="1209729" y="3427412"/>
            <a:ext cx="6943671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7140" name="Line 42"/>
          <p:cNvSpPr>
            <a:spLocks noChangeShapeType="1"/>
          </p:cNvSpPr>
          <p:nvPr/>
        </p:nvSpPr>
        <p:spPr bwMode="auto">
          <a:xfrm flipV="1">
            <a:off x="1229731" y="2971800"/>
            <a:ext cx="1607" cy="3841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7141" name="Line 43"/>
          <p:cNvSpPr>
            <a:spLocks noChangeShapeType="1"/>
          </p:cNvSpPr>
          <p:nvPr/>
        </p:nvSpPr>
        <p:spPr bwMode="auto">
          <a:xfrm flipV="1">
            <a:off x="5638800" y="3048000"/>
            <a:ext cx="1607" cy="3841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7142" name="Line 44"/>
          <p:cNvSpPr>
            <a:spLocks noChangeShapeType="1"/>
          </p:cNvSpPr>
          <p:nvPr/>
        </p:nvSpPr>
        <p:spPr bwMode="auto">
          <a:xfrm flipV="1">
            <a:off x="6705600" y="3044825"/>
            <a:ext cx="1607" cy="3841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7143" name="Line 45"/>
          <p:cNvSpPr>
            <a:spLocks noChangeShapeType="1"/>
          </p:cNvSpPr>
          <p:nvPr/>
        </p:nvSpPr>
        <p:spPr bwMode="auto">
          <a:xfrm flipV="1">
            <a:off x="8077200" y="2971800"/>
            <a:ext cx="1607" cy="3841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7144" name="Text Box 46"/>
          <p:cNvSpPr txBox="1">
            <a:spLocks noChangeArrowheads="1"/>
          </p:cNvSpPr>
          <p:nvPr/>
        </p:nvSpPr>
        <p:spPr bwMode="auto">
          <a:xfrm>
            <a:off x="376238" y="3200404"/>
            <a:ext cx="747409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FD2</a:t>
            </a:r>
          </a:p>
        </p:txBody>
      </p:sp>
      <p:grpSp>
        <p:nvGrpSpPr>
          <p:cNvPr id="47125" name="Group 47"/>
          <p:cNvGrpSpPr>
            <a:grpSpLocks/>
          </p:cNvGrpSpPr>
          <p:nvPr/>
        </p:nvGrpSpPr>
        <p:grpSpPr bwMode="auto">
          <a:xfrm>
            <a:off x="2205037" y="3503612"/>
            <a:ext cx="5872163" cy="687388"/>
            <a:chOff x="1340" y="2928"/>
            <a:chExt cx="3699" cy="433"/>
          </a:xfrm>
        </p:grpSpPr>
        <p:sp>
          <p:nvSpPr>
            <p:cNvPr id="47133" name="Line 48"/>
            <p:cNvSpPr>
              <a:spLocks noChangeShapeType="1"/>
            </p:cNvSpPr>
            <p:nvPr/>
          </p:nvSpPr>
          <p:spPr bwMode="auto">
            <a:xfrm>
              <a:off x="1968" y="3024"/>
              <a:ext cx="1" cy="24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7134" name="Line 49"/>
            <p:cNvSpPr>
              <a:spLocks noChangeShapeType="1"/>
            </p:cNvSpPr>
            <p:nvPr/>
          </p:nvSpPr>
          <p:spPr bwMode="auto">
            <a:xfrm>
              <a:off x="1968" y="3264"/>
              <a:ext cx="3072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7135" name="Line 50"/>
            <p:cNvSpPr>
              <a:spLocks noChangeShapeType="1"/>
            </p:cNvSpPr>
            <p:nvPr/>
          </p:nvSpPr>
          <p:spPr bwMode="auto">
            <a:xfrm flipV="1">
              <a:off x="5040" y="2927"/>
              <a:ext cx="1" cy="33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7136" name="Text Box 51"/>
            <p:cNvSpPr txBox="1">
              <a:spLocks noChangeArrowheads="1"/>
            </p:cNvSpPr>
            <p:nvPr/>
          </p:nvSpPr>
          <p:spPr bwMode="auto">
            <a:xfrm>
              <a:off x="1340" y="3072"/>
              <a:ext cx="465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FD3</a:t>
              </a:r>
            </a:p>
          </p:txBody>
        </p:sp>
      </p:grpSp>
      <p:grpSp>
        <p:nvGrpSpPr>
          <p:cNvPr id="47126" name="Group 52"/>
          <p:cNvGrpSpPr>
            <a:grpSpLocks/>
          </p:cNvGrpSpPr>
          <p:nvPr/>
        </p:nvGrpSpPr>
        <p:grpSpPr bwMode="auto">
          <a:xfrm>
            <a:off x="4572000" y="4114800"/>
            <a:ext cx="2136775" cy="458788"/>
            <a:chOff x="3165" y="3312"/>
            <a:chExt cx="1346" cy="289"/>
          </a:xfrm>
        </p:grpSpPr>
        <p:sp>
          <p:nvSpPr>
            <p:cNvPr id="47129" name="Line 53"/>
            <p:cNvSpPr>
              <a:spLocks noChangeShapeType="1"/>
            </p:cNvSpPr>
            <p:nvPr/>
          </p:nvSpPr>
          <p:spPr bwMode="auto">
            <a:xfrm>
              <a:off x="3792" y="3312"/>
              <a:ext cx="1" cy="192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7130" name="Line 54"/>
            <p:cNvSpPr>
              <a:spLocks noChangeShapeType="1"/>
            </p:cNvSpPr>
            <p:nvPr/>
          </p:nvSpPr>
          <p:spPr bwMode="auto">
            <a:xfrm>
              <a:off x="3792" y="3504"/>
              <a:ext cx="720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7131" name="Line 55"/>
            <p:cNvSpPr>
              <a:spLocks noChangeShapeType="1"/>
            </p:cNvSpPr>
            <p:nvPr/>
          </p:nvSpPr>
          <p:spPr bwMode="auto">
            <a:xfrm flipV="1">
              <a:off x="4512" y="3311"/>
              <a:ext cx="1" cy="19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7132" name="Text Box 56"/>
            <p:cNvSpPr txBox="1">
              <a:spLocks noChangeArrowheads="1"/>
            </p:cNvSpPr>
            <p:nvPr/>
          </p:nvSpPr>
          <p:spPr bwMode="auto">
            <a:xfrm>
              <a:off x="3165" y="3312"/>
              <a:ext cx="465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FD4</a:t>
              </a:r>
            </a:p>
          </p:txBody>
        </p:sp>
      </p:grpSp>
      <p:sp>
        <p:nvSpPr>
          <p:cNvPr id="47127" name="Rectangle 32"/>
          <p:cNvSpPr>
            <a:spLocks noChangeArrowheads="1"/>
          </p:cNvSpPr>
          <p:nvPr/>
        </p:nvSpPr>
        <p:spPr bwMode="auto">
          <a:xfrm>
            <a:off x="228600" y="948206"/>
            <a:ext cx="7772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3600" b="1" dirty="0">
                <a:latin typeface="Candara" panose="020E0502030303020204" pitchFamily="34" charset="0"/>
              </a:rPr>
              <a:t>Normalization –(BCNF)</a:t>
            </a:r>
          </a:p>
        </p:txBody>
      </p:sp>
      <p:grpSp>
        <p:nvGrpSpPr>
          <p:cNvPr id="31" name="Group 52">
            <a:extLst>
              <a:ext uri="{FF2B5EF4-FFF2-40B4-BE49-F238E27FC236}">
                <a16:creationId xmlns:a16="http://schemas.microsoft.com/office/drawing/2014/main" id="{30D0ADA7-F4F8-4A28-AF92-8320FFB8FEA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274993" y="4804010"/>
            <a:ext cx="3960831" cy="465138"/>
            <a:chOff x="3290" y="3311"/>
            <a:chExt cx="1223" cy="293"/>
          </a:xfrm>
        </p:grpSpPr>
        <p:sp>
          <p:nvSpPr>
            <p:cNvPr id="32" name="Line 53">
              <a:extLst>
                <a:ext uri="{FF2B5EF4-FFF2-40B4-BE49-F238E27FC236}">
                  <a16:creationId xmlns:a16="http://schemas.microsoft.com/office/drawing/2014/main" id="{0A5AE3BC-C6A0-4DEF-91D5-38824B1BC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3312"/>
              <a:ext cx="1" cy="192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33" name="Line 54">
              <a:extLst>
                <a:ext uri="{FF2B5EF4-FFF2-40B4-BE49-F238E27FC236}">
                  <a16:creationId xmlns:a16="http://schemas.microsoft.com/office/drawing/2014/main" id="{C64021CC-2FC8-4818-B244-4BEF2B157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3504"/>
              <a:ext cx="720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34" name="Line 55">
              <a:extLst>
                <a:ext uri="{FF2B5EF4-FFF2-40B4-BE49-F238E27FC236}">
                  <a16:creationId xmlns:a16="http://schemas.microsoft.com/office/drawing/2014/main" id="{849A735B-829E-4C52-9657-2D0E992993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3311"/>
              <a:ext cx="1" cy="19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35" name="Text Box 56">
              <a:extLst>
                <a:ext uri="{FF2B5EF4-FFF2-40B4-BE49-F238E27FC236}">
                  <a16:creationId xmlns:a16="http://schemas.microsoft.com/office/drawing/2014/main" id="{73685B83-1359-4296-B60E-AA5A6296B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0" y="3312"/>
              <a:ext cx="34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FD5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3368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1"/>
          <p:cNvSpPr txBox="1">
            <a:spLocks noChangeArrowheads="1"/>
          </p:cNvSpPr>
          <p:nvPr/>
        </p:nvSpPr>
        <p:spPr bwMode="auto">
          <a:xfrm>
            <a:off x="1143000" y="533400"/>
            <a:ext cx="68580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360" tIns="44280" rIns="90360" bIns="4428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4000" b="1" dirty="0">
                <a:latin typeface="Candara" panose="020E0502030303020204" pitchFamily="34" charset="0"/>
              </a:rPr>
              <a:t>Normalization –BCNF</a:t>
            </a:r>
          </a:p>
        </p:txBody>
      </p:sp>
      <p:grpSp>
        <p:nvGrpSpPr>
          <p:cNvPr id="48131" name="Group 2"/>
          <p:cNvGrpSpPr>
            <a:grpSpLocks/>
          </p:cNvGrpSpPr>
          <p:nvPr/>
        </p:nvGrpSpPr>
        <p:grpSpPr bwMode="auto">
          <a:xfrm>
            <a:off x="611187" y="1371600"/>
            <a:ext cx="7999413" cy="3884613"/>
            <a:chOff x="288" y="1200"/>
            <a:chExt cx="5039" cy="2447"/>
          </a:xfrm>
        </p:grpSpPr>
        <p:sp>
          <p:nvSpPr>
            <p:cNvPr id="48133" name="Rectangle 3"/>
            <p:cNvSpPr>
              <a:spLocks noChangeArrowheads="1"/>
            </p:cNvSpPr>
            <p:nvPr/>
          </p:nvSpPr>
          <p:spPr bwMode="auto">
            <a:xfrm>
              <a:off x="1190" y="1200"/>
              <a:ext cx="100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LOTS1A</a:t>
              </a:r>
            </a:p>
          </p:txBody>
        </p:sp>
        <p:sp>
          <p:nvSpPr>
            <p:cNvPr id="48134" name="Rectangle 4"/>
            <p:cNvSpPr>
              <a:spLocks noChangeArrowheads="1"/>
            </p:cNvSpPr>
            <p:nvPr/>
          </p:nvSpPr>
          <p:spPr bwMode="auto">
            <a:xfrm>
              <a:off x="606" y="1200"/>
              <a:ext cx="100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48135" name="Rectangle 5"/>
            <p:cNvSpPr>
              <a:spLocks noChangeArrowheads="1"/>
            </p:cNvSpPr>
            <p:nvPr/>
          </p:nvSpPr>
          <p:spPr bwMode="auto">
            <a:xfrm>
              <a:off x="1243" y="1466"/>
              <a:ext cx="1114" cy="212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u="sng">
                  <a:solidFill>
                    <a:srgbClr val="000000"/>
                  </a:solidFill>
                  <a:latin typeface="Times New Roman" panose="02020603050405020304" pitchFamily="18" charset="0"/>
                </a:rPr>
                <a:t>PROPERTY ID#</a:t>
              </a:r>
            </a:p>
          </p:txBody>
        </p:sp>
        <p:sp>
          <p:nvSpPr>
            <p:cNvPr id="48136" name="Rectangle 6"/>
            <p:cNvSpPr>
              <a:spLocks noChangeArrowheads="1"/>
            </p:cNvSpPr>
            <p:nvPr/>
          </p:nvSpPr>
          <p:spPr bwMode="auto">
            <a:xfrm>
              <a:off x="2357" y="1466"/>
              <a:ext cx="1220" cy="212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COUNTY_NAME</a:t>
              </a:r>
            </a:p>
          </p:txBody>
        </p:sp>
        <p:sp>
          <p:nvSpPr>
            <p:cNvPr id="48137" name="Rectangle 7"/>
            <p:cNvSpPr>
              <a:spLocks noChangeArrowheads="1"/>
            </p:cNvSpPr>
            <p:nvPr/>
          </p:nvSpPr>
          <p:spPr bwMode="auto">
            <a:xfrm>
              <a:off x="3577" y="1466"/>
              <a:ext cx="477" cy="212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LOT#</a:t>
              </a:r>
            </a:p>
          </p:txBody>
        </p:sp>
        <p:sp>
          <p:nvSpPr>
            <p:cNvPr id="48138" name="Rectangle 8"/>
            <p:cNvSpPr>
              <a:spLocks noChangeArrowheads="1"/>
            </p:cNvSpPr>
            <p:nvPr/>
          </p:nvSpPr>
          <p:spPr bwMode="auto">
            <a:xfrm>
              <a:off x="4055" y="1466"/>
              <a:ext cx="530" cy="212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AREA</a:t>
              </a:r>
            </a:p>
          </p:txBody>
        </p:sp>
        <p:sp>
          <p:nvSpPr>
            <p:cNvPr id="48139" name="Line 9"/>
            <p:cNvSpPr>
              <a:spLocks noChangeShapeType="1"/>
            </p:cNvSpPr>
            <p:nvPr/>
          </p:nvSpPr>
          <p:spPr bwMode="auto">
            <a:xfrm>
              <a:off x="1773" y="1892"/>
              <a:ext cx="2494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8140" name="Line 10"/>
            <p:cNvSpPr>
              <a:spLocks noChangeShapeType="1"/>
            </p:cNvSpPr>
            <p:nvPr/>
          </p:nvSpPr>
          <p:spPr bwMode="auto">
            <a:xfrm flipV="1">
              <a:off x="1773" y="1678"/>
              <a:ext cx="1" cy="21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8141" name="Line 11"/>
            <p:cNvSpPr>
              <a:spLocks noChangeShapeType="1"/>
            </p:cNvSpPr>
            <p:nvPr/>
          </p:nvSpPr>
          <p:spPr bwMode="auto">
            <a:xfrm flipV="1">
              <a:off x="2887" y="1678"/>
              <a:ext cx="1" cy="21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8142" name="Line 12"/>
            <p:cNvSpPr>
              <a:spLocks noChangeShapeType="1"/>
            </p:cNvSpPr>
            <p:nvPr/>
          </p:nvSpPr>
          <p:spPr bwMode="auto">
            <a:xfrm flipV="1">
              <a:off x="3842" y="1678"/>
              <a:ext cx="1" cy="21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8143" name="Line 13"/>
            <p:cNvSpPr>
              <a:spLocks noChangeShapeType="1"/>
            </p:cNvSpPr>
            <p:nvPr/>
          </p:nvSpPr>
          <p:spPr bwMode="auto">
            <a:xfrm flipV="1">
              <a:off x="4267" y="1678"/>
              <a:ext cx="1" cy="21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8144" name="Rectangle 14"/>
            <p:cNvSpPr>
              <a:spLocks noChangeArrowheads="1"/>
            </p:cNvSpPr>
            <p:nvPr/>
          </p:nvSpPr>
          <p:spPr bwMode="auto">
            <a:xfrm>
              <a:off x="1296" y="1679"/>
              <a:ext cx="425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FD1</a:t>
              </a:r>
            </a:p>
          </p:txBody>
        </p:sp>
        <p:sp>
          <p:nvSpPr>
            <p:cNvPr id="48145" name="Line 15"/>
            <p:cNvSpPr>
              <a:spLocks noChangeShapeType="1"/>
            </p:cNvSpPr>
            <p:nvPr/>
          </p:nvSpPr>
          <p:spPr bwMode="auto">
            <a:xfrm>
              <a:off x="1773" y="2105"/>
              <a:ext cx="2494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8146" name="Line 16"/>
            <p:cNvSpPr>
              <a:spLocks noChangeShapeType="1"/>
            </p:cNvSpPr>
            <p:nvPr/>
          </p:nvSpPr>
          <p:spPr bwMode="auto">
            <a:xfrm flipV="1">
              <a:off x="1773" y="1890"/>
              <a:ext cx="1" cy="21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8147" name="Line 17"/>
            <p:cNvSpPr>
              <a:spLocks noChangeShapeType="1"/>
            </p:cNvSpPr>
            <p:nvPr/>
          </p:nvSpPr>
          <p:spPr bwMode="auto">
            <a:xfrm flipV="1">
              <a:off x="2887" y="1890"/>
              <a:ext cx="1" cy="21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8148" name="Line 18"/>
            <p:cNvSpPr>
              <a:spLocks noChangeShapeType="1"/>
            </p:cNvSpPr>
            <p:nvPr/>
          </p:nvSpPr>
          <p:spPr bwMode="auto">
            <a:xfrm flipV="1">
              <a:off x="3842" y="1890"/>
              <a:ext cx="1" cy="21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8149" name="Line 19"/>
            <p:cNvSpPr>
              <a:spLocks noChangeShapeType="1"/>
            </p:cNvSpPr>
            <p:nvPr/>
          </p:nvSpPr>
          <p:spPr bwMode="auto">
            <a:xfrm flipV="1">
              <a:off x="4267" y="1890"/>
              <a:ext cx="1" cy="21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8150" name="Line 20"/>
            <p:cNvSpPr>
              <a:spLocks noChangeShapeType="1"/>
            </p:cNvSpPr>
            <p:nvPr/>
          </p:nvSpPr>
          <p:spPr bwMode="auto">
            <a:xfrm>
              <a:off x="2887" y="2317"/>
              <a:ext cx="1379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8151" name="Line 21"/>
            <p:cNvSpPr>
              <a:spLocks noChangeShapeType="1"/>
            </p:cNvSpPr>
            <p:nvPr/>
          </p:nvSpPr>
          <p:spPr bwMode="auto">
            <a:xfrm flipV="1">
              <a:off x="2887" y="2104"/>
              <a:ext cx="1" cy="21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8152" name="Line 22"/>
            <p:cNvSpPr>
              <a:spLocks noChangeShapeType="1"/>
            </p:cNvSpPr>
            <p:nvPr/>
          </p:nvSpPr>
          <p:spPr bwMode="auto">
            <a:xfrm flipV="1">
              <a:off x="4267" y="2104"/>
              <a:ext cx="1" cy="21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Candara" panose="020E0502030303020204" pitchFamily="34" charset="0"/>
              </a:endParaRPr>
            </a:p>
          </p:txBody>
        </p:sp>
        <p:sp>
          <p:nvSpPr>
            <p:cNvPr id="48153" name="Rectangle 23"/>
            <p:cNvSpPr>
              <a:spLocks noChangeArrowheads="1"/>
            </p:cNvSpPr>
            <p:nvPr/>
          </p:nvSpPr>
          <p:spPr bwMode="auto">
            <a:xfrm>
              <a:off x="1296" y="1892"/>
              <a:ext cx="425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FD2</a:t>
              </a:r>
            </a:p>
          </p:txBody>
        </p:sp>
        <p:sp>
          <p:nvSpPr>
            <p:cNvPr id="48154" name="Rectangle 24"/>
            <p:cNvSpPr>
              <a:spLocks noChangeArrowheads="1"/>
            </p:cNvSpPr>
            <p:nvPr/>
          </p:nvSpPr>
          <p:spPr bwMode="auto">
            <a:xfrm>
              <a:off x="2410" y="2105"/>
              <a:ext cx="425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FD5</a:t>
              </a:r>
            </a:p>
          </p:txBody>
        </p:sp>
        <p:sp>
          <p:nvSpPr>
            <p:cNvPr id="48155" name="Rectangle 25"/>
            <p:cNvSpPr>
              <a:spLocks noChangeArrowheads="1"/>
            </p:cNvSpPr>
            <p:nvPr/>
          </p:nvSpPr>
          <p:spPr bwMode="auto">
            <a:xfrm>
              <a:off x="288" y="3169"/>
              <a:ext cx="100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LOTS1AX</a:t>
              </a:r>
            </a:p>
          </p:txBody>
        </p:sp>
        <p:sp>
          <p:nvSpPr>
            <p:cNvPr id="48156" name="Rectangle 26"/>
            <p:cNvSpPr>
              <a:spLocks noChangeArrowheads="1"/>
            </p:cNvSpPr>
            <p:nvPr/>
          </p:nvSpPr>
          <p:spPr bwMode="auto">
            <a:xfrm>
              <a:off x="341" y="3435"/>
              <a:ext cx="1114" cy="213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u="sng">
                  <a:solidFill>
                    <a:srgbClr val="000000"/>
                  </a:solidFill>
                  <a:latin typeface="Times New Roman" panose="02020603050405020304" pitchFamily="18" charset="0"/>
                </a:rPr>
                <a:t>PROPERTY ID#</a:t>
              </a:r>
            </a:p>
          </p:txBody>
        </p:sp>
        <p:sp>
          <p:nvSpPr>
            <p:cNvPr id="48157" name="Rectangle 27"/>
            <p:cNvSpPr>
              <a:spLocks noChangeArrowheads="1"/>
            </p:cNvSpPr>
            <p:nvPr/>
          </p:nvSpPr>
          <p:spPr bwMode="auto">
            <a:xfrm>
              <a:off x="1986" y="3435"/>
              <a:ext cx="477" cy="213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LOT#</a:t>
              </a:r>
            </a:p>
          </p:txBody>
        </p:sp>
        <p:sp>
          <p:nvSpPr>
            <p:cNvPr id="48158" name="Rectangle 28"/>
            <p:cNvSpPr>
              <a:spLocks noChangeArrowheads="1"/>
            </p:cNvSpPr>
            <p:nvPr/>
          </p:nvSpPr>
          <p:spPr bwMode="auto">
            <a:xfrm>
              <a:off x="1455" y="3435"/>
              <a:ext cx="530" cy="213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AREA</a:t>
              </a:r>
            </a:p>
          </p:txBody>
        </p:sp>
        <p:sp>
          <p:nvSpPr>
            <p:cNvPr id="48159" name="Rectangle 29"/>
            <p:cNvSpPr>
              <a:spLocks noChangeArrowheads="1"/>
            </p:cNvSpPr>
            <p:nvPr/>
          </p:nvSpPr>
          <p:spPr bwMode="auto">
            <a:xfrm>
              <a:off x="3100" y="3169"/>
              <a:ext cx="100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LOTS1AY</a:t>
              </a:r>
            </a:p>
          </p:txBody>
        </p:sp>
        <p:sp>
          <p:nvSpPr>
            <p:cNvPr id="48160" name="Rectangle 30"/>
            <p:cNvSpPr>
              <a:spLocks noChangeArrowheads="1"/>
            </p:cNvSpPr>
            <p:nvPr/>
          </p:nvSpPr>
          <p:spPr bwMode="auto">
            <a:xfrm>
              <a:off x="3153" y="3435"/>
              <a:ext cx="530" cy="213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 u="sng">
                  <a:solidFill>
                    <a:srgbClr val="000000"/>
                  </a:solidFill>
                  <a:latin typeface="Times New Roman" panose="02020603050405020304" pitchFamily="18" charset="0"/>
                </a:rPr>
                <a:t>AREA</a:t>
              </a:r>
            </a:p>
          </p:txBody>
        </p:sp>
        <p:sp>
          <p:nvSpPr>
            <p:cNvPr id="48161" name="Rectangle 31"/>
            <p:cNvSpPr>
              <a:spLocks noChangeArrowheads="1"/>
            </p:cNvSpPr>
            <p:nvPr/>
          </p:nvSpPr>
          <p:spPr bwMode="auto">
            <a:xfrm>
              <a:off x="3683" y="3435"/>
              <a:ext cx="1220" cy="213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COUNTY_NAME</a:t>
              </a:r>
            </a:p>
          </p:txBody>
        </p:sp>
        <p:sp>
          <p:nvSpPr>
            <p:cNvPr id="48162" name="AutoShape 32"/>
            <p:cNvSpPr>
              <a:spLocks noChangeArrowheads="1"/>
            </p:cNvSpPr>
            <p:nvPr/>
          </p:nvSpPr>
          <p:spPr bwMode="auto">
            <a:xfrm>
              <a:off x="2304" y="2530"/>
              <a:ext cx="265" cy="745"/>
            </a:xfrm>
            <a:prstGeom prst="downArrow">
              <a:avLst>
                <a:gd name="adj1" fmla="val 50000"/>
                <a:gd name="adj2" fmla="val 70283"/>
              </a:avLst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dirty="0">
                <a:latin typeface="Candara" panose="020E0502030303020204" pitchFamily="34" charset="0"/>
              </a:endParaRPr>
            </a:p>
          </p:txBody>
        </p:sp>
        <p:sp>
          <p:nvSpPr>
            <p:cNvPr id="48163" name="Text Box 33"/>
            <p:cNvSpPr txBox="1">
              <a:spLocks noChangeArrowheads="1"/>
            </p:cNvSpPr>
            <p:nvPr/>
          </p:nvSpPr>
          <p:spPr bwMode="auto">
            <a:xfrm>
              <a:off x="2145" y="2317"/>
              <a:ext cx="583" cy="347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1875"/>
                </a:spcBef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48164" name="Text Box 34"/>
            <p:cNvSpPr txBox="1">
              <a:spLocks noChangeArrowheads="1"/>
            </p:cNvSpPr>
            <p:nvPr/>
          </p:nvSpPr>
          <p:spPr bwMode="auto">
            <a:xfrm>
              <a:off x="2622" y="2723"/>
              <a:ext cx="2706" cy="29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1500"/>
                </a:spcBef>
              </a:pP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BCNF Normalization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972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/>
          <p:cNvSpPr txBox="1">
            <a:spLocks noChangeArrowheads="1"/>
          </p:cNvSpPr>
          <p:nvPr/>
        </p:nvSpPr>
        <p:spPr bwMode="auto">
          <a:xfrm>
            <a:off x="1676400" y="361950"/>
            <a:ext cx="6324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4000" dirty="0">
              <a:solidFill>
                <a:srgbClr val="333399"/>
              </a:solidFill>
              <a:latin typeface="Candara" panose="020E0502030303020204" pitchFamily="34" charset="0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533400" y="1295400"/>
            <a:ext cx="81534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Candara" panose="020E0502030303020204" pitchFamily="34" charset="0"/>
              </a:rPr>
              <a:t>1NF, 2NF, 3NF &amp; BCNF guarantee to preserve lossless join property</a:t>
            </a:r>
          </a:p>
          <a:p>
            <a:pPr algn="just" eaLnBrk="1" hangingPunct="1">
              <a:spcBef>
                <a:spcPts val="700"/>
              </a:spcBef>
              <a:buFont typeface="Arial" panose="020B0604020202020204" pitchFamily="34" charset="0"/>
              <a:buNone/>
            </a:pPr>
            <a:endParaRPr lang="en-US" altLang="en-US" dirty="0">
              <a:latin typeface="Candara" panose="020E0502030303020204" pitchFamily="34" charset="0"/>
            </a:endParaRPr>
          </a:p>
          <a:p>
            <a:pPr algn="just" eaLnBrk="1" hangingPunct="1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Candara" panose="020E0502030303020204" pitchFamily="34" charset="0"/>
              </a:rPr>
              <a:t>However, BCNF does not guarantee to preserve dependency preserving property</a:t>
            </a:r>
          </a:p>
        </p:txBody>
      </p:sp>
      <p:sp>
        <p:nvSpPr>
          <p:cNvPr id="49157" name="Rectangle 4"/>
          <p:cNvSpPr>
            <a:spLocks noChangeArrowheads="1"/>
          </p:cNvSpPr>
          <p:nvPr/>
        </p:nvSpPr>
        <p:spPr bwMode="auto">
          <a:xfrm>
            <a:off x="3104475" y="610400"/>
            <a:ext cx="29915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600" b="1" dirty="0">
                <a:latin typeface="Candara" panose="020E0502030303020204" pitchFamily="34" charset="0"/>
              </a:rPr>
              <a:t>Normalization</a:t>
            </a:r>
          </a:p>
        </p:txBody>
      </p:sp>
    </p:spTree>
    <p:extLst>
      <p:ext uri="{BB962C8B-B14F-4D97-AF65-F5344CB8AC3E}">
        <p14:creationId xmlns:p14="http://schemas.microsoft.com/office/powerpoint/2010/main" val="28431486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1"/>
          <p:cNvSpPr txBox="1">
            <a:spLocks noChangeArrowheads="1"/>
          </p:cNvSpPr>
          <p:nvPr/>
        </p:nvSpPr>
        <p:spPr bwMode="auto">
          <a:xfrm>
            <a:off x="1524000" y="590550"/>
            <a:ext cx="60960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700"/>
              </a:spcBef>
              <a:buClr>
                <a:srgbClr val="3333CC"/>
              </a:buClr>
            </a:pPr>
            <a:r>
              <a:rPr lang="en-US" altLang="en-US" sz="3600" b="1" dirty="0">
                <a:latin typeface="Candara" panose="020E0502030303020204" pitchFamily="34" charset="0"/>
              </a:rPr>
              <a:t>De-normalization</a:t>
            </a:r>
          </a:p>
        </p:txBody>
      </p:sp>
      <p:sp>
        <p:nvSpPr>
          <p:cNvPr id="50179" name="Text Box 2"/>
          <p:cNvSpPr txBox="1">
            <a:spLocks noChangeArrowheads="1"/>
          </p:cNvSpPr>
          <p:nvPr/>
        </p:nvSpPr>
        <p:spPr bwMode="auto">
          <a:xfrm>
            <a:off x="914400" y="1295400"/>
            <a:ext cx="73914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700"/>
              </a:spcBef>
            </a:pPr>
            <a:r>
              <a:rPr lang="en-US" altLang="en-US" sz="2800" dirty="0">
                <a:latin typeface="Candara" panose="020E0502030303020204" pitchFamily="34" charset="0"/>
              </a:rPr>
              <a:t> Sometime for performance reasons, database designer may leave the relation in a lower normal form. This process is known as de-normalization.</a:t>
            </a:r>
          </a:p>
        </p:txBody>
      </p:sp>
    </p:spTree>
    <p:extLst>
      <p:ext uri="{BB962C8B-B14F-4D97-AF65-F5344CB8AC3E}">
        <p14:creationId xmlns:p14="http://schemas.microsoft.com/office/powerpoint/2010/main" val="12888406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/>
          <p:cNvSpPr>
            <a:spLocks noChangeArrowheads="1"/>
          </p:cNvSpPr>
          <p:nvPr/>
        </p:nvSpPr>
        <p:spPr bwMode="auto">
          <a:xfrm>
            <a:off x="1905000" y="573087"/>
            <a:ext cx="53768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700"/>
              </a:spcBef>
              <a:buClr>
                <a:srgbClr val="3333CC"/>
              </a:buClr>
            </a:pPr>
            <a:r>
              <a:rPr lang="en-US" altLang="en-US" sz="3600" b="1" dirty="0">
                <a:latin typeface="Candara" panose="020E0502030303020204" pitchFamily="34" charset="0"/>
              </a:rPr>
              <a:t>Exercise 1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0" y="1295400"/>
            <a:ext cx="9144000" cy="2733675"/>
            <a:chOff x="0" y="1447800"/>
            <a:chExt cx="9144000" cy="2733675"/>
          </a:xfrm>
        </p:grpSpPr>
        <p:pic>
          <p:nvPicPr>
            <p:cNvPr id="51204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47800"/>
              <a:ext cx="9144000" cy="169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205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600200"/>
              <a:ext cx="9144000" cy="258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1206" name="TextBox 14"/>
          <p:cNvSpPr txBox="1">
            <a:spLocks noChangeArrowheads="1"/>
          </p:cNvSpPr>
          <p:nvPr/>
        </p:nvSpPr>
        <p:spPr bwMode="auto">
          <a:xfrm>
            <a:off x="457200" y="5791200"/>
            <a:ext cx="828765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dirty="0"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altLang="en-US" dirty="0">
                <a:solidFill>
                  <a:srgbClr val="000000"/>
                </a:solidFill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What normal form is the relation in?</a:t>
            </a:r>
          </a:p>
          <a:p>
            <a:pPr algn="just"/>
            <a:r>
              <a:rPr lang="en-US" altLang="en-US" dirty="0">
                <a:solidFill>
                  <a:srgbClr val="000000"/>
                </a:solidFill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If it is not in 3NF, convert it to 3NF. Explain your answer.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1572" y="4572000"/>
          <a:ext cx="7924800" cy="304800"/>
        </p:xfrm>
        <a:graphic>
          <a:graphicData uri="http://schemas.openxmlformats.org/drawingml/2006/table">
            <a:tbl>
              <a:tblPr/>
              <a:tblGrid>
                <a:gridCol w="651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8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8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51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40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79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Calibri"/>
                          <a:cs typeface="Latha"/>
                        </a:rPr>
                        <a:t>Patient#</a:t>
                      </a:r>
                      <a:endParaRPr lang="en-US" sz="1100" b="1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54173" marR="541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latin typeface="Times New Roman"/>
                          <a:ea typeface="Calibri"/>
                          <a:cs typeface="Latha"/>
                        </a:rPr>
                        <a:t>Surgeon#</a:t>
                      </a:r>
                      <a:endParaRPr lang="en-US" sz="1100" b="1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54173" marR="541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latin typeface="Times New Roman"/>
                          <a:ea typeface="Calibri"/>
                          <a:cs typeface="Latha"/>
                        </a:rPr>
                        <a:t>Surgery_Date</a:t>
                      </a:r>
                      <a:endParaRPr lang="en-US" sz="1100" b="1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54173" marR="541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latin typeface="Times New Roman"/>
                          <a:ea typeface="Calibri"/>
                          <a:cs typeface="Latha"/>
                        </a:rPr>
                        <a:t>Patient_Name</a:t>
                      </a:r>
                      <a:endParaRPr lang="en-US" sz="1100" b="1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54173" marR="541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latin typeface="Times New Roman"/>
                          <a:ea typeface="Calibri"/>
                          <a:cs typeface="Latha"/>
                        </a:rPr>
                        <a:t>Patient_Addr</a:t>
                      </a:r>
                      <a:endParaRPr lang="en-US" sz="1100" b="1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54173" marR="541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latin typeface="Times New Roman"/>
                          <a:ea typeface="Calibri"/>
                          <a:cs typeface="Latha"/>
                        </a:rPr>
                        <a:t>Surgeon_Name</a:t>
                      </a:r>
                      <a:endParaRPr lang="en-US" sz="1100" b="1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54173" marR="541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latin typeface="Times New Roman"/>
                          <a:ea typeface="Calibri"/>
                          <a:cs typeface="Latha"/>
                        </a:rPr>
                        <a:t>Surgery</a:t>
                      </a:r>
                      <a:endParaRPr lang="en-US" sz="1100" b="1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54173" marR="541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latin typeface="Times New Roman"/>
                          <a:ea typeface="Calibri"/>
                          <a:cs typeface="Latha"/>
                        </a:rPr>
                        <a:t>Drug_Admin</a:t>
                      </a:r>
                      <a:endParaRPr lang="en-US" sz="1100" b="1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54173" marR="541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latin typeface="Times New Roman"/>
                          <a:ea typeface="Calibri"/>
                          <a:cs typeface="Latha"/>
                        </a:rPr>
                        <a:t>Side_Effects</a:t>
                      </a:r>
                      <a:endParaRPr lang="en-US" sz="1100" b="1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54173" marR="541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1229" name="Group 40"/>
          <p:cNvGrpSpPr>
            <a:grpSpLocks/>
          </p:cNvGrpSpPr>
          <p:nvPr/>
        </p:nvGrpSpPr>
        <p:grpSpPr bwMode="auto">
          <a:xfrm>
            <a:off x="656772" y="4267200"/>
            <a:ext cx="7840663" cy="1406525"/>
            <a:chOff x="228600" y="4419600"/>
            <a:chExt cx="7840766" cy="1406525"/>
          </a:xfrm>
        </p:grpSpPr>
        <p:grpSp>
          <p:nvGrpSpPr>
            <p:cNvPr id="51230" name="Group 9"/>
            <p:cNvGrpSpPr>
              <a:grpSpLocks/>
            </p:cNvGrpSpPr>
            <p:nvPr/>
          </p:nvGrpSpPr>
          <p:grpSpPr bwMode="auto">
            <a:xfrm>
              <a:off x="228600" y="4419600"/>
              <a:ext cx="7840766" cy="288925"/>
              <a:chOff x="-789" y="4894"/>
              <a:chExt cx="12346" cy="455"/>
            </a:xfrm>
          </p:grpSpPr>
          <p:grpSp>
            <p:nvGrpSpPr>
              <p:cNvPr id="51249" name="Group 10"/>
              <p:cNvGrpSpPr>
                <a:grpSpLocks/>
              </p:cNvGrpSpPr>
              <p:nvPr/>
            </p:nvGrpSpPr>
            <p:grpSpPr bwMode="auto">
              <a:xfrm>
                <a:off x="411" y="4956"/>
                <a:ext cx="11146" cy="393"/>
                <a:chOff x="411" y="4956"/>
                <a:chExt cx="11146" cy="393"/>
              </a:xfrm>
            </p:grpSpPr>
            <p:cxnSp>
              <p:nvCxnSpPr>
                <p:cNvPr id="51251" name="AutoShape 11"/>
                <p:cNvCxnSpPr>
                  <a:cxnSpLocks noChangeShapeType="1"/>
                </p:cNvCxnSpPr>
                <p:nvPr/>
              </p:nvCxnSpPr>
              <p:spPr bwMode="auto">
                <a:xfrm flipV="1">
                  <a:off x="411" y="4956"/>
                  <a:ext cx="0" cy="39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252" name="AutoShape 12"/>
                <p:cNvCxnSpPr>
                  <a:cxnSpLocks noChangeShapeType="1"/>
                </p:cNvCxnSpPr>
                <p:nvPr/>
              </p:nvCxnSpPr>
              <p:spPr bwMode="auto">
                <a:xfrm flipV="1">
                  <a:off x="2992" y="4956"/>
                  <a:ext cx="0" cy="39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253" name="AutoShape 13"/>
                <p:cNvCxnSpPr>
                  <a:cxnSpLocks noChangeShapeType="1"/>
                </p:cNvCxnSpPr>
                <p:nvPr/>
              </p:nvCxnSpPr>
              <p:spPr bwMode="auto">
                <a:xfrm>
                  <a:off x="411" y="4956"/>
                  <a:ext cx="11146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254" name="AutoShape 14"/>
                <p:cNvCxnSpPr>
                  <a:cxnSpLocks noChangeShapeType="1"/>
                </p:cNvCxnSpPr>
                <p:nvPr/>
              </p:nvCxnSpPr>
              <p:spPr bwMode="auto">
                <a:xfrm>
                  <a:off x="1721" y="4956"/>
                  <a:ext cx="0" cy="39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255" name="AutoShape 15"/>
                <p:cNvCxnSpPr>
                  <a:cxnSpLocks noChangeShapeType="1"/>
                </p:cNvCxnSpPr>
                <p:nvPr/>
              </p:nvCxnSpPr>
              <p:spPr bwMode="auto">
                <a:xfrm>
                  <a:off x="4395" y="4956"/>
                  <a:ext cx="19" cy="39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256" name="AutoShape 16"/>
                <p:cNvCxnSpPr>
                  <a:cxnSpLocks noChangeShapeType="1"/>
                </p:cNvCxnSpPr>
                <p:nvPr/>
              </p:nvCxnSpPr>
              <p:spPr bwMode="auto">
                <a:xfrm>
                  <a:off x="5835" y="4956"/>
                  <a:ext cx="19" cy="39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257" name="AutoShape 17"/>
                <p:cNvCxnSpPr>
                  <a:cxnSpLocks noChangeShapeType="1"/>
                </p:cNvCxnSpPr>
                <p:nvPr/>
              </p:nvCxnSpPr>
              <p:spPr bwMode="auto">
                <a:xfrm>
                  <a:off x="7163" y="4956"/>
                  <a:ext cx="19" cy="39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258" name="AutoShape 18"/>
                <p:cNvCxnSpPr>
                  <a:cxnSpLocks noChangeShapeType="1"/>
                </p:cNvCxnSpPr>
                <p:nvPr/>
              </p:nvCxnSpPr>
              <p:spPr bwMode="auto">
                <a:xfrm>
                  <a:off x="8790" y="4956"/>
                  <a:ext cx="19" cy="39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259" name="AutoShape 19"/>
                <p:cNvCxnSpPr>
                  <a:cxnSpLocks noChangeShapeType="1"/>
                </p:cNvCxnSpPr>
                <p:nvPr/>
              </p:nvCxnSpPr>
              <p:spPr bwMode="auto">
                <a:xfrm>
                  <a:off x="9930" y="4956"/>
                  <a:ext cx="19" cy="39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260" name="AutoShape 20"/>
                <p:cNvCxnSpPr>
                  <a:cxnSpLocks noChangeShapeType="1"/>
                </p:cNvCxnSpPr>
                <p:nvPr/>
              </p:nvCxnSpPr>
              <p:spPr bwMode="auto">
                <a:xfrm>
                  <a:off x="11538" y="4956"/>
                  <a:ext cx="19" cy="39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51250" name="Text Box 21"/>
              <p:cNvSpPr txBox="1">
                <a:spLocks noChangeArrowheads="1"/>
              </p:cNvSpPr>
              <p:nvPr/>
            </p:nvSpPr>
            <p:spPr bwMode="auto">
              <a:xfrm>
                <a:off x="-789" y="4894"/>
                <a:ext cx="1103" cy="39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Aft>
                    <a:spcPts val="1000"/>
                  </a:spcAft>
                </a:pPr>
                <a:r>
                  <a:rPr lang="en-US" altLang="en-US" sz="1100" b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FD1</a:t>
                </a:r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</p:grpSp>
        <p:grpSp>
          <p:nvGrpSpPr>
            <p:cNvPr id="51231" name="Group 22"/>
            <p:cNvGrpSpPr>
              <a:grpSpLocks/>
            </p:cNvGrpSpPr>
            <p:nvPr/>
          </p:nvGrpSpPr>
          <p:grpSpPr bwMode="auto">
            <a:xfrm>
              <a:off x="457491" y="4997448"/>
              <a:ext cx="3901784" cy="645173"/>
              <a:chOff x="65" y="5794"/>
              <a:chExt cx="6144" cy="1015"/>
            </a:xfrm>
          </p:grpSpPr>
          <p:grpSp>
            <p:nvGrpSpPr>
              <p:cNvPr id="51243" name="Group 23"/>
              <p:cNvGrpSpPr>
                <a:grpSpLocks/>
              </p:cNvGrpSpPr>
              <p:nvPr/>
            </p:nvGrpSpPr>
            <p:grpSpPr bwMode="auto">
              <a:xfrm>
                <a:off x="542" y="5794"/>
                <a:ext cx="5667" cy="322"/>
                <a:chOff x="542" y="5794"/>
                <a:chExt cx="5667" cy="322"/>
              </a:xfrm>
            </p:grpSpPr>
            <p:cxnSp>
              <p:nvCxnSpPr>
                <p:cNvPr id="51245" name="AutoShape 24"/>
                <p:cNvCxnSpPr>
                  <a:cxnSpLocks noChangeShapeType="1"/>
                </p:cNvCxnSpPr>
                <p:nvPr/>
              </p:nvCxnSpPr>
              <p:spPr bwMode="auto">
                <a:xfrm>
                  <a:off x="542" y="6116"/>
                  <a:ext cx="5667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246" name="AutoShape 25"/>
                <p:cNvCxnSpPr>
                  <a:cxnSpLocks noChangeShapeType="1"/>
                </p:cNvCxnSpPr>
                <p:nvPr/>
              </p:nvCxnSpPr>
              <p:spPr bwMode="auto">
                <a:xfrm>
                  <a:off x="542" y="5835"/>
                  <a:ext cx="0" cy="28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247" name="AutoShape 26"/>
                <p:cNvCxnSpPr>
                  <a:cxnSpLocks noChangeShapeType="1"/>
                </p:cNvCxnSpPr>
                <p:nvPr/>
              </p:nvCxnSpPr>
              <p:spPr bwMode="auto">
                <a:xfrm flipV="1">
                  <a:off x="6209" y="5835"/>
                  <a:ext cx="0" cy="28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248" name="AutoShape 27"/>
                <p:cNvCxnSpPr>
                  <a:cxnSpLocks noChangeShapeType="1"/>
                </p:cNvCxnSpPr>
                <p:nvPr/>
              </p:nvCxnSpPr>
              <p:spPr bwMode="auto">
                <a:xfrm flipV="1">
                  <a:off x="4657" y="5794"/>
                  <a:ext cx="0" cy="28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51244" name="Text Box 28"/>
              <p:cNvSpPr txBox="1">
                <a:spLocks noChangeArrowheads="1"/>
              </p:cNvSpPr>
              <p:nvPr/>
            </p:nvSpPr>
            <p:spPr bwMode="auto">
              <a:xfrm>
                <a:off x="65" y="6323"/>
                <a:ext cx="785" cy="48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Aft>
                    <a:spcPts val="1000"/>
                  </a:spcAft>
                </a:pPr>
                <a:r>
                  <a:rPr lang="en-US" altLang="en-US" sz="1200" b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FD2</a:t>
                </a:r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</p:grpSp>
        <p:grpSp>
          <p:nvGrpSpPr>
            <p:cNvPr id="51232" name="Group 29"/>
            <p:cNvGrpSpPr>
              <a:grpSpLocks/>
            </p:cNvGrpSpPr>
            <p:nvPr/>
          </p:nvGrpSpPr>
          <p:grpSpPr bwMode="auto">
            <a:xfrm>
              <a:off x="1600200" y="5029200"/>
              <a:ext cx="4013200" cy="796925"/>
              <a:chOff x="1552" y="5794"/>
              <a:chExt cx="6321" cy="1256"/>
            </a:xfrm>
          </p:grpSpPr>
          <p:cxnSp>
            <p:nvCxnSpPr>
              <p:cNvPr id="51239" name="AutoShape 30"/>
              <p:cNvCxnSpPr>
                <a:cxnSpLocks noChangeShapeType="1"/>
              </p:cNvCxnSpPr>
              <p:nvPr/>
            </p:nvCxnSpPr>
            <p:spPr bwMode="auto">
              <a:xfrm>
                <a:off x="1552" y="6116"/>
                <a:ext cx="0" cy="93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240" name="AutoShape 31"/>
              <p:cNvCxnSpPr>
                <a:cxnSpLocks noChangeShapeType="1"/>
              </p:cNvCxnSpPr>
              <p:nvPr/>
            </p:nvCxnSpPr>
            <p:spPr bwMode="auto">
              <a:xfrm>
                <a:off x="1552" y="7050"/>
                <a:ext cx="6321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241" name="AutoShape 32"/>
              <p:cNvCxnSpPr>
                <a:cxnSpLocks noChangeShapeType="1"/>
              </p:cNvCxnSpPr>
              <p:nvPr/>
            </p:nvCxnSpPr>
            <p:spPr bwMode="auto">
              <a:xfrm flipV="1">
                <a:off x="7873" y="5794"/>
                <a:ext cx="0" cy="125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1242" name="Text Box 33"/>
              <p:cNvSpPr txBox="1">
                <a:spLocks noChangeArrowheads="1"/>
              </p:cNvSpPr>
              <p:nvPr/>
            </p:nvSpPr>
            <p:spPr bwMode="auto">
              <a:xfrm>
                <a:off x="5629" y="6415"/>
                <a:ext cx="1141" cy="48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Aft>
                    <a:spcPts val="1000"/>
                  </a:spcAft>
                </a:pPr>
                <a:r>
                  <a:rPr lang="en-US" altLang="en-US" sz="1200" b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FD3</a:t>
                </a:r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</p:grpSp>
        <p:grpSp>
          <p:nvGrpSpPr>
            <p:cNvPr id="51233" name="Group 34"/>
            <p:cNvGrpSpPr>
              <a:grpSpLocks/>
            </p:cNvGrpSpPr>
            <p:nvPr/>
          </p:nvGrpSpPr>
          <p:grpSpPr bwMode="auto">
            <a:xfrm>
              <a:off x="6934200" y="5105400"/>
              <a:ext cx="1008063" cy="701675"/>
              <a:chOff x="10099" y="5794"/>
              <a:chExt cx="1589" cy="1107"/>
            </a:xfrm>
          </p:grpSpPr>
          <p:grpSp>
            <p:nvGrpSpPr>
              <p:cNvPr id="51234" name="Group 35"/>
              <p:cNvGrpSpPr>
                <a:grpSpLocks/>
              </p:cNvGrpSpPr>
              <p:nvPr/>
            </p:nvGrpSpPr>
            <p:grpSpPr bwMode="auto">
              <a:xfrm>
                <a:off x="10099" y="5794"/>
                <a:ext cx="1589" cy="508"/>
                <a:chOff x="10099" y="5794"/>
                <a:chExt cx="1589" cy="508"/>
              </a:xfrm>
            </p:grpSpPr>
            <p:cxnSp>
              <p:nvCxnSpPr>
                <p:cNvPr id="51236" name="AutoShape 36"/>
                <p:cNvCxnSpPr>
                  <a:cxnSpLocks noChangeShapeType="1"/>
                </p:cNvCxnSpPr>
                <p:nvPr/>
              </p:nvCxnSpPr>
              <p:spPr bwMode="auto">
                <a:xfrm>
                  <a:off x="10117" y="5835"/>
                  <a:ext cx="0" cy="467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237" name="AutoShape 37"/>
                <p:cNvCxnSpPr>
                  <a:cxnSpLocks noChangeShapeType="1"/>
                </p:cNvCxnSpPr>
                <p:nvPr/>
              </p:nvCxnSpPr>
              <p:spPr bwMode="auto">
                <a:xfrm>
                  <a:off x="10099" y="6302"/>
                  <a:ext cx="1589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238" name="AutoShape 38"/>
                <p:cNvCxnSpPr>
                  <a:cxnSpLocks noChangeShapeType="1"/>
                </p:cNvCxnSpPr>
                <p:nvPr/>
              </p:nvCxnSpPr>
              <p:spPr bwMode="auto">
                <a:xfrm flipV="1">
                  <a:off x="11688" y="5794"/>
                  <a:ext cx="0" cy="508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51235" name="Text Box 39"/>
              <p:cNvSpPr txBox="1">
                <a:spLocks noChangeArrowheads="1"/>
              </p:cNvSpPr>
              <p:nvPr/>
            </p:nvSpPr>
            <p:spPr bwMode="auto">
              <a:xfrm>
                <a:off x="10529" y="6358"/>
                <a:ext cx="1009" cy="54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Aft>
                    <a:spcPts val="1000"/>
                  </a:spcAft>
                </a:pPr>
                <a:r>
                  <a:rPr lang="en-US" altLang="en-US" sz="1200" b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FD4</a:t>
                </a:r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98884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"/>
          <p:cNvSpPr>
            <a:spLocks noChangeArrowheads="1"/>
          </p:cNvSpPr>
          <p:nvPr/>
        </p:nvSpPr>
        <p:spPr bwMode="auto">
          <a:xfrm>
            <a:off x="3048000" y="609600"/>
            <a:ext cx="3124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700"/>
              </a:spcBef>
              <a:buClr>
                <a:srgbClr val="3333CC"/>
              </a:buClr>
            </a:pPr>
            <a:r>
              <a:rPr lang="en-US" altLang="en-US" sz="3600" b="1" dirty="0">
                <a:latin typeface="Candara" panose="020E0502030303020204" pitchFamily="34" charset="0"/>
              </a:rPr>
              <a:t>Exercise 2</a:t>
            </a:r>
          </a:p>
        </p:txBody>
      </p:sp>
      <p:sp>
        <p:nvSpPr>
          <p:cNvPr id="52228" name="Rectangle 1"/>
          <p:cNvSpPr>
            <a:spLocks noChangeArrowheads="1"/>
          </p:cNvSpPr>
          <p:nvPr/>
        </p:nvSpPr>
        <p:spPr bwMode="auto">
          <a:xfrm>
            <a:off x="685800" y="1295400"/>
            <a:ext cx="7848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dirty="0"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 the following relational schema for R:</a:t>
            </a:r>
          </a:p>
          <a:p>
            <a:pPr algn="just"/>
            <a:r>
              <a:rPr lang="en-US" altLang="en-US" dirty="0"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R(</a:t>
            </a:r>
            <a:r>
              <a:rPr lang="en-US" altLang="en-US" u="sng" dirty="0"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A, B</a:t>
            </a:r>
            <a:r>
              <a:rPr lang="en-US" altLang="en-US" dirty="0"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,C,D,E,F,G)</a:t>
            </a:r>
          </a:p>
          <a:p>
            <a:pPr algn="just"/>
            <a:r>
              <a:rPr lang="en-US" altLang="en-US" dirty="0"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 is the primary key in the relation. Assume that the following dependencies exist:</a:t>
            </a:r>
          </a:p>
        </p:txBody>
      </p:sp>
      <p:pic>
        <p:nvPicPr>
          <p:cNvPr id="1075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71700" y="2846917"/>
            <a:ext cx="4800600" cy="276567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>
            <a:outerShdw blurRad="50800" dist="50800" dir="4800000" sx="1000" sy="1000" algn="ctr" rotWithShape="0">
              <a:srgbClr val="000000"/>
            </a:outerShdw>
          </a:effectLst>
        </p:spPr>
      </p:pic>
      <p:sp>
        <p:nvSpPr>
          <p:cNvPr id="52230" name="Rectangle 3"/>
          <p:cNvSpPr>
            <a:spLocks noChangeArrowheads="1"/>
          </p:cNvSpPr>
          <p:nvPr/>
        </p:nvSpPr>
        <p:spPr bwMode="auto">
          <a:xfrm>
            <a:off x="381000" y="5638800"/>
            <a:ext cx="8458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dirty="0"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What normal form is the relation in?</a:t>
            </a:r>
          </a:p>
          <a:p>
            <a:pPr algn="just"/>
            <a:r>
              <a:rPr lang="en-US" altLang="en-US" dirty="0"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If R is not in BCNF, convert it to BCNF. Explain your answer.</a:t>
            </a:r>
          </a:p>
        </p:txBody>
      </p:sp>
    </p:spTree>
    <p:extLst>
      <p:ext uri="{BB962C8B-B14F-4D97-AF65-F5344CB8AC3E}">
        <p14:creationId xmlns:p14="http://schemas.microsoft.com/office/powerpoint/2010/main" val="23108700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End of Lecture 07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51</a:t>
            </a:fld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33400" y="3246438"/>
            <a:ext cx="7765321" cy="132632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1717245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CA49051E-35FD-4162-BB75-12F1D25530D3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0BC3DA50-FEEF-43B6-860E-C898C0E591E6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Updated Design</Template>
  <TotalTime>465</TotalTime>
  <Words>2806</Words>
  <Application>Microsoft Office PowerPoint</Application>
  <PresentationFormat>On-screen Show (4:3)</PresentationFormat>
  <Paragraphs>703</Paragraphs>
  <Slides>51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51</vt:i4>
      </vt:variant>
    </vt:vector>
  </HeadingPairs>
  <TitlesOfParts>
    <vt:vector size="64" baseType="lpstr">
      <vt:lpstr>Arial</vt:lpstr>
      <vt:lpstr>Calibri</vt:lpstr>
      <vt:lpstr>Calibri (Body)</vt:lpstr>
      <vt:lpstr>Calibri Light</vt:lpstr>
      <vt:lpstr>Candara</vt:lpstr>
      <vt:lpstr>Corbel</vt:lpstr>
      <vt:lpstr>Monotype Sorts</vt:lpstr>
      <vt:lpstr>Tahoma</vt:lpstr>
      <vt:lpstr>Times New Roman</vt:lpstr>
      <vt:lpstr>Wingdings</vt:lpstr>
      <vt:lpstr>Office Theme</vt:lpstr>
      <vt:lpstr>Custom Design</vt:lpstr>
      <vt:lpstr>1_Custom Design</vt:lpstr>
      <vt:lpstr>Normalization</vt:lpstr>
      <vt:lpstr>Learning Outcome</vt:lpstr>
      <vt:lpstr>Database Design Process  </vt:lpstr>
      <vt:lpstr>Normalization</vt:lpstr>
      <vt:lpstr>Normalization</vt:lpstr>
      <vt:lpstr>Purpose of Normalization</vt:lpstr>
      <vt:lpstr>Redundancy and Data Anomalies</vt:lpstr>
      <vt:lpstr>PowerPoint Presentation</vt:lpstr>
      <vt:lpstr>Repeating Groups</vt:lpstr>
      <vt:lpstr> Schema Refinement </vt:lpstr>
      <vt:lpstr>Problems related to decompositions</vt:lpstr>
      <vt:lpstr>Loss-less join property</vt:lpstr>
      <vt:lpstr>Loss-less join property (contd.)</vt:lpstr>
      <vt:lpstr>Dependency-preserving property </vt:lpstr>
      <vt:lpstr>Informal Guidelines</vt:lpstr>
      <vt:lpstr>PowerPoint Presentation</vt:lpstr>
      <vt:lpstr>Informal Guidelines</vt:lpstr>
      <vt:lpstr>Informal Guidelines (contd.)</vt:lpstr>
      <vt:lpstr>Formal Process</vt:lpstr>
      <vt:lpstr>Functional Dependencies</vt:lpstr>
      <vt:lpstr> Functional dependency </vt:lpstr>
      <vt:lpstr> Functional dependency </vt:lpstr>
      <vt:lpstr>Functional dependency </vt:lpstr>
      <vt:lpstr>Functional dependency </vt:lpstr>
      <vt:lpstr>Functional dependency</vt:lpstr>
      <vt:lpstr>Functional dependency</vt:lpstr>
      <vt:lpstr>Functional dependency</vt:lpstr>
      <vt:lpstr>Normalization  </vt:lpstr>
      <vt:lpstr>Database Basics - Review  </vt:lpstr>
      <vt:lpstr>Database basics - Review  </vt:lpstr>
      <vt:lpstr>Stages of Normalization</vt:lpstr>
      <vt:lpstr>Un-normalized Normal Form (UNF)</vt:lpstr>
      <vt:lpstr>Normalization - 1st Normal Form </vt:lpstr>
      <vt:lpstr>Normalization - 1st Normal Form </vt:lpstr>
      <vt:lpstr>Solution  </vt:lpstr>
      <vt:lpstr>Full Functional Dependency </vt:lpstr>
      <vt:lpstr>Normalization – 2nd  Normal Form</vt:lpstr>
      <vt:lpstr>Normalization – 2nd  Normal Form</vt:lpstr>
      <vt:lpstr>Normalization – 2nd  Normal Form</vt:lpstr>
      <vt:lpstr>PowerPoint Presentation</vt:lpstr>
      <vt:lpstr>PowerPoint Presentation</vt:lpstr>
      <vt:lpstr>Normalization – 3rd   Normal Form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End of Lecture 07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Losini Shanmugam</dc:creator>
  <cp:lastModifiedBy>Tharushi Rubasinghe</cp:lastModifiedBy>
  <cp:revision>51</cp:revision>
  <dcterms:created xsi:type="dcterms:W3CDTF">2017-06-04T15:05:52Z</dcterms:created>
  <dcterms:modified xsi:type="dcterms:W3CDTF">2024-08-27T06:15:30Z</dcterms:modified>
</cp:coreProperties>
</file>